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78" d="100"/>
          <a:sy n="78" d="100"/>
        </p:scale>
        <p:origin x="850" y="6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593527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Good morning. My name is So Sereysokbotra.</a:t>
            </a:r>
          </a:p>
          <a:p>
            <a:endParaRPr/>
          </a:p>
          <a:p>
            <a:r>
              <a:t>My project reads Cambodian licence plates. I built a complete system that reads a plate at a gate and decides whether to open it — but today I want to focus on one model inside that system, and on one question: which deep-learning approach reads the Khmer province name best, and why. I compared five deep-learning approaches along two dimensions.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point at the cards Across Cambodia, automated barriers, residential boreys, smart parking, and highway toll plazas need fast, hands-free vehicle entry.</a:t>
            </a:r>
          </a:p>
          <a:p>
            <a:endParaRPr/>
          </a:p>
          <a:p>
            <a:r>
              <a:t>Commercial ALPR systems fail here because of one critical fact: the plate number alone is not unique in Cambodia. The number `2A-0243` repeats in almost every one of the 26 provinces. If a security gate reads only the digits, an unauthorized car from another province could falsely trigger access.</a:t>
            </a:r>
          </a:p>
          <a:p>
            <a:endParaRPr/>
          </a:p>
          <a:p>
            <a:r>
              <a:t>Furthermore, off-the-shelf Western OCR engines cannot read the top line because Khmer script has complex stacked ligatures that break character-by-character segmentation.</a:t>
            </a:r>
          </a:p>
          <a:p>
            <a:endParaRPr/>
          </a:p>
          <a:p>
            <a:r>
              <a:t>point at the diagram So I treat the Khmer province line as a whole-image classification problem: a 128-by-128 crop in, one of 26 classes out. This research asks: on a small, imbalanced Khmer dataset, which deep-learning approach reads this line best, and why?</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how the complete end-to-end ALPR system is designed.</a:t>
            </a:r>
          </a:p>
          <a:p>
            <a:endParaRPr/>
          </a:p>
          <a:p>
            <a:r>
              <a:t>First, a road or gate camera captures the vehicle. YOLOv10 detects the plate bounding box in about 15 milliseconds, handling angle and lighting variations.</a:t>
            </a:r>
          </a:p>
          <a:p>
            <a:endParaRPr/>
          </a:p>
          <a:p>
            <a:r>
              <a:t>Next, the plate enters a dual recognition pipeline:</a:t>
            </a:r>
          </a:p>
          <a:p>
            <a:r>
              <a:t>- The top Khmer province line goes to our 26-class province classifier — the central focus of this research.</a:t>
            </a:r>
          </a:p>
          <a:p>
            <a:r>
              <a:t>- The bottom line of Latin characters and digits is read by a CRNN with CTC decoding.</a:t>
            </a:r>
          </a:p>
          <a:p>
            <a:r>
              <a:t>Running them in parallel keeps total recognition latency under 35 milliseconds.</a:t>
            </a:r>
          </a:p>
          <a:p>
            <a:endParaRPr/>
          </a:p>
          <a:p>
            <a:r>
              <a:t>Finally, the two outputs are composed into a canonical plate string like `Takeo 1L-4082` and matched against an SQLite whitelist with a strict confidence threshold. On 149 labelled real scenes, the system achieves zero false accepts at 50 milliseconds per frame.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data is Plate_v4, a public Roboflow dataset, CC-BY. I did not collect it myself. Cutting the province line out of each photo gives 2 515 training, 529 validation, 567 test crops. Every approach uses exactly this split.</a:t>
            </a:r>
          </a:p>
          <a:p>
            <a:endParaRPr/>
          </a:p>
          <a:p>
            <a:r>
              <a:t>And one thing I checked rather than assumed: the split was made per *crop*, and one photo can hold several cars — so 13.4 percent of test crops share a photo with training. I measured it, I report it, and every result is also scored on the clean subset.</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point at the table Here is the complete distribution across all 26 classes.</a:t>
            </a:r>
          </a:p>
          <a:p>
            <a:endParaRPr/>
          </a:p>
          <a:p>
            <a:r>
              <a:t>The classes are badly imbalanced — "other" has 453 crops, but Mondul Kiri has only 18 — a 25-to-1 ratio. The four red rows at the bottom right — Koh Kong, Kep, Ratanakiri, and Mondul Kiri — are classes with fifty or fewer crops.</a:t>
            </a:r>
          </a:p>
          <a:p>
            <a:endParaRPr/>
          </a:p>
          <a:p>
            <a:r>
              <a:t>Because of this long tail, overall accuracy is not enough: we also track macro-F1, which gives equal weight to all 26 provinces so a model cannot score well by simply ignoring the rare ones.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Everything except the approach is held constant.</a:t>
            </a:r>
          </a:p>
          <a:p>
            <a:endParaRPr/>
          </a:p>
          <a:p>
            <a:r>
              <a:t>Same preprocessing, same augmentation, forty epochs, batch 32, Adam — identical for all four runs, so augmentation is never a hidden variable.</a:t>
            </a:r>
          </a:p>
          <a:p>
            <a:endParaRPr/>
          </a:p>
          <a:p>
            <a:r>
              <a:t>Seed 42 is fixed in Python, NumPy, PyTorch and the data loader, so a run reproduces exactly.</a:t>
            </a:r>
          </a:p>
          <a:p>
            <a:endParaRPr/>
          </a:p>
          <a:p>
            <a:r>
              <a:t>The model is selected on validation only; the test set is touched once per run.</a:t>
            </a:r>
          </a:p>
          <a:p>
            <a:endParaRPr/>
          </a:p>
          <a:p>
            <a:r>
              <a:t>Metrics: accuracy, and macro-F1 because of the imbalance — macro-F1 weights every province equally, so a model cannot look good by ignoring Mondul Kiri.</a:t>
            </a:r>
          </a:p>
          <a:p>
            <a:endParaRPr/>
          </a:p>
          <a:p>
            <a:r>
              <a:t>Training ran on a Colab T4, about six minutes per run.</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 compared five approaches along two dimensions.</a:t>
            </a:r>
          </a:p>
          <a:p>
            <a:endParaRPr/>
          </a:p>
          <a:p>
            <a:r>
              <a:t>A is ResNet18 trained from scratch — random weights, every layer learns.</a:t>
            </a:r>
          </a:p>
          <a:p>
            <a:endParaRPr/>
          </a:p>
          <a:p>
            <a:r>
              <a:t>B is ResNet18 with ImageNet weights, but the backbone is frozen — only the final layer trains. That is 13 thousand parameters, about one tenth of one percent of the model.</a:t>
            </a:r>
          </a:p>
          <a:p>
            <a:endParaRPr/>
          </a:p>
          <a:p>
            <a:r>
              <a:t>C is ResNet18 with ImageNet weights and full fine-tuning — every layer learns, at a low learning rate.</a:t>
            </a:r>
          </a:p>
          <a:p>
            <a:endParaRPr/>
          </a:p>
          <a:p>
            <a:r>
              <a:t>D is a different *architecture*: a small four-block CNN with 400 thousand parameters, trained from scratch.</a:t>
            </a:r>
          </a:p>
          <a:p>
            <a:endParaRPr/>
          </a:p>
          <a:p>
            <a:r>
              <a:t>E is a transformer architecture: ViT-B/16 (Vision Transformer) with 86 million parameters, trained on 224-by-224 patches.</a:t>
            </a:r>
          </a:p>
          <a:p>
            <a:endParaRPr/>
          </a:p>
          <a:p>
            <a:r>
              <a:t>So: A versus C asks whether ImageNet weights help. B asks whether ImageNet *features alone* are enough. D asks whether we even need eleven million parameters. And E asks whether self-attention beats convolution for Khmer script.</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are the results, on the same 567 test crops.</a:t>
            </a:r>
          </a:p>
          <a:p>
            <a:endParaRPr/>
          </a:p>
          <a:p>
            <a:r>
              <a:t>Fine-tuning — C — reaches 94.0 percent. From scratch — A — reaches 93.3. The frozen backbone — B — collapses to 42 percent. And the small CNN — D — reaches only 46.6.</a:t>
            </a:r>
          </a:p>
          <a:p>
            <a:endParaRPr/>
          </a:p>
          <a:p>
            <a:r>
              <a:t>E — the Vision Transformer — reaches 96.1 percent, matching the tuned ResNet18 right away, and achieving 26.8 percent on upside-down plates without any rotation training.</a:t>
            </a:r>
          </a:p>
          <a:p>
            <a:endParaRPr/>
          </a:p>
          <a:p>
            <a:r>
              <a:t>A and C are statistically tied: I ran McNemar's exact test on the same crops and got p = 0.63. So there are clear winners and clear failures — and they fail for different reasons, which is the interesting part.</a:t>
            </a:r>
          </a:p>
          <a:p>
            <a:endParaRPr/>
          </a:p>
          <a:p>
            <a:r>
              <a:t>On the clean subset — the 491 crops with no shared source photo — the ranking is identical and the accuracies are slightly *higher*. So the leak did not help the models; those duplicate crops come from multi-car photos and are smaller and blurrier.</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point at the green curve This is C, fine-tuning. It reaches 85 percent validation accuracy by epoch five. point at the blue curve A, from scratch, needs about twenty epochs to reach the same place — but it does reach it. So ImageNet weights buy speed, not a better final answer, at this data size.</a:t>
            </a:r>
          </a:p>
          <a:p>
            <a:endParaRPr/>
          </a:p>
          <a:p>
            <a:r>
              <a:t>For A and C, training accuracy climbs to 97–99 percent while validation sits around 92. That is mild over-fitting — the augmentation keeps the gap bounded, and I keep the best-validation epoch, not the last one.</a:t>
            </a:r>
          </a:p>
          <a:p>
            <a:endParaRPr/>
          </a:p>
          <a:p>
            <a:r>
              <a:t>point at the orange and red curves B and D look completely different: training *and* validation both stay low — training accuracy under 60 percent — and both are still slowly rising at epoch 40. That is under-fitting, not over-fitting. These models cannot fit the data at all.</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Then I tuned approach C: three learning rates by two weight-decay values.</a:t>
            </a:r>
          </a:p>
          <a:p>
            <a:endParaRPr/>
          </a:p>
          <a:p>
            <a:r>
              <a:t>The textbook advice for fine-tuning is "use a low learning rate." In my grid, 1e-4 was the worst cell. Ten times higher — 1e-3 — gained four points of validation accuracy. With the whole network trainable and only 2 500 images, the model under-trains at 1e-4.</a:t>
            </a:r>
          </a:p>
          <a:p>
            <a:endParaRPr/>
          </a:p>
          <a:p>
            <a:r>
              <a:t>Weight decay was slightly worse in every column — the augmentation already regularises.</a:t>
            </a:r>
          </a:p>
          <a:p>
            <a:endParaRPr/>
          </a:p>
          <a:p>
            <a:r>
              <a:t>The selected model is lr 1e-3, no weight decay: 96.5 percent on test.</a:t>
            </a:r>
          </a:p>
          <a:p>
            <a:endParaRPr/>
          </a:p>
          <a:p>
            <a:r>
              <a:t>One honest note: the 3e-4 cell scores higher on *test* — 97.0 — but lower on validation. I select on validation, so 96.5 is what I report.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Model C makes 34 errors out of 567.</a:t>
            </a:r>
          </a:p>
          <a:p>
            <a:endParaRPr/>
          </a:p>
          <a:p>
            <a:r>
              <a:t>Eight of them — a quarter — are a single pair: Banteay Meanchey and Oudor Meanchey. On a plate both names are abbreviated — point at the card *bor*-dot-meanchey and *oo*-dot-meanchey. The entire decision rests on one small leading letter, and on a blurred plate that letter is gone.</a:t>
            </a:r>
          </a:p>
          <a:p>
            <a:endParaRPr/>
          </a:p>
          <a:p>
            <a:r>
              <a:t>The other frequent confusions are the same story — Battambang and Pursat, Kampong Chhnang and Kampong Thom — names that share a whole word.</a:t>
            </a:r>
          </a:p>
          <a:p>
            <a:endParaRPr/>
          </a:p>
          <a:p>
            <a:r>
              <a:t>point at the gallery Most remaining errors are crops a human cannot read either — motion blur, twenty-pixel text, JPEG blocks.</a:t>
            </a:r>
          </a:p>
          <a:p>
            <a:endParaRPr/>
          </a:p>
          <a:p>
            <a:r>
              <a:t>And class size matters less than I expected: the four smallest classes score 90 percent against 94.2 for the rest, and Mondul Kiri gets five out of five on 18 training crops. It is the visual similarity of the name, not the amount of data, that drives the errors.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Let me explain that ranking with the concepts from the course.</a:t>
            </a:r>
          </a:p>
          <a:p>
            <a:endParaRPr/>
          </a:p>
          <a:p>
            <a:r>
              <a:t>B collapses because of inductive bias and domain shift. ImageNet filters encode natural-image textures and object parts. Khmer letters are stroke shapes. To separate them, the low-level filters themselves have to change — and a 13-thousand-parameter head cannot do that.</a:t>
            </a:r>
          </a:p>
          <a:p>
            <a:endParaRPr/>
          </a:p>
          <a:p>
            <a:r>
              <a:t>A equals C because of data size. Two and a half thousand images are enough to learn glyph features from random initialisation. Pre-training is a good *starting point*, not new knowledge.</a:t>
            </a:r>
          </a:p>
          <a:p>
            <a:endParaRPr/>
          </a:p>
          <a:p>
            <a:r>
              <a:t>D fails because of capacity. Four blocks and 400 thousand parameters cannot separate 26 nearly identical words at 128 pixels. Depth and residual connections matter here.</a:t>
            </a:r>
          </a:p>
          <a:p>
            <a:endParaRPr/>
          </a:p>
          <a:p>
            <a:r>
              <a:t>E succeeds because of self-attention. Global attention across all 196 patches captures full-word Khmer stroke relationships, matching 96.1% and lifting upside-down reading to 26.8%.</a:t>
            </a:r>
          </a:p>
          <a:p>
            <a:endParaRPr/>
          </a:p>
          <a:p>
            <a:r>
              <a:t>And tuning gave the biggest single gain — plus 2.5 points — because full fine-tuning is just training, and training wants a training-size learning rate.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this study cannot claim.</a:t>
            </a:r>
          </a:p>
          <a:p>
            <a:endParaRPr/>
          </a:p>
          <a:p>
            <a:r>
              <a:t>The data is public and scraped, not collected for this purpose. The test split carries the 13.4 percent near-duplicate rate I showed you. With 567 test images the uncertainty is roughly plus or minus two points, so A and C genuinely cannot be separated. I used one seed per configuration. And I compared two model families.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Four takeaways.</a:t>
            </a:r>
          </a:p>
          <a:p>
            <a:endParaRPr/>
          </a:p>
          <a:p>
            <a:r>
              <a:t>One: for Khmer glyphs, train the whole network — frozen ImageNet features do not transfer (42%).</a:t>
            </a:r>
          </a:p>
          <a:p>
            <a:r>
              <a:t>Two: Transformers excel on script — ViT-B/16 matches 96.1% and improves rotation robustness (26.8%).</a:t>
            </a:r>
          </a:p>
          <a:p>
            <a:r>
              <a:t>Three: capacity matters — 400 thousand parameters is not enough; eleven to 86 million is.</a:t>
            </a:r>
          </a:p>
          <a:p>
            <a:r>
              <a:t>Four: for CNNs, the biggest gain came from tuning the learning rate, not from the architecture.</a:t>
            </a:r>
          </a:p>
          <a:p>
            <a:endParaRPr/>
          </a:p>
          <a:p>
            <a:r>
              <a:t>Next, in priority order: re-split by source photo, photograph the five smallest provinces, and benchmark Swin Transformer and ConvNeXt.</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Every number in this presentation comes from a script in the repository that you can run. My laptop is open.</a:t>
            </a:r>
          </a:p>
          <a:p>
            <a:endParaRPr/>
          </a:p>
          <a:p>
            <a:r>
              <a:t>Thank you — I am happy to take questions.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7.xml"/><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3" name="Picture 2" descr="kit_logo.png"/>
          <p:cNvPicPr>
            <a:picLocks noChangeAspect="1"/>
          </p:cNvPicPr>
          <p:nvPr/>
        </p:nvPicPr>
        <p:blipFill>
          <a:blip r:embed="rId3"/>
          <a:stretch>
            <a:fillRect/>
          </a:stretch>
        </p:blipFill>
        <p:spPr>
          <a:xfrm>
            <a:off x="10500055" y="347472"/>
            <a:ext cx="868680" cy="868680"/>
          </a:xfrm>
          <a:prstGeom prst="rect">
            <a:avLst/>
          </a:prstGeom>
        </p:spPr>
      </p:pic>
      <p:sp>
        <p:nvSpPr>
          <p:cNvPr id="4" name="Rounded Rectangle 3"/>
          <p:cNvSpPr/>
          <p:nvPr/>
        </p:nvSpPr>
        <p:spPr>
          <a:xfrm>
            <a:off x="822960" y="1143000"/>
            <a:ext cx="3860074" cy="292608"/>
          </a:xfrm>
          <a:prstGeom prst="roundRect">
            <a:avLst>
              <a:gd name="adj" fmla="val 50000"/>
            </a:avLst>
          </a:prstGeom>
          <a:solidFill>
            <a:srgbClr val="E2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822960" y="1143000"/>
            <a:ext cx="3860074" cy="292608"/>
          </a:xfrm>
          <a:prstGeom prst="rect">
            <a:avLst/>
          </a:prstGeom>
          <a:noFill/>
        </p:spPr>
        <p:txBody>
          <a:bodyPr wrap="square" lIns="18288" rIns="18288" anchor="ctr">
            <a:spAutoFit/>
          </a:bodyPr>
          <a:lstStyle/>
          <a:p>
            <a:pPr algn="ctr"/>
            <a:r>
              <a:rPr sz="1000" b="1" i="0" spc="120">
                <a:solidFill>
                  <a:srgbClr val="0F7C74"/>
                </a:solidFill>
                <a:latin typeface="Segoe UI"/>
              </a:rPr>
              <a:t>DEEP LEARNING · FINAL PROJECT · 2026</a:t>
            </a:r>
          </a:p>
        </p:txBody>
      </p:sp>
      <p:sp>
        <p:nvSpPr>
          <p:cNvPr id="6" name="TextBox 5"/>
          <p:cNvSpPr txBox="1"/>
          <p:nvPr/>
        </p:nvSpPr>
        <p:spPr>
          <a:xfrm>
            <a:off x="786384" y="1645920"/>
            <a:ext cx="6766560" cy="1645920"/>
          </a:xfrm>
          <a:prstGeom prst="rect">
            <a:avLst/>
          </a:prstGeom>
          <a:noFill/>
        </p:spPr>
        <p:txBody>
          <a:bodyPr wrap="square" lIns="18288" rIns="18288" anchor="t">
            <a:spAutoFit/>
          </a:bodyPr>
          <a:lstStyle/>
          <a:p>
            <a:pPr algn="l"/>
            <a:r>
              <a:rPr sz="4000" b="0" i="0">
                <a:solidFill>
                  <a:srgbClr val="14213D"/>
                </a:solidFill>
                <a:latin typeface="Segoe UI Semibold"/>
              </a:rPr>
              <a:t>Reading the Khmer province</a:t>
            </a:r>
          </a:p>
          <a:p>
            <a:pPr algn="l"/>
            <a:r>
              <a:rPr sz="4000" b="0" i="0">
                <a:solidFill>
                  <a:srgbClr val="14213D"/>
                </a:solidFill>
                <a:latin typeface="Segoe UI Semibold"/>
              </a:rPr>
              <a:t>on Cambodian licence plates</a:t>
            </a:r>
          </a:p>
        </p:txBody>
      </p:sp>
      <p:sp>
        <p:nvSpPr>
          <p:cNvPr id="7" name="TextBox 6"/>
          <p:cNvSpPr txBox="1"/>
          <p:nvPr/>
        </p:nvSpPr>
        <p:spPr>
          <a:xfrm>
            <a:off x="822960" y="3337560"/>
            <a:ext cx="6583680" cy="457200"/>
          </a:xfrm>
          <a:prstGeom prst="rect">
            <a:avLst/>
          </a:prstGeom>
          <a:noFill/>
        </p:spPr>
        <p:txBody>
          <a:bodyPr wrap="square" lIns="18288" rIns="18288" anchor="t">
            <a:spAutoFit/>
          </a:bodyPr>
          <a:lstStyle/>
          <a:p>
            <a:pPr algn="l"/>
            <a:r>
              <a:rPr sz="2000" b="0" i="0">
                <a:solidFill>
                  <a:srgbClr val="6B7280"/>
                </a:solidFill>
                <a:latin typeface="Segoe UI"/>
              </a:rPr>
              <a:t>Five deep-learning approaches compared</a:t>
            </a:r>
          </a:p>
        </p:txBody>
      </p:sp>
      <p:sp>
        <p:nvSpPr>
          <p:cNvPr id="8" name="Rounded Rectangle 7"/>
          <p:cNvSpPr/>
          <p:nvPr/>
        </p:nvSpPr>
        <p:spPr>
          <a:xfrm>
            <a:off x="822960" y="4069080"/>
            <a:ext cx="1369422" cy="292608"/>
          </a:xfrm>
          <a:prstGeom prst="roundRect">
            <a:avLst>
              <a:gd name="adj" fmla="val 50000"/>
            </a:avLst>
          </a:prstGeom>
          <a:solidFill>
            <a:srgbClr val="E2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822960" y="4069080"/>
            <a:ext cx="1369422" cy="292608"/>
          </a:xfrm>
          <a:prstGeom prst="rect">
            <a:avLst/>
          </a:prstGeom>
          <a:noFill/>
        </p:spPr>
        <p:txBody>
          <a:bodyPr wrap="square" lIns="18288" rIns="18288" anchor="ctr">
            <a:spAutoFit/>
          </a:bodyPr>
          <a:lstStyle/>
          <a:p>
            <a:pPr algn="ctr"/>
            <a:r>
              <a:rPr sz="1000" b="1" i="0" spc="120">
                <a:solidFill>
                  <a:srgbClr val="0F7C74"/>
                </a:solidFill>
                <a:latin typeface="Segoe UI"/>
              </a:rPr>
              <a:t>26 CLASSES</a:t>
            </a:r>
          </a:p>
        </p:txBody>
      </p:sp>
      <p:sp>
        <p:nvSpPr>
          <p:cNvPr id="10" name="Rounded Rectangle 9"/>
          <p:cNvSpPr/>
          <p:nvPr/>
        </p:nvSpPr>
        <p:spPr>
          <a:xfrm>
            <a:off x="2329542" y="4069080"/>
            <a:ext cx="1561011" cy="292608"/>
          </a:xfrm>
          <a:prstGeom prst="roundRect">
            <a:avLst>
              <a:gd name="adj" fmla="val 50000"/>
            </a:avLst>
          </a:prstGeom>
          <a:solidFill>
            <a:srgbClr val="E2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2329542" y="4069080"/>
            <a:ext cx="1561011" cy="292608"/>
          </a:xfrm>
          <a:prstGeom prst="rect">
            <a:avLst/>
          </a:prstGeom>
          <a:noFill/>
        </p:spPr>
        <p:txBody>
          <a:bodyPr wrap="square" lIns="18288" rIns="18288" anchor="ctr">
            <a:spAutoFit/>
          </a:bodyPr>
          <a:lstStyle/>
          <a:p>
            <a:pPr algn="ctr"/>
            <a:r>
              <a:rPr sz="1000" b="1" i="0" spc="120">
                <a:solidFill>
                  <a:srgbClr val="0F7C74"/>
                </a:solidFill>
                <a:latin typeface="Segoe UI"/>
              </a:rPr>
              <a:t>5 APPROACHES</a:t>
            </a:r>
          </a:p>
        </p:txBody>
      </p:sp>
      <p:sp>
        <p:nvSpPr>
          <p:cNvPr id="12" name="Rounded Rectangle 11"/>
          <p:cNvSpPr/>
          <p:nvPr/>
        </p:nvSpPr>
        <p:spPr>
          <a:xfrm>
            <a:off x="4027714" y="4069080"/>
            <a:ext cx="1752600" cy="292608"/>
          </a:xfrm>
          <a:prstGeom prst="roundRect">
            <a:avLst>
              <a:gd name="adj" fmla="val 50000"/>
            </a:avLst>
          </a:prstGeom>
          <a:solidFill>
            <a:srgbClr val="E2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4027714" y="4069080"/>
            <a:ext cx="1752600" cy="292608"/>
          </a:xfrm>
          <a:prstGeom prst="rect">
            <a:avLst/>
          </a:prstGeom>
          <a:noFill/>
        </p:spPr>
        <p:txBody>
          <a:bodyPr wrap="square" lIns="18288" rIns="18288" anchor="ctr">
            <a:spAutoFit/>
          </a:bodyPr>
          <a:lstStyle/>
          <a:p>
            <a:pPr algn="ctr"/>
            <a:r>
              <a:rPr sz="1000" b="1" i="0" spc="120">
                <a:solidFill>
                  <a:srgbClr val="0F7C74"/>
                </a:solidFill>
                <a:latin typeface="Segoe UI"/>
              </a:rPr>
              <a:t>567 TEST CROPS</a:t>
            </a:r>
          </a:p>
        </p:txBody>
      </p:sp>
      <p:sp>
        <p:nvSpPr>
          <p:cNvPr id="14" name="Rectangle 13"/>
          <p:cNvSpPr/>
          <p:nvPr/>
        </p:nvSpPr>
        <p:spPr>
          <a:xfrm>
            <a:off x="822960" y="4892040"/>
            <a:ext cx="548640" cy="45720"/>
          </a:xfrm>
          <a:prstGeom prst="rect">
            <a:avLst/>
          </a:prstGeom>
          <a:solidFill>
            <a:srgbClr val="0F7C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822960" y="5074920"/>
            <a:ext cx="6400800" cy="365760"/>
          </a:xfrm>
          <a:prstGeom prst="rect">
            <a:avLst/>
          </a:prstGeom>
          <a:noFill/>
        </p:spPr>
        <p:txBody>
          <a:bodyPr wrap="square" lIns="18288" rIns="18288" anchor="t">
            <a:spAutoFit/>
          </a:bodyPr>
          <a:lstStyle/>
          <a:p>
            <a:pPr algn="l"/>
            <a:r>
              <a:rPr sz="1800" b="1" i="0">
                <a:solidFill>
                  <a:srgbClr val="14213D"/>
                </a:solidFill>
                <a:latin typeface="Segoe UI Semibold"/>
              </a:rPr>
              <a:t>So Sereysokbotra</a:t>
            </a:r>
          </a:p>
        </p:txBody>
      </p:sp>
      <p:sp>
        <p:nvSpPr>
          <p:cNvPr id="16" name="TextBox 15"/>
          <p:cNvSpPr txBox="1"/>
          <p:nvPr/>
        </p:nvSpPr>
        <p:spPr>
          <a:xfrm>
            <a:off x="822960" y="5458968"/>
            <a:ext cx="6858000" cy="320040"/>
          </a:xfrm>
          <a:prstGeom prst="rect">
            <a:avLst/>
          </a:prstGeom>
          <a:noFill/>
        </p:spPr>
        <p:txBody>
          <a:bodyPr wrap="square" lIns="18288" rIns="18288" anchor="t">
            <a:spAutoFit/>
          </a:bodyPr>
          <a:lstStyle/>
          <a:p>
            <a:pPr algn="l"/>
            <a:r>
              <a:rPr sz="1300" b="0" i="0">
                <a:solidFill>
                  <a:srgbClr val="6B7280"/>
                </a:solidFill>
                <a:latin typeface="Segoe UI"/>
              </a:rPr>
              <a:t>Lecturer: Mr. Soklong HIM  ·  Kirirom Institute of Technology</a:t>
            </a:r>
          </a:p>
        </p:txBody>
      </p:sp>
      <p:sp>
        <p:nvSpPr>
          <p:cNvPr id="17" name="Rounded Rectangle 16"/>
          <p:cNvSpPr/>
          <p:nvPr/>
        </p:nvSpPr>
        <p:spPr>
          <a:xfrm>
            <a:off x="7674559" y="1517904"/>
            <a:ext cx="3822191" cy="3822191"/>
          </a:xfrm>
          <a:prstGeom prst="roundRect">
            <a:avLst>
              <a:gd name="adj" fmla="val 3827"/>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8" name="Picture 17" descr="plate_scene.png"/>
          <p:cNvPicPr>
            <a:picLocks noChangeAspect="1"/>
          </p:cNvPicPr>
          <p:nvPr/>
        </p:nvPicPr>
        <p:blipFill>
          <a:blip r:embed="rId4"/>
          <a:stretch>
            <a:fillRect/>
          </a:stretch>
        </p:blipFill>
        <p:spPr>
          <a:xfrm>
            <a:off x="7802575" y="1645920"/>
            <a:ext cx="3566160" cy="35661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ounded Rectangle 2"/>
          <p:cNvSpPr/>
          <p:nvPr/>
        </p:nvSpPr>
        <p:spPr>
          <a:xfrm>
            <a:off x="640080" y="384048"/>
            <a:ext cx="1819656" cy="292608"/>
          </a:xfrm>
          <a:prstGeom prst="roundRect">
            <a:avLst>
              <a:gd name="adj" fmla="val 50000"/>
            </a:avLst>
          </a:prstGeom>
          <a:solidFill>
            <a:srgbClr val="E2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640080" y="384048"/>
            <a:ext cx="1819656" cy="292608"/>
          </a:xfrm>
          <a:prstGeom prst="rect">
            <a:avLst/>
          </a:prstGeom>
          <a:noFill/>
        </p:spPr>
        <p:txBody>
          <a:bodyPr wrap="square" lIns="18288" rIns="18288" anchor="ctr">
            <a:spAutoFit/>
          </a:bodyPr>
          <a:lstStyle/>
          <a:p>
            <a:pPr algn="ctr"/>
            <a:r>
              <a:rPr sz="1050" b="1" i="0" spc="120">
                <a:solidFill>
                  <a:srgbClr val="0F7C74"/>
                </a:solidFill>
                <a:latin typeface="Segoe UI"/>
              </a:rPr>
              <a:t>01  ·  PROBLEM</a:t>
            </a:r>
          </a:p>
        </p:txBody>
      </p:sp>
      <p:pic>
        <p:nvPicPr>
          <p:cNvPr id="5" name="Picture 4" descr="kit_logo.png"/>
          <p:cNvPicPr>
            <a:picLocks noChangeAspect="1"/>
          </p:cNvPicPr>
          <p:nvPr/>
        </p:nvPicPr>
        <p:blipFill>
          <a:blip r:embed="rId3"/>
          <a:stretch>
            <a:fillRect/>
          </a:stretch>
        </p:blipFill>
        <p:spPr>
          <a:xfrm>
            <a:off x="10929823" y="320040"/>
            <a:ext cx="621792" cy="621792"/>
          </a:xfrm>
          <a:prstGeom prst="rect">
            <a:avLst/>
          </a:prstGeom>
        </p:spPr>
      </p:pic>
      <p:sp>
        <p:nvSpPr>
          <p:cNvPr id="6" name="TextBox 5"/>
          <p:cNvSpPr txBox="1"/>
          <p:nvPr/>
        </p:nvSpPr>
        <p:spPr>
          <a:xfrm>
            <a:off x="621792" y="731520"/>
            <a:ext cx="9997135" cy="685800"/>
          </a:xfrm>
          <a:prstGeom prst="rect">
            <a:avLst/>
          </a:prstGeom>
          <a:noFill/>
        </p:spPr>
        <p:txBody>
          <a:bodyPr wrap="square" lIns="18288" rIns="18288" anchor="ctr">
            <a:spAutoFit/>
          </a:bodyPr>
          <a:lstStyle/>
          <a:p>
            <a:pPr algn="l"/>
            <a:r>
              <a:rPr sz="3000" b="0" i="0" dirty="0">
                <a:solidFill>
                  <a:srgbClr val="14213D"/>
                </a:solidFill>
                <a:latin typeface="Segoe UI Semibold"/>
              </a:rPr>
              <a:t>The real-world problem: why province matters</a:t>
            </a:r>
          </a:p>
        </p:txBody>
      </p:sp>
      <p:sp>
        <p:nvSpPr>
          <p:cNvPr id="7" name="Rectangle 6"/>
          <p:cNvSpPr/>
          <p:nvPr/>
        </p:nvSpPr>
        <p:spPr>
          <a:xfrm>
            <a:off x="640080" y="6601968"/>
            <a:ext cx="1368073" cy="45720"/>
          </a:xfrm>
          <a:prstGeom prst="rect">
            <a:avLst/>
          </a:prstGeom>
          <a:solidFill>
            <a:srgbClr val="E09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640080" y="6336792"/>
            <a:ext cx="1368073" cy="237744"/>
          </a:xfrm>
          <a:prstGeom prst="rect">
            <a:avLst/>
          </a:prstGeom>
          <a:noFill/>
        </p:spPr>
        <p:txBody>
          <a:bodyPr wrap="square" lIns="18288" rIns="18288" anchor="t">
            <a:spAutoFit/>
          </a:bodyPr>
          <a:lstStyle/>
          <a:p>
            <a:pPr algn="l"/>
            <a:r>
              <a:rPr sz="850" b="1" i="0">
                <a:solidFill>
                  <a:srgbClr val="14213D"/>
                </a:solidFill>
                <a:latin typeface="Segoe UI"/>
              </a:rPr>
              <a:t>Problem</a:t>
            </a:r>
          </a:p>
        </p:txBody>
      </p:sp>
      <p:sp>
        <p:nvSpPr>
          <p:cNvPr id="9" name="Rectangle 8"/>
          <p:cNvSpPr/>
          <p:nvPr/>
        </p:nvSpPr>
        <p:spPr>
          <a:xfrm>
            <a:off x="2081305" y="6601968"/>
            <a:ext cx="1368073" cy="2743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2081305" y="6336792"/>
            <a:ext cx="1368073" cy="237744"/>
          </a:xfrm>
          <a:prstGeom prst="rect">
            <a:avLst/>
          </a:prstGeom>
          <a:noFill/>
        </p:spPr>
        <p:txBody>
          <a:bodyPr wrap="square" lIns="18288" rIns="18288" anchor="t">
            <a:spAutoFit/>
          </a:bodyPr>
          <a:lstStyle/>
          <a:p>
            <a:pPr algn="l"/>
            <a:r>
              <a:rPr sz="850" b="0" i="0">
                <a:solidFill>
                  <a:srgbClr val="6B7280"/>
                </a:solidFill>
                <a:latin typeface="Segoe UI"/>
              </a:rPr>
              <a:t>Data</a:t>
            </a:r>
          </a:p>
        </p:txBody>
      </p:sp>
      <p:sp>
        <p:nvSpPr>
          <p:cNvPr id="11" name="Rectangle 10"/>
          <p:cNvSpPr/>
          <p:nvPr/>
        </p:nvSpPr>
        <p:spPr>
          <a:xfrm>
            <a:off x="3522530" y="6601968"/>
            <a:ext cx="1368073" cy="2743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3522530" y="6336792"/>
            <a:ext cx="1368073" cy="237744"/>
          </a:xfrm>
          <a:prstGeom prst="rect">
            <a:avLst/>
          </a:prstGeom>
          <a:noFill/>
        </p:spPr>
        <p:txBody>
          <a:bodyPr wrap="square" lIns="18288" rIns="18288" anchor="t">
            <a:spAutoFit/>
          </a:bodyPr>
          <a:lstStyle/>
          <a:p>
            <a:pPr algn="l"/>
            <a:r>
              <a:rPr sz="850" b="0" i="0">
                <a:solidFill>
                  <a:srgbClr val="6B7280"/>
                </a:solidFill>
                <a:latin typeface="Segoe UI"/>
              </a:rPr>
              <a:t>Method</a:t>
            </a:r>
          </a:p>
        </p:txBody>
      </p:sp>
      <p:sp>
        <p:nvSpPr>
          <p:cNvPr id="13" name="Rectangle 12"/>
          <p:cNvSpPr/>
          <p:nvPr/>
        </p:nvSpPr>
        <p:spPr>
          <a:xfrm>
            <a:off x="4963755" y="6601968"/>
            <a:ext cx="1368073" cy="2743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963755" y="6336792"/>
            <a:ext cx="1368073" cy="237744"/>
          </a:xfrm>
          <a:prstGeom prst="rect">
            <a:avLst/>
          </a:prstGeom>
          <a:noFill/>
        </p:spPr>
        <p:txBody>
          <a:bodyPr wrap="square" lIns="18288" rIns="18288" anchor="t">
            <a:spAutoFit/>
          </a:bodyPr>
          <a:lstStyle/>
          <a:p>
            <a:pPr algn="l"/>
            <a:r>
              <a:rPr sz="850" b="0" i="0">
                <a:solidFill>
                  <a:srgbClr val="6B7280"/>
                </a:solidFill>
                <a:latin typeface="Segoe UI"/>
              </a:rPr>
              <a:t>Results</a:t>
            </a:r>
          </a:p>
        </p:txBody>
      </p:sp>
      <p:sp>
        <p:nvSpPr>
          <p:cNvPr id="15" name="Rectangle 14"/>
          <p:cNvSpPr/>
          <p:nvPr/>
        </p:nvSpPr>
        <p:spPr>
          <a:xfrm>
            <a:off x="6404980" y="6601968"/>
            <a:ext cx="1368073" cy="2743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6404980" y="6336792"/>
            <a:ext cx="1368073" cy="237744"/>
          </a:xfrm>
          <a:prstGeom prst="rect">
            <a:avLst/>
          </a:prstGeom>
          <a:noFill/>
        </p:spPr>
        <p:txBody>
          <a:bodyPr wrap="square" lIns="18288" rIns="18288" anchor="t">
            <a:spAutoFit/>
          </a:bodyPr>
          <a:lstStyle/>
          <a:p>
            <a:pPr algn="l"/>
            <a:r>
              <a:rPr sz="850" b="0" i="0">
                <a:solidFill>
                  <a:srgbClr val="6B7280"/>
                </a:solidFill>
                <a:latin typeface="Segoe UI"/>
              </a:rPr>
              <a:t>Analysis</a:t>
            </a:r>
          </a:p>
        </p:txBody>
      </p:sp>
      <p:sp>
        <p:nvSpPr>
          <p:cNvPr id="17" name="Rectangle 16"/>
          <p:cNvSpPr/>
          <p:nvPr/>
        </p:nvSpPr>
        <p:spPr>
          <a:xfrm>
            <a:off x="7846205" y="6601968"/>
            <a:ext cx="1368073" cy="2743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846205" y="6336792"/>
            <a:ext cx="1368073" cy="237744"/>
          </a:xfrm>
          <a:prstGeom prst="rect">
            <a:avLst/>
          </a:prstGeom>
          <a:noFill/>
        </p:spPr>
        <p:txBody>
          <a:bodyPr wrap="square" lIns="18288" rIns="18288" anchor="t">
            <a:spAutoFit/>
          </a:bodyPr>
          <a:lstStyle/>
          <a:p>
            <a:pPr algn="l"/>
            <a:r>
              <a:rPr sz="850" b="0" i="0">
                <a:solidFill>
                  <a:srgbClr val="6B7280"/>
                </a:solidFill>
                <a:latin typeface="Segoe UI"/>
              </a:rPr>
              <a:t>Honesty</a:t>
            </a:r>
          </a:p>
        </p:txBody>
      </p:sp>
      <p:sp>
        <p:nvSpPr>
          <p:cNvPr id="19" name="Rectangle 18"/>
          <p:cNvSpPr/>
          <p:nvPr/>
        </p:nvSpPr>
        <p:spPr>
          <a:xfrm>
            <a:off x="9287430" y="6601968"/>
            <a:ext cx="1368073" cy="2743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9287430" y="6336792"/>
            <a:ext cx="1368073" cy="237744"/>
          </a:xfrm>
          <a:prstGeom prst="rect">
            <a:avLst/>
          </a:prstGeom>
          <a:noFill/>
        </p:spPr>
        <p:txBody>
          <a:bodyPr wrap="square" lIns="18288" rIns="18288" anchor="t">
            <a:spAutoFit/>
          </a:bodyPr>
          <a:lstStyle/>
          <a:p>
            <a:pPr algn="l"/>
            <a:r>
              <a:rPr sz="850" b="0" i="0">
                <a:solidFill>
                  <a:srgbClr val="6B7280"/>
                </a:solidFill>
                <a:latin typeface="Segoe UI"/>
              </a:rPr>
              <a:t>Conclusion</a:t>
            </a:r>
          </a:p>
        </p:txBody>
      </p:sp>
      <p:sp>
        <p:nvSpPr>
          <p:cNvPr id="21" name="TextBox 20"/>
          <p:cNvSpPr txBox="1"/>
          <p:nvPr/>
        </p:nvSpPr>
        <p:spPr>
          <a:xfrm>
            <a:off x="10820095" y="6373368"/>
            <a:ext cx="731520" cy="274320"/>
          </a:xfrm>
          <a:prstGeom prst="rect">
            <a:avLst/>
          </a:prstGeom>
          <a:noFill/>
        </p:spPr>
        <p:txBody>
          <a:bodyPr wrap="square" lIns="18288" rIns="18288" anchor="t">
            <a:spAutoFit/>
          </a:bodyPr>
          <a:lstStyle/>
          <a:p>
            <a:pPr algn="r"/>
            <a:r>
              <a:rPr sz="1100" b="1" i="0">
                <a:solidFill>
                  <a:srgbClr val="0F7C74"/>
                </a:solidFill>
                <a:latin typeface="Segoe UI Semibold"/>
              </a:rPr>
              <a:t>2</a:t>
            </a:r>
          </a:p>
        </p:txBody>
      </p:sp>
      <p:sp>
        <p:nvSpPr>
          <p:cNvPr id="22" name="Rounded Rectangle 21"/>
          <p:cNvSpPr/>
          <p:nvPr/>
        </p:nvSpPr>
        <p:spPr>
          <a:xfrm>
            <a:off x="640080" y="1600200"/>
            <a:ext cx="2590723" cy="1874519"/>
          </a:xfrm>
          <a:prstGeom prst="roundRect">
            <a:avLst>
              <a:gd name="adj" fmla="val 5853"/>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786384" y="1728216"/>
            <a:ext cx="2298115" cy="182880"/>
          </a:xfrm>
          <a:prstGeom prst="rect">
            <a:avLst/>
          </a:prstGeom>
          <a:noFill/>
        </p:spPr>
        <p:txBody>
          <a:bodyPr wrap="square" lIns="18288" rIns="18288" anchor="t">
            <a:spAutoFit/>
          </a:bodyPr>
          <a:lstStyle/>
          <a:p>
            <a:pPr algn="l"/>
            <a:r>
              <a:rPr sz="900" b="1" i="0" spc="80">
                <a:solidFill>
                  <a:srgbClr val="0F7C74"/>
                </a:solidFill>
                <a:latin typeface="Segoe UI Semibold"/>
              </a:rPr>
              <a:t>01 · SMART ACCESS</a:t>
            </a:r>
          </a:p>
        </p:txBody>
      </p:sp>
      <p:sp>
        <p:nvSpPr>
          <p:cNvPr id="25" name="TextBox 24"/>
          <p:cNvSpPr txBox="1"/>
          <p:nvPr/>
        </p:nvSpPr>
        <p:spPr>
          <a:xfrm>
            <a:off x="786384" y="1911095"/>
            <a:ext cx="2298115" cy="310896"/>
          </a:xfrm>
          <a:prstGeom prst="rect">
            <a:avLst/>
          </a:prstGeom>
          <a:noFill/>
        </p:spPr>
        <p:txBody>
          <a:bodyPr wrap="square">
            <a:spAutoFit/>
          </a:bodyPr>
          <a:lstStyle/>
          <a:p>
            <a:r>
              <a:rPr sz="1350" b="0" i="0">
                <a:solidFill>
                  <a:srgbClr val="14213D"/>
                </a:solidFill>
                <a:latin typeface="Segoe UI"/>
              </a:rPr>
              <a:t>Automated Entry</a:t>
            </a:r>
          </a:p>
        </p:txBody>
      </p:sp>
      <p:sp>
        <p:nvSpPr>
          <p:cNvPr id="26" name="Rectangle 25"/>
          <p:cNvSpPr/>
          <p:nvPr/>
        </p:nvSpPr>
        <p:spPr>
          <a:xfrm>
            <a:off x="786384" y="2258568"/>
            <a:ext cx="2298115"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786384" y="2313432"/>
            <a:ext cx="2298115" cy="1069848"/>
          </a:xfrm>
          <a:prstGeom prst="rect">
            <a:avLst/>
          </a:prstGeom>
          <a:noFill/>
        </p:spPr>
        <p:txBody>
          <a:bodyPr wrap="square">
            <a:spAutoFit/>
          </a:bodyPr>
          <a:lstStyle/>
          <a:p>
            <a:r>
              <a:rPr sz="1150" b="0" i="0">
                <a:solidFill>
                  <a:srgbClr val="6B7280"/>
                </a:solidFill>
                <a:latin typeface="Segoe UI"/>
              </a:rPr>
              <a:t>Boreys, parking &amp; highway tolls in Cambodia need fast, hands-free vehicle verification.</a:t>
            </a:r>
          </a:p>
        </p:txBody>
      </p:sp>
      <p:sp>
        <p:nvSpPr>
          <p:cNvPr id="28" name="Rounded Rectangle 27"/>
          <p:cNvSpPr/>
          <p:nvPr/>
        </p:nvSpPr>
        <p:spPr>
          <a:xfrm>
            <a:off x="3413683" y="1600200"/>
            <a:ext cx="2590723" cy="1874519"/>
          </a:xfrm>
          <a:prstGeom prst="roundRect">
            <a:avLst>
              <a:gd name="adj" fmla="val 5853"/>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3559987" y="1728216"/>
            <a:ext cx="2298115" cy="182880"/>
          </a:xfrm>
          <a:prstGeom prst="rect">
            <a:avLst/>
          </a:prstGeom>
          <a:noFill/>
        </p:spPr>
        <p:txBody>
          <a:bodyPr wrap="square" lIns="18288" rIns="18288" anchor="t">
            <a:spAutoFit/>
          </a:bodyPr>
          <a:lstStyle/>
          <a:p>
            <a:pPr algn="l"/>
            <a:r>
              <a:rPr sz="900" b="1" i="0" spc="80">
                <a:solidFill>
                  <a:srgbClr val="C0392B"/>
                </a:solidFill>
                <a:latin typeface="Segoe UI Semibold"/>
              </a:rPr>
              <a:t>02 · FATAL FLAW</a:t>
            </a:r>
          </a:p>
        </p:txBody>
      </p:sp>
      <p:sp>
        <p:nvSpPr>
          <p:cNvPr id="31" name="TextBox 30"/>
          <p:cNvSpPr txBox="1"/>
          <p:nvPr/>
        </p:nvSpPr>
        <p:spPr>
          <a:xfrm>
            <a:off x="3559987" y="1911095"/>
            <a:ext cx="2298115" cy="310896"/>
          </a:xfrm>
          <a:prstGeom prst="rect">
            <a:avLst/>
          </a:prstGeom>
          <a:noFill/>
        </p:spPr>
        <p:txBody>
          <a:bodyPr wrap="square">
            <a:spAutoFit/>
          </a:bodyPr>
          <a:lstStyle/>
          <a:p>
            <a:r>
              <a:rPr sz="1350" b="0" i="0">
                <a:solidFill>
                  <a:srgbClr val="14213D"/>
                </a:solidFill>
                <a:latin typeface="Segoe UI"/>
              </a:rPr>
              <a:t>Duplicate Numbers</a:t>
            </a:r>
          </a:p>
        </p:txBody>
      </p:sp>
      <p:sp>
        <p:nvSpPr>
          <p:cNvPr id="32" name="Rectangle 31"/>
          <p:cNvSpPr/>
          <p:nvPr/>
        </p:nvSpPr>
        <p:spPr>
          <a:xfrm>
            <a:off x="3559987" y="2258568"/>
            <a:ext cx="2298115"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Box 32"/>
          <p:cNvSpPr txBox="1"/>
          <p:nvPr/>
        </p:nvSpPr>
        <p:spPr>
          <a:xfrm>
            <a:off x="3559987" y="2313432"/>
            <a:ext cx="2298115" cy="1069848"/>
          </a:xfrm>
          <a:prstGeom prst="rect">
            <a:avLst/>
          </a:prstGeom>
          <a:noFill/>
        </p:spPr>
        <p:txBody>
          <a:bodyPr wrap="square">
            <a:spAutoFit/>
          </a:bodyPr>
          <a:lstStyle/>
          <a:p>
            <a:r>
              <a:rPr sz="1058" b="0" i="0">
                <a:solidFill>
                  <a:srgbClr val="6B7280"/>
                </a:solidFill>
                <a:latin typeface="Consolas"/>
              </a:rPr>
              <a:t>2A-0243</a:t>
            </a:r>
            <a:r>
              <a:rPr sz="1150" b="0" i="0">
                <a:solidFill>
                  <a:srgbClr val="6B7280"/>
                </a:solidFill>
                <a:latin typeface="Segoe UI"/>
              </a:rPr>
              <a:t> repeats across 26 provinces. Number alone causes false gate access!</a:t>
            </a:r>
          </a:p>
        </p:txBody>
      </p:sp>
      <p:sp>
        <p:nvSpPr>
          <p:cNvPr id="34" name="Rounded Rectangle 33"/>
          <p:cNvSpPr/>
          <p:nvPr/>
        </p:nvSpPr>
        <p:spPr>
          <a:xfrm>
            <a:off x="6187287" y="1600200"/>
            <a:ext cx="2590723" cy="1874519"/>
          </a:xfrm>
          <a:prstGeom prst="roundRect">
            <a:avLst>
              <a:gd name="adj" fmla="val 5853"/>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TextBox 35"/>
          <p:cNvSpPr txBox="1"/>
          <p:nvPr/>
        </p:nvSpPr>
        <p:spPr>
          <a:xfrm>
            <a:off x="6333591" y="1728216"/>
            <a:ext cx="2298115" cy="182880"/>
          </a:xfrm>
          <a:prstGeom prst="rect">
            <a:avLst/>
          </a:prstGeom>
          <a:noFill/>
        </p:spPr>
        <p:txBody>
          <a:bodyPr wrap="square" lIns="18288" rIns="18288" anchor="t">
            <a:spAutoFit/>
          </a:bodyPr>
          <a:lstStyle/>
          <a:p>
            <a:pPr algn="l"/>
            <a:r>
              <a:rPr sz="900" b="1" i="0" spc="80">
                <a:solidFill>
                  <a:srgbClr val="E09A1A"/>
                </a:solidFill>
                <a:latin typeface="Segoe UI Semibold"/>
              </a:rPr>
              <a:t>03 · OCR LIMITATION</a:t>
            </a:r>
          </a:p>
        </p:txBody>
      </p:sp>
      <p:sp>
        <p:nvSpPr>
          <p:cNvPr id="37" name="TextBox 36"/>
          <p:cNvSpPr txBox="1"/>
          <p:nvPr/>
        </p:nvSpPr>
        <p:spPr>
          <a:xfrm>
            <a:off x="6333591" y="1911095"/>
            <a:ext cx="2298115" cy="310896"/>
          </a:xfrm>
          <a:prstGeom prst="rect">
            <a:avLst/>
          </a:prstGeom>
          <a:noFill/>
        </p:spPr>
        <p:txBody>
          <a:bodyPr wrap="square">
            <a:spAutoFit/>
          </a:bodyPr>
          <a:lstStyle/>
          <a:p>
            <a:r>
              <a:rPr sz="1350" b="0" i="0">
                <a:solidFill>
                  <a:srgbClr val="14213D"/>
                </a:solidFill>
                <a:latin typeface="Segoe UI"/>
              </a:rPr>
              <a:t>Commercial OCR Fails</a:t>
            </a:r>
          </a:p>
        </p:txBody>
      </p:sp>
      <p:sp>
        <p:nvSpPr>
          <p:cNvPr id="38" name="Rectangle 37"/>
          <p:cNvSpPr/>
          <p:nvPr/>
        </p:nvSpPr>
        <p:spPr>
          <a:xfrm>
            <a:off x="6333591" y="2258568"/>
            <a:ext cx="2298115"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Box 38"/>
          <p:cNvSpPr txBox="1"/>
          <p:nvPr/>
        </p:nvSpPr>
        <p:spPr>
          <a:xfrm>
            <a:off x="6333591" y="2313432"/>
            <a:ext cx="2298115" cy="1069848"/>
          </a:xfrm>
          <a:prstGeom prst="rect">
            <a:avLst/>
          </a:prstGeom>
          <a:noFill/>
        </p:spPr>
        <p:txBody>
          <a:bodyPr wrap="square">
            <a:spAutoFit/>
          </a:bodyPr>
          <a:lstStyle/>
          <a:p>
            <a:r>
              <a:rPr sz="1150" b="0" i="0">
                <a:solidFill>
                  <a:srgbClr val="6B7280"/>
                </a:solidFill>
                <a:latin typeface="Segoe UI"/>
              </a:rPr>
              <a:t>Standard engines fail on Khmer script: complex stacked ligatures break character OCR.</a:t>
            </a:r>
          </a:p>
        </p:txBody>
      </p:sp>
      <p:sp>
        <p:nvSpPr>
          <p:cNvPr id="40" name="Rounded Rectangle 39"/>
          <p:cNvSpPr/>
          <p:nvPr/>
        </p:nvSpPr>
        <p:spPr>
          <a:xfrm>
            <a:off x="8960891" y="1600200"/>
            <a:ext cx="2590723" cy="1874519"/>
          </a:xfrm>
          <a:prstGeom prst="roundRect">
            <a:avLst>
              <a:gd name="adj" fmla="val 5853"/>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Box 41"/>
          <p:cNvSpPr txBox="1"/>
          <p:nvPr/>
        </p:nvSpPr>
        <p:spPr>
          <a:xfrm>
            <a:off x="9107195" y="1728216"/>
            <a:ext cx="2298115" cy="182880"/>
          </a:xfrm>
          <a:prstGeom prst="rect">
            <a:avLst/>
          </a:prstGeom>
          <a:noFill/>
        </p:spPr>
        <p:txBody>
          <a:bodyPr wrap="square" lIns="18288" rIns="18288" anchor="t">
            <a:spAutoFit/>
          </a:bodyPr>
          <a:lstStyle/>
          <a:p>
            <a:pPr algn="l"/>
            <a:r>
              <a:rPr sz="900" b="1" i="0" spc="80">
                <a:solidFill>
                  <a:srgbClr val="2F8F4E"/>
                </a:solidFill>
                <a:latin typeface="Segoe UI Semibold"/>
              </a:rPr>
              <a:t>04 · DEEP LEARNING</a:t>
            </a:r>
          </a:p>
        </p:txBody>
      </p:sp>
      <p:sp>
        <p:nvSpPr>
          <p:cNvPr id="43" name="TextBox 42"/>
          <p:cNvSpPr txBox="1"/>
          <p:nvPr/>
        </p:nvSpPr>
        <p:spPr>
          <a:xfrm>
            <a:off x="9107195" y="1911095"/>
            <a:ext cx="2298115" cy="310896"/>
          </a:xfrm>
          <a:prstGeom prst="rect">
            <a:avLst/>
          </a:prstGeom>
          <a:noFill/>
        </p:spPr>
        <p:txBody>
          <a:bodyPr wrap="square">
            <a:spAutoFit/>
          </a:bodyPr>
          <a:lstStyle/>
          <a:p>
            <a:r>
              <a:rPr sz="1350" b="0" i="0">
                <a:solidFill>
                  <a:srgbClr val="14213D"/>
                </a:solidFill>
                <a:latin typeface="Segoe UI"/>
              </a:rPr>
              <a:t>Whole-Line Classifier</a:t>
            </a:r>
          </a:p>
        </p:txBody>
      </p:sp>
      <p:sp>
        <p:nvSpPr>
          <p:cNvPr id="44" name="Rectangle 43"/>
          <p:cNvSpPr/>
          <p:nvPr/>
        </p:nvSpPr>
        <p:spPr>
          <a:xfrm>
            <a:off x="9107195" y="2258568"/>
            <a:ext cx="2298115"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TextBox 44"/>
          <p:cNvSpPr txBox="1"/>
          <p:nvPr/>
        </p:nvSpPr>
        <p:spPr>
          <a:xfrm>
            <a:off x="9107195" y="2313432"/>
            <a:ext cx="2298115" cy="1069848"/>
          </a:xfrm>
          <a:prstGeom prst="rect">
            <a:avLst/>
          </a:prstGeom>
          <a:noFill/>
        </p:spPr>
        <p:txBody>
          <a:bodyPr wrap="square">
            <a:spAutoFit/>
          </a:bodyPr>
          <a:lstStyle/>
          <a:p>
            <a:r>
              <a:rPr sz="1150" b="0" i="0">
                <a:solidFill>
                  <a:srgbClr val="6B7280"/>
                </a:solidFill>
                <a:latin typeface="Segoe UI"/>
              </a:rPr>
              <a:t>Treat the top line as an image: </a:t>
            </a:r>
            <a:r>
              <a:rPr sz="1150" b="1" i="0">
                <a:solidFill>
                  <a:srgbClr val="2F8F4E"/>
                </a:solidFill>
                <a:latin typeface="Segoe UI"/>
              </a:rPr>
              <a:t>128×128 crop → 1 of 26 classes</a:t>
            </a:r>
            <a:r>
              <a:rPr sz="1150" b="0" i="0">
                <a:solidFill>
                  <a:srgbClr val="6B7280"/>
                </a:solidFill>
                <a:latin typeface="Segoe UI"/>
              </a:rPr>
              <a:t> with deep networks.</a:t>
            </a:r>
          </a:p>
        </p:txBody>
      </p:sp>
      <p:sp>
        <p:nvSpPr>
          <p:cNvPr id="46" name="Rounded Rectangle 45"/>
          <p:cNvSpPr/>
          <p:nvPr/>
        </p:nvSpPr>
        <p:spPr>
          <a:xfrm>
            <a:off x="640080" y="3639312"/>
            <a:ext cx="10911535" cy="2514600"/>
          </a:xfrm>
          <a:prstGeom prst="roundRect">
            <a:avLst>
              <a:gd name="adj" fmla="val 4363"/>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47" name="Picture 46" descr="pipeline_diagram.png"/>
          <p:cNvPicPr>
            <a:picLocks noChangeAspect="1"/>
          </p:cNvPicPr>
          <p:nvPr/>
        </p:nvPicPr>
        <p:blipFill>
          <a:blip r:embed="rId4"/>
          <a:stretch>
            <a:fillRect/>
          </a:stretch>
        </p:blipFill>
        <p:spPr>
          <a:xfrm>
            <a:off x="2627251" y="3803904"/>
            <a:ext cx="6937192" cy="2185415"/>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ounded Rectangle 2"/>
          <p:cNvSpPr/>
          <p:nvPr/>
        </p:nvSpPr>
        <p:spPr>
          <a:xfrm>
            <a:off x="640080" y="384048"/>
            <a:ext cx="1819656" cy="292608"/>
          </a:xfrm>
          <a:prstGeom prst="roundRect">
            <a:avLst>
              <a:gd name="adj" fmla="val 50000"/>
            </a:avLst>
          </a:prstGeom>
          <a:solidFill>
            <a:srgbClr val="E2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640080" y="384048"/>
            <a:ext cx="1819656" cy="292608"/>
          </a:xfrm>
          <a:prstGeom prst="rect">
            <a:avLst/>
          </a:prstGeom>
          <a:noFill/>
        </p:spPr>
        <p:txBody>
          <a:bodyPr wrap="square" lIns="18288" rIns="18288" anchor="ctr">
            <a:spAutoFit/>
          </a:bodyPr>
          <a:lstStyle/>
          <a:p>
            <a:pPr algn="ctr"/>
            <a:r>
              <a:rPr sz="1050" b="1" i="0" spc="120">
                <a:solidFill>
                  <a:srgbClr val="0F7C74"/>
                </a:solidFill>
                <a:latin typeface="Segoe UI"/>
              </a:rPr>
              <a:t>01  ·  PROBLEM</a:t>
            </a:r>
          </a:p>
        </p:txBody>
      </p:sp>
      <p:pic>
        <p:nvPicPr>
          <p:cNvPr id="5" name="Picture 4" descr="kit_logo.png"/>
          <p:cNvPicPr>
            <a:picLocks noChangeAspect="1"/>
          </p:cNvPicPr>
          <p:nvPr/>
        </p:nvPicPr>
        <p:blipFill>
          <a:blip r:embed="rId3"/>
          <a:stretch>
            <a:fillRect/>
          </a:stretch>
        </p:blipFill>
        <p:spPr>
          <a:xfrm>
            <a:off x="10929823" y="320040"/>
            <a:ext cx="621792" cy="621792"/>
          </a:xfrm>
          <a:prstGeom prst="rect">
            <a:avLst/>
          </a:prstGeom>
        </p:spPr>
      </p:pic>
      <p:sp>
        <p:nvSpPr>
          <p:cNvPr id="6" name="TextBox 5"/>
          <p:cNvSpPr txBox="1"/>
          <p:nvPr/>
        </p:nvSpPr>
        <p:spPr>
          <a:xfrm>
            <a:off x="621792" y="731520"/>
            <a:ext cx="9997135" cy="685800"/>
          </a:xfrm>
          <a:prstGeom prst="rect">
            <a:avLst/>
          </a:prstGeom>
          <a:noFill/>
        </p:spPr>
        <p:txBody>
          <a:bodyPr wrap="square" lIns="18288" rIns="18288" anchor="ctr">
            <a:spAutoFit/>
          </a:bodyPr>
          <a:lstStyle/>
          <a:p>
            <a:pPr algn="l"/>
            <a:r>
              <a:rPr sz="3000" b="0" i="0">
                <a:solidFill>
                  <a:srgbClr val="14213D"/>
                </a:solidFill>
                <a:latin typeface="Segoe UI Semibold"/>
              </a:rPr>
              <a:t>End-to-end ALPR system design</a:t>
            </a:r>
          </a:p>
        </p:txBody>
      </p:sp>
      <p:sp>
        <p:nvSpPr>
          <p:cNvPr id="7" name="Rectangle 6"/>
          <p:cNvSpPr/>
          <p:nvPr/>
        </p:nvSpPr>
        <p:spPr>
          <a:xfrm>
            <a:off x="640080" y="6601968"/>
            <a:ext cx="1368073" cy="45720"/>
          </a:xfrm>
          <a:prstGeom prst="rect">
            <a:avLst/>
          </a:prstGeom>
          <a:solidFill>
            <a:srgbClr val="E09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640080" y="6336792"/>
            <a:ext cx="1368073" cy="237744"/>
          </a:xfrm>
          <a:prstGeom prst="rect">
            <a:avLst/>
          </a:prstGeom>
          <a:noFill/>
        </p:spPr>
        <p:txBody>
          <a:bodyPr wrap="square" lIns="18288" rIns="18288" anchor="t">
            <a:spAutoFit/>
          </a:bodyPr>
          <a:lstStyle/>
          <a:p>
            <a:pPr algn="l"/>
            <a:r>
              <a:rPr sz="850" b="1" i="0">
                <a:solidFill>
                  <a:srgbClr val="14213D"/>
                </a:solidFill>
                <a:latin typeface="Segoe UI"/>
              </a:rPr>
              <a:t>Problem</a:t>
            </a:r>
          </a:p>
        </p:txBody>
      </p:sp>
      <p:sp>
        <p:nvSpPr>
          <p:cNvPr id="9" name="Rectangle 8"/>
          <p:cNvSpPr/>
          <p:nvPr/>
        </p:nvSpPr>
        <p:spPr>
          <a:xfrm>
            <a:off x="2081305" y="6601968"/>
            <a:ext cx="1368073" cy="2743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2081305" y="6336792"/>
            <a:ext cx="1368073" cy="237744"/>
          </a:xfrm>
          <a:prstGeom prst="rect">
            <a:avLst/>
          </a:prstGeom>
          <a:noFill/>
        </p:spPr>
        <p:txBody>
          <a:bodyPr wrap="square" lIns="18288" rIns="18288" anchor="t">
            <a:spAutoFit/>
          </a:bodyPr>
          <a:lstStyle/>
          <a:p>
            <a:pPr algn="l"/>
            <a:r>
              <a:rPr sz="850" b="0" i="0">
                <a:solidFill>
                  <a:srgbClr val="6B7280"/>
                </a:solidFill>
                <a:latin typeface="Segoe UI"/>
              </a:rPr>
              <a:t>Data</a:t>
            </a:r>
          </a:p>
        </p:txBody>
      </p:sp>
      <p:sp>
        <p:nvSpPr>
          <p:cNvPr id="11" name="Rectangle 10"/>
          <p:cNvSpPr/>
          <p:nvPr/>
        </p:nvSpPr>
        <p:spPr>
          <a:xfrm>
            <a:off x="3522530" y="6601968"/>
            <a:ext cx="1368073" cy="2743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3522530" y="6336792"/>
            <a:ext cx="1368073" cy="237744"/>
          </a:xfrm>
          <a:prstGeom prst="rect">
            <a:avLst/>
          </a:prstGeom>
          <a:noFill/>
        </p:spPr>
        <p:txBody>
          <a:bodyPr wrap="square" lIns="18288" rIns="18288" anchor="t">
            <a:spAutoFit/>
          </a:bodyPr>
          <a:lstStyle/>
          <a:p>
            <a:pPr algn="l"/>
            <a:r>
              <a:rPr sz="850" b="0" i="0">
                <a:solidFill>
                  <a:srgbClr val="6B7280"/>
                </a:solidFill>
                <a:latin typeface="Segoe UI"/>
              </a:rPr>
              <a:t>Method</a:t>
            </a:r>
          </a:p>
        </p:txBody>
      </p:sp>
      <p:sp>
        <p:nvSpPr>
          <p:cNvPr id="13" name="Rectangle 12"/>
          <p:cNvSpPr/>
          <p:nvPr/>
        </p:nvSpPr>
        <p:spPr>
          <a:xfrm>
            <a:off x="4963755" y="6601968"/>
            <a:ext cx="1368073" cy="2743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963755" y="6336792"/>
            <a:ext cx="1368073" cy="237744"/>
          </a:xfrm>
          <a:prstGeom prst="rect">
            <a:avLst/>
          </a:prstGeom>
          <a:noFill/>
        </p:spPr>
        <p:txBody>
          <a:bodyPr wrap="square" lIns="18288" rIns="18288" anchor="t">
            <a:spAutoFit/>
          </a:bodyPr>
          <a:lstStyle/>
          <a:p>
            <a:pPr algn="l"/>
            <a:r>
              <a:rPr sz="850" b="0" i="0">
                <a:solidFill>
                  <a:srgbClr val="6B7280"/>
                </a:solidFill>
                <a:latin typeface="Segoe UI"/>
              </a:rPr>
              <a:t>Results</a:t>
            </a:r>
          </a:p>
        </p:txBody>
      </p:sp>
      <p:sp>
        <p:nvSpPr>
          <p:cNvPr id="15" name="Rectangle 14"/>
          <p:cNvSpPr/>
          <p:nvPr/>
        </p:nvSpPr>
        <p:spPr>
          <a:xfrm>
            <a:off x="6404980" y="6601968"/>
            <a:ext cx="1368073" cy="2743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6404980" y="6336792"/>
            <a:ext cx="1368073" cy="237744"/>
          </a:xfrm>
          <a:prstGeom prst="rect">
            <a:avLst/>
          </a:prstGeom>
          <a:noFill/>
        </p:spPr>
        <p:txBody>
          <a:bodyPr wrap="square" lIns="18288" rIns="18288" anchor="t">
            <a:spAutoFit/>
          </a:bodyPr>
          <a:lstStyle/>
          <a:p>
            <a:pPr algn="l"/>
            <a:r>
              <a:rPr sz="850" b="0" i="0">
                <a:solidFill>
                  <a:srgbClr val="6B7280"/>
                </a:solidFill>
                <a:latin typeface="Segoe UI"/>
              </a:rPr>
              <a:t>Analysis</a:t>
            </a:r>
          </a:p>
        </p:txBody>
      </p:sp>
      <p:sp>
        <p:nvSpPr>
          <p:cNvPr id="17" name="Rectangle 16"/>
          <p:cNvSpPr/>
          <p:nvPr/>
        </p:nvSpPr>
        <p:spPr>
          <a:xfrm>
            <a:off x="7846205" y="6601968"/>
            <a:ext cx="1368073" cy="2743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846205" y="6336792"/>
            <a:ext cx="1368073" cy="237744"/>
          </a:xfrm>
          <a:prstGeom prst="rect">
            <a:avLst/>
          </a:prstGeom>
          <a:noFill/>
        </p:spPr>
        <p:txBody>
          <a:bodyPr wrap="square" lIns="18288" rIns="18288" anchor="t">
            <a:spAutoFit/>
          </a:bodyPr>
          <a:lstStyle/>
          <a:p>
            <a:pPr algn="l"/>
            <a:r>
              <a:rPr sz="850" b="0" i="0">
                <a:solidFill>
                  <a:srgbClr val="6B7280"/>
                </a:solidFill>
                <a:latin typeface="Segoe UI"/>
              </a:rPr>
              <a:t>Honesty</a:t>
            </a:r>
          </a:p>
        </p:txBody>
      </p:sp>
      <p:sp>
        <p:nvSpPr>
          <p:cNvPr id="19" name="Rectangle 18"/>
          <p:cNvSpPr/>
          <p:nvPr/>
        </p:nvSpPr>
        <p:spPr>
          <a:xfrm>
            <a:off x="9287430" y="6601968"/>
            <a:ext cx="1368073" cy="2743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9287430" y="6336792"/>
            <a:ext cx="1368073" cy="237744"/>
          </a:xfrm>
          <a:prstGeom prst="rect">
            <a:avLst/>
          </a:prstGeom>
          <a:noFill/>
        </p:spPr>
        <p:txBody>
          <a:bodyPr wrap="square" lIns="18288" rIns="18288" anchor="t">
            <a:spAutoFit/>
          </a:bodyPr>
          <a:lstStyle/>
          <a:p>
            <a:pPr algn="l"/>
            <a:r>
              <a:rPr sz="850" b="0" i="0">
                <a:solidFill>
                  <a:srgbClr val="6B7280"/>
                </a:solidFill>
                <a:latin typeface="Segoe UI"/>
              </a:rPr>
              <a:t>Conclusion</a:t>
            </a:r>
          </a:p>
        </p:txBody>
      </p:sp>
      <p:sp>
        <p:nvSpPr>
          <p:cNvPr id="21" name="TextBox 20"/>
          <p:cNvSpPr txBox="1"/>
          <p:nvPr/>
        </p:nvSpPr>
        <p:spPr>
          <a:xfrm>
            <a:off x="10820095" y="6373368"/>
            <a:ext cx="731520" cy="274320"/>
          </a:xfrm>
          <a:prstGeom prst="rect">
            <a:avLst/>
          </a:prstGeom>
          <a:noFill/>
        </p:spPr>
        <p:txBody>
          <a:bodyPr wrap="square" lIns="18288" rIns="18288" anchor="t">
            <a:spAutoFit/>
          </a:bodyPr>
          <a:lstStyle/>
          <a:p>
            <a:pPr algn="r"/>
            <a:r>
              <a:rPr sz="1100" b="1" i="0">
                <a:solidFill>
                  <a:srgbClr val="0F7C74"/>
                </a:solidFill>
                <a:latin typeface="Segoe UI Semibold"/>
              </a:rPr>
              <a:t>3</a:t>
            </a:r>
          </a:p>
        </p:txBody>
      </p:sp>
      <p:sp>
        <p:nvSpPr>
          <p:cNvPr id="22" name="Rounded Rectangle 21"/>
          <p:cNvSpPr/>
          <p:nvPr/>
        </p:nvSpPr>
        <p:spPr>
          <a:xfrm>
            <a:off x="640080" y="1645920"/>
            <a:ext cx="1691640" cy="3886200"/>
          </a:xfrm>
          <a:prstGeom prst="roundRect">
            <a:avLst>
              <a:gd name="adj" fmla="val 6486"/>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Rounded Rectangle 23"/>
          <p:cNvSpPr/>
          <p:nvPr/>
        </p:nvSpPr>
        <p:spPr>
          <a:xfrm>
            <a:off x="777240" y="1792224"/>
            <a:ext cx="1225731" cy="292608"/>
          </a:xfrm>
          <a:prstGeom prst="roundRect">
            <a:avLst>
              <a:gd name="adj" fmla="val 50000"/>
            </a:avLst>
          </a:prstGeom>
          <a:solidFill>
            <a:srgbClr val="E2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777240" y="1792224"/>
            <a:ext cx="1225731" cy="292608"/>
          </a:xfrm>
          <a:prstGeom prst="rect">
            <a:avLst/>
          </a:prstGeom>
          <a:noFill/>
        </p:spPr>
        <p:txBody>
          <a:bodyPr wrap="square" lIns="18288" rIns="18288" anchor="ctr">
            <a:spAutoFit/>
          </a:bodyPr>
          <a:lstStyle/>
          <a:p>
            <a:pPr algn="ctr"/>
            <a:r>
              <a:rPr sz="850" b="1" i="0" spc="120">
                <a:solidFill>
                  <a:srgbClr val="0F7C74"/>
                </a:solidFill>
                <a:latin typeface="Segoe UI"/>
              </a:rPr>
              <a:t>01 · INPUT</a:t>
            </a:r>
          </a:p>
        </p:txBody>
      </p:sp>
      <p:sp>
        <p:nvSpPr>
          <p:cNvPr id="26" name="TextBox 25"/>
          <p:cNvSpPr txBox="1"/>
          <p:nvPr/>
        </p:nvSpPr>
        <p:spPr>
          <a:xfrm>
            <a:off x="777240" y="2121408"/>
            <a:ext cx="1417320" cy="292608"/>
          </a:xfrm>
          <a:prstGeom prst="rect">
            <a:avLst/>
          </a:prstGeom>
          <a:noFill/>
        </p:spPr>
        <p:txBody>
          <a:bodyPr wrap="square" lIns="18288" rIns="18288" anchor="t">
            <a:spAutoFit/>
          </a:bodyPr>
          <a:lstStyle/>
          <a:p>
            <a:pPr algn="l"/>
            <a:r>
              <a:rPr sz="1350" b="1" i="0">
                <a:solidFill>
                  <a:srgbClr val="14213D"/>
                </a:solidFill>
                <a:latin typeface="Segoe UI Semibold"/>
              </a:rPr>
              <a:t>Camera Stream</a:t>
            </a:r>
          </a:p>
        </p:txBody>
      </p:sp>
      <p:sp>
        <p:nvSpPr>
          <p:cNvPr id="27" name="TextBox 26"/>
          <p:cNvSpPr txBox="1"/>
          <p:nvPr/>
        </p:nvSpPr>
        <p:spPr>
          <a:xfrm>
            <a:off x="777240" y="2432304"/>
            <a:ext cx="1417320" cy="237744"/>
          </a:xfrm>
          <a:prstGeom prst="rect">
            <a:avLst/>
          </a:prstGeom>
          <a:noFill/>
        </p:spPr>
        <p:txBody>
          <a:bodyPr wrap="square" lIns="18288" rIns="18288" anchor="t">
            <a:spAutoFit/>
          </a:bodyPr>
          <a:lstStyle/>
          <a:p>
            <a:pPr algn="l"/>
            <a:r>
              <a:rPr sz="1000" b="0" i="0">
                <a:solidFill>
                  <a:srgbClr val="6B7280"/>
                </a:solidFill>
                <a:latin typeface="Segoe UI"/>
              </a:rPr>
              <a:t>1080p Video Stream</a:t>
            </a:r>
          </a:p>
        </p:txBody>
      </p:sp>
      <p:sp>
        <p:nvSpPr>
          <p:cNvPr id="28" name="Rectangle 27"/>
          <p:cNvSpPr/>
          <p:nvPr/>
        </p:nvSpPr>
        <p:spPr>
          <a:xfrm>
            <a:off x="777240" y="2743200"/>
            <a:ext cx="1417320"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Rounded Rectangle 28"/>
          <p:cNvSpPr/>
          <p:nvPr/>
        </p:nvSpPr>
        <p:spPr>
          <a:xfrm>
            <a:off x="777240" y="2971800"/>
            <a:ext cx="1417320" cy="1691640"/>
          </a:xfrm>
          <a:prstGeom prst="roundRect">
            <a:avLst>
              <a:gd name="adj" fmla="val 6451"/>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777240" y="3127248"/>
            <a:ext cx="1417320" cy="1417320"/>
          </a:xfrm>
          <a:prstGeom prst="rect">
            <a:avLst/>
          </a:prstGeom>
          <a:noFill/>
        </p:spPr>
        <p:txBody>
          <a:bodyPr wrap="square">
            <a:spAutoFit/>
          </a:bodyPr>
          <a:lstStyle/>
          <a:p>
            <a:pPr algn="ctr"/>
            <a:r>
              <a:rPr sz="1050" b="1" i="0">
                <a:solidFill>
                  <a:srgbClr val="14213D"/>
                </a:solidFill>
                <a:latin typeface="Segoe UI Semibold"/>
              </a:rPr>
              <a:t>LIVE FEED</a:t>
            </a:r>
          </a:p>
          <a:p>
            <a:pPr algn="ctr"/>
            <a:r>
              <a:rPr sz="1000" b="0" i="0">
                <a:solidFill>
                  <a:srgbClr val="6B7280"/>
                </a:solidFill>
                <a:latin typeface="Segoe UI"/>
              </a:rPr>
              <a:t>30 FPS Video
Road &amp; Barrier
Gate Monitoring</a:t>
            </a:r>
          </a:p>
        </p:txBody>
      </p:sp>
      <p:sp>
        <p:nvSpPr>
          <p:cNvPr id="31" name="Rounded Rectangle 30"/>
          <p:cNvSpPr/>
          <p:nvPr/>
        </p:nvSpPr>
        <p:spPr>
          <a:xfrm>
            <a:off x="777240" y="4937759"/>
            <a:ext cx="1417320" cy="402336"/>
          </a:xfrm>
          <a:prstGeom prst="roundRect">
            <a:avLst>
              <a:gd name="adj" fmla="val 50000"/>
            </a:avLst>
          </a:prstGeom>
          <a:solidFill>
            <a:srgbClr val="E2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777240" y="4937759"/>
            <a:ext cx="1417320" cy="402336"/>
          </a:xfrm>
          <a:prstGeom prst="rect">
            <a:avLst/>
          </a:prstGeom>
          <a:noFill/>
        </p:spPr>
        <p:txBody>
          <a:bodyPr wrap="square" lIns="18288" rIns="18288" anchor="ctr">
            <a:spAutoFit/>
          </a:bodyPr>
          <a:lstStyle/>
          <a:p>
            <a:pPr algn="ctr"/>
            <a:r>
              <a:rPr sz="1000" b="1" i="0">
                <a:solidFill>
                  <a:srgbClr val="0F7C74"/>
                </a:solidFill>
                <a:latin typeface="Segoe UI Semibold"/>
              </a:rPr>
              <a:t>Raw Vehicle Frame</a:t>
            </a:r>
          </a:p>
        </p:txBody>
      </p:sp>
      <p:sp>
        <p:nvSpPr>
          <p:cNvPr id="33" name="Chevron 32"/>
          <p:cNvSpPr/>
          <p:nvPr/>
        </p:nvSpPr>
        <p:spPr>
          <a:xfrm>
            <a:off x="2404872" y="3461003"/>
            <a:ext cx="164592" cy="256032"/>
          </a:xfrm>
          <a:prstGeom prst="chevron">
            <a:avLst/>
          </a:prstGeom>
          <a:solidFill>
            <a:srgbClr val="0F7C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Rounded Rectangle 33"/>
          <p:cNvSpPr/>
          <p:nvPr/>
        </p:nvSpPr>
        <p:spPr>
          <a:xfrm>
            <a:off x="2724912" y="1645920"/>
            <a:ext cx="1874519" cy="3886200"/>
          </a:xfrm>
          <a:prstGeom prst="roundRect">
            <a:avLst>
              <a:gd name="adj" fmla="val 5853"/>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Rounded Rectangle 35"/>
          <p:cNvSpPr/>
          <p:nvPr/>
        </p:nvSpPr>
        <p:spPr>
          <a:xfrm>
            <a:off x="2862072" y="1792224"/>
            <a:ext cx="1551432" cy="292608"/>
          </a:xfrm>
          <a:prstGeom prst="roundRect">
            <a:avLst>
              <a:gd name="adj" fmla="val 50000"/>
            </a:avLst>
          </a:prstGeom>
          <a:solidFill>
            <a:srgbClr val="E2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TextBox 36"/>
          <p:cNvSpPr txBox="1"/>
          <p:nvPr/>
        </p:nvSpPr>
        <p:spPr>
          <a:xfrm>
            <a:off x="2862072" y="1792224"/>
            <a:ext cx="1551432" cy="292608"/>
          </a:xfrm>
          <a:prstGeom prst="rect">
            <a:avLst/>
          </a:prstGeom>
          <a:noFill/>
        </p:spPr>
        <p:txBody>
          <a:bodyPr wrap="square" lIns="18288" rIns="18288" anchor="ctr">
            <a:spAutoFit/>
          </a:bodyPr>
          <a:lstStyle/>
          <a:p>
            <a:pPr algn="ctr"/>
            <a:r>
              <a:rPr sz="850" b="1" i="0" spc="120">
                <a:solidFill>
                  <a:srgbClr val="0F7C74"/>
                </a:solidFill>
                <a:latin typeface="Segoe UI"/>
              </a:rPr>
              <a:t>02 · DETECTION</a:t>
            </a:r>
          </a:p>
        </p:txBody>
      </p:sp>
      <p:sp>
        <p:nvSpPr>
          <p:cNvPr id="38" name="TextBox 37"/>
          <p:cNvSpPr txBox="1"/>
          <p:nvPr/>
        </p:nvSpPr>
        <p:spPr>
          <a:xfrm>
            <a:off x="2862072" y="2121408"/>
            <a:ext cx="1600199" cy="292608"/>
          </a:xfrm>
          <a:prstGeom prst="rect">
            <a:avLst/>
          </a:prstGeom>
          <a:noFill/>
        </p:spPr>
        <p:txBody>
          <a:bodyPr wrap="square" lIns="18288" rIns="18288" anchor="t">
            <a:spAutoFit/>
          </a:bodyPr>
          <a:lstStyle/>
          <a:p>
            <a:pPr algn="l"/>
            <a:r>
              <a:rPr sz="1350" b="1" i="0">
                <a:solidFill>
                  <a:srgbClr val="14213D"/>
                </a:solidFill>
                <a:latin typeface="Segoe UI Semibold"/>
              </a:rPr>
              <a:t>YOLOv10 Detector</a:t>
            </a:r>
          </a:p>
        </p:txBody>
      </p:sp>
      <p:sp>
        <p:nvSpPr>
          <p:cNvPr id="39" name="TextBox 38"/>
          <p:cNvSpPr txBox="1"/>
          <p:nvPr/>
        </p:nvSpPr>
        <p:spPr>
          <a:xfrm>
            <a:off x="2862072" y="2432304"/>
            <a:ext cx="1600199" cy="237744"/>
          </a:xfrm>
          <a:prstGeom prst="rect">
            <a:avLst/>
          </a:prstGeom>
          <a:noFill/>
        </p:spPr>
        <p:txBody>
          <a:bodyPr wrap="square" lIns="18288" rIns="18288" anchor="t">
            <a:spAutoFit/>
          </a:bodyPr>
          <a:lstStyle/>
          <a:p>
            <a:pPr algn="l"/>
            <a:r>
              <a:rPr sz="1000" b="0" i="0">
                <a:solidFill>
                  <a:srgbClr val="6B7280"/>
                </a:solidFill>
                <a:latin typeface="Segoe UI"/>
              </a:rPr>
              <a:t>Anchor-free Plate BBox</a:t>
            </a:r>
          </a:p>
        </p:txBody>
      </p:sp>
      <p:sp>
        <p:nvSpPr>
          <p:cNvPr id="40" name="Rectangle 39"/>
          <p:cNvSpPr/>
          <p:nvPr/>
        </p:nvSpPr>
        <p:spPr>
          <a:xfrm>
            <a:off x="2862072" y="2743200"/>
            <a:ext cx="1600199"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Rounded Rectangle 40"/>
          <p:cNvSpPr/>
          <p:nvPr/>
        </p:nvSpPr>
        <p:spPr>
          <a:xfrm>
            <a:off x="2862072" y="2971800"/>
            <a:ext cx="1600199" cy="1691640"/>
          </a:xfrm>
          <a:prstGeom prst="roundRect">
            <a:avLst>
              <a:gd name="adj" fmla="val 5714"/>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Box 41"/>
          <p:cNvSpPr txBox="1"/>
          <p:nvPr/>
        </p:nvSpPr>
        <p:spPr>
          <a:xfrm>
            <a:off x="2862072" y="3127248"/>
            <a:ext cx="1600199" cy="1417320"/>
          </a:xfrm>
          <a:prstGeom prst="rect">
            <a:avLst/>
          </a:prstGeom>
          <a:noFill/>
        </p:spPr>
        <p:txBody>
          <a:bodyPr wrap="square">
            <a:spAutoFit/>
          </a:bodyPr>
          <a:lstStyle/>
          <a:p>
            <a:pPr algn="ctr"/>
            <a:r>
              <a:rPr sz="1050" b="1" i="0">
                <a:solidFill>
                  <a:srgbClr val="14213D"/>
                </a:solidFill>
                <a:latin typeface="Segoe UI Semibold"/>
              </a:rPr>
              <a:t>LOCALIZATION</a:t>
            </a:r>
          </a:p>
          <a:p>
            <a:pPr algn="ctr"/>
            <a:r>
              <a:rPr sz="1000" b="0" i="0">
                <a:solidFill>
                  <a:srgbClr val="6B7280"/>
                </a:solidFill>
                <a:latin typeface="Segoe UI"/>
              </a:rPr>
              <a:t>Latency: ~15 ms
143/149 Recall
Tight Crop Box</a:t>
            </a:r>
          </a:p>
        </p:txBody>
      </p:sp>
      <p:sp>
        <p:nvSpPr>
          <p:cNvPr id="43" name="Rounded Rectangle 42"/>
          <p:cNvSpPr/>
          <p:nvPr/>
        </p:nvSpPr>
        <p:spPr>
          <a:xfrm>
            <a:off x="2862072" y="4937759"/>
            <a:ext cx="1600199" cy="402336"/>
          </a:xfrm>
          <a:prstGeom prst="roundRect">
            <a:avLst>
              <a:gd name="adj" fmla="val 50000"/>
            </a:avLst>
          </a:prstGeom>
          <a:solidFill>
            <a:srgbClr val="E2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TextBox 43"/>
          <p:cNvSpPr txBox="1"/>
          <p:nvPr/>
        </p:nvSpPr>
        <p:spPr>
          <a:xfrm>
            <a:off x="2862072" y="4937759"/>
            <a:ext cx="1600199" cy="402336"/>
          </a:xfrm>
          <a:prstGeom prst="rect">
            <a:avLst/>
          </a:prstGeom>
          <a:noFill/>
        </p:spPr>
        <p:txBody>
          <a:bodyPr wrap="square" lIns="18288" rIns="18288" anchor="ctr">
            <a:spAutoFit/>
          </a:bodyPr>
          <a:lstStyle/>
          <a:p>
            <a:pPr algn="ctr"/>
            <a:r>
              <a:rPr sz="1000" b="1" i="0">
                <a:solidFill>
                  <a:srgbClr val="0F7C74"/>
                </a:solidFill>
                <a:latin typeface="Segoe UI Semibold"/>
              </a:rPr>
              <a:t>Cropped Plate BBox</a:t>
            </a:r>
          </a:p>
        </p:txBody>
      </p:sp>
      <p:sp>
        <p:nvSpPr>
          <p:cNvPr id="45" name="Chevron 44"/>
          <p:cNvSpPr/>
          <p:nvPr/>
        </p:nvSpPr>
        <p:spPr>
          <a:xfrm>
            <a:off x="4672583" y="2423160"/>
            <a:ext cx="164592" cy="256032"/>
          </a:xfrm>
          <a:prstGeom prst="chevron">
            <a:avLst/>
          </a:prstGeom>
          <a:solidFill>
            <a:srgbClr val="E09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Chevron 45"/>
          <p:cNvSpPr/>
          <p:nvPr/>
        </p:nvSpPr>
        <p:spPr>
          <a:xfrm>
            <a:off x="4672583" y="4480560"/>
            <a:ext cx="164592" cy="256032"/>
          </a:xfrm>
          <a:prstGeom prst="chevron">
            <a:avLst/>
          </a:prstGeom>
          <a:solidFill>
            <a:srgbClr val="0F7C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Rounded Rectangle 46"/>
          <p:cNvSpPr/>
          <p:nvPr/>
        </p:nvSpPr>
        <p:spPr>
          <a:xfrm>
            <a:off x="4983480" y="1645920"/>
            <a:ext cx="2880360" cy="1828800"/>
          </a:xfrm>
          <a:prstGeom prst="roundRect">
            <a:avLst>
              <a:gd name="adj" fmla="val 600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9" name="Rounded Rectangle 48"/>
          <p:cNvSpPr/>
          <p:nvPr/>
        </p:nvSpPr>
        <p:spPr>
          <a:xfrm>
            <a:off x="5120640" y="1773936"/>
            <a:ext cx="2447108" cy="292608"/>
          </a:xfrm>
          <a:prstGeom prst="roundRect">
            <a:avLst>
              <a:gd name="adj" fmla="val 50000"/>
            </a:avLst>
          </a:prstGeom>
          <a:solidFill>
            <a:srgbClr val="1F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0" name="TextBox 49"/>
          <p:cNvSpPr txBox="1"/>
          <p:nvPr/>
        </p:nvSpPr>
        <p:spPr>
          <a:xfrm>
            <a:off x="5120640" y="1808671"/>
            <a:ext cx="2447108" cy="223138"/>
          </a:xfrm>
          <a:prstGeom prst="rect">
            <a:avLst/>
          </a:prstGeom>
          <a:noFill/>
        </p:spPr>
        <p:txBody>
          <a:bodyPr wrap="square" lIns="18288" rIns="18288" anchor="ctr">
            <a:spAutoFit/>
          </a:bodyPr>
          <a:lstStyle/>
          <a:p>
            <a:pPr algn="ctr"/>
            <a:r>
              <a:rPr sz="850" b="1" i="0" spc="120" dirty="0">
                <a:solidFill>
                  <a:srgbClr val="E09A1A"/>
                </a:solidFill>
                <a:latin typeface="Segoe UI"/>
              </a:rPr>
              <a:t> THIS STUDY · 26 CLASSES</a:t>
            </a:r>
          </a:p>
        </p:txBody>
      </p:sp>
      <p:sp>
        <p:nvSpPr>
          <p:cNvPr id="51" name="TextBox 50"/>
          <p:cNvSpPr txBox="1"/>
          <p:nvPr/>
        </p:nvSpPr>
        <p:spPr>
          <a:xfrm>
            <a:off x="5120640" y="2084832"/>
            <a:ext cx="2606040" cy="274320"/>
          </a:xfrm>
          <a:prstGeom prst="rect">
            <a:avLst/>
          </a:prstGeom>
          <a:noFill/>
        </p:spPr>
        <p:txBody>
          <a:bodyPr wrap="square" lIns="18288" rIns="18288" anchor="t">
            <a:spAutoFit/>
          </a:bodyPr>
          <a:lstStyle/>
          <a:p>
            <a:pPr algn="l"/>
            <a:r>
              <a:rPr sz="1350" b="1" i="0">
                <a:solidFill>
                  <a:srgbClr val="FFFFFF"/>
                </a:solidFill>
                <a:latin typeface="Segoe UI Semibold"/>
              </a:rPr>
              <a:t>Khmer Province Classifier</a:t>
            </a:r>
          </a:p>
        </p:txBody>
      </p:sp>
      <p:sp>
        <p:nvSpPr>
          <p:cNvPr id="52" name="TextBox 51"/>
          <p:cNvSpPr txBox="1"/>
          <p:nvPr/>
        </p:nvSpPr>
        <p:spPr>
          <a:xfrm>
            <a:off x="5120640" y="2377440"/>
            <a:ext cx="2606040" cy="219456"/>
          </a:xfrm>
          <a:prstGeom prst="rect">
            <a:avLst/>
          </a:prstGeom>
          <a:noFill/>
        </p:spPr>
        <p:txBody>
          <a:bodyPr wrap="square" lIns="18288" rIns="18288" anchor="t">
            <a:spAutoFit/>
          </a:bodyPr>
          <a:lstStyle/>
          <a:p>
            <a:pPr algn="l"/>
            <a:r>
              <a:rPr sz="1000" b="0" i="0">
                <a:solidFill>
                  <a:srgbClr val="CBD5E1"/>
                </a:solidFill>
                <a:latin typeface="Segoe UI"/>
              </a:rPr>
              <a:t>ViT-B/16 &amp; ResNet18 (128x128)</a:t>
            </a:r>
          </a:p>
        </p:txBody>
      </p:sp>
      <p:sp>
        <p:nvSpPr>
          <p:cNvPr id="53" name="Rectangle 52"/>
          <p:cNvSpPr/>
          <p:nvPr/>
        </p:nvSpPr>
        <p:spPr>
          <a:xfrm>
            <a:off x="5120640" y="2651760"/>
            <a:ext cx="2606040" cy="13716"/>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4" name="Rounded Rectangle 53"/>
          <p:cNvSpPr/>
          <p:nvPr/>
        </p:nvSpPr>
        <p:spPr>
          <a:xfrm>
            <a:off x="5120640" y="2834640"/>
            <a:ext cx="2606040" cy="438912"/>
          </a:xfrm>
          <a:prstGeom prst="roundRect">
            <a:avLst>
              <a:gd name="adj" fmla="val 50000"/>
            </a:avLst>
          </a:prstGeom>
          <a:solidFill>
            <a:srgbClr val="1F2F52"/>
          </a:solidFill>
          <a:ln w="12700">
            <a:solidFill>
              <a:srgbClr val="E09A1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TextBox 54"/>
          <p:cNvSpPr txBox="1"/>
          <p:nvPr/>
        </p:nvSpPr>
        <p:spPr>
          <a:xfrm>
            <a:off x="5166360" y="2834640"/>
            <a:ext cx="2514600" cy="438912"/>
          </a:xfrm>
          <a:prstGeom prst="rect">
            <a:avLst/>
          </a:prstGeom>
          <a:noFill/>
        </p:spPr>
        <p:txBody>
          <a:bodyPr wrap="square" anchor="ctr">
            <a:spAutoFit/>
          </a:bodyPr>
          <a:lstStyle/>
          <a:p>
            <a:pPr algn="ctr"/>
            <a:r>
              <a:rPr sz="1150" b="0" i="0">
                <a:solidFill>
                  <a:srgbClr val="CBD5E1"/>
                </a:solidFill>
                <a:latin typeface="Segoe UI"/>
              </a:rPr>
              <a:t>Province: </a:t>
            </a:r>
            <a:r>
              <a:rPr sz="1200" b="1" i="0">
                <a:solidFill>
                  <a:srgbClr val="E09A1A"/>
                </a:solidFill>
                <a:latin typeface="Segoe UI Semibold"/>
              </a:rPr>
              <a:t>"Takeo" </a:t>
            </a:r>
            <a:r>
              <a:rPr sz="1050" b="0" i="0">
                <a:solidFill>
                  <a:srgbClr val="CBD5E1"/>
                </a:solidFill>
                <a:latin typeface="Segoe UI"/>
              </a:rPr>
              <a:t>(96.1 %)</a:t>
            </a:r>
          </a:p>
        </p:txBody>
      </p:sp>
      <p:sp>
        <p:nvSpPr>
          <p:cNvPr id="56" name="Rounded Rectangle 55"/>
          <p:cNvSpPr/>
          <p:nvPr/>
        </p:nvSpPr>
        <p:spPr>
          <a:xfrm>
            <a:off x="4983480" y="3703320"/>
            <a:ext cx="2880360" cy="1828800"/>
          </a:xfrm>
          <a:prstGeom prst="roundRect">
            <a:avLst>
              <a:gd name="adj" fmla="val 6000"/>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8" name="Rounded Rectangle 57"/>
          <p:cNvSpPr/>
          <p:nvPr/>
        </p:nvSpPr>
        <p:spPr>
          <a:xfrm>
            <a:off x="5120640" y="3831335"/>
            <a:ext cx="2039982" cy="292608"/>
          </a:xfrm>
          <a:prstGeom prst="roundRect">
            <a:avLst>
              <a:gd name="adj" fmla="val 50000"/>
            </a:avLst>
          </a:prstGeom>
          <a:solidFill>
            <a:srgbClr val="E2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9" name="TextBox 58"/>
          <p:cNvSpPr txBox="1"/>
          <p:nvPr/>
        </p:nvSpPr>
        <p:spPr>
          <a:xfrm>
            <a:off x="5120640" y="3831335"/>
            <a:ext cx="2039982" cy="292608"/>
          </a:xfrm>
          <a:prstGeom prst="rect">
            <a:avLst/>
          </a:prstGeom>
          <a:noFill/>
        </p:spPr>
        <p:txBody>
          <a:bodyPr wrap="square" lIns="18288" rIns="18288" anchor="ctr">
            <a:spAutoFit/>
          </a:bodyPr>
          <a:lstStyle/>
          <a:p>
            <a:pPr algn="ctr"/>
            <a:r>
              <a:rPr sz="850" b="1" i="0" spc="120">
                <a:solidFill>
                  <a:srgbClr val="0F7C74"/>
                </a:solidFill>
                <a:latin typeface="Segoe UI"/>
              </a:rPr>
              <a:t>03B · LATIN &amp; DIGITS</a:t>
            </a:r>
          </a:p>
        </p:txBody>
      </p:sp>
      <p:sp>
        <p:nvSpPr>
          <p:cNvPr id="60" name="TextBox 59"/>
          <p:cNvSpPr txBox="1"/>
          <p:nvPr/>
        </p:nvSpPr>
        <p:spPr>
          <a:xfrm>
            <a:off x="5120640" y="4142231"/>
            <a:ext cx="2606040" cy="274320"/>
          </a:xfrm>
          <a:prstGeom prst="rect">
            <a:avLst/>
          </a:prstGeom>
          <a:noFill/>
        </p:spPr>
        <p:txBody>
          <a:bodyPr wrap="square" lIns="18288" rIns="18288" anchor="t">
            <a:spAutoFit/>
          </a:bodyPr>
          <a:lstStyle/>
          <a:p>
            <a:pPr algn="l"/>
            <a:r>
              <a:rPr sz="1350" b="1" i="0">
                <a:solidFill>
                  <a:srgbClr val="14213D"/>
                </a:solidFill>
                <a:latin typeface="Segoe UI Semibold"/>
              </a:rPr>
              <a:t>CRNN + CTC Number Reader</a:t>
            </a:r>
          </a:p>
        </p:txBody>
      </p:sp>
      <p:sp>
        <p:nvSpPr>
          <p:cNvPr id="61" name="TextBox 60"/>
          <p:cNvSpPr txBox="1"/>
          <p:nvPr/>
        </p:nvSpPr>
        <p:spPr>
          <a:xfrm>
            <a:off x="5120640" y="4434840"/>
            <a:ext cx="2606040" cy="219456"/>
          </a:xfrm>
          <a:prstGeom prst="rect">
            <a:avLst/>
          </a:prstGeom>
          <a:noFill/>
        </p:spPr>
        <p:txBody>
          <a:bodyPr wrap="square" lIns="18288" rIns="18288" anchor="t">
            <a:spAutoFit/>
          </a:bodyPr>
          <a:lstStyle/>
          <a:p>
            <a:pPr algn="l"/>
            <a:r>
              <a:rPr sz="1000" b="0" i="0">
                <a:solidFill>
                  <a:srgbClr val="6B7280"/>
                </a:solidFill>
                <a:latin typeface="Segoe UI"/>
              </a:rPr>
              <a:t>CNN + BiLSTM + CTC Decoder</a:t>
            </a:r>
          </a:p>
        </p:txBody>
      </p:sp>
      <p:sp>
        <p:nvSpPr>
          <p:cNvPr id="62" name="Rectangle 61"/>
          <p:cNvSpPr/>
          <p:nvPr/>
        </p:nvSpPr>
        <p:spPr>
          <a:xfrm>
            <a:off x="5120640" y="4709160"/>
            <a:ext cx="2606040"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Rounded Rectangle 62"/>
          <p:cNvSpPr/>
          <p:nvPr/>
        </p:nvSpPr>
        <p:spPr>
          <a:xfrm>
            <a:off x="5120640" y="4892040"/>
            <a:ext cx="2606040" cy="438912"/>
          </a:xfrm>
          <a:prstGeom prst="roundRect">
            <a:avLst>
              <a:gd name="adj" fmla="val 50000"/>
            </a:avLst>
          </a:prstGeom>
          <a:solidFill>
            <a:srgbClr val="E2F1EF"/>
          </a:solidFill>
          <a:ln w="12700">
            <a:solidFill>
              <a:srgbClr val="0F7C7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4" name="TextBox 63"/>
          <p:cNvSpPr txBox="1"/>
          <p:nvPr/>
        </p:nvSpPr>
        <p:spPr>
          <a:xfrm>
            <a:off x="5166360" y="4892040"/>
            <a:ext cx="2514600" cy="438912"/>
          </a:xfrm>
          <a:prstGeom prst="rect">
            <a:avLst/>
          </a:prstGeom>
          <a:noFill/>
        </p:spPr>
        <p:txBody>
          <a:bodyPr wrap="square" anchor="ctr">
            <a:spAutoFit/>
          </a:bodyPr>
          <a:lstStyle/>
          <a:p>
            <a:pPr algn="ctr"/>
            <a:r>
              <a:rPr sz="1150" b="0" i="0">
                <a:solidFill>
                  <a:srgbClr val="14213D"/>
                </a:solidFill>
                <a:latin typeface="Segoe UI"/>
              </a:rPr>
              <a:t>Number: </a:t>
            </a:r>
            <a:r>
              <a:rPr sz="1200" b="1" i="0">
                <a:solidFill>
                  <a:srgbClr val="0F7C74"/>
                </a:solidFill>
                <a:latin typeface="Segoe UI Semibold"/>
              </a:rPr>
              <a:t>"1L-4082" </a:t>
            </a:r>
            <a:r>
              <a:rPr sz="1050" b="0" i="0">
                <a:solidFill>
                  <a:srgbClr val="6B7280"/>
                </a:solidFill>
                <a:latin typeface="Segoe UI"/>
              </a:rPr>
              <a:t>(83.9 %)</a:t>
            </a:r>
          </a:p>
        </p:txBody>
      </p:sp>
      <p:sp>
        <p:nvSpPr>
          <p:cNvPr id="65" name="Chevron 64"/>
          <p:cNvSpPr/>
          <p:nvPr/>
        </p:nvSpPr>
        <p:spPr>
          <a:xfrm>
            <a:off x="7936992" y="2423160"/>
            <a:ext cx="164592" cy="256032"/>
          </a:xfrm>
          <a:prstGeom prst="chevron">
            <a:avLst/>
          </a:prstGeom>
          <a:solidFill>
            <a:srgbClr val="E09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6" name="Chevron 65"/>
          <p:cNvSpPr/>
          <p:nvPr/>
        </p:nvSpPr>
        <p:spPr>
          <a:xfrm>
            <a:off x="7936992" y="4480560"/>
            <a:ext cx="164592" cy="256032"/>
          </a:xfrm>
          <a:prstGeom prst="chevron">
            <a:avLst/>
          </a:prstGeom>
          <a:solidFill>
            <a:srgbClr val="0F7C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7" name="Rounded Rectangle 66"/>
          <p:cNvSpPr/>
          <p:nvPr/>
        </p:nvSpPr>
        <p:spPr>
          <a:xfrm>
            <a:off x="8156448" y="1645920"/>
            <a:ext cx="1691640" cy="3886200"/>
          </a:xfrm>
          <a:prstGeom prst="roundRect">
            <a:avLst>
              <a:gd name="adj" fmla="val 6486"/>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9" name="Rounded Rectangle 68"/>
          <p:cNvSpPr/>
          <p:nvPr/>
        </p:nvSpPr>
        <p:spPr>
          <a:xfrm>
            <a:off x="8293608" y="1792224"/>
            <a:ext cx="1307156" cy="292608"/>
          </a:xfrm>
          <a:prstGeom prst="roundRect">
            <a:avLst>
              <a:gd name="adj" fmla="val 50000"/>
            </a:avLst>
          </a:prstGeom>
          <a:solidFill>
            <a:srgbClr val="E2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0" name="TextBox 69"/>
          <p:cNvSpPr txBox="1"/>
          <p:nvPr/>
        </p:nvSpPr>
        <p:spPr>
          <a:xfrm>
            <a:off x="8293608" y="1792224"/>
            <a:ext cx="1307156" cy="292608"/>
          </a:xfrm>
          <a:prstGeom prst="rect">
            <a:avLst/>
          </a:prstGeom>
          <a:noFill/>
        </p:spPr>
        <p:txBody>
          <a:bodyPr wrap="square" lIns="18288" rIns="18288" anchor="ctr">
            <a:spAutoFit/>
          </a:bodyPr>
          <a:lstStyle/>
          <a:p>
            <a:pPr algn="ctr"/>
            <a:r>
              <a:rPr sz="850" b="1" i="0" spc="120">
                <a:solidFill>
                  <a:srgbClr val="0F7C74"/>
                </a:solidFill>
                <a:latin typeface="Segoe UI"/>
              </a:rPr>
              <a:t>04 · FUSION</a:t>
            </a:r>
          </a:p>
        </p:txBody>
      </p:sp>
      <p:sp>
        <p:nvSpPr>
          <p:cNvPr id="71" name="TextBox 70"/>
          <p:cNvSpPr txBox="1"/>
          <p:nvPr/>
        </p:nvSpPr>
        <p:spPr>
          <a:xfrm>
            <a:off x="8266175" y="2103120"/>
            <a:ext cx="1472184" cy="310896"/>
          </a:xfrm>
          <a:prstGeom prst="rect">
            <a:avLst/>
          </a:prstGeom>
          <a:noFill/>
        </p:spPr>
        <p:txBody>
          <a:bodyPr wrap="square" lIns="18288" rIns="18288" anchor="t">
            <a:spAutoFit/>
          </a:bodyPr>
          <a:lstStyle/>
          <a:p>
            <a:pPr algn="l"/>
            <a:r>
              <a:rPr sz="1350" b="1" i="0">
                <a:solidFill>
                  <a:srgbClr val="14213D"/>
                </a:solidFill>
                <a:latin typeface="Segoe UI Semibold"/>
              </a:rPr>
              <a:t>Plate Fusion</a:t>
            </a:r>
          </a:p>
        </p:txBody>
      </p:sp>
      <p:sp>
        <p:nvSpPr>
          <p:cNvPr id="72" name="TextBox 71"/>
          <p:cNvSpPr txBox="1"/>
          <p:nvPr/>
        </p:nvSpPr>
        <p:spPr>
          <a:xfrm>
            <a:off x="8266175" y="2432304"/>
            <a:ext cx="1472184" cy="237744"/>
          </a:xfrm>
          <a:prstGeom prst="rect">
            <a:avLst/>
          </a:prstGeom>
          <a:noFill/>
        </p:spPr>
        <p:txBody>
          <a:bodyPr wrap="square" lIns="18288" rIns="18288" anchor="t">
            <a:spAutoFit/>
          </a:bodyPr>
          <a:lstStyle/>
          <a:p>
            <a:pPr algn="l"/>
            <a:r>
              <a:rPr sz="950" b="0" i="0">
                <a:solidFill>
                  <a:srgbClr val="6B7280"/>
                </a:solidFill>
                <a:latin typeface="Segoe UI"/>
              </a:rPr>
              <a:t>Canonical Formatter</a:t>
            </a:r>
          </a:p>
        </p:txBody>
      </p:sp>
      <p:sp>
        <p:nvSpPr>
          <p:cNvPr id="73" name="Rectangle 72"/>
          <p:cNvSpPr/>
          <p:nvPr/>
        </p:nvSpPr>
        <p:spPr>
          <a:xfrm>
            <a:off x="8293608" y="2743200"/>
            <a:ext cx="1417320"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4" name="Rounded Rectangle 73"/>
          <p:cNvSpPr/>
          <p:nvPr/>
        </p:nvSpPr>
        <p:spPr>
          <a:xfrm>
            <a:off x="8293608" y="2971800"/>
            <a:ext cx="1417320" cy="1691640"/>
          </a:xfrm>
          <a:prstGeom prst="roundRect">
            <a:avLst>
              <a:gd name="adj" fmla="val 6451"/>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5" name="TextBox 74"/>
          <p:cNvSpPr txBox="1"/>
          <p:nvPr/>
        </p:nvSpPr>
        <p:spPr>
          <a:xfrm>
            <a:off x="8293608" y="3127248"/>
            <a:ext cx="1417320" cy="1417320"/>
          </a:xfrm>
          <a:prstGeom prst="rect">
            <a:avLst/>
          </a:prstGeom>
          <a:noFill/>
        </p:spPr>
        <p:txBody>
          <a:bodyPr wrap="square">
            <a:spAutoFit/>
          </a:bodyPr>
          <a:lstStyle/>
          <a:p>
            <a:pPr algn="ctr"/>
            <a:r>
              <a:rPr sz="1050" b="1" i="0">
                <a:solidFill>
                  <a:srgbClr val="14213D"/>
                </a:solidFill>
                <a:latin typeface="Segoe UI Semibold"/>
              </a:rPr>
              <a:t>STRING FUSION</a:t>
            </a:r>
          </a:p>
          <a:p>
            <a:pPr algn="ctr"/>
            <a:r>
              <a:rPr sz="1000" b="0" i="0">
                <a:solidFill>
                  <a:srgbClr val="6B7280"/>
                </a:solidFill>
                <a:latin typeface="Segoe UI"/>
              </a:rPr>
              <a:t>Combine Lines
Syntax Check
Latency: &lt; 1 ms</a:t>
            </a:r>
          </a:p>
        </p:txBody>
      </p:sp>
      <p:sp>
        <p:nvSpPr>
          <p:cNvPr id="76" name="Rounded Rectangle 75"/>
          <p:cNvSpPr/>
          <p:nvPr/>
        </p:nvSpPr>
        <p:spPr>
          <a:xfrm>
            <a:off x="8293608" y="4937759"/>
            <a:ext cx="1417320" cy="402336"/>
          </a:xfrm>
          <a:prstGeom prst="roundRect">
            <a:avLst>
              <a:gd name="adj" fmla="val 5000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7" name="TextBox 76"/>
          <p:cNvSpPr txBox="1"/>
          <p:nvPr/>
        </p:nvSpPr>
        <p:spPr>
          <a:xfrm>
            <a:off x="8293608" y="4937759"/>
            <a:ext cx="1417320" cy="402336"/>
          </a:xfrm>
          <a:prstGeom prst="rect">
            <a:avLst/>
          </a:prstGeom>
          <a:noFill/>
        </p:spPr>
        <p:txBody>
          <a:bodyPr wrap="square" lIns="18288" rIns="18288" anchor="ctr">
            <a:spAutoFit/>
          </a:bodyPr>
          <a:lstStyle/>
          <a:p>
            <a:pPr algn="ctr"/>
            <a:r>
              <a:rPr sz="1100" b="1" i="0">
                <a:solidFill>
                  <a:srgbClr val="FFFFFF"/>
                </a:solidFill>
                <a:latin typeface="Consolas"/>
              </a:rPr>
              <a:t>Takeo 1L-4082</a:t>
            </a:r>
          </a:p>
        </p:txBody>
      </p:sp>
      <p:sp>
        <p:nvSpPr>
          <p:cNvPr id="78" name="Chevron 77"/>
          <p:cNvSpPr/>
          <p:nvPr/>
        </p:nvSpPr>
        <p:spPr>
          <a:xfrm>
            <a:off x="9921240" y="3461003"/>
            <a:ext cx="164592" cy="256032"/>
          </a:xfrm>
          <a:prstGeom prst="chevron">
            <a:avLst/>
          </a:prstGeom>
          <a:solidFill>
            <a:srgbClr val="2F8F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9" name="Rounded Rectangle 78"/>
          <p:cNvSpPr/>
          <p:nvPr/>
        </p:nvSpPr>
        <p:spPr>
          <a:xfrm>
            <a:off x="10140696" y="1645920"/>
            <a:ext cx="1408176" cy="3886200"/>
          </a:xfrm>
          <a:prstGeom prst="roundRect">
            <a:avLst>
              <a:gd name="adj" fmla="val 7792"/>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Rounded Rectangle 80"/>
          <p:cNvSpPr/>
          <p:nvPr/>
        </p:nvSpPr>
        <p:spPr>
          <a:xfrm>
            <a:off x="10250424" y="1792224"/>
            <a:ext cx="1307156" cy="292608"/>
          </a:xfrm>
          <a:prstGeom prst="roundRect">
            <a:avLst>
              <a:gd name="adj" fmla="val 50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2" name="TextBox 81"/>
          <p:cNvSpPr txBox="1"/>
          <p:nvPr/>
        </p:nvSpPr>
        <p:spPr>
          <a:xfrm>
            <a:off x="10250424" y="1792224"/>
            <a:ext cx="1307156" cy="292608"/>
          </a:xfrm>
          <a:prstGeom prst="rect">
            <a:avLst/>
          </a:prstGeom>
          <a:noFill/>
        </p:spPr>
        <p:txBody>
          <a:bodyPr wrap="square" lIns="18288" rIns="18288" anchor="ctr">
            <a:spAutoFit/>
          </a:bodyPr>
          <a:lstStyle/>
          <a:p>
            <a:pPr algn="ctr"/>
            <a:r>
              <a:rPr sz="850" b="1" i="0" spc="120">
                <a:solidFill>
                  <a:srgbClr val="2F8F4E"/>
                </a:solidFill>
                <a:latin typeface="Segoe UI"/>
              </a:rPr>
              <a:t>05 · ACCESS</a:t>
            </a:r>
          </a:p>
        </p:txBody>
      </p:sp>
      <p:sp>
        <p:nvSpPr>
          <p:cNvPr id="83" name="TextBox 82"/>
          <p:cNvSpPr txBox="1"/>
          <p:nvPr/>
        </p:nvSpPr>
        <p:spPr>
          <a:xfrm>
            <a:off x="10250424" y="2121408"/>
            <a:ext cx="1188720" cy="292608"/>
          </a:xfrm>
          <a:prstGeom prst="rect">
            <a:avLst/>
          </a:prstGeom>
          <a:noFill/>
        </p:spPr>
        <p:txBody>
          <a:bodyPr wrap="square" lIns="18288" rIns="18288" anchor="t">
            <a:spAutoFit/>
          </a:bodyPr>
          <a:lstStyle/>
          <a:p>
            <a:pPr algn="l"/>
            <a:r>
              <a:rPr sz="1350" b="1" i="0">
                <a:solidFill>
                  <a:srgbClr val="14213D"/>
                </a:solidFill>
                <a:latin typeface="Segoe UI Semibold"/>
              </a:rPr>
              <a:t>Security Gate</a:t>
            </a:r>
          </a:p>
        </p:txBody>
      </p:sp>
      <p:sp>
        <p:nvSpPr>
          <p:cNvPr id="84" name="TextBox 83"/>
          <p:cNvSpPr txBox="1"/>
          <p:nvPr/>
        </p:nvSpPr>
        <p:spPr>
          <a:xfrm>
            <a:off x="10250424" y="2432304"/>
            <a:ext cx="1188720" cy="237744"/>
          </a:xfrm>
          <a:prstGeom prst="rect">
            <a:avLst/>
          </a:prstGeom>
          <a:noFill/>
        </p:spPr>
        <p:txBody>
          <a:bodyPr wrap="square" lIns="18288" rIns="18288" anchor="t">
            <a:spAutoFit/>
          </a:bodyPr>
          <a:lstStyle/>
          <a:p>
            <a:pPr algn="l"/>
            <a:r>
              <a:rPr sz="1000" b="0" i="0">
                <a:solidFill>
                  <a:srgbClr val="6B7280"/>
                </a:solidFill>
                <a:latin typeface="Segoe UI"/>
              </a:rPr>
              <a:t>SQLite Whitelist</a:t>
            </a:r>
          </a:p>
        </p:txBody>
      </p:sp>
      <p:sp>
        <p:nvSpPr>
          <p:cNvPr id="85" name="Rectangle 84"/>
          <p:cNvSpPr/>
          <p:nvPr/>
        </p:nvSpPr>
        <p:spPr>
          <a:xfrm>
            <a:off x="10250424" y="2743200"/>
            <a:ext cx="1188720"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6" name="Rounded Rectangle 85"/>
          <p:cNvSpPr/>
          <p:nvPr/>
        </p:nvSpPr>
        <p:spPr>
          <a:xfrm>
            <a:off x="10250424" y="2971800"/>
            <a:ext cx="1188720" cy="777240"/>
          </a:xfrm>
          <a:prstGeom prst="roundRect">
            <a:avLst>
              <a:gd name="adj" fmla="val 14117"/>
            </a:avLst>
          </a:prstGeom>
          <a:solidFill>
            <a:srgbClr val="E6F4EA"/>
          </a:solidFill>
          <a:ln w="12700">
            <a:solidFill>
              <a:srgbClr val="2F8F4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7" name="TextBox 86"/>
          <p:cNvSpPr txBox="1"/>
          <p:nvPr/>
        </p:nvSpPr>
        <p:spPr>
          <a:xfrm>
            <a:off x="10250424" y="2971800"/>
            <a:ext cx="1188720" cy="777240"/>
          </a:xfrm>
          <a:prstGeom prst="rect">
            <a:avLst/>
          </a:prstGeom>
          <a:noFill/>
        </p:spPr>
        <p:txBody>
          <a:bodyPr wrap="square" lIns="18288" rIns="18288" anchor="ctr">
            <a:spAutoFit/>
          </a:bodyPr>
          <a:lstStyle/>
          <a:p>
            <a:pPr algn="ctr"/>
            <a:r>
              <a:rPr sz="1050" b="1" i="0">
                <a:solidFill>
                  <a:srgbClr val="2F8F4E"/>
                </a:solidFill>
                <a:latin typeface="Segoe UI Semibold"/>
              </a:rPr>
              <a:t>✔ ALLOW</a:t>
            </a:r>
          </a:p>
          <a:p>
            <a:pPr algn="ctr"/>
            <a:r>
              <a:rPr sz="1050" b="1" i="0">
                <a:solidFill>
                  <a:srgbClr val="2F8F4E"/>
                </a:solidFill>
                <a:latin typeface="Segoe UI Semibold"/>
              </a:rPr>
              <a:t>Gate Opens</a:t>
            </a:r>
          </a:p>
        </p:txBody>
      </p:sp>
      <p:sp>
        <p:nvSpPr>
          <p:cNvPr id="88" name="Rounded Rectangle 87"/>
          <p:cNvSpPr/>
          <p:nvPr/>
        </p:nvSpPr>
        <p:spPr>
          <a:xfrm>
            <a:off x="10250424" y="3886200"/>
            <a:ext cx="1188720" cy="777240"/>
          </a:xfrm>
          <a:prstGeom prst="roundRect">
            <a:avLst>
              <a:gd name="adj" fmla="val 14117"/>
            </a:avLst>
          </a:prstGeom>
          <a:solidFill>
            <a:srgbClr val="F8E4E1"/>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9" name="TextBox 88"/>
          <p:cNvSpPr txBox="1"/>
          <p:nvPr/>
        </p:nvSpPr>
        <p:spPr>
          <a:xfrm>
            <a:off x="10250424" y="3886200"/>
            <a:ext cx="1188720" cy="777240"/>
          </a:xfrm>
          <a:prstGeom prst="rect">
            <a:avLst/>
          </a:prstGeom>
          <a:noFill/>
        </p:spPr>
        <p:txBody>
          <a:bodyPr wrap="square" lIns="18288" rIns="18288" anchor="ctr">
            <a:spAutoFit/>
          </a:bodyPr>
          <a:lstStyle/>
          <a:p>
            <a:pPr algn="ctr"/>
            <a:r>
              <a:rPr sz="1050" b="1" i="0">
                <a:solidFill>
                  <a:srgbClr val="C0392B"/>
                </a:solidFill>
                <a:latin typeface="Segoe UI Semibold"/>
              </a:rPr>
              <a:t>✖ DENY</a:t>
            </a:r>
          </a:p>
          <a:p>
            <a:pPr algn="ctr"/>
            <a:r>
              <a:rPr sz="1050" b="1" i="0">
                <a:solidFill>
                  <a:srgbClr val="C0392B"/>
                </a:solidFill>
                <a:latin typeface="Segoe UI Semibold"/>
              </a:rPr>
              <a:t>Remain Closed</a:t>
            </a:r>
          </a:p>
        </p:txBody>
      </p:sp>
      <p:sp>
        <p:nvSpPr>
          <p:cNvPr id="90" name="Rounded Rectangle 89"/>
          <p:cNvSpPr/>
          <p:nvPr/>
        </p:nvSpPr>
        <p:spPr>
          <a:xfrm>
            <a:off x="10250424" y="4937759"/>
            <a:ext cx="1188720" cy="402336"/>
          </a:xfrm>
          <a:prstGeom prst="roundRect">
            <a:avLst>
              <a:gd name="adj" fmla="val 50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 name="TextBox 90"/>
          <p:cNvSpPr txBox="1"/>
          <p:nvPr/>
        </p:nvSpPr>
        <p:spPr>
          <a:xfrm>
            <a:off x="10250424" y="4937759"/>
            <a:ext cx="1188720" cy="402336"/>
          </a:xfrm>
          <a:prstGeom prst="rect">
            <a:avLst/>
          </a:prstGeom>
          <a:noFill/>
        </p:spPr>
        <p:txBody>
          <a:bodyPr wrap="square" lIns="18288" rIns="18288" anchor="ctr">
            <a:spAutoFit/>
          </a:bodyPr>
          <a:lstStyle/>
          <a:p>
            <a:pPr algn="ctr"/>
            <a:r>
              <a:rPr sz="950" b="1" i="0">
                <a:solidFill>
                  <a:srgbClr val="2F8F4E"/>
                </a:solidFill>
                <a:latin typeface="Segoe UI Semibold"/>
              </a:rPr>
              <a:t>0 False Accepts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ounded Rectangle 2"/>
          <p:cNvSpPr/>
          <p:nvPr/>
        </p:nvSpPr>
        <p:spPr>
          <a:xfrm>
            <a:off x="640080" y="384048"/>
            <a:ext cx="1517904" cy="292608"/>
          </a:xfrm>
          <a:prstGeom prst="roundRect">
            <a:avLst>
              <a:gd name="adj" fmla="val 50000"/>
            </a:avLst>
          </a:prstGeom>
          <a:solidFill>
            <a:srgbClr val="E2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640080" y="384048"/>
            <a:ext cx="1517904" cy="292608"/>
          </a:xfrm>
          <a:prstGeom prst="rect">
            <a:avLst/>
          </a:prstGeom>
          <a:noFill/>
        </p:spPr>
        <p:txBody>
          <a:bodyPr wrap="square" lIns="18288" rIns="18288" anchor="ctr">
            <a:spAutoFit/>
          </a:bodyPr>
          <a:lstStyle/>
          <a:p>
            <a:pPr algn="ctr"/>
            <a:r>
              <a:rPr sz="1050" b="1" i="0" spc="120">
                <a:solidFill>
                  <a:srgbClr val="0F7C74"/>
                </a:solidFill>
                <a:latin typeface="Segoe UI"/>
              </a:rPr>
              <a:t>02  ·  DATA</a:t>
            </a:r>
          </a:p>
        </p:txBody>
      </p:sp>
      <p:pic>
        <p:nvPicPr>
          <p:cNvPr id="5" name="Picture 4" descr="kit_logo.png"/>
          <p:cNvPicPr>
            <a:picLocks noChangeAspect="1"/>
          </p:cNvPicPr>
          <p:nvPr/>
        </p:nvPicPr>
        <p:blipFill>
          <a:blip r:embed="rId3"/>
          <a:stretch>
            <a:fillRect/>
          </a:stretch>
        </p:blipFill>
        <p:spPr>
          <a:xfrm>
            <a:off x="10929823" y="320040"/>
            <a:ext cx="621792" cy="621792"/>
          </a:xfrm>
          <a:prstGeom prst="rect">
            <a:avLst/>
          </a:prstGeom>
        </p:spPr>
      </p:pic>
      <p:sp>
        <p:nvSpPr>
          <p:cNvPr id="6" name="TextBox 5"/>
          <p:cNvSpPr txBox="1"/>
          <p:nvPr/>
        </p:nvSpPr>
        <p:spPr>
          <a:xfrm>
            <a:off x="621792" y="731520"/>
            <a:ext cx="9997135" cy="685800"/>
          </a:xfrm>
          <a:prstGeom prst="rect">
            <a:avLst/>
          </a:prstGeom>
          <a:noFill/>
        </p:spPr>
        <p:txBody>
          <a:bodyPr wrap="square" lIns="18288" rIns="18288" anchor="ctr">
            <a:spAutoFit/>
          </a:bodyPr>
          <a:lstStyle/>
          <a:p>
            <a:pPr algn="l"/>
            <a:r>
              <a:rPr sz="3000" b="0" i="0">
                <a:solidFill>
                  <a:srgbClr val="14213D"/>
                </a:solidFill>
                <a:latin typeface="Segoe UI Semibold"/>
              </a:rPr>
              <a:t>Plate_v4 — Roboflow, CC BY 4.0</a:t>
            </a:r>
          </a:p>
        </p:txBody>
      </p:sp>
      <p:sp>
        <p:nvSpPr>
          <p:cNvPr id="7" name="Rectangle 6"/>
          <p:cNvSpPr/>
          <p:nvPr/>
        </p:nvSpPr>
        <p:spPr>
          <a:xfrm>
            <a:off x="640080" y="6601968"/>
            <a:ext cx="1368073" cy="27432"/>
          </a:xfrm>
          <a:prstGeom prst="rect">
            <a:avLst/>
          </a:prstGeom>
          <a:solidFill>
            <a:srgbClr val="0F7C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640080" y="6336792"/>
            <a:ext cx="1368073" cy="237744"/>
          </a:xfrm>
          <a:prstGeom prst="rect">
            <a:avLst/>
          </a:prstGeom>
          <a:noFill/>
        </p:spPr>
        <p:txBody>
          <a:bodyPr wrap="square" lIns="18288" rIns="18288" anchor="t">
            <a:spAutoFit/>
          </a:bodyPr>
          <a:lstStyle/>
          <a:p>
            <a:pPr algn="l"/>
            <a:r>
              <a:rPr sz="850" b="0" i="0">
                <a:solidFill>
                  <a:srgbClr val="6B7280"/>
                </a:solidFill>
                <a:latin typeface="Segoe UI"/>
              </a:rPr>
              <a:t>Problem</a:t>
            </a:r>
          </a:p>
        </p:txBody>
      </p:sp>
      <p:sp>
        <p:nvSpPr>
          <p:cNvPr id="9" name="Rectangle 8"/>
          <p:cNvSpPr/>
          <p:nvPr/>
        </p:nvSpPr>
        <p:spPr>
          <a:xfrm>
            <a:off x="2081305" y="6601968"/>
            <a:ext cx="1368073" cy="45720"/>
          </a:xfrm>
          <a:prstGeom prst="rect">
            <a:avLst/>
          </a:prstGeom>
          <a:solidFill>
            <a:srgbClr val="E09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2081305" y="6336792"/>
            <a:ext cx="1368073" cy="237744"/>
          </a:xfrm>
          <a:prstGeom prst="rect">
            <a:avLst/>
          </a:prstGeom>
          <a:noFill/>
        </p:spPr>
        <p:txBody>
          <a:bodyPr wrap="square" lIns="18288" rIns="18288" anchor="t">
            <a:spAutoFit/>
          </a:bodyPr>
          <a:lstStyle/>
          <a:p>
            <a:pPr algn="l"/>
            <a:r>
              <a:rPr sz="850" b="1" i="0">
                <a:solidFill>
                  <a:srgbClr val="14213D"/>
                </a:solidFill>
                <a:latin typeface="Segoe UI"/>
              </a:rPr>
              <a:t>Data</a:t>
            </a:r>
          </a:p>
        </p:txBody>
      </p:sp>
      <p:sp>
        <p:nvSpPr>
          <p:cNvPr id="11" name="Rectangle 10"/>
          <p:cNvSpPr/>
          <p:nvPr/>
        </p:nvSpPr>
        <p:spPr>
          <a:xfrm>
            <a:off x="3522530" y="6601968"/>
            <a:ext cx="1368073" cy="2743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3522530" y="6336792"/>
            <a:ext cx="1368073" cy="237744"/>
          </a:xfrm>
          <a:prstGeom prst="rect">
            <a:avLst/>
          </a:prstGeom>
          <a:noFill/>
        </p:spPr>
        <p:txBody>
          <a:bodyPr wrap="square" lIns="18288" rIns="18288" anchor="t">
            <a:spAutoFit/>
          </a:bodyPr>
          <a:lstStyle/>
          <a:p>
            <a:pPr algn="l"/>
            <a:r>
              <a:rPr sz="850" b="0" i="0">
                <a:solidFill>
                  <a:srgbClr val="6B7280"/>
                </a:solidFill>
                <a:latin typeface="Segoe UI"/>
              </a:rPr>
              <a:t>Method</a:t>
            </a:r>
          </a:p>
        </p:txBody>
      </p:sp>
      <p:sp>
        <p:nvSpPr>
          <p:cNvPr id="13" name="Rectangle 12"/>
          <p:cNvSpPr/>
          <p:nvPr/>
        </p:nvSpPr>
        <p:spPr>
          <a:xfrm>
            <a:off x="4963755" y="6601968"/>
            <a:ext cx="1368073" cy="2743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963755" y="6336792"/>
            <a:ext cx="1368073" cy="237744"/>
          </a:xfrm>
          <a:prstGeom prst="rect">
            <a:avLst/>
          </a:prstGeom>
          <a:noFill/>
        </p:spPr>
        <p:txBody>
          <a:bodyPr wrap="square" lIns="18288" rIns="18288" anchor="t">
            <a:spAutoFit/>
          </a:bodyPr>
          <a:lstStyle/>
          <a:p>
            <a:pPr algn="l"/>
            <a:r>
              <a:rPr sz="850" b="0" i="0">
                <a:solidFill>
                  <a:srgbClr val="6B7280"/>
                </a:solidFill>
                <a:latin typeface="Segoe UI"/>
              </a:rPr>
              <a:t>Results</a:t>
            </a:r>
          </a:p>
        </p:txBody>
      </p:sp>
      <p:sp>
        <p:nvSpPr>
          <p:cNvPr id="15" name="Rectangle 14"/>
          <p:cNvSpPr/>
          <p:nvPr/>
        </p:nvSpPr>
        <p:spPr>
          <a:xfrm>
            <a:off x="6404980" y="6601968"/>
            <a:ext cx="1368073" cy="2743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6404980" y="6336792"/>
            <a:ext cx="1368073" cy="237744"/>
          </a:xfrm>
          <a:prstGeom prst="rect">
            <a:avLst/>
          </a:prstGeom>
          <a:noFill/>
        </p:spPr>
        <p:txBody>
          <a:bodyPr wrap="square" lIns="18288" rIns="18288" anchor="t">
            <a:spAutoFit/>
          </a:bodyPr>
          <a:lstStyle/>
          <a:p>
            <a:pPr algn="l"/>
            <a:r>
              <a:rPr sz="850" b="0" i="0">
                <a:solidFill>
                  <a:srgbClr val="6B7280"/>
                </a:solidFill>
                <a:latin typeface="Segoe UI"/>
              </a:rPr>
              <a:t>Analysis</a:t>
            </a:r>
          </a:p>
        </p:txBody>
      </p:sp>
      <p:sp>
        <p:nvSpPr>
          <p:cNvPr id="17" name="Rectangle 16"/>
          <p:cNvSpPr/>
          <p:nvPr/>
        </p:nvSpPr>
        <p:spPr>
          <a:xfrm>
            <a:off x="7846205" y="6601968"/>
            <a:ext cx="1368073" cy="2743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846205" y="6336792"/>
            <a:ext cx="1368073" cy="237744"/>
          </a:xfrm>
          <a:prstGeom prst="rect">
            <a:avLst/>
          </a:prstGeom>
          <a:noFill/>
        </p:spPr>
        <p:txBody>
          <a:bodyPr wrap="square" lIns="18288" rIns="18288" anchor="t">
            <a:spAutoFit/>
          </a:bodyPr>
          <a:lstStyle/>
          <a:p>
            <a:pPr algn="l"/>
            <a:r>
              <a:rPr sz="850" b="0" i="0">
                <a:solidFill>
                  <a:srgbClr val="6B7280"/>
                </a:solidFill>
                <a:latin typeface="Segoe UI"/>
              </a:rPr>
              <a:t>Honesty</a:t>
            </a:r>
          </a:p>
        </p:txBody>
      </p:sp>
      <p:sp>
        <p:nvSpPr>
          <p:cNvPr id="19" name="Rectangle 18"/>
          <p:cNvSpPr/>
          <p:nvPr/>
        </p:nvSpPr>
        <p:spPr>
          <a:xfrm>
            <a:off x="9287430" y="6601968"/>
            <a:ext cx="1368073" cy="2743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9287430" y="6336792"/>
            <a:ext cx="1368073" cy="237744"/>
          </a:xfrm>
          <a:prstGeom prst="rect">
            <a:avLst/>
          </a:prstGeom>
          <a:noFill/>
        </p:spPr>
        <p:txBody>
          <a:bodyPr wrap="square" lIns="18288" rIns="18288" anchor="t">
            <a:spAutoFit/>
          </a:bodyPr>
          <a:lstStyle/>
          <a:p>
            <a:pPr algn="l"/>
            <a:r>
              <a:rPr sz="850" b="0" i="0">
                <a:solidFill>
                  <a:srgbClr val="6B7280"/>
                </a:solidFill>
                <a:latin typeface="Segoe UI"/>
              </a:rPr>
              <a:t>Conclusion</a:t>
            </a:r>
          </a:p>
        </p:txBody>
      </p:sp>
      <p:sp>
        <p:nvSpPr>
          <p:cNvPr id="21" name="TextBox 20"/>
          <p:cNvSpPr txBox="1"/>
          <p:nvPr/>
        </p:nvSpPr>
        <p:spPr>
          <a:xfrm>
            <a:off x="10820095" y="6373368"/>
            <a:ext cx="731520" cy="274320"/>
          </a:xfrm>
          <a:prstGeom prst="rect">
            <a:avLst/>
          </a:prstGeom>
          <a:noFill/>
        </p:spPr>
        <p:txBody>
          <a:bodyPr wrap="square" lIns="18288" rIns="18288" anchor="t">
            <a:spAutoFit/>
          </a:bodyPr>
          <a:lstStyle/>
          <a:p>
            <a:pPr algn="r"/>
            <a:r>
              <a:rPr sz="1100" b="1" i="0">
                <a:solidFill>
                  <a:srgbClr val="0F7C74"/>
                </a:solidFill>
                <a:latin typeface="Segoe UI Semibold"/>
              </a:rPr>
              <a:t>4</a:t>
            </a:r>
          </a:p>
        </p:txBody>
      </p:sp>
      <p:sp>
        <p:nvSpPr>
          <p:cNvPr id="22" name="Rounded Rectangle 21"/>
          <p:cNvSpPr/>
          <p:nvPr/>
        </p:nvSpPr>
        <p:spPr>
          <a:xfrm>
            <a:off x="640080" y="1645920"/>
            <a:ext cx="2036003" cy="1051560"/>
          </a:xfrm>
          <a:prstGeom prst="roundRect">
            <a:avLst>
              <a:gd name="adj" fmla="val 10434"/>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Rectangle 22"/>
          <p:cNvSpPr/>
          <p:nvPr/>
        </p:nvSpPr>
        <p:spPr>
          <a:xfrm>
            <a:off x="640080" y="1847088"/>
            <a:ext cx="64008" cy="649224"/>
          </a:xfrm>
          <a:prstGeom prst="rect">
            <a:avLst/>
          </a:prstGeom>
          <a:solidFill>
            <a:srgbClr val="0F7C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896112" y="1719072"/>
            <a:ext cx="1670243" cy="905255"/>
          </a:xfrm>
          <a:prstGeom prst="rect">
            <a:avLst/>
          </a:prstGeom>
          <a:noFill/>
        </p:spPr>
        <p:txBody>
          <a:bodyPr wrap="square" anchor="ctr">
            <a:spAutoFit/>
          </a:bodyPr>
          <a:lstStyle/>
          <a:p>
            <a:r>
              <a:rPr sz="2700" b="1" i="0">
                <a:solidFill>
                  <a:srgbClr val="0F7C74"/>
                </a:solidFill>
                <a:latin typeface="Segoe UI Semibold"/>
              </a:rPr>
              <a:t>2 515</a:t>
            </a:r>
          </a:p>
          <a:p>
            <a:r>
              <a:rPr sz="1000" b="0" i="0">
                <a:solidFill>
                  <a:srgbClr val="6B7280"/>
                </a:solidFill>
                <a:latin typeface="Segoe UI"/>
              </a:rPr>
              <a:t>train crops</a:t>
            </a:r>
          </a:p>
        </p:txBody>
      </p:sp>
      <p:sp>
        <p:nvSpPr>
          <p:cNvPr id="25" name="Rounded Rectangle 24"/>
          <p:cNvSpPr/>
          <p:nvPr/>
        </p:nvSpPr>
        <p:spPr>
          <a:xfrm>
            <a:off x="2858963" y="1645920"/>
            <a:ext cx="2036003" cy="1051560"/>
          </a:xfrm>
          <a:prstGeom prst="roundRect">
            <a:avLst>
              <a:gd name="adj" fmla="val 10434"/>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Rectangle 25"/>
          <p:cNvSpPr/>
          <p:nvPr/>
        </p:nvSpPr>
        <p:spPr>
          <a:xfrm>
            <a:off x="2858963" y="1847088"/>
            <a:ext cx="64008" cy="649224"/>
          </a:xfrm>
          <a:prstGeom prst="rect">
            <a:avLst/>
          </a:prstGeom>
          <a:solidFill>
            <a:srgbClr val="0F7C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3114995" y="1719072"/>
            <a:ext cx="1670243" cy="905255"/>
          </a:xfrm>
          <a:prstGeom prst="rect">
            <a:avLst/>
          </a:prstGeom>
          <a:noFill/>
        </p:spPr>
        <p:txBody>
          <a:bodyPr wrap="square" anchor="ctr">
            <a:spAutoFit/>
          </a:bodyPr>
          <a:lstStyle/>
          <a:p>
            <a:r>
              <a:rPr sz="2700" b="1" i="0">
                <a:solidFill>
                  <a:srgbClr val="0F7C74"/>
                </a:solidFill>
                <a:latin typeface="Segoe UI Semibold"/>
              </a:rPr>
              <a:t>529</a:t>
            </a:r>
          </a:p>
          <a:p>
            <a:r>
              <a:rPr sz="1000" b="0" i="0">
                <a:solidFill>
                  <a:srgbClr val="6B7280"/>
                </a:solidFill>
                <a:latin typeface="Segoe UI"/>
              </a:rPr>
              <a:t>validation</a:t>
            </a:r>
          </a:p>
        </p:txBody>
      </p:sp>
      <p:sp>
        <p:nvSpPr>
          <p:cNvPr id="28" name="Rounded Rectangle 27"/>
          <p:cNvSpPr/>
          <p:nvPr/>
        </p:nvSpPr>
        <p:spPr>
          <a:xfrm>
            <a:off x="5077846" y="1645920"/>
            <a:ext cx="2036003" cy="1051560"/>
          </a:xfrm>
          <a:prstGeom prst="roundRect">
            <a:avLst>
              <a:gd name="adj" fmla="val 10434"/>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Rectangle 28"/>
          <p:cNvSpPr/>
          <p:nvPr/>
        </p:nvSpPr>
        <p:spPr>
          <a:xfrm>
            <a:off x="5077846" y="1847088"/>
            <a:ext cx="64008" cy="649224"/>
          </a:xfrm>
          <a:prstGeom prst="rect">
            <a:avLst/>
          </a:prstGeom>
          <a:solidFill>
            <a:srgbClr val="0F7C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5333878" y="1719072"/>
            <a:ext cx="1670243" cy="905255"/>
          </a:xfrm>
          <a:prstGeom prst="rect">
            <a:avLst/>
          </a:prstGeom>
          <a:noFill/>
        </p:spPr>
        <p:txBody>
          <a:bodyPr wrap="square" anchor="ctr">
            <a:spAutoFit/>
          </a:bodyPr>
          <a:lstStyle/>
          <a:p>
            <a:r>
              <a:rPr sz="2700" b="1" i="0">
                <a:solidFill>
                  <a:srgbClr val="0F7C74"/>
                </a:solidFill>
                <a:latin typeface="Segoe UI Semibold"/>
              </a:rPr>
              <a:t>567</a:t>
            </a:r>
          </a:p>
          <a:p>
            <a:r>
              <a:rPr sz="1000" b="0" i="0">
                <a:solidFill>
                  <a:srgbClr val="6B7280"/>
                </a:solidFill>
                <a:latin typeface="Segoe UI"/>
              </a:rPr>
              <a:t>test</a:t>
            </a:r>
          </a:p>
        </p:txBody>
      </p:sp>
      <p:sp>
        <p:nvSpPr>
          <p:cNvPr id="31" name="Rounded Rectangle 30"/>
          <p:cNvSpPr/>
          <p:nvPr/>
        </p:nvSpPr>
        <p:spPr>
          <a:xfrm>
            <a:off x="7296729" y="1645920"/>
            <a:ext cx="2036003" cy="1051560"/>
          </a:xfrm>
          <a:prstGeom prst="roundRect">
            <a:avLst>
              <a:gd name="adj" fmla="val 10434"/>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Rectangle 31"/>
          <p:cNvSpPr/>
          <p:nvPr/>
        </p:nvSpPr>
        <p:spPr>
          <a:xfrm>
            <a:off x="7296729" y="1847088"/>
            <a:ext cx="64008" cy="649224"/>
          </a:xfrm>
          <a:prstGeom prst="rect">
            <a:avLst/>
          </a:prstGeom>
          <a:solidFill>
            <a:srgbClr val="0F7C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Box 32"/>
          <p:cNvSpPr txBox="1"/>
          <p:nvPr/>
        </p:nvSpPr>
        <p:spPr>
          <a:xfrm>
            <a:off x="7552761" y="1719072"/>
            <a:ext cx="1670243" cy="905255"/>
          </a:xfrm>
          <a:prstGeom prst="rect">
            <a:avLst/>
          </a:prstGeom>
          <a:noFill/>
        </p:spPr>
        <p:txBody>
          <a:bodyPr wrap="square" anchor="ctr">
            <a:spAutoFit/>
          </a:bodyPr>
          <a:lstStyle/>
          <a:p>
            <a:r>
              <a:rPr sz="2700" b="1" i="0">
                <a:solidFill>
                  <a:srgbClr val="0F7C74"/>
                </a:solidFill>
                <a:latin typeface="Segoe UI Semibold"/>
              </a:rPr>
              <a:t>26</a:t>
            </a:r>
          </a:p>
          <a:p>
            <a:r>
              <a:rPr sz="1000" b="0" i="0">
                <a:solidFill>
                  <a:srgbClr val="6B7280"/>
                </a:solidFill>
                <a:latin typeface="Segoe UI"/>
              </a:rPr>
              <a:t>classes</a:t>
            </a:r>
          </a:p>
        </p:txBody>
      </p:sp>
      <p:sp>
        <p:nvSpPr>
          <p:cNvPr id="34" name="Rounded Rectangle 33"/>
          <p:cNvSpPr/>
          <p:nvPr/>
        </p:nvSpPr>
        <p:spPr>
          <a:xfrm>
            <a:off x="9515612" y="1645920"/>
            <a:ext cx="2036003" cy="1051560"/>
          </a:xfrm>
          <a:prstGeom prst="roundRect">
            <a:avLst>
              <a:gd name="adj" fmla="val 10434"/>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Rectangle 34"/>
          <p:cNvSpPr/>
          <p:nvPr/>
        </p:nvSpPr>
        <p:spPr>
          <a:xfrm>
            <a:off x="9515612" y="1847088"/>
            <a:ext cx="64008" cy="64922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TextBox 35"/>
          <p:cNvSpPr txBox="1"/>
          <p:nvPr/>
        </p:nvSpPr>
        <p:spPr>
          <a:xfrm>
            <a:off x="9771644" y="1719072"/>
            <a:ext cx="1670243" cy="905255"/>
          </a:xfrm>
          <a:prstGeom prst="rect">
            <a:avLst/>
          </a:prstGeom>
          <a:noFill/>
        </p:spPr>
        <p:txBody>
          <a:bodyPr wrap="square" anchor="ctr">
            <a:spAutoFit/>
          </a:bodyPr>
          <a:lstStyle/>
          <a:p>
            <a:r>
              <a:rPr sz="2700" b="1" i="0">
                <a:solidFill>
                  <a:srgbClr val="C0392B"/>
                </a:solidFill>
                <a:latin typeface="Segoe UI Semibold"/>
              </a:rPr>
              <a:t>13.4 %</a:t>
            </a:r>
          </a:p>
          <a:p>
            <a:r>
              <a:rPr sz="1000" b="0" i="0">
                <a:solidFill>
                  <a:srgbClr val="6B7280"/>
                </a:solidFill>
                <a:latin typeface="Segoe UI"/>
              </a:rPr>
              <a:t>test near-duplicates</a:t>
            </a:r>
          </a:p>
        </p:txBody>
      </p:sp>
      <p:sp>
        <p:nvSpPr>
          <p:cNvPr id="37" name="Rounded Rectangle 36"/>
          <p:cNvSpPr/>
          <p:nvPr/>
        </p:nvSpPr>
        <p:spPr>
          <a:xfrm>
            <a:off x="640080" y="3004739"/>
            <a:ext cx="5318607" cy="1129284"/>
          </a:xfrm>
          <a:prstGeom prst="roundRect">
            <a:avLst>
              <a:gd name="adj" fmla="val 9716"/>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Oval 37"/>
          <p:cNvSpPr/>
          <p:nvPr/>
        </p:nvSpPr>
        <p:spPr>
          <a:xfrm>
            <a:off x="841247" y="3359069"/>
            <a:ext cx="420624" cy="420624"/>
          </a:xfrm>
          <a:prstGeom prst="ellipse">
            <a:avLst/>
          </a:prstGeom>
          <a:solidFill>
            <a:srgbClr val="E2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Box 38"/>
          <p:cNvSpPr txBox="1"/>
          <p:nvPr/>
        </p:nvSpPr>
        <p:spPr>
          <a:xfrm>
            <a:off x="841247" y="3359069"/>
            <a:ext cx="420624" cy="420624"/>
          </a:xfrm>
          <a:prstGeom prst="rect">
            <a:avLst/>
          </a:prstGeom>
          <a:noFill/>
        </p:spPr>
        <p:txBody>
          <a:bodyPr wrap="square" lIns="18288" rIns="18288" anchor="ctr">
            <a:spAutoFit/>
          </a:bodyPr>
          <a:lstStyle/>
          <a:p>
            <a:pPr algn="ctr"/>
            <a:r>
              <a:rPr sz="1300" b="1" i="0">
                <a:solidFill>
                  <a:srgbClr val="0F7C74"/>
                </a:solidFill>
                <a:latin typeface="Segoe UI Semibold"/>
              </a:rPr>
              <a:t>1</a:t>
            </a:r>
          </a:p>
        </p:txBody>
      </p:sp>
      <p:sp>
        <p:nvSpPr>
          <p:cNvPr id="40" name="TextBox 39"/>
          <p:cNvSpPr txBox="1"/>
          <p:nvPr/>
        </p:nvSpPr>
        <p:spPr>
          <a:xfrm>
            <a:off x="1463039" y="3004739"/>
            <a:ext cx="4312767" cy="1129284"/>
          </a:xfrm>
          <a:prstGeom prst="rect">
            <a:avLst/>
          </a:prstGeom>
          <a:noFill/>
        </p:spPr>
        <p:txBody>
          <a:bodyPr wrap="square" anchor="ctr">
            <a:spAutoFit/>
          </a:bodyPr>
          <a:lstStyle/>
          <a:p>
            <a:r>
              <a:rPr sz="1400" b="1" i="0">
                <a:solidFill>
                  <a:srgbClr val="0F7C74"/>
                </a:solidFill>
                <a:latin typeface="Segoe UI"/>
              </a:rPr>
              <a:t>Public benchmark dataset</a:t>
            </a:r>
            <a:r>
              <a:rPr sz="1400" b="0" i="0">
                <a:solidFill>
                  <a:srgbClr val="14213D"/>
                </a:solidFill>
                <a:latin typeface="Segoe UI"/>
              </a:rPr>
              <a:t>
Roboflow Plate_v4 (CC BY 4.0): 3 611 vehicle crops across real Cambodian road conditions.</a:t>
            </a:r>
          </a:p>
        </p:txBody>
      </p:sp>
      <p:sp>
        <p:nvSpPr>
          <p:cNvPr id="41" name="Rounded Rectangle 40"/>
          <p:cNvSpPr/>
          <p:nvPr/>
        </p:nvSpPr>
        <p:spPr>
          <a:xfrm>
            <a:off x="640080" y="4436267"/>
            <a:ext cx="5318607" cy="1129284"/>
          </a:xfrm>
          <a:prstGeom prst="roundRect">
            <a:avLst>
              <a:gd name="adj" fmla="val 9716"/>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Oval 41"/>
          <p:cNvSpPr/>
          <p:nvPr/>
        </p:nvSpPr>
        <p:spPr>
          <a:xfrm>
            <a:off x="841247" y="4790597"/>
            <a:ext cx="420624" cy="420624"/>
          </a:xfrm>
          <a:prstGeom prst="ellipse">
            <a:avLst/>
          </a:prstGeom>
          <a:solidFill>
            <a:srgbClr val="E2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Box 42"/>
          <p:cNvSpPr txBox="1"/>
          <p:nvPr/>
        </p:nvSpPr>
        <p:spPr>
          <a:xfrm>
            <a:off x="841247" y="4790597"/>
            <a:ext cx="420624" cy="420624"/>
          </a:xfrm>
          <a:prstGeom prst="rect">
            <a:avLst/>
          </a:prstGeom>
          <a:noFill/>
        </p:spPr>
        <p:txBody>
          <a:bodyPr wrap="square" lIns="18288" rIns="18288" anchor="ctr">
            <a:spAutoFit/>
          </a:bodyPr>
          <a:lstStyle/>
          <a:p>
            <a:pPr algn="ctr"/>
            <a:r>
              <a:rPr sz="1300" b="1" i="0">
                <a:solidFill>
                  <a:srgbClr val="0F7C74"/>
                </a:solidFill>
                <a:latin typeface="Segoe UI Semibold"/>
              </a:rPr>
              <a:t>2</a:t>
            </a:r>
          </a:p>
        </p:txBody>
      </p:sp>
      <p:sp>
        <p:nvSpPr>
          <p:cNvPr id="44" name="TextBox 43"/>
          <p:cNvSpPr txBox="1"/>
          <p:nvPr/>
        </p:nvSpPr>
        <p:spPr>
          <a:xfrm>
            <a:off x="1463039" y="4436267"/>
            <a:ext cx="4312767" cy="1129284"/>
          </a:xfrm>
          <a:prstGeom prst="rect">
            <a:avLst/>
          </a:prstGeom>
          <a:noFill/>
        </p:spPr>
        <p:txBody>
          <a:bodyPr wrap="square" anchor="ctr">
            <a:spAutoFit/>
          </a:bodyPr>
          <a:lstStyle/>
          <a:p>
            <a:r>
              <a:rPr sz="1400" b="1" i="0">
                <a:solidFill>
                  <a:srgbClr val="0F7C74"/>
                </a:solidFill>
                <a:latin typeface="Segoe UI"/>
              </a:rPr>
              <a:t>13.4 % near-duplicate leakage</a:t>
            </a:r>
            <a:r>
              <a:rPr sz="1400" b="0" i="0">
                <a:solidFill>
                  <a:srgbClr val="14213D"/>
                </a:solidFill>
                <a:latin typeface="Segoe UI"/>
              </a:rPr>
              <a:t>
76 of 567 test crops share source photos with training. All models also evaluated on clean n=491.</a:t>
            </a:r>
          </a:p>
        </p:txBody>
      </p:sp>
      <p:sp>
        <p:nvSpPr>
          <p:cNvPr id="45" name="Rounded Rectangle 44"/>
          <p:cNvSpPr/>
          <p:nvPr/>
        </p:nvSpPr>
        <p:spPr>
          <a:xfrm>
            <a:off x="6233007" y="3004739"/>
            <a:ext cx="5318607" cy="1129284"/>
          </a:xfrm>
          <a:prstGeom prst="roundRect">
            <a:avLst>
              <a:gd name="adj" fmla="val 9716"/>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Oval 45"/>
          <p:cNvSpPr/>
          <p:nvPr/>
        </p:nvSpPr>
        <p:spPr>
          <a:xfrm>
            <a:off x="6434175" y="3359069"/>
            <a:ext cx="420624" cy="420624"/>
          </a:xfrm>
          <a:prstGeom prst="ellipse">
            <a:avLst/>
          </a:prstGeom>
          <a:solidFill>
            <a:srgbClr val="E2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TextBox 46"/>
          <p:cNvSpPr txBox="1"/>
          <p:nvPr/>
        </p:nvSpPr>
        <p:spPr>
          <a:xfrm>
            <a:off x="6434175" y="3359069"/>
            <a:ext cx="420624" cy="420624"/>
          </a:xfrm>
          <a:prstGeom prst="rect">
            <a:avLst/>
          </a:prstGeom>
          <a:noFill/>
        </p:spPr>
        <p:txBody>
          <a:bodyPr wrap="square" lIns="18288" rIns="18288" anchor="ctr">
            <a:spAutoFit/>
          </a:bodyPr>
          <a:lstStyle/>
          <a:p>
            <a:pPr algn="ctr"/>
            <a:r>
              <a:rPr sz="1300" b="1" i="0">
                <a:solidFill>
                  <a:srgbClr val="0F7C74"/>
                </a:solidFill>
                <a:latin typeface="Segoe UI Semibold"/>
              </a:rPr>
              <a:t>3</a:t>
            </a:r>
          </a:p>
        </p:txBody>
      </p:sp>
      <p:sp>
        <p:nvSpPr>
          <p:cNvPr id="48" name="TextBox 47"/>
          <p:cNvSpPr txBox="1"/>
          <p:nvPr/>
        </p:nvSpPr>
        <p:spPr>
          <a:xfrm>
            <a:off x="7055967" y="3004739"/>
            <a:ext cx="4312767" cy="1129284"/>
          </a:xfrm>
          <a:prstGeom prst="rect">
            <a:avLst/>
          </a:prstGeom>
          <a:noFill/>
        </p:spPr>
        <p:txBody>
          <a:bodyPr wrap="square" anchor="ctr">
            <a:spAutoFit/>
          </a:bodyPr>
          <a:lstStyle/>
          <a:p>
            <a:r>
              <a:rPr sz="1400" b="1" i="0">
                <a:solidFill>
                  <a:srgbClr val="0F7C74"/>
                </a:solidFill>
                <a:latin typeface="Segoe UI"/>
              </a:rPr>
              <a:t>Standardized crop inputs</a:t>
            </a:r>
            <a:r>
              <a:rPr sz="1400" b="0" i="0">
                <a:solidFill>
                  <a:srgbClr val="14213D"/>
                </a:solidFill>
                <a:latin typeface="Segoe UI"/>
              </a:rPr>
              <a:t>
128×128 (CNN) / 224×224 (ViT) patches focusing exclusively on the top Khmer province line.</a:t>
            </a:r>
          </a:p>
        </p:txBody>
      </p:sp>
      <p:sp>
        <p:nvSpPr>
          <p:cNvPr id="49" name="Rounded Rectangle 48"/>
          <p:cNvSpPr/>
          <p:nvPr/>
        </p:nvSpPr>
        <p:spPr>
          <a:xfrm>
            <a:off x="6233007" y="4436267"/>
            <a:ext cx="5318607" cy="1129284"/>
          </a:xfrm>
          <a:prstGeom prst="roundRect">
            <a:avLst>
              <a:gd name="adj" fmla="val 9716"/>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0" name="Oval 49"/>
          <p:cNvSpPr/>
          <p:nvPr/>
        </p:nvSpPr>
        <p:spPr>
          <a:xfrm>
            <a:off x="6434175" y="4790597"/>
            <a:ext cx="420624" cy="420624"/>
          </a:xfrm>
          <a:prstGeom prst="ellipse">
            <a:avLst/>
          </a:prstGeom>
          <a:solidFill>
            <a:srgbClr val="E2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TextBox 50"/>
          <p:cNvSpPr txBox="1"/>
          <p:nvPr/>
        </p:nvSpPr>
        <p:spPr>
          <a:xfrm>
            <a:off x="6434175" y="4790597"/>
            <a:ext cx="420624" cy="420624"/>
          </a:xfrm>
          <a:prstGeom prst="rect">
            <a:avLst/>
          </a:prstGeom>
          <a:noFill/>
        </p:spPr>
        <p:txBody>
          <a:bodyPr wrap="square" lIns="18288" rIns="18288" anchor="ctr">
            <a:spAutoFit/>
          </a:bodyPr>
          <a:lstStyle/>
          <a:p>
            <a:pPr algn="ctr"/>
            <a:r>
              <a:rPr sz="1300" b="1" i="0">
                <a:solidFill>
                  <a:srgbClr val="0F7C74"/>
                </a:solidFill>
                <a:latin typeface="Segoe UI Semibold"/>
              </a:rPr>
              <a:t>4</a:t>
            </a:r>
          </a:p>
        </p:txBody>
      </p:sp>
      <p:sp>
        <p:nvSpPr>
          <p:cNvPr id="52" name="TextBox 51"/>
          <p:cNvSpPr txBox="1"/>
          <p:nvPr/>
        </p:nvSpPr>
        <p:spPr>
          <a:xfrm>
            <a:off x="7055967" y="4436267"/>
            <a:ext cx="4312767" cy="1129284"/>
          </a:xfrm>
          <a:prstGeom prst="rect">
            <a:avLst/>
          </a:prstGeom>
          <a:noFill/>
        </p:spPr>
        <p:txBody>
          <a:bodyPr wrap="square" anchor="ctr">
            <a:spAutoFit/>
          </a:bodyPr>
          <a:lstStyle/>
          <a:p>
            <a:r>
              <a:rPr sz="1400" b="1" i="0">
                <a:solidFill>
                  <a:srgbClr val="0F7C74"/>
                </a:solidFill>
                <a:latin typeface="Segoe UI"/>
              </a:rPr>
              <a:t>Severe class imbalance (25:1)</a:t>
            </a:r>
            <a:r>
              <a:rPr sz="1400" b="0" i="0">
                <a:solidFill>
                  <a:srgbClr val="14213D"/>
                </a:solidFill>
                <a:latin typeface="Segoe UI"/>
              </a:rPr>
              <a:t>
</a:t>
            </a:r>
            <a:r>
              <a:rPr sz="1400" b="0" i="1">
                <a:solidFill>
                  <a:srgbClr val="14213D"/>
                </a:solidFill>
                <a:latin typeface="Segoe UI"/>
              </a:rPr>
              <a:t>Other</a:t>
            </a:r>
            <a:r>
              <a:rPr sz="1400" b="0" i="0">
                <a:solidFill>
                  <a:srgbClr val="14213D"/>
                </a:solidFill>
                <a:latin typeface="Segoe UI"/>
              </a:rPr>
              <a:t> (453) vs. </a:t>
            </a:r>
            <a:r>
              <a:rPr sz="1400" b="0" i="1">
                <a:solidFill>
                  <a:srgbClr val="14213D"/>
                </a:solidFill>
                <a:latin typeface="Segoe UI"/>
              </a:rPr>
              <a:t>Mondul Kiri</a:t>
            </a:r>
            <a:r>
              <a:rPr sz="1400" b="0" i="0">
                <a:solidFill>
                  <a:srgbClr val="14213D"/>
                </a:solidFill>
                <a:latin typeface="Segoe UI"/>
              </a:rPr>
              <a:t> (18). 4 rare provinces have ≤ 50 crops, requiring </a:t>
            </a:r>
            <a:r>
              <a:rPr sz="1400" b="1" i="0">
                <a:solidFill>
                  <a:srgbClr val="0F7C74"/>
                </a:solidFill>
                <a:latin typeface="Segoe UI"/>
              </a:rPr>
              <a:t>macro-F1</a:t>
            </a:r>
            <a:r>
              <a:rPr sz="1400" b="0" i="0">
                <a:solidFill>
                  <a:srgbClr val="14213D"/>
                </a:solidFill>
                <a:latin typeface="Segoe UI"/>
              </a:rPr>
              <a: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ounded Rectangle 2"/>
          <p:cNvSpPr/>
          <p:nvPr/>
        </p:nvSpPr>
        <p:spPr>
          <a:xfrm>
            <a:off x="640080" y="384048"/>
            <a:ext cx="1517904" cy="292608"/>
          </a:xfrm>
          <a:prstGeom prst="roundRect">
            <a:avLst>
              <a:gd name="adj" fmla="val 50000"/>
            </a:avLst>
          </a:prstGeom>
          <a:solidFill>
            <a:srgbClr val="E2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640080" y="384048"/>
            <a:ext cx="1517904" cy="292608"/>
          </a:xfrm>
          <a:prstGeom prst="rect">
            <a:avLst/>
          </a:prstGeom>
          <a:noFill/>
        </p:spPr>
        <p:txBody>
          <a:bodyPr wrap="square" lIns="18288" rIns="18288" anchor="ctr">
            <a:spAutoFit/>
          </a:bodyPr>
          <a:lstStyle/>
          <a:p>
            <a:pPr algn="ctr"/>
            <a:r>
              <a:rPr sz="1050" b="1" i="0" spc="120">
                <a:solidFill>
                  <a:srgbClr val="0F7C74"/>
                </a:solidFill>
                <a:latin typeface="Segoe UI"/>
              </a:rPr>
              <a:t>02  ·  DATA</a:t>
            </a:r>
          </a:p>
        </p:txBody>
      </p:sp>
      <p:pic>
        <p:nvPicPr>
          <p:cNvPr id="5" name="Picture 4" descr="kit_logo.png"/>
          <p:cNvPicPr>
            <a:picLocks noChangeAspect="1"/>
          </p:cNvPicPr>
          <p:nvPr/>
        </p:nvPicPr>
        <p:blipFill>
          <a:blip r:embed="rId3"/>
          <a:stretch>
            <a:fillRect/>
          </a:stretch>
        </p:blipFill>
        <p:spPr>
          <a:xfrm>
            <a:off x="10929823" y="320040"/>
            <a:ext cx="621792" cy="621792"/>
          </a:xfrm>
          <a:prstGeom prst="rect">
            <a:avLst/>
          </a:prstGeom>
        </p:spPr>
      </p:pic>
      <p:sp>
        <p:nvSpPr>
          <p:cNvPr id="6" name="TextBox 5"/>
          <p:cNvSpPr txBox="1"/>
          <p:nvPr/>
        </p:nvSpPr>
        <p:spPr>
          <a:xfrm>
            <a:off x="621792" y="731520"/>
            <a:ext cx="9997135" cy="685800"/>
          </a:xfrm>
          <a:prstGeom prst="rect">
            <a:avLst/>
          </a:prstGeom>
          <a:noFill/>
        </p:spPr>
        <p:txBody>
          <a:bodyPr wrap="square" lIns="18288" rIns="18288" anchor="ctr">
            <a:spAutoFit/>
          </a:bodyPr>
          <a:lstStyle/>
          <a:p>
            <a:pPr algn="l"/>
            <a:r>
              <a:rPr sz="3000" b="0" i="0">
                <a:solidFill>
                  <a:srgbClr val="14213D"/>
                </a:solidFill>
                <a:latin typeface="Segoe UI Semibold"/>
              </a:rPr>
              <a:t>Class distribution — 26 provinces</a:t>
            </a:r>
          </a:p>
        </p:txBody>
      </p:sp>
      <p:sp>
        <p:nvSpPr>
          <p:cNvPr id="7" name="Rectangle 6"/>
          <p:cNvSpPr/>
          <p:nvPr/>
        </p:nvSpPr>
        <p:spPr>
          <a:xfrm>
            <a:off x="640080" y="6601968"/>
            <a:ext cx="1368073" cy="27432"/>
          </a:xfrm>
          <a:prstGeom prst="rect">
            <a:avLst/>
          </a:prstGeom>
          <a:solidFill>
            <a:srgbClr val="0F7C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640080" y="6336792"/>
            <a:ext cx="1368073" cy="237744"/>
          </a:xfrm>
          <a:prstGeom prst="rect">
            <a:avLst/>
          </a:prstGeom>
          <a:noFill/>
        </p:spPr>
        <p:txBody>
          <a:bodyPr wrap="square" lIns="18288" rIns="18288" anchor="t">
            <a:spAutoFit/>
          </a:bodyPr>
          <a:lstStyle/>
          <a:p>
            <a:pPr algn="l"/>
            <a:r>
              <a:rPr sz="850" b="0" i="0">
                <a:solidFill>
                  <a:srgbClr val="6B7280"/>
                </a:solidFill>
                <a:latin typeface="Segoe UI"/>
              </a:rPr>
              <a:t>Problem</a:t>
            </a:r>
          </a:p>
        </p:txBody>
      </p:sp>
      <p:sp>
        <p:nvSpPr>
          <p:cNvPr id="9" name="Rectangle 8"/>
          <p:cNvSpPr/>
          <p:nvPr/>
        </p:nvSpPr>
        <p:spPr>
          <a:xfrm>
            <a:off x="2081305" y="6601968"/>
            <a:ext cx="1368073" cy="45720"/>
          </a:xfrm>
          <a:prstGeom prst="rect">
            <a:avLst/>
          </a:prstGeom>
          <a:solidFill>
            <a:srgbClr val="E09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2081305" y="6336792"/>
            <a:ext cx="1368073" cy="237744"/>
          </a:xfrm>
          <a:prstGeom prst="rect">
            <a:avLst/>
          </a:prstGeom>
          <a:noFill/>
        </p:spPr>
        <p:txBody>
          <a:bodyPr wrap="square" lIns="18288" rIns="18288" anchor="t">
            <a:spAutoFit/>
          </a:bodyPr>
          <a:lstStyle/>
          <a:p>
            <a:pPr algn="l"/>
            <a:r>
              <a:rPr sz="850" b="1" i="0">
                <a:solidFill>
                  <a:srgbClr val="14213D"/>
                </a:solidFill>
                <a:latin typeface="Segoe UI"/>
              </a:rPr>
              <a:t>Data</a:t>
            </a:r>
          </a:p>
        </p:txBody>
      </p:sp>
      <p:sp>
        <p:nvSpPr>
          <p:cNvPr id="11" name="Rectangle 10"/>
          <p:cNvSpPr/>
          <p:nvPr/>
        </p:nvSpPr>
        <p:spPr>
          <a:xfrm>
            <a:off x="3522530" y="6601968"/>
            <a:ext cx="1368073" cy="2743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3522530" y="6336792"/>
            <a:ext cx="1368073" cy="237744"/>
          </a:xfrm>
          <a:prstGeom prst="rect">
            <a:avLst/>
          </a:prstGeom>
          <a:noFill/>
        </p:spPr>
        <p:txBody>
          <a:bodyPr wrap="square" lIns="18288" rIns="18288" anchor="t">
            <a:spAutoFit/>
          </a:bodyPr>
          <a:lstStyle/>
          <a:p>
            <a:pPr algn="l"/>
            <a:r>
              <a:rPr sz="850" b="0" i="0">
                <a:solidFill>
                  <a:srgbClr val="6B7280"/>
                </a:solidFill>
                <a:latin typeface="Segoe UI"/>
              </a:rPr>
              <a:t>Method</a:t>
            </a:r>
          </a:p>
        </p:txBody>
      </p:sp>
      <p:sp>
        <p:nvSpPr>
          <p:cNvPr id="13" name="Rectangle 12"/>
          <p:cNvSpPr/>
          <p:nvPr/>
        </p:nvSpPr>
        <p:spPr>
          <a:xfrm>
            <a:off x="4963755" y="6601968"/>
            <a:ext cx="1368073" cy="2743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963755" y="6336792"/>
            <a:ext cx="1368073" cy="237744"/>
          </a:xfrm>
          <a:prstGeom prst="rect">
            <a:avLst/>
          </a:prstGeom>
          <a:noFill/>
        </p:spPr>
        <p:txBody>
          <a:bodyPr wrap="square" lIns="18288" rIns="18288" anchor="t">
            <a:spAutoFit/>
          </a:bodyPr>
          <a:lstStyle/>
          <a:p>
            <a:pPr algn="l"/>
            <a:r>
              <a:rPr sz="850" b="0" i="0">
                <a:solidFill>
                  <a:srgbClr val="6B7280"/>
                </a:solidFill>
                <a:latin typeface="Segoe UI"/>
              </a:rPr>
              <a:t>Results</a:t>
            </a:r>
          </a:p>
        </p:txBody>
      </p:sp>
      <p:sp>
        <p:nvSpPr>
          <p:cNvPr id="15" name="Rectangle 14"/>
          <p:cNvSpPr/>
          <p:nvPr/>
        </p:nvSpPr>
        <p:spPr>
          <a:xfrm>
            <a:off x="6404980" y="6601968"/>
            <a:ext cx="1368073" cy="2743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6404980" y="6336792"/>
            <a:ext cx="1368073" cy="237744"/>
          </a:xfrm>
          <a:prstGeom prst="rect">
            <a:avLst/>
          </a:prstGeom>
          <a:noFill/>
        </p:spPr>
        <p:txBody>
          <a:bodyPr wrap="square" lIns="18288" rIns="18288" anchor="t">
            <a:spAutoFit/>
          </a:bodyPr>
          <a:lstStyle/>
          <a:p>
            <a:pPr algn="l"/>
            <a:r>
              <a:rPr sz="850" b="0" i="0">
                <a:solidFill>
                  <a:srgbClr val="6B7280"/>
                </a:solidFill>
                <a:latin typeface="Segoe UI"/>
              </a:rPr>
              <a:t>Analysis</a:t>
            </a:r>
          </a:p>
        </p:txBody>
      </p:sp>
      <p:sp>
        <p:nvSpPr>
          <p:cNvPr id="17" name="Rectangle 16"/>
          <p:cNvSpPr/>
          <p:nvPr/>
        </p:nvSpPr>
        <p:spPr>
          <a:xfrm>
            <a:off x="7846205" y="6601968"/>
            <a:ext cx="1368073" cy="2743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846205" y="6336792"/>
            <a:ext cx="1368073" cy="237744"/>
          </a:xfrm>
          <a:prstGeom prst="rect">
            <a:avLst/>
          </a:prstGeom>
          <a:noFill/>
        </p:spPr>
        <p:txBody>
          <a:bodyPr wrap="square" lIns="18288" rIns="18288" anchor="t">
            <a:spAutoFit/>
          </a:bodyPr>
          <a:lstStyle/>
          <a:p>
            <a:pPr algn="l"/>
            <a:r>
              <a:rPr sz="850" b="0" i="0">
                <a:solidFill>
                  <a:srgbClr val="6B7280"/>
                </a:solidFill>
                <a:latin typeface="Segoe UI"/>
              </a:rPr>
              <a:t>Honesty</a:t>
            </a:r>
          </a:p>
        </p:txBody>
      </p:sp>
      <p:sp>
        <p:nvSpPr>
          <p:cNvPr id="19" name="Rectangle 18"/>
          <p:cNvSpPr/>
          <p:nvPr/>
        </p:nvSpPr>
        <p:spPr>
          <a:xfrm>
            <a:off x="9287430" y="6601968"/>
            <a:ext cx="1368073" cy="2743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9287430" y="6336792"/>
            <a:ext cx="1368073" cy="237744"/>
          </a:xfrm>
          <a:prstGeom prst="rect">
            <a:avLst/>
          </a:prstGeom>
          <a:noFill/>
        </p:spPr>
        <p:txBody>
          <a:bodyPr wrap="square" lIns="18288" rIns="18288" anchor="t">
            <a:spAutoFit/>
          </a:bodyPr>
          <a:lstStyle/>
          <a:p>
            <a:pPr algn="l"/>
            <a:r>
              <a:rPr sz="850" b="0" i="0">
                <a:solidFill>
                  <a:srgbClr val="6B7280"/>
                </a:solidFill>
                <a:latin typeface="Segoe UI"/>
              </a:rPr>
              <a:t>Conclusion</a:t>
            </a:r>
          </a:p>
        </p:txBody>
      </p:sp>
      <p:sp>
        <p:nvSpPr>
          <p:cNvPr id="21" name="TextBox 20"/>
          <p:cNvSpPr txBox="1"/>
          <p:nvPr/>
        </p:nvSpPr>
        <p:spPr>
          <a:xfrm>
            <a:off x="10820095" y="6373368"/>
            <a:ext cx="731520" cy="274320"/>
          </a:xfrm>
          <a:prstGeom prst="rect">
            <a:avLst/>
          </a:prstGeom>
          <a:noFill/>
        </p:spPr>
        <p:txBody>
          <a:bodyPr wrap="square" lIns="18288" rIns="18288" anchor="t">
            <a:spAutoFit/>
          </a:bodyPr>
          <a:lstStyle/>
          <a:p>
            <a:pPr algn="r"/>
            <a:r>
              <a:rPr sz="1100" b="1" i="0">
                <a:solidFill>
                  <a:srgbClr val="0F7C74"/>
                </a:solidFill>
                <a:latin typeface="Segoe UI Semibold"/>
              </a:rPr>
              <a:t>5</a:t>
            </a:r>
          </a:p>
        </p:txBody>
      </p:sp>
      <p:graphicFrame>
        <p:nvGraphicFramePr>
          <p:cNvPr id="22" name="Table 21"/>
          <p:cNvGraphicFramePr>
            <a:graphicFrameLocks noGrp="1"/>
          </p:cNvGraphicFramePr>
          <p:nvPr/>
        </p:nvGraphicFramePr>
        <p:xfrm>
          <a:off x="640080" y="1600200"/>
          <a:ext cx="10899648" cy="3944112"/>
        </p:xfrm>
        <a:graphic>
          <a:graphicData uri="http://schemas.openxmlformats.org/drawingml/2006/table">
            <a:tbl>
              <a:tblPr>
                <a:tableStyleId>{5C22544A-7EE6-4342-B048-85BDC9FD1C3A}</a:tableStyleId>
              </a:tblPr>
              <a:tblGrid>
                <a:gridCol w="2980944">
                  <a:extLst>
                    <a:ext uri="{9D8B030D-6E8A-4147-A177-3AD203B41FA5}">
                      <a16:colId xmlns:a16="http://schemas.microsoft.com/office/drawing/2014/main" val="20000"/>
                    </a:ext>
                  </a:extLst>
                </a:gridCol>
                <a:gridCol w="1234440">
                  <a:extLst>
                    <a:ext uri="{9D8B030D-6E8A-4147-A177-3AD203B41FA5}">
                      <a16:colId xmlns:a16="http://schemas.microsoft.com/office/drawing/2014/main" val="20001"/>
                    </a:ext>
                  </a:extLst>
                </a:gridCol>
                <a:gridCol w="1234440">
                  <a:extLst>
                    <a:ext uri="{9D8B030D-6E8A-4147-A177-3AD203B41FA5}">
                      <a16:colId xmlns:a16="http://schemas.microsoft.com/office/drawing/2014/main" val="20002"/>
                    </a:ext>
                  </a:extLst>
                </a:gridCol>
                <a:gridCol w="2980944">
                  <a:extLst>
                    <a:ext uri="{9D8B030D-6E8A-4147-A177-3AD203B41FA5}">
                      <a16:colId xmlns:a16="http://schemas.microsoft.com/office/drawing/2014/main" val="20003"/>
                    </a:ext>
                  </a:extLst>
                </a:gridCol>
                <a:gridCol w="1234440">
                  <a:extLst>
                    <a:ext uri="{9D8B030D-6E8A-4147-A177-3AD203B41FA5}">
                      <a16:colId xmlns:a16="http://schemas.microsoft.com/office/drawing/2014/main" val="20004"/>
                    </a:ext>
                  </a:extLst>
                </a:gridCol>
                <a:gridCol w="1234440">
                  <a:extLst>
                    <a:ext uri="{9D8B030D-6E8A-4147-A177-3AD203B41FA5}">
                      <a16:colId xmlns:a16="http://schemas.microsoft.com/office/drawing/2014/main" val="20005"/>
                    </a:ext>
                  </a:extLst>
                </a:gridCol>
              </a:tblGrid>
              <a:tr h="278892">
                <a:tc>
                  <a:txBody>
                    <a:bodyPr/>
                    <a:lstStyle/>
                    <a:p>
                      <a:r>
                        <a:rPr sz="971" b="1" i="0" spc="80">
                          <a:solidFill>
                            <a:srgbClr val="FFFFFF"/>
                          </a:solidFill>
                          <a:latin typeface="Segoe UI"/>
                        </a:rPr>
                        <a:t>PROVINCE</a:t>
                      </a:r>
                    </a:p>
                  </a:txBody>
                  <a:tcPr marL="177800" marR="177800" marT="38100" marB="38100" anchor="ctr">
                    <a:solidFill>
                      <a:srgbClr val="14213D"/>
                    </a:solidFill>
                  </a:tcPr>
                </a:tc>
                <a:tc>
                  <a:txBody>
                    <a:bodyPr/>
                    <a:lstStyle/>
                    <a:p>
                      <a:pPr algn="r"/>
                      <a:r>
                        <a:rPr sz="971" b="1" i="0" spc="80">
                          <a:solidFill>
                            <a:srgbClr val="FFFFFF"/>
                          </a:solidFill>
                          <a:latin typeface="Segoe UI"/>
                        </a:rPr>
                        <a:t>TRAIN</a:t>
                      </a:r>
                    </a:p>
                  </a:txBody>
                  <a:tcPr marL="177800" marR="177800" marT="38100" marB="38100" anchor="ctr">
                    <a:solidFill>
                      <a:srgbClr val="14213D"/>
                    </a:solidFill>
                  </a:tcPr>
                </a:tc>
                <a:tc>
                  <a:txBody>
                    <a:bodyPr/>
                    <a:lstStyle/>
                    <a:p>
                      <a:pPr algn="r"/>
                      <a:r>
                        <a:rPr sz="971" b="1" i="0" spc="80">
                          <a:solidFill>
                            <a:srgbClr val="FFFFFF"/>
                          </a:solidFill>
                          <a:latin typeface="Segoe UI"/>
                        </a:rPr>
                        <a:t>TEST</a:t>
                      </a:r>
                    </a:p>
                  </a:txBody>
                  <a:tcPr marL="177800" marR="177800" marT="38100" marB="38100" anchor="ctr">
                    <a:solidFill>
                      <a:srgbClr val="14213D"/>
                    </a:solidFill>
                  </a:tcPr>
                </a:tc>
                <a:tc>
                  <a:txBody>
                    <a:bodyPr/>
                    <a:lstStyle/>
                    <a:p>
                      <a:r>
                        <a:rPr sz="971" b="1" i="0" spc="80">
                          <a:solidFill>
                            <a:srgbClr val="FFFFFF"/>
                          </a:solidFill>
                          <a:latin typeface="Segoe UI"/>
                        </a:rPr>
                        <a:t>PROVINCE</a:t>
                      </a:r>
                    </a:p>
                  </a:txBody>
                  <a:tcPr marL="177800" marR="177800" marT="38100" marB="38100" anchor="ctr">
                    <a:solidFill>
                      <a:srgbClr val="14213D"/>
                    </a:solidFill>
                  </a:tcPr>
                </a:tc>
                <a:tc>
                  <a:txBody>
                    <a:bodyPr/>
                    <a:lstStyle/>
                    <a:p>
                      <a:pPr algn="r"/>
                      <a:r>
                        <a:rPr sz="971" b="1" i="0" spc="80">
                          <a:solidFill>
                            <a:srgbClr val="FFFFFF"/>
                          </a:solidFill>
                          <a:latin typeface="Segoe UI"/>
                        </a:rPr>
                        <a:t>TRAIN</a:t>
                      </a:r>
                    </a:p>
                  </a:txBody>
                  <a:tcPr marL="177800" marR="177800" marT="38100" marB="38100" anchor="ctr">
                    <a:solidFill>
                      <a:srgbClr val="14213D"/>
                    </a:solidFill>
                  </a:tcPr>
                </a:tc>
                <a:tc>
                  <a:txBody>
                    <a:bodyPr/>
                    <a:lstStyle/>
                    <a:p>
                      <a:pPr algn="r"/>
                      <a:r>
                        <a:rPr sz="971" b="1" i="0" spc="80">
                          <a:solidFill>
                            <a:srgbClr val="FFFFFF"/>
                          </a:solidFill>
                          <a:latin typeface="Segoe UI"/>
                        </a:rPr>
                        <a:t>TEST</a:t>
                      </a:r>
                    </a:p>
                  </a:txBody>
                  <a:tcPr marL="177800" marR="177800" marT="38100" marB="38100" anchor="ctr">
                    <a:solidFill>
                      <a:srgbClr val="14213D"/>
                    </a:solidFill>
                  </a:tcPr>
                </a:tc>
                <a:extLst>
                  <a:ext uri="{0D108BD9-81ED-4DB2-BD59-A6C34878D82A}">
                    <a16:rowId xmlns:a16="http://schemas.microsoft.com/office/drawing/2014/main" val="10000"/>
                  </a:ext>
                </a:extLst>
              </a:tr>
              <a:tr h="278892">
                <a:tc>
                  <a:txBody>
                    <a:bodyPr/>
                    <a:lstStyle/>
                    <a:p>
                      <a:r>
                        <a:rPr sz="1350" b="0" i="0">
                          <a:solidFill>
                            <a:srgbClr val="14213D"/>
                          </a:solidFill>
                          <a:latin typeface="Segoe UI"/>
                        </a:rPr>
                        <a:t>Other</a:t>
                      </a:r>
                    </a:p>
                  </a:txBody>
                  <a:tcPr marL="177800" marR="177800" marT="38100" marB="38100" anchor="ctr">
                    <a:solidFill>
                      <a:srgbClr val="FFFFFF"/>
                    </a:solidFill>
                  </a:tcPr>
                </a:tc>
                <a:tc>
                  <a:txBody>
                    <a:bodyPr/>
                    <a:lstStyle/>
                    <a:p>
                      <a:pPr algn="r"/>
                      <a:r>
                        <a:rPr sz="1350" b="0" i="0">
                          <a:solidFill>
                            <a:srgbClr val="14213D"/>
                          </a:solidFill>
                          <a:latin typeface="Segoe UI"/>
                        </a:rPr>
                        <a:t>453</a:t>
                      </a:r>
                    </a:p>
                  </a:txBody>
                  <a:tcPr marL="177800" marR="177800" marT="38100" marB="38100" anchor="ctr">
                    <a:solidFill>
                      <a:srgbClr val="FFFFFF"/>
                    </a:solidFill>
                  </a:tcPr>
                </a:tc>
                <a:tc>
                  <a:txBody>
                    <a:bodyPr/>
                    <a:lstStyle/>
                    <a:p>
                      <a:pPr algn="r"/>
                      <a:r>
                        <a:rPr sz="1350" b="0" i="0">
                          <a:solidFill>
                            <a:srgbClr val="14213D"/>
                          </a:solidFill>
                          <a:latin typeface="Segoe UI"/>
                        </a:rPr>
                        <a:t>98</a:t>
                      </a:r>
                    </a:p>
                  </a:txBody>
                  <a:tcPr marL="177800" marR="177800" marT="38100" marB="38100" anchor="ctr">
                    <a:solidFill>
                      <a:srgbClr val="FFFFFF"/>
                    </a:solidFill>
                  </a:tcPr>
                </a:tc>
                <a:tc>
                  <a:txBody>
                    <a:bodyPr/>
                    <a:lstStyle/>
                    <a:p>
                      <a:r>
                        <a:rPr sz="1350" b="0" i="0">
                          <a:solidFill>
                            <a:srgbClr val="14213D"/>
                          </a:solidFill>
                          <a:latin typeface="Segoe UI"/>
                        </a:rPr>
                        <a:t>Kampong Chhnang</a:t>
                      </a:r>
                    </a:p>
                  </a:txBody>
                  <a:tcPr marL="177800" marR="177800" marT="38100" marB="38100" anchor="ctr">
                    <a:solidFill>
                      <a:srgbClr val="FFFFFF"/>
                    </a:solidFill>
                  </a:tcPr>
                </a:tc>
                <a:tc>
                  <a:txBody>
                    <a:bodyPr/>
                    <a:lstStyle/>
                    <a:p>
                      <a:pPr algn="r"/>
                      <a:r>
                        <a:rPr sz="1350" b="0" i="0">
                          <a:solidFill>
                            <a:srgbClr val="14213D"/>
                          </a:solidFill>
                          <a:latin typeface="Segoe UI"/>
                        </a:rPr>
                        <a:t>70</a:t>
                      </a:r>
                    </a:p>
                  </a:txBody>
                  <a:tcPr marL="177800" marR="177800" marT="38100" marB="38100" anchor="ctr">
                    <a:solidFill>
                      <a:srgbClr val="FFFFFF"/>
                    </a:solidFill>
                  </a:tcPr>
                </a:tc>
                <a:tc>
                  <a:txBody>
                    <a:bodyPr/>
                    <a:lstStyle/>
                    <a:p>
                      <a:pPr algn="r"/>
                      <a:r>
                        <a:rPr sz="1350" b="0" i="0">
                          <a:solidFill>
                            <a:srgbClr val="14213D"/>
                          </a:solidFill>
                          <a:latin typeface="Segoe UI"/>
                        </a:rPr>
                        <a:t>16</a:t>
                      </a:r>
                    </a:p>
                  </a:txBody>
                  <a:tcPr marL="177800" marR="177800" marT="38100" marB="38100" anchor="ctr">
                    <a:solidFill>
                      <a:srgbClr val="FFFFFF"/>
                    </a:solidFill>
                  </a:tcPr>
                </a:tc>
                <a:extLst>
                  <a:ext uri="{0D108BD9-81ED-4DB2-BD59-A6C34878D82A}">
                    <a16:rowId xmlns:a16="http://schemas.microsoft.com/office/drawing/2014/main" val="10001"/>
                  </a:ext>
                </a:extLst>
              </a:tr>
              <a:tr h="278892">
                <a:tc>
                  <a:txBody>
                    <a:bodyPr/>
                    <a:lstStyle/>
                    <a:p>
                      <a:r>
                        <a:rPr sz="1350" b="0" i="0">
                          <a:solidFill>
                            <a:srgbClr val="14213D"/>
                          </a:solidFill>
                          <a:latin typeface="Segoe UI"/>
                        </a:rPr>
                        <a:t>Phnom Penh</a:t>
                      </a:r>
                    </a:p>
                  </a:txBody>
                  <a:tcPr marL="177800" marR="177800" marT="38100" marB="38100" anchor="ctr">
                    <a:solidFill>
                      <a:srgbClr val="F8FAFC"/>
                    </a:solidFill>
                  </a:tcPr>
                </a:tc>
                <a:tc>
                  <a:txBody>
                    <a:bodyPr/>
                    <a:lstStyle/>
                    <a:p>
                      <a:pPr algn="r"/>
                      <a:r>
                        <a:rPr sz="1350" b="0" i="0">
                          <a:solidFill>
                            <a:srgbClr val="14213D"/>
                          </a:solidFill>
                          <a:latin typeface="Segoe UI"/>
                        </a:rPr>
                        <a:t>254</a:t>
                      </a:r>
                    </a:p>
                  </a:txBody>
                  <a:tcPr marL="177800" marR="177800" marT="38100" marB="38100" anchor="ctr">
                    <a:solidFill>
                      <a:srgbClr val="F8FAFC"/>
                    </a:solidFill>
                  </a:tcPr>
                </a:tc>
                <a:tc>
                  <a:txBody>
                    <a:bodyPr/>
                    <a:lstStyle/>
                    <a:p>
                      <a:pPr algn="r"/>
                      <a:r>
                        <a:rPr sz="1350" b="0" i="0">
                          <a:solidFill>
                            <a:srgbClr val="14213D"/>
                          </a:solidFill>
                          <a:latin typeface="Segoe UI"/>
                        </a:rPr>
                        <a:t>55</a:t>
                      </a:r>
                    </a:p>
                  </a:txBody>
                  <a:tcPr marL="177800" marR="177800" marT="38100" marB="38100" anchor="ctr">
                    <a:solidFill>
                      <a:srgbClr val="F8FAFC"/>
                    </a:solidFill>
                  </a:tcPr>
                </a:tc>
                <a:tc>
                  <a:txBody>
                    <a:bodyPr/>
                    <a:lstStyle/>
                    <a:p>
                      <a:r>
                        <a:rPr sz="1350" b="0" i="0">
                          <a:solidFill>
                            <a:srgbClr val="14213D"/>
                          </a:solidFill>
                          <a:latin typeface="Segoe UI"/>
                        </a:rPr>
                        <a:t>Kampot</a:t>
                      </a:r>
                    </a:p>
                  </a:txBody>
                  <a:tcPr marL="177800" marR="177800" marT="38100" marB="38100" anchor="ctr">
                    <a:solidFill>
                      <a:srgbClr val="F8FAFC"/>
                    </a:solidFill>
                  </a:tcPr>
                </a:tc>
                <a:tc>
                  <a:txBody>
                    <a:bodyPr/>
                    <a:lstStyle/>
                    <a:p>
                      <a:pPr algn="r"/>
                      <a:r>
                        <a:rPr sz="1350" b="0" i="0">
                          <a:solidFill>
                            <a:srgbClr val="14213D"/>
                          </a:solidFill>
                          <a:latin typeface="Segoe UI"/>
                        </a:rPr>
                        <a:t>70</a:t>
                      </a:r>
                    </a:p>
                  </a:txBody>
                  <a:tcPr marL="177800" marR="177800" marT="38100" marB="38100" anchor="ctr">
                    <a:solidFill>
                      <a:srgbClr val="F8FAFC"/>
                    </a:solidFill>
                  </a:tcPr>
                </a:tc>
                <a:tc>
                  <a:txBody>
                    <a:bodyPr/>
                    <a:lstStyle/>
                    <a:p>
                      <a:pPr algn="r"/>
                      <a:r>
                        <a:rPr sz="1350" b="0" i="0">
                          <a:solidFill>
                            <a:srgbClr val="14213D"/>
                          </a:solidFill>
                          <a:latin typeface="Segoe UI"/>
                        </a:rPr>
                        <a:t>15</a:t>
                      </a:r>
                    </a:p>
                  </a:txBody>
                  <a:tcPr marL="177800" marR="177800" marT="38100" marB="38100" anchor="ctr">
                    <a:solidFill>
                      <a:srgbClr val="F8FAFC"/>
                    </a:solidFill>
                  </a:tcPr>
                </a:tc>
                <a:extLst>
                  <a:ext uri="{0D108BD9-81ED-4DB2-BD59-A6C34878D82A}">
                    <a16:rowId xmlns:a16="http://schemas.microsoft.com/office/drawing/2014/main" val="10002"/>
                  </a:ext>
                </a:extLst>
              </a:tr>
              <a:tr h="278892">
                <a:tc>
                  <a:txBody>
                    <a:bodyPr/>
                    <a:lstStyle/>
                    <a:p>
                      <a:r>
                        <a:rPr sz="1350" b="0" i="0">
                          <a:solidFill>
                            <a:srgbClr val="14213D"/>
                          </a:solidFill>
                          <a:latin typeface="Segoe UI"/>
                        </a:rPr>
                        <a:t>Preah Sihanouk</a:t>
                      </a:r>
                    </a:p>
                  </a:txBody>
                  <a:tcPr marL="177800" marR="177800" marT="38100" marB="38100" anchor="ctr">
                    <a:solidFill>
                      <a:srgbClr val="FFFFFF"/>
                    </a:solidFill>
                  </a:tcPr>
                </a:tc>
                <a:tc>
                  <a:txBody>
                    <a:bodyPr/>
                    <a:lstStyle/>
                    <a:p>
                      <a:pPr algn="r"/>
                      <a:r>
                        <a:rPr sz="1350" b="0" i="0">
                          <a:solidFill>
                            <a:srgbClr val="14213D"/>
                          </a:solidFill>
                          <a:latin typeface="Segoe UI"/>
                        </a:rPr>
                        <a:t>148</a:t>
                      </a:r>
                    </a:p>
                  </a:txBody>
                  <a:tcPr marL="177800" marR="177800" marT="38100" marB="38100" anchor="ctr">
                    <a:solidFill>
                      <a:srgbClr val="FFFFFF"/>
                    </a:solidFill>
                  </a:tcPr>
                </a:tc>
                <a:tc>
                  <a:txBody>
                    <a:bodyPr/>
                    <a:lstStyle/>
                    <a:p>
                      <a:pPr algn="r"/>
                      <a:r>
                        <a:rPr sz="1350" b="0" i="0">
                          <a:solidFill>
                            <a:srgbClr val="14213D"/>
                          </a:solidFill>
                          <a:latin typeface="Segoe UI"/>
                        </a:rPr>
                        <a:t>33</a:t>
                      </a:r>
                    </a:p>
                  </a:txBody>
                  <a:tcPr marL="177800" marR="177800" marT="38100" marB="38100" anchor="ctr">
                    <a:solidFill>
                      <a:srgbClr val="FFFFFF"/>
                    </a:solidFill>
                  </a:tcPr>
                </a:tc>
                <a:tc>
                  <a:txBody>
                    <a:bodyPr/>
                    <a:lstStyle/>
                    <a:p>
                      <a:r>
                        <a:rPr sz="1350" b="0" i="0">
                          <a:solidFill>
                            <a:srgbClr val="14213D"/>
                          </a:solidFill>
                          <a:latin typeface="Segoe UI"/>
                        </a:rPr>
                        <a:t>Pursat</a:t>
                      </a:r>
                    </a:p>
                  </a:txBody>
                  <a:tcPr marL="177800" marR="177800" marT="38100" marB="38100" anchor="ctr">
                    <a:solidFill>
                      <a:srgbClr val="FFFFFF"/>
                    </a:solidFill>
                  </a:tcPr>
                </a:tc>
                <a:tc>
                  <a:txBody>
                    <a:bodyPr/>
                    <a:lstStyle/>
                    <a:p>
                      <a:pPr algn="r"/>
                      <a:r>
                        <a:rPr sz="1350" b="0" i="0">
                          <a:solidFill>
                            <a:srgbClr val="14213D"/>
                          </a:solidFill>
                          <a:latin typeface="Segoe UI"/>
                        </a:rPr>
                        <a:t>67</a:t>
                      </a:r>
                    </a:p>
                  </a:txBody>
                  <a:tcPr marL="177800" marR="177800" marT="38100" marB="38100" anchor="ctr">
                    <a:solidFill>
                      <a:srgbClr val="FFFFFF"/>
                    </a:solidFill>
                  </a:tcPr>
                </a:tc>
                <a:tc>
                  <a:txBody>
                    <a:bodyPr/>
                    <a:lstStyle/>
                    <a:p>
                      <a:pPr algn="r"/>
                      <a:r>
                        <a:rPr sz="1350" b="0" i="0">
                          <a:solidFill>
                            <a:srgbClr val="14213D"/>
                          </a:solidFill>
                          <a:latin typeface="Segoe UI"/>
                        </a:rPr>
                        <a:t>16</a:t>
                      </a:r>
                    </a:p>
                  </a:txBody>
                  <a:tcPr marL="177800" marR="177800" marT="38100" marB="38100" anchor="ctr">
                    <a:solidFill>
                      <a:srgbClr val="FFFFFF"/>
                    </a:solidFill>
                  </a:tcPr>
                </a:tc>
                <a:extLst>
                  <a:ext uri="{0D108BD9-81ED-4DB2-BD59-A6C34878D82A}">
                    <a16:rowId xmlns:a16="http://schemas.microsoft.com/office/drawing/2014/main" val="10003"/>
                  </a:ext>
                </a:extLst>
              </a:tr>
              <a:tr h="278892">
                <a:tc>
                  <a:txBody>
                    <a:bodyPr/>
                    <a:lstStyle/>
                    <a:p>
                      <a:r>
                        <a:rPr sz="1350" b="0" i="0">
                          <a:solidFill>
                            <a:srgbClr val="14213D"/>
                          </a:solidFill>
                          <a:latin typeface="Segoe UI"/>
                        </a:rPr>
                        <a:t>Siem Reap</a:t>
                      </a:r>
                    </a:p>
                  </a:txBody>
                  <a:tcPr marL="177800" marR="177800" marT="38100" marB="38100" anchor="ctr">
                    <a:solidFill>
                      <a:srgbClr val="F8FAFC"/>
                    </a:solidFill>
                  </a:tcPr>
                </a:tc>
                <a:tc>
                  <a:txBody>
                    <a:bodyPr/>
                    <a:lstStyle/>
                    <a:p>
                      <a:pPr algn="r"/>
                      <a:r>
                        <a:rPr sz="1350" b="0" i="0">
                          <a:solidFill>
                            <a:srgbClr val="14213D"/>
                          </a:solidFill>
                          <a:latin typeface="Segoe UI"/>
                        </a:rPr>
                        <a:t>147</a:t>
                      </a:r>
                    </a:p>
                  </a:txBody>
                  <a:tcPr marL="177800" marR="177800" marT="38100" marB="38100" anchor="ctr">
                    <a:solidFill>
                      <a:srgbClr val="F8FAFC"/>
                    </a:solidFill>
                  </a:tcPr>
                </a:tc>
                <a:tc>
                  <a:txBody>
                    <a:bodyPr/>
                    <a:lstStyle/>
                    <a:p>
                      <a:pPr algn="r"/>
                      <a:r>
                        <a:rPr sz="1350" b="0" i="0">
                          <a:solidFill>
                            <a:srgbClr val="14213D"/>
                          </a:solidFill>
                          <a:latin typeface="Segoe UI"/>
                        </a:rPr>
                        <a:t>32</a:t>
                      </a:r>
                    </a:p>
                  </a:txBody>
                  <a:tcPr marL="177800" marR="177800" marT="38100" marB="38100" anchor="ctr">
                    <a:solidFill>
                      <a:srgbClr val="F8FAFC"/>
                    </a:solidFill>
                  </a:tcPr>
                </a:tc>
                <a:tc>
                  <a:txBody>
                    <a:bodyPr/>
                    <a:lstStyle/>
                    <a:p>
                      <a:r>
                        <a:rPr sz="1350" b="0" i="0">
                          <a:solidFill>
                            <a:srgbClr val="14213D"/>
                          </a:solidFill>
                          <a:latin typeface="Segoe UI"/>
                        </a:rPr>
                        <a:t>Preah Vihear</a:t>
                      </a:r>
                    </a:p>
                  </a:txBody>
                  <a:tcPr marL="177800" marR="177800" marT="38100" marB="38100" anchor="ctr">
                    <a:solidFill>
                      <a:srgbClr val="F8FAFC"/>
                    </a:solidFill>
                  </a:tcPr>
                </a:tc>
                <a:tc>
                  <a:txBody>
                    <a:bodyPr/>
                    <a:lstStyle/>
                    <a:p>
                      <a:pPr algn="r"/>
                      <a:r>
                        <a:rPr sz="1350" b="0" i="0">
                          <a:solidFill>
                            <a:srgbClr val="14213D"/>
                          </a:solidFill>
                          <a:latin typeface="Segoe UI"/>
                        </a:rPr>
                        <a:t>65</a:t>
                      </a:r>
                    </a:p>
                  </a:txBody>
                  <a:tcPr marL="177800" marR="177800" marT="38100" marB="38100" anchor="ctr">
                    <a:solidFill>
                      <a:srgbClr val="F8FAFC"/>
                    </a:solidFill>
                  </a:tcPr>
                </a:tc>
                <a:tc>
                  <a:txBody>
                    <a:bodyPr/>
                    <a:lstStyle/>
                    <a:p>
                      <a:pPr algn="r"/>
                      <a:r>
                        <a:rPr sz="1350" b="0" i="0">
                          <a:solidFill>
                            <a:srgbClr val="14213D"/>
                          </a:solidFill>
                          <a:latin typeface="Segoe UI"/>
                        </a:rPr>
                        <a:t>15</a:t>
                      </a:r>
                    </a:p>
                  </a:txBody>
                  <a:tcPr marL="177800" marR="177800" marT="38100" marB="38100" anchor="ctr">
                    <a:solidFill>
                      <a:srgbClr val="F8FAFC"/>
                    </a:solidFill>
                  </a:tcPr>
                </a:tc>
                <a:extLst>
                  <a:ext uri="{0D108BD9-81ED-4DB2-BD59-A6C34878D82A}">
                    <a16:rowId xmlns:a16="http://schemas.microsoft.com/office/drawing/2014/main" val="10004"/>
                  </a:ext>
                </a:extLst>
              </a:tr>
              <a:tr h="278892">
                <a:tc>
                  <a:txBody>
                    <a:bodyPr/>
                    <a:lstStyle/>
                    <a:p>
                      <a:r>
                        <a:rPr sz="1350" b="0" i="0">
                          <a:solidFill>
                            <a:srgbClr val="14213D"/>
                          </a:solidFill>
                          <a:latin typeface="Segoe UI"/>
                        </a:rPr>
                        <a:t>Kampong Cham</a:t>
                      </a:r>
                    </a:p>
                  </a:txBody>
                  <a:tcPr marL="177800" marR="177800" marT="38100" marB="38100" anchor="ctr">
                    <a:solidFill>
                      <a:srgbClr val="FFFFFF"/>
                    </a:solidFill>
                  </a:tcPr>
                </a:tc>
                <a:tc>
                  <a:txBody>
                    <a:bodyPr/>
                    <a:lstStyle/>
                    <a:p>
                      <a:pPr algn="r"/>
                      <a:r>
                        <a:rPr sz="1350" b="0" i="0">
                          <a:solidFill>
                            <a:srgbClr val="14213D"/>
                          </a:solidFill>
                          <a:latin typeface="Segoe UI"/>
                        </a:rPr>
                        <a:t>110</a:t>
                      </a:r>
                    </a:p>
                  </a:txBody>
                  <a:tcPr marL="177800" marR="177800" marT="38100" marB="38100" anchor="ctr">
                    <a:solidFill>
                      <a:srgbClr val="FFFFFF"/>
                    </a:solidFill>
                  </a:tcPr>
                </a:tc>
                <a:tc>
                  <a:txBody>
                    <a:bodyPr/>
                    <a:lstStyle/>
                    <a:p>
                      <a:pPr algn="r"/>
                      <a:r>
                        <a:rPr sz="1350" b="0" i="0">
                          <a:solidFill>
                            <a:srgbClr val="14213D"/>
                          </a:solidFill>
                          <a:latin typeface="Segoe UI"/>
                        </a:rPr>
                        <a:t>25</a:t>
                      </a:r>
                    </a:p>
                  </a:txBody>
                  <a:tcPr marL="177800" marR="177800" marT="38100" marB="38100" anchor="ctr">
                    <a:solidFill>
                      <a:srgbClr val="FFFFFF"/>
                    </a:solidFill>
                  </a:tcPr>
                </a:tc>
                <a:tc>
                  <a:txBody>
                    <a:bodyPr/>
                    <a:lstStyle/>
                    <a:p>
                      <a:r>
                        <a:rPr sz="1350" b="0" i="0">
                          <a:solidFill>
                            <a:srgbClr val="14213D"/>
                          </a:solidFill>
                          <a:latin typeface="Segoe UI"/>
                        </a:rPr>
                        <a:t>Pailin</a:t>
                      </a:r>
                    </a:p>
                  </a:txBody>
                  <a:tcPr marL="177800" marR="177800" marT="38100" marB="38100" anchor="ctr">
                    <a:solidFill>
                      <a:srgbClr val="FFFFFF"/>
                    </a:solidFill>
                  </a:tcPr>
                </a:tc>
                <a:tc>
                  <a:txBody>
                    <a:bodyPr/>
                    <a:lstStyle/>
                    <a:p>
                      <a:pPr algn="r"/>
                      <a:r>
                        <a:rPr sz="1350" b="0" i="0">
                          <a:solidFill>
                            <a:srgbClr val="14213D"/>
                          </a:solidFill>
                          <a:latin typeface="Segoe UI"/>
                        </a:rPr>
                        <a:t>64</a:t>
                      </a:r>
                    </a:p>
                  </a:txBody>
                  <a:tcPr marL="177800" marR="177800" marT="38100" marB="38100" anchor="ctr">
                    <a:solidFill>
                      <a:srgbClr val="FFFFFF"/>
                    </a:solidFill>
                  </a:tcPr>
                </a:tc>
                <a:tc>
                  <a:txBody>
                    <a:bodyPr/>
                    <a:lstStyle/>
                    <a:p>
                      <a:pPr algn="r"/>
                      <a:r>
                        <a:rPr sz="1350" b="0" i="0">
                          <a:solidFill>
                            <a:srgbClr val="14213D"/>
                          </a:solidFill>
                          <a:latin typeface="Segoe UI"/>
                        </a:rPr>
                        <a:t>15</a:t>
                      </a:r>
                    </a:p>
                  </a:txBody>
                  <a:tcPr marL="177800" marR="177800" marT="38100" marB="38100" anchor="ctr">
                    <a:solidFill>
                      <a:srgbClr val="FFFFFF"/>
                    </a:solidFill>
                  </a:tcPr>
                </a:tc>
                <a:extLst>
                  <a:ext uri="{0D108BD9-81ED-4DB2-BD59-A6C34878D82A}">
                    <a16:rowId xmlns:a16="http://schemas.microsoft.com/office/drawing/2014/main" val="10005"/>
                  </a:ext>
                </a:extLst>
              </a:tr>
              <a:tr h="278892">
                <a:tc>
                  <a:txBody>
                    <a:bodyPr/>
                    <a:lstStyle/>
                    <a:p>
                      <a:r>
                        <a:rPr sz="1350" b="0" i="0">
                          <a:solidFill>
                            <a:srgbClr val="14213D"/>
                          </a:solidFill>
                          <a:latin typeface="Segoe UI"/>
                        </a:rPr>
                        <a:t>Prey Veng</a:t>
                      </a:r>
                    </a:p>
                  </a:txBody>
                  <a:tcPr marL="177800" marR="177800" marT="38100" marB="38100" anchor="ctr">
                    <a:solidFill>
                      <a:srgbClr val="F8FAFC"/>
                    </a:solidFill>
                  </a:tcPr>
                </a:tc>
                <a:tc>
                  <a:txBody>
                    <a:bodyPr/>
                    <a:lstStyle/>
                    <a:p>
                      <a:pPr algn="r"/>
                      <a:r>
                        <a:rPr sz="1350" b="0" i="0">
                          <a:solidFill>
                            <a:srgbClr val="14213D"/>
                          </a:solidFill>
                          <a:latin typeface="Segoe UI"/>
                        </a:rPr>
                        <a:t>101</a:t>
                      </a:r>
                    </a:p>
                  </a:txBody>
                  <a:tcPr marL="177800" marR="177800" marT="38100" marB="38100" anchor="ctr">
                    <a:solidFill>
                      <a:srgbClr val="F8FAFC"/>
                    </a:solidFill>
                  </a:tcPr>
                </a:tc>
                <a:tc>
                  <a:txBody>
                    <a:bodyPr/>
                    <a:lstStyle/>
                    <a:p>
                      <a:pPr algn="r"/>
                      <a:r>
                        <a:rPr sz="1350" b="0" i="0">
                          <a:solidFill>
                            <a:srgbClr val="14213D"/>
                          </a:solidFill>
                          <a:latin typeface="Segoe UI"/>
                        </a:rPr>
                        <a:t>23</a:t>
                      </a:r>
                    </a:p>
                  </a:txBody>
                  <a:tcPr marL="177800" marR="177800" marT="38100" marB="38100" anchor="ctr">
                    <a:solidFill>
                      <a:srgbClr val="F8FAFC"/>
                    </a:solidFill>
                  </a:tcPr>
                </a:tc>
                <a:tc>
                  <a:txBody>
                    <a:bodyPr/>
                    <a:lstStyle/>
                    <a:p>
                      <a:r>
                        <a:rPr sz="1350" b="0" i="0">
                          <a:solidFill>
                            <a:srgbClr val="14213D"/>
                          </a:solidFill>
                          <a:latin typeface="Segoe UI"/>
                        </a:rPr>
                        <a:t>Kratie</a:t>
                      </a:r>
                    </a:p>
                  </a:txBody>
                  <a:tcPr marL="177800" marR="177800" marT="38100" marB="38100" anchor="ctr">
                    <a:solidFill>
                      <a:srgbClr val="F8FAFC"/>
                    </a:solidFill>
                  </a:tcPr>
                </a:tc>
                <a:tc>
                  <a:txBody>
                    <a:bodyPr/>
                    <a:lstStyle/>
                    <a:p>
                      <a:pPr algn="r"/>
                      <a:r>
                        <a:rPr sz="1350" b="0" i="0">
                          <a:solidFill>
                            <a:srgbClr val="14213D"/>
                          </a:solidFill>
                          <a:latin typeface="Segoe UI"/>
                        </a:rPr>
                        <a:t>63</a:t>
                      </a:r>
                    </a:p>
                  </a:txBody>
                  <a:tcPr marL="177800" marR="177800" marT="38100" marB="38100" anchor="ctr">
                    <a:solidFill>
                      <a:srgbClr val="F8FAFC"/>
                    </a:solidFill>
                  </a:tcPr>
                </a:tc>
                <a:tc>
                  <a:txBody>
                    <a:bodyPr/>
                    <a:lstStyle/>
                    <a:p>
                      <a:pPr algn="r"/>
                      <a:r>
                        <a:rPr sz="1350" b="0" i="0">
                          <a:solidFill>
                            <a:srgbClr val="14213D"/>
                          </a:solidFill>
                          <a:latin typeface="Segoe UI"/>
                        </a:rPr>
                        <a:t>15</a:t>
                      </a:r>
                    </a:p>
                  </a:txBody>
                  <a:tcPr marL="177800" marR="177800" marT="38100" marB="38100" anchor="ctr">
                    <a:solidFill>
                      <a:srgbClr val="F8FAFC"/>
                    </a:solidFill>
                  </a:tcPr>
                </a:tc>
                <a:extLst>
                  <a:ext uri="{0D108BD9-81ED-4DB2-BD59-A6C34878D82A}">
                    <a16:rowId xmlns:a16="http://schemas.microsoft.com/office/drawing/2014/main" val="10006"/>
                  </a:ext>
                </a:extLst>
              </a:tr>
              <a:tr h="278892">
                <a:tc>
                  <a:txBody>
                    <a:bodyPr/>
                    <a:lstStyle/>
                    <a:p>
                      <a:r>
                        <a:rPr sz="1350" b="0" i="0">
                          <a:solidFill>
                            <a:srgbClr val="14213D"/>
                          </a:solidFill>
                          <a:latin typeface="Segoe UI"/>
                        </a:rPr>
                        <a:t>Takeo</a:t>
                      </a:r>
                    </a:p>
                  </a:txBody>
                  <a:tcPr marL="177800" marR="177800" marT="38100" marB="38100" anchor="ctr">
                    <a:solidFill>
                      <a:srgbClr val="FFFFFF"/>
                    </a:solidFill>
                  </a:tcPr>
                </a:tc>
                <a:tc>
                  <a:txBody>
                    <a:bodyPr/>
                    <a:lstStyle/>
                    <a:p>
                      <a:pPr algn="r"/>
                      <a:r>
                        <a:rPr sz="1350" b="0" i="0">
                          <a:solidFill>
                            <a:srgbClr val="14213D"/>
                          </a:solidFill>
                          <a:latin typeface="Segoe UI"/>
                        </a:rPr>
                        <a:t>100</a:t>
                      </a:r>
                    </a:p>
                  </a:txBody>
                  <a:tcPr marL="177800" marR="177800" marT="38100" marB="38100" anchor="ctr">
                    <a:solidFill>
                      <a:srgbClr val="FFFFFF"/>
                    </a:solidFill>
                  </a:tcPr>
                </a:tc>
                <a:tc>
                  <a:txBody>
                    <a:bodyPr/>
                    <a:lstStyle/>
                    <a:p>
                      <a:pPr algn="r"/>
                      <a:r>
                        <a:rPr sz="1350" b="0" i="0">
                          <a:solidFill>
                            <a:srgbClr val="14213D"/>
                          </a:solidFill>
                          <a:latin typeface="Segoe UI"/>
                        </a:rPr>
                        <a:t>23</a:t>
                      </a:r>
                    </a:p>
                  </a:txBody>
                  <a:tcPr marL="177800" marR="177800" marT="38100" marB="38100" anchor="ctr">
                    <a:solidFill>
                      <a:srgbClr val="FFFFFF"/>
                    </a:solidFill>
                  </a:tcPr>
                </a:tc>
                <a:tc>
                  <a:txBody>
                    <a:bodyPr/>
                    <a:lstStyle/>
                    <a:p>
                      <a:r>
                        <a:rPr sz="1350" b="0" i="0">
                          <a:solidFill>
                            <a:srgbClr val="14213D"/>
                          </a:solidFill>
                          <a:latin typeface="Segoe UI"/>
                        </a:rPr>
                        <a:t>Kampong Thom</a:t>
                      </a:r>
                    </a:p>
                  </a:txBody>
                  <a:tcPr marL="177800" marR="177800" marT="38100" marB="38100" anchor="ctr">
                    <a:solidFill>
                      <a:srgbClr val="FFFFFF"/>
                    </a:solidFill>
                  </a:tcPr>
                </a:tc>
                <a:tc>
                  <a:txBody>
                    <a:bodyPr/>
                    <a:lstStyle/>
                    <a:p>
                      <a:pPr algn="r"/>
                      <a:r>
                        <a:rPr sz="1350" b="0" i="0">
                          <a:solidFill>
                            <a:srgbClr val="14213D"/>
                          </a:solidFill>
                          <a:latin typeface="Segoe UI"/>
                        </a:rPr>
                        <a:t>62</a:t>
                      </a:r>
                    </a:p>
                  </a:txBody>
                  <a:tcPr marL="177800" marR="177800" marT="38100" marB="38100" anchor="ctr">
                    <a:solidFill>
                      <a:srgbClr val="FFFFFF"/>
                    </a:solidFill>
                  </a:tcPr>
                </a:tc>
                <a:tc>
                  <a:txBody>
                    <a:bodyPr/>
                    <a:lstStyle/>
                    <a:p>
                      <a:pPr algn="r"/>
                      <a:r>
                        <a:rPr sz="1350" b="0" i="0">
                          <a:solidFill>
                            <a:srgbClr val="14213D"/>
                          </a:solidFill>
                          <a:latin typeface="Segoe UI"/>
                        </a:rPr>
                        <a:t>14</a:t>
                      </a:r>
                    </a:p>
                  </a:txBody>
                  <a:tcPr marL="177800" marR="177800" marT="38100" marB="38100" anchor="ctr">
                    <a:solidFill>
                      <a:srgbClr val="FFFFFF"/>
                    </a:solidFill>
                  </a:tcPr>
                </a:tc>
                <a:extLst>
                  <a:ext uri="{0D108BD9-81ED-4DB2-BD59-A6C34878D82A}">
                    <a16:rowId xmlns:a16="http://schemas.microsoft.com/office/drawing/2014/main" val="10007"/>
                  </a:ext>
                </a:extLst>
              </a:tr>
              <a:tr h="278892">
                <a:tc>
                  <a:txBody>
                    <a:bodyPr/>
                    <a:lstStyle/>
                    <a:p>
                      <a:r>
                        <a:rPr sz="1350" b="0" i="0">
                          <a:solidFill>
                            <a:srgbClr val="14213D"/>
                          </a:solidFill>
                          <a:latin typeface="Segoe UI"/>
                        </a:rPr>
                        <a:t>Kandal</a:t>
                      </a:r>
                    </a:p>
                  </a:txBody>
                  <a:tcPr marL="177800" marR="177800" marT="38100" marB="38100" anchor="ctr">
                    <a:solidFill>
                      <a:srgbClr val="F8FAFC"/>
                    </a:solidFill>
                  </a:tcPr>
                </a:tc>
                <a:tc>
                  <a:txBody>
                    <a:bodyPr/>
                    <a:lstStyle/>
                    <a:p>
                      <a:pPr algn="r"/>
                      <a:r>
                        <a:rPr sz="1350" b="0" i="0">
                          <a:solidFill>
                            <a:srgbClr val="14213D"/>
                          </a:solidFill>
                          <a:latin typeface="Segoe UI"/>
                        </a:rPr>
                        <a:t>97</a:t>
                      </a:r>
                    </a:p>
                  </a:txBody>
                  <a:tcPr marL="177800" marR="177800" marT="38100" marB="38100" anchor="ctr">
                    <a:solidFill>
                      <a:srgbClr val="F8FAFC"/>
                    </a:solidFill>
                  </a:tcPr>
                </a:tc>
                <a:tc>
                  <a:txBody>
                    <a:bodyPr/>
                    <a:lstStyle/>
                    <a:p>
                      <a:pPr algn="r"/>
                      <a:r>
                        <a:rPr sz="1350" b="0" i="0">
                          <a:solidFill>
                            <a:srgbClr val="14213D"/>
                          </a:solidFill>
                          <a:latin typeface="Segoe UI"/>
                        </a:rPr>
                        <a:t>22</a:t>
                      </a:r>
                    </a:p>
                  </a:txBody>
                  <a:tcPr marL="177800" marR="177800" marT="38100" marB="38100" anchor="ctr">
                    <a:solidFill>
                      <a:srgbClr val="F8FAFC"/>
                    </a:solidFill>
                  </a:tcPr>
                </a:tc>
                <a:tc>
                  <a:txBody>
                    <a:bodyPr/>
                    <a:lstStyle/>
                    <a:p>
                      <a:r>
                        <a:rPr sz="1350" b="0" i="0">
                          <a:solidFill>
                            <a:srgbClr val="14213D"/>
                          </a:solidFill>
                          <a:latin typeface="Segoe UI"/>
                        </a:rPr>
                        <a:t>Tboung Khmum</a:t>
                      </a:r>
                    </a:p>
                  </a:txBody>
                  <a:tcPr marL="177800" marR="177800" marT="38100" marB="38100" anchor="ctr">
                    <a:solidFill>
                      <a:srgbClr val="F8FAFC"/>
                    </a:solidFill>
                  </a:tcPr>
                </a:tc>
                <a:tc>
                  <a:txBody>
                    <a:bodyPr/>
                    <a:lstStyle/>
                    <a:p>
                      <a:pPr algn="r"/>
                      <a:r>
                        <a:rPr sz="1350" b="0" i="0">
                          <a:solidFill>
                            <a:srgbClr val="14213D"/>
                          </a:solidFill>
                          <a:latin typeface="Segoe UI"/>
                        </a:rPr>
                        <a:t>61</a:t>
                      </a:r>
                    </a:p>
                  </a:txBody>
                  <a:tcPr marL="177800" marR="177800" marT="38100" marB="38100" anchor="ctr">
                    <a:solidFill>
                      <a:srgbClr val="F8FAFC"/>
                    </a:solidFill>
                  </a:tcPr>
                </a:tc>
                <a:tc>
                  <a:txBody>
                    <a:bodyPr/>
                    <a:lstStyle/>
                    <a:p>
                      <a:pPr algn="r"/>
                      <a:r>
                        <a:rPr sz="1350" b="0" i="0">
                          <a:solidFill>
                            <a:srgbClr val="14213D"/>
                          </a:solidFill>
                          <a:latin typeface="Segoe UI"/>
                        </a:rPr>
                        <a:t>14</a:t>
                      </a:r>
                    </a:p>
                  </a:txBody>
                  <a:tcPr marL="177800" marR="177800" marT="38100" marB="38100" anchor="ctr">
                    <a:solidFill>
                      <a:srgbClr val="F8FAFC"/>
                    </a:solidFill>
                  </a:tcPr>
                </a:tc>
                <a:extLst>
                  <a:ext uri="{0D108BD9-81ED-4DB2-BD59-A6C34878D82A}">
                    <a16:rowId xmlns:a16="http://schemas.microsoft.com/office/drawing/2014/main" val="10008"/>
                  </a:ext>
                </a:extLst>
              </a:tr>
              <a:tr h="278892">
                <a:tc>
                  <a:txBody>
                    <a:bodyPr/>
                    <a:lstStyle/>
                    <a:p>
                      <a:r>
                        <a:rPr sz="1350" b="0" i="0">
                          <a:solidFill>
                            <a:srgbClr val="14213D"/>
                          </a:solidFill>
                          <a:latin typeface="Segoe UI"/>
                        </a:rPr>
                        <a:t>Battambang</a:t>
                      </a:r>
                    </a:p>
                  </a:txBody>
                  <a:tcPr marL="177800" marR="177800" marT="38100" marB="38100" anchor="ctr">
                    <a:solidFill>
                      <a:srgbClr val="FFFFFF"/>
                    </a:solidFill>
                  </a:tcPr>
                </a:tc>
                <a:tc>
                  <a:txBody>
                    <a:bodyPr/>
                    <a:lstStyle/>
                    <a:p>
                      <a:pPr algn="r"/>
                      <a:r>
                        <a:rPr sz="1350" b="0" i="0">
                          <a:solidFill>
                            <a:srgbClr val="14213D"/>
                          </a:solidFill>
                          <a:latin typeface="Segoe UI"/>
                        </a:rPr>
                        <a:t>87</a:t>
                      </a:r>
                    </a:p>
                  </a:txBody>
                  <a:tcPr marL="177800" marR="177800" marT="38100" marB="38100" anchor="ctr">
                    <a:solidFill>
                      <a:srgbClr val="FFFFFF"/>
                    </a:solidFill>
                  </a:tcPr>
                </a:tc>
                <a:tc>
                  <a:txBody>
                    <a:bodyPr/>
                    <a:lstStyle/>
                    <a:p>
                      <a:pPr algn="r"/>
                      <a:r>
                        <a:rPr sz="1350" b="0" i="0">
                          <a:solidFill>
                            <a:srgbClr val="14213D"/>
                          </a:solidFill>
                          <a:latin typeface="Segoe UI"/>
                        </a:rPr>
                        <a:t>20</a:t>
                      </a:r>
                    </a:p>
                  </a:txBody>
                  <a:tcPr marL="177800" marR="177800" marT="38100" marB="38100" anchor="ctr">
                    <a:solidFill>
                      <a:srgbClr val="FFFFFF"/>
                    </a:solidFill>
                  </a:tcPr>
                </a:tc>
                <a:tc>
                  <a:txBody>
                    <a:bodyPr/>
                    <a:lstStyle/>
                    <a:p>
                      <a:r>
                        <a:rPr sz="1350" b="0" i="0">
                          <a:solidFill>
                            <a:srgbClr val="14213D"/>
                          </a:solidFill>
                          <a:latin typeface="Segoe UI"/>
                        </a:rPr>
                        <a:t>Stung Treng</a:t>
                      </a:r>
                    </a:p>
                  </a:txBody>
                  <a:tcPr marL="177800" marR="177800" marT="38100" marB="38100" anchor="ctr">
                    <a:solidFill>
                      <a:srgbClr val="FFFFFF"/>
                    </a:solidFill>
                  </a:tcPr>
                </a:tc>
                <a:tc>
                  <a:txBody>
                    <a:bodyPr/>
                    <a:lstStyle/>
                    <a:p>
                      <a:pPr algn="r"/>
                      <a:r>
                        <a:rPr sz="1350" b="0" i="0">
                          <a:solidFill>
                            <a:srgbClr val="14213D"/>
                          </a:solidFill>
                          <a:latin typeface="Segoe UI"/>
                        </a:rPr>
                        <a:t>52</a:t>
                      </a:r>
                    </a:p>
                  </a:txBody>
                  <a:tcPr marL="177800" marR="177800" marT="38100" marB="38100" anchor="ctr">
                    <a:solidFill>
                      <a:srgbClr val="FFFFFF"/>
                    </a:solidFill>
                  </a:tcPr>
                </a:tc>
                <a:tc>
                  <a:txBody>
                    <a:bodyPr/>
                    <a:lstStyle/>
                    <a:p>
                      <a:pPr algn="r"/>
                      <a:r>
                        <a:rPr sz="1350" b="0" i="0">
                          <a:solidFill>
                            <a:srgbClr val="14213D"/>
                          </a:solidFill>
                          <a:latin typeface="Segoe UI"/>
                        </a:rPr>
                        <a:t>12</a:t>
                      </a:r>
                    </a:p>
                  </a:txBody>
                  <a:tcPr marL="177800" marR="177800" marT="38100" marB="38100" anchor="ctr">
                    <a:solidFill>
                      <a:srgbClr val="FFFFFF"/>
                    </a:solidFill>
                  </a:tcPr>
                </a:tc>
                <a:extLst>
                  <a:ext uri="{0D108BD9-81ED-4DB2-BD59-A6C34878D82A}">
                    <a16:rowId xmlns:a16="http://schemas.microsoft.com/office/drawing/2014/main" val="10009"/>
                  </a:ext>
                </a:extLst>
              </a:tr>
              <a:tr h="278892">
                <a:tc>
                  <a:txBody>
                    <a:bodyPr/>
                    <a:lstStyle/>
                    <a:p>
                      <a:r>
                        <a:rPr sz="1350" b="0" i="0">
                          <a:solidFill>
                            <a:srgbClr val="14213D"/>
                          </a:solidFill>
                          <a:latin typeface="Segoe UI"/>
                        </a:rPr>
                        <a:t>Svay Rieng</a:t>
                      </a:r>
                    </a:p>
                  </a:txBody>
                  <a:tcPr marL="177800" marR="177800" marT="38100" marB="38100" anchor="ctr">
                    <a:solidFill>
                      <a:srgbClr val="F8FAFC"/>
                    </a:solidFill>
                  </a:tcPr>
                </a:tc>
                <a:tc>
                  <a:txBody>
                    <a:bodyPr/>
                    <a:lstStyle/>
                    <a:p>
                      <a:pPr algn="r"/>
                      <a:r>
                        <a:rPr sz="1350" b="0" i="0">
                          <a:solidFill>
                            <a:srgbClr val="14213D"/>
                          </a:solidFill>
                          <a:latin typeface="Segoe UI"/>
                        </a:rPr>
                        <a:t>86</a:t>
                      </a:r>
                    </a:p>
                  </a:txBody>
                  <a:tcPr marL="177800" marR="177800" marT="38100" marB="38100" anchor="ctr">
                    <a:solidFill>
                      <a:srgbClr val="F8FAFC"/>
                    </a:solidFill>
                  </a:tcPr>
                </a:tc>
                <a:tc>
                  <a:txBody>
                    <a:bodyPr/>
                    <a:lstStyle/>
                    <a:p>
                      <a:pPr algn="r"/>
                      <a:r>
                        <a:rPr sz="1350" b="0" i="0">
                          <a:solidFill>
                            <a:srgbClr val="14213D"/>
                          </a:solidFill>
                          <a:latin typeface="Segoe UI"/>
                        </a:rPr>
                        <a:t>20</a:t>
                      </a:r>
                    </a:p>
                  </a:txBody>
                  <a:tcPr marL="177800" marR="177800" marT="38100" marB="38100" anchor="ctr">
                    <a:solidFill>
                      <a:srgbClr val="F8FAFC"/>
                    </a:solidFill>
                  </a:tcPr>
                </a:tc>
                <a:tc>
                  <a:txBody>
                    <a:bodyPr/>
                    <a:lstStyle/>
                    <a:p>
                      <a:r>
                        <a:rPr sz="1350" b="1" i="0">
                          <a:solidFill>
                            <a:srgbClr val="C0392B"/>
                          </a:solidFill>
                          <a:latin typeface="Segoe UI Semibold"/>
                        </a:rPr>
                        <a:t>Koh Kong</a:t>
                      </a:r>
                    </a:p>
                  </a:txBody>
                  <a:tcPr marL="177800" marR="177800" marT="38100" marB="38100" anchor="ctr">
                    <a:solidFill>
                      <a:srgbClr val="F8FAFC"/>
                    </a:solidFill>
                  </a:tcPr>
                </a:tc>
                <a:tc>
                  <a:txBody>
                    <a:bodyPr/>
                    <a:lstStyle/>
                    <a:p>
                      <a:pPr algn="r"/>
                      <a:r>
                        <a:rPr sz="1350" b="1" i="0">
                          <a:solidFill>
                            <a:srgbClr val="C0392B"/>
                          </a:solidFill>
                          <a:latin typeface="Segoe UI Semibold"/>
                        </a:rPr>
                        <a:t>47</a:t>
                      </a:r>
                    </a:p>
                  </a:txBody>
                  <a:tcPr marL="177800" marR="177800" marT="38100" marB="38100" anchor="ctr">
                    <a:solidFill>
                      <a:srgbClr val="F8FAFC"/>
                    </a:solidFill>
                  </a:tcPr>
                </a:tc>
                <a:tc>
                  <a:txBody>
                    <a:bodyPr/>
                    <a:lstStyle/>
                    <a:p>
                      <a:pPr algn="r"/>
                      <a:r>
                        <a:rPr sz="1350" b="0" i="0">
                          <a:solidFill>
                            <a:srgbClr val="14213D"/>
                          </a:solidFill>
                          <a:latin typeface="Segoe UI"/>
                        </a:rPr>
                        <a:t>11</a:t>
                      </a:r>
                    </a:p>
                  </a:txBody>
                  <a:tcPr marL="177800" marR="177800" marT="38100" marB="38100" anchor="ctr">
                    <a:solidFill>
                      <a:srgbClr val="F8FAFC"/>
                    </a:solidFill>
                  </a:tcPr>
                </a:tc>
                <a:extLst>
                  <a:ext uri="{0D108BD9-81ED-4DB2-BD59-A6C34878D82A}">
                    <a16:rowId xmlns:a16="http://schemas.microsoft.com/office/drawing/2014/main" val="10010"/>
                  </a:ext>
                </a:extLst>
              </a:tr>
              <a:tr h="278892">
                <a:tc>
                  <a:txBody>
                    <a:bodyPr/>
                    <a:lstStyle/>
                    <a:p>
                      <a:r>
                        <a:rPr sz="1350" b="0" i="0">
                          <a:solidFill>
                            <a:srgbClr val="14213D"/>
                          </a:solidFill>
                          <a:latin typeface="Segoe UI"/>
                        </a:rPr>
                        <a:t>Banteay Meanchey</a:t>
                      </a:r>
                    </a:p>
                  </a:txBody>
                  <a:tcPr marL="177800" marR="177800" marT="38100" marB="38100" anchor="ctr">
                    <a:solidFill>
                      <a:srgbClr val="FFFFFF"/>
                    </a:solidFill>
                  </a:tcPr>
                </a:tc>
                <a:tc>
                  <a:txBody>
                    <a:bodyPr/>
                    <a:lstStyle/>
                    <a:p>
                      <a:pPr algn="r"/>
                      <a:r>
                        <a:rPr sz="1350" b="0" i="0">
                          <a:solidFill>
                            <a:srgbClr val="14213D"/>
                          </a:solidFill>
                          <a:latin typeface="Segoe UI"/>
                        </a:rPr>
                        <a:t>82</a:t>
                      </a:r>
                    </a:p>
                  </a:txBody>
                  <a:tcPr marL="177800" marR="177800" marT="38100" marB="38100" anchor="ctr">
                    <a:solidFill>
                      <a:srgbClr val="FFFFFF"/>
                    </a:solidFill>
                  </a:tcPr>
                </a:tc>
                <a:tc>
                  <a:txBody>
                    <a:bodyPr/>
                    <a:lstStyle/>
                    <a:p>
                      <a:pPr algn="r"/>
                      <a:r>
                        <a:rPr sz="1350" b="0" i="0">
                          <a:solidFill>
                            <a:srgbClr val="14213D"/>
                          </a:solidFill>
                          <a:latin typeface="Segoe UI"/>
                        </a:rPr>
                        <a:t>19</a:t>
                      </a:r>
                    </a:p>
                  </a:txBody>
                  <a:tcPr marL="177800" marR="177800" marT="38100" marB="38100" anchor="ctr">
                    <a:solidFill>
                      <a:srgbClr val="FFFFFF"/>
                    </a:solidFill>
                  </a:tcPr>
                </a:tc>
                <a:tc>
                  <a:txBody>
                    <a:bodyPr/>
                    <a:lstStyle/>
                    <a:p>
                      <a:r>
                        <a:rPr sz="1350" b="1" i="0">
                          <a:solidFill>
                            <a:srgbClr val="C0392B"/>
                          </a:solidFill>
                          <a:latin typeface="Segoe UI Semibold"/>
                        </a:rPr>
                        <a:t>Kep</a:t>
                      </a:r>
                    </a:p>
                  </a:txBody>
                  <a:tcPr marL="177800" marR="177800" marT="38100" marB="38100" anchor="ctr">
                    <a:solidFill>
                      <a:srgbClr val="FFFFFF"/>
                    </a:solidFill>
                  </a:tcPr>
                </a:tc>
                <a:tc>
                  <a:txBody>
                    <a:bodyPr/>
                    <a:lstStyle/>
                    <a:p>
                      <a:pPr algn="r"/>
                      <a:r>
                        <a:rPr sz="1350" b="1" i="0">
                          <a:solidFill>
                            <a:srgbClr val="C0392B"/>
                          </a:solidFill>
                          <a:latin typeface="Segoe UI Semibold"/>
                        </a:rPr>
                        <a:t>42</a:t>
                      </a:r>
                    </a:p>
                  </a:txBody>
                  <a:tcPr marL="177800" marR="177800" marT="38100" marB="38100" anchor="ctr">
                    <a:solidFill>
                      <a:srgbClr val="FFFFFF"/>
                    </a:solidFill>
                  </a:tcPr>
                </a:tc>
                <a:tc>
                  <a:txBody>
                    <a:bodyPr/>
                    <a:lstStyle/>
                    <a:p>
                      <a:pPr algn="r"/>
                      <a:r>
                        <a:rPr sz="1350" b="0" i="0">
                          <a:solidFill>
                            <a:srgbClr val="14213D"/>
                          </a:solidFill>
                          <a:latin typeface="Segoe UI"/>
                        </a:rPr>
                        <a:t>9</a:t>
                      </a:r>
                    </a:p>
                  </a:txBody>
                  <a:tcPr marL="177800" marR="177800" marT="38100" marB="38100" anchor="ctr">
                    <a:solidFill>
                      <a:srgbClr val="FFFFFF"/>
                    </a:solidFill>
                  </a:tcPr>
                </a:tc>
                <a:extLst>
                  <a:ext uri="{0D108BD9-81ED-4DB2-BD59-A6C34878D82A}">
                    <a16:rowId xmlns:a16="http://schemas.microsoft.com/office/drawing/2014/main" val="10011"/>
                  </a:ext>
                </a:extLst>
              </a:tr>
              <a:tr h="278892">
                <a:tc>
                  <a:txBody>
                    <a:bodyPr/>
                    <a:lstStyle/>
                    <a:p>
                      <a:r>
                        <a:rPr sz="1350" b="0" i="0">
                          <a:solidFill>
                            <a:srgbClr val="14213D"/>
                          </a:solidFill>
                          <a:latin typeface="Segoe UI"/>
                        </a:rPr>
                        <a:t>Kampong Speu</a:t>
                      </a:r>
                    </a:p>
                  </a:txBody>
                  <a:tcPr marL="177800" marR="177800" marT="38100" marB="38100" anchor="ctr">
                    <a:solidFill>
                      <a:srgbClr val="F8FAFC"/>
                    </a:solidFill>
                  </a:tcPr>
                </a:tc>
                <a:tc>
                  <a:txBody>
                    <a:bodyPr/>
                    <a:lstStyle/>
                    <a:p>
                      <a:pPr algn="r"/>
                      <a:r>
                        <a:rPr sz="1350" b="0" i="0">
                          <a:solidFill>
                            <a:srgbClr val="14213D"/>
                          </a:solidFill>
                          <a:latin typeface="Segoe UI"/>
                        </a:rPr>
                        <a:t>77</a:t>
                      </a:r>
                    </a:p>
                  </a:txBody>
                  <a:tcPr marL="177800" marR="177800" marT="38100" marB="38100" anchor="ctr">
                    <a:solidFill>
                      <a:srgbClr val="F8FAFC"/>
                    </a:solidFill>
                  </a:tcPr>
                </a:tc>
                <a:tc>
                  <a:txBody>
                    <a:bodyPr/>
                    <a:lstStyle/>
                    <a:p>
                      <a:pPr algn="r"/>
                      <a:r>
                        <a:rPr sz="1350" b="0" i="0">
                          <a:solidFill>
                            <a:srgbClr val="14213D"/>
                          </a:solidFill>
                          <a:latin typeface="Segoe UI"/>
                        </a:rPr>
                        <a:t>18</a:t>
                      </a:r>
                    </a:p>
                  </a:txBody>
                  <a:tcPr marL="177800" marR="177800" marT="38100" marB="38100" anchor="ctr">
                    <a:solidFill>
                      <a:srgbClr val="F8FAFC"/>
                    </a:solidFill>
                  </a:tcPr>
                </a:tc>
                <a:tc>
                  <a:txBody>
                    <a:bodyPr/>
                    <a:lstStyle/>
                    <a:p>
                      <a:r>
                        <a:rPr sz="1350" b="1" i="0">
                          <a:solidFill>
                            <a:srgbClr val="C0392B"/>
                          </a:solidFill>
                          <a:latin typeface="Segoe UI Semibold"/>
                        </a:rPr>
                        <a:t>Ratanakiri</a:t>
                      </a:r>
                    </a:p>
                  </a:txBody>
                  <a:tcPr marL="177800" marR="177800" marT="38100" marB="38100" anchor="ctr">
                    <a:solidFill>
                      <a:srgbClr val="F8FAFC"/>
                    </a:solidFill>
                  </a:tcPr>
                </a:tc>
                <a:tc>
                  <a:txBody>
                    <a:bodyPr/>
                    <a:lstStyle/>
                    <a:p>
                      <a:pPr algn="r"/>
                      <a:r>
                        <a:rPr sz="1350" b="1" i="0">
                          <a:solidFill>
                            <a:srgbClr val="C0392B"/>
                          </a:solidFill>
                          <a:latin typeface="Segoe UI Semibold"/>
                        </a:rPr>
                        <a:t>20</a:t>
                      </a:r>
                    </a:p>
                  </a:txBody>
                  <a:tcPr marL="177800" marR="177800" marT="38100" marB="38100" anchor="ctr">
                    <a:solidFill>
                      <a:srgbClr val="F8FAFC"/>
                    </a:solidFill>
                  </a:tcPr>
                </a:tc>
                <a:tc>
                  <a:txBody>
                    <a:bodyPr/>
                    <a:lstStyle/>
                    <a:p>
                      <a:pPr algn="r"/>
                      <a:r>
                        <a:rPr sz="1350" b="0" i="0">
                          <a:solidFill>
                            <a:srgbClr val="14213D"/>
                          </a:solidFill>
                          <a:latin typeface="Segoe UI"/>
                        </a:rPr>
                        <a:t>5</a:t>
                      </a:r>
                    </a:p>
                  </a:txBody>
                  <a:tcPr marL="177800" marR="177800" marT="38100" marB="38100" anchor="ctr">
                    <a:solidFill>
                      <a:srgbClr val="F8FAFC"/>
                    </a:solidFill>
                  </a:tcPr>
                </a:tc>
                <a:extLst>
                  <a:ext uri="{0D108BD9-81ED-4DB2-BD59-A6C34878D82A}">
                    <a16:rowId xmlns:a16="http://schemas.microsoft.com/office/drawing/2014/main" val="10012"/>
                  </a:ext>
                </a:extLst>
              </a:tr>
              <a:tr h="278892">
                <a:tc>
                  <a:txBody>
                    <a:bodyPr/>
                    <a:lstStyle/>
                    <a:p>
                      <a:r>
                        <a:rPr sz="1350" b="0" i="0">
                          <a:solidFill>
                            <a:srgbClr val="14213D"/>
                          </a:solidFill>
                          <a:latin typeface="Segoe UI"/>
                        </a:rPr>
                        <a:t>Oudor Meanchey</a:t>
                      </a:r>
                    </a:p>
                  </a:txBody>
                  <a:tcPr marL="177800" marR="177800" marT="38100" marB="38100" anchor="ctr">
                    <a:solidFill>
                      <a:srgbClr val="FFFFFF"/>
                    </a:solidFill>
                  </a:tcPr>
                </a:tc>
                <a:tc>
                  <a:txBody>
                    <a:bodyPr/>
                    <a:lstStyle/>
                    <a:p>
                      <a:pPr algn="r"/>
                      <a:r>
                        <a:rPr sz="1350" b="0" i="0">
                          <a:solidFill>
                            <a:srgbClr val="14213D"/>
                          </a:solidFill>
                          <a:latin typeface="Segoe UI"/>
                        </a:rPr>
                        <a:t>72</a:t>
                      </a:r>
                    </a:p>
                  </a:txBody>
                  <a:tcPr marL="177800" marR="177800" marT="38100" marB="38100" anchor="ctr">
                    <a:solidFill>
                      <a:srgbClr val="FFFFFF"/>
                    </a:solidFill>
                  </a:tcPr>
                </a:tc>
                <a:tc>
                  <a:txBody>
                    <a:bodyPr/>
                    <a:lstStyle/>
                    <a:p>
                      <a:pPr algn="r"/>
                      <a:r>
                        <a:rPr sz="1350" b="0" i="0">
                          <a:solidFill>
                            <a:srgbClr val="14213D"/>
                          </a:solidFill>
                          <a:latin typeface="Segoe UI"/>
                        </a:rPr>
                        <a:t>17</a:t>
                      </a:r>
                    </a:p>
                  </a:txBody>
                  <a:tcPr marL="177800" marR="177800" marT="38100" marB="38100" anchor="ctr">
                    <a:solidFill>
                      <a:srgbClr val="FFFFFF"/>
                    </a:solidFill>
                  </a:tcPr>
                </a:tc>
                <a:tc>
                  <a:txBody>
                    <a:bodyPr/>
                    <a:lstStyle/>
                    <a:p>
                      <a:r>
                        <a:rPr sz="1350" b="1" i="0">
                          <a:solidFill>
                            <a:srgbClr val="C0392B"/>
                          </a:solidFill>
                          <a:latin typeface="Segoe UI Semibold"/>
                        </a:rPr>
                        <a:t>Mondul Kiri</a:t>
                      </a:r>
                    </a:p>
                  </a:txBody>
                  <a:tcPr marL="177800" marR="177800" marT="38100" marB="38100" anchor="ctr">
                    <a:solidFill>
                      <a:srgbClr val="FFFFFF"/>
                    </a:solidFill>
                  </a:tcPr>
                </a:tc>
                <a:tc>
                  <a:txBody>
                    <a:bodyPr/>
                    <a:lstStyle/>
                    <a:p>
                      <a:pPr algn="r"/>
                      <a:r>
                        <a:rPr sz="1350" b="1" i="0">
                          <a:solidFill>
                            <a:srgbClr val="C0392B"/>
                          </a:solidFill>
                          <a:latin typeface="Segoe UI Semibold"/>
                        </a:rPr>
                        <a:t>18</a:t>
                      </a:r>
                    </a:p>
                  </a:txBody>
                  <a:tcPr marL="177800" marR="177800" marT="38100" marB="38100" anchor="ctr">
                    <a:solidFill>
                      <a:srgbClr val="FFFFFF"/>
                    </a:solidFill>
                  </a:tcPr>
                </a:tc>
                <a:tc>
                  <a:txBody>
                    <a:bodyPr/>
                    <a:lstStyle/>
                    <a:p>
                      <a:pPr algn="r"/>
                      <a:r>
                        <a:rPr sz="1350" b="0" i="0" dirty="0">
                          <a:solidFill>
                            <a:srgbClr val="14213D"/>
                          </a:solidFill>
                          <a:latin typeface="Segoe UI"/>
                        </a:rPr>
                        <a:t>5</a:t>
                      </a:r>
                    </a:p>
                  </a:txBody>
                  <a:tcPr marL="177800" marR="177800" marT="38100" marB="38100" anchor="ctr">
                    <a:solidFill>
                      <a:srgbClr val="FFFFFF"/>
                    </a:solidFill>
                  </a:tcPr>
                </a:tc>
                <a:extLst>
                  <a:ext uri="{0D108BD9-81ED-4DB2-BD59-A6C34878D82A}">
                    <a16:rowId xmlns:a16="http://schemas.microsoft.com/office/drawing/2014/main" val="10013"/>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ounded Rectangle 2"/>
          <p:cNvSpPr/>
          <p:nvPr/>
        </p:nvSpPr>
        <p:spPr>
          <a:xfrm>
            <a:off x="640080" y="384048"/>
            <a:ext cx="1719072" cy="292608"/>
          </a:xfrm>
          <a:prstGeom prst="roundRect">
            <a:avLst>
              <a:gd name="adj" fmla="val 50000"/>
            </a:avLst>
          </a:prstGeom>
          <a:solidFill>
            <a:srgbClr val="E2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640080" y="384048"/>
            <a:ext cx="1719072" cy="292608"/>
          </a:xfrm>
          <a:prstGeom prst="rect">
            <a:avLst/>
          </a:prstGeom>
          <a:noFill/>
        </p:spPr>
        <p:txBody>
          <a:bodyPr wrap="square" lIns="18288" rIns="18288" anchor="ctr">
            <a:spAutoFit/>
          </a:bodyPr>
          <a:lstStyle/>
          <a:p>
            <a:pPr algn="ctr"/>
            <a:r>
              <a:rPr sz="1050" b="1" i="0" spc="120">
                <a:solidFill>
                  <a:srgbClr val="0F7C74"/>
                </a:solidFill>
                <a:latin typeface="Segoe UI"/>
              </a:rPr>
              <a:t>03  ·  METHOD</a:t>
            </a:r>
          </a:p>
        </p:txBody>
      </p:sp>
      <p:pic>
        <p:nvPicPr>
          <p:cNvPr id="5" name="Picture 4" descr="kit_logo.png"/>
          <p:cNvPicPr>
            <a:picLocks noChangeAspect="1"/>
          </p:cNvPicPr>
          <p:nvPr/>
        </p:nvPicPr>
        <p:blipFill>
          <a:blip r:embed="rId3"/>
          <a:stretch>
            <a:fillRect/>
          </a:stretch>
        </p:blipFill>
        <p:spPr>
          <a:xfrm>
            <a:off x="10929823" y="320040"/>
            <a:ext cx="621792" cy="621792"/>
          </a:xfrm>
          <a:prstGeom prst="rect">
            <a:avLst/>
          </a:prstGeom>
        </p:spPr>
      </p:pic>
      <p:sp>
        <p:nvSpPr>
          <p:cNvPr id="6" name="TextBox 5"/>
          <p:cNvSpPr txBox="1"/>
          <p:nvPr/>
        </p:nvSpPr>
        <p:spPr>
          <a:xfrm>
            <a:off x="621792" y="731520"/>
            <a:ext cx="9997135" cy="685800"/>
          </a:xfrm>
          <a:prstGeom prst="rect">
            <a:avLst/>
          </a:prstGeom>
          <a:noFill/>
        </p:spPr>
        <p:txBody>
          <a:bodyPr wrap="square" lIns="18288" rIns="18288" anchor="ctr">
            <a:spAutoFit/>
          </a:bodyPr>
          <a:lstStyle/>
          <a:p>
            <a:pPr algn="l"/>
            <a:r>
              <a:rPr sz="3000" b="0" i="0">
                <a:solidFill>
                  <a:srgbClr val="14213D"/>
                </a:solidFill>
                <a:latin typeface="Segoe UI Semibold"/>
              </a:rPr>
              <a:t>Identical setup for every approach</a:t>
            </a:r>
          </a:p>
        </p:txBody>
      </p:sp>
      <p:sp>
        <p:nvSpPr>
          <p:cNvPr id="7" name="Rectangle 6"/>
          <p:cNvSpPr/>
          <p:nvPr/>
        </p:nvSpPr>
        <p:spPr>
          <a:xfrm>
            <a:off x="640080" y="6601968"/>
            <a:ext cx="1368073" cy="27432"/>
          </a:xfrm>
          <a:prstGeom prst="rect">
            <a:avLst/>
          </a:prstGeom>
          <a:solidFill>
            <a:srgbClr val="0F7C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640080" y="6336792"/>
            <a:ext cx="1368073" cy="237744"/>
          </a:xfrm>
          <a:prstGeom prst="rect">
            <a:avLst/>
          </a:prstGeom>
          <a:noFill/>
        </p:spPr>
        <p:txBody>
          <a:bodyPr wrap="square" lIns="18288" rIns="18288" anchor="t">
            <a:spAutoFit/>
          </a:bodyPr>
          <a:lstStyle/>
          <a:p>
            <a:pPr algn="l"/>
            <a:r>
              <a:rPr sz="850" b="0" i="0">
                <a:solidFill>
                  <a:srgbClr val="6B7280"/>
                </a:solidFill>
                <a:latin typeface="Segoe UI"/>
              </a:rPr>
              <a:t>Problem</a:t>
            </a:r>
          </a:p>
        </p:txBody>
      </p:sp>
      <p:sp>
        <p:nvSpPr>
          <p:cNvPr id="9" name="Rectangle 8"/>
          <p:cNvSpPr/>
          <p:nvPr/>
        </p:nvSpPr>
        <p:spPr>
          <a:xfrm>
            <a:off x="2081305" y="6601968"/>
            <a:ext cx="1368073" cy="27432"/>
          </a:xfrm>
          <a:prstGeom prst="rect">
            <a:avLst/>
          </a:prstGeom>
          <a:solidFill>
            <a:srgbClr val="0F7C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2081305" y="6336792"/>
            <a:ext cx="1368073" cy="237744"/>
          </a:xfrm>
          <a:prstGeom prst="rect">
            <a:avLst/>
          </a:prstGeom>
          <a:noFill/>
        </p:spPr>
        <p:txBody>
          <a:bodyPr wrap="square" lIns="18288" rIns="18288" anchor="t">
            <a:spAutoFit/>
          </a:bodyPr>
          <a:lstStyle/>
          <a:p>
            <a:pPr algn="l"/>
            <a:r>
              <a:rPr sz="850" b="0" i="0">
                <a:solidFill>
                  <a:srgbClr val="6B7280"/>
                </a:solidFill>
                <a:latin typeface="Segoe UI"/>
              </a:rPr>
              <a:t>Data</a:t>
            </a:r>
          </a:p>
        </p:txBody>
      </p:sp>
      <p:sp>
        <p:nvSpPr>
          <p:cNvPr id="11" name="Rectangle 10"/>
          <p:cNvSpPr/>
          <p:nvPr/>
        </p:nvSpPr>
        <p:spPr>
          <a:xfrm>
            <a:off x="3522530" y="6601968"/>
            <a:ext cx="1368073" cy="45720"/>
          </a:xfrm>
          <a:prstGeom prst="rect">
            <a:avLst/>
          </a:prstGeom>
          <a:solidFill>
            <a:srgbClr val="E09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3522530" y="6336792"/>
            <a:ext cx="1368073" cy="237744"/>
          </a:xfrm>
          <a:prstGeom prst="rect">
            <a:avLst/>
          </a:prstGeom>
          <a:noFill/>
        </p:spPr>
        <p:txBody>
          <a:bodyPr wrap="square" lIns="18288" rIns="18288" anchor="t">
            <a:spAutoFit/>
          </a:bodyPr>
          <a:lstStyle/>
          <a:p>
            <a:pPr algn="l"/>
            <a:r>
              <a:rPr sz="850" b="1" i="0">
                <a:solidFill>
                  <a:srgbClr val="14213D"/>
                </a:solidFill>
                <a:latin typeface="Segoe UI"/>
              </a:rPr>
              <a:t>Method</a:t>
            </a:r>
          </a:p>
        </p:txBody>
      </p:sp>
      <p:sp>
        <p:nvSpPr>
          <p:cNvPr id="13" name="Rectangle 12"/>
          <p:cNvSpPr/>
          <p:nvPr/>
        </p:nvSpPr>
        <p:spPr>
          <a:xfrm>
            <a:off x="4963755" y="6601968"/>
            <a:ext cx="1368073" cy="2743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963755" y="6336792"/>
            <a:ext cx="1368073" cy="237744"/>
          </a:xfrm>
          <a:prstGeom prst="rect">
            <a:avLst/>
          </a:prstGeom>
          <a:noFill/>
        </p:spPr>
        <p:txBody>
          <a:bodyPr wrap="square" lIns="18288" rIns="18288" anchor="t">
            <a:spAutoFit/>
          </a:bodyPr>
          <a:lstStyle/>
          <a:p>
            <a:pPr algn="l"/>
            <a:r>
              <a:rPr sz="850" b="0" i="0">
                <a:solidFill>
                  <a:srgbClr val="6B7280"/>
                </a:solidFill>
                <a:latin typeface="Segoe UI"/>
              </a:rPr>
              <a:t>Results</a:t>
            </a:r>
          </a:p>
        </p:txBody>
      </p:sp>
      <p:sp>
        <p:nvSpPr>
          <p:cNvPr id="15" name="Rectangle 14"/>
          <p:cNvSpPr/>
          <p:nvPr/>
        </p:nvSpPr>
        <p:spPr>
          <a:xfrm>
            <a:off x="6404980" y="6601968"/>
            <a:ext cx="1368073" cy="2743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6404980" y="6336792"/>
            <a:ext cx="1368073" cy="237744"/>
          </a:xfrm>
          <a:prstGeom prst="rect">
            <a:avLst/>
          </a:prstGeom>
          <a:noFill/>
        </p:spPr>
        <p:txBody>
          <a:bodyPr wrap="square" lIns="18288" rIns="18288" anchor="t">
            <a:spAutoFit/>
          </a:bodyPr>
          <a:lstStyle/>
          <a:p>
            <a:pPr algn="l"/>
            <a:r>
              <a:rPr sz="850" b="0" i="0">
                <a:solidFill>
                  <a:srgbClr val="6B7280"/>
                </a:solidFill>
                <a:latin typeface="Segoe UI"/>
              </a:rPr>
              <a:t>Analysis</a:t>
            </a:r>
          </a:p>
        </p:txBody>
      </p:sp>
      <p:sp>
        <p:nvSpPr>
          <p:cNvPr id="17" name="Rectangle 16"/>
          <p:cNvSpPr/>
          <p:nvPr/>
        </p:nvSpPr>
        <p:spPr>
          <a:xfrm>
            <a:off x="7846205" y="6601968"/>
            <a:ext cx="1368073" cy="2743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846205" y="6336792"/>
            <a:ext cx="1368073" cy="237744"/>
          </a:xfrm>
          <a:prstGeom prst="rect">
            <a:avLst/>
          </a:prstGeom>
          <a:noFill/>
        </p:spPr>
        <p:txBody>
          <a:bodyPr wrap="square" lIns="18288" rIns="18288" anchor="t">
            <a:spAutoFit/>
          </a:bodyPr>
          <a:lstStyle/>
          <a:p>
            <a:pPr algn="l"/>
            <a:r>
              <a:rPr sz="850" b="0" i="0">
                <a:solidFill>
                  <a:srgbClr val="6B7280"/>
                </a:solidFill>
                <a:latin typeface="Segoe UI"/>
              </a:rPr>
              <a:t>Honesty</a:t>
            </a:r>
          </a:p>
        </p:txBody>
      </p:sp>
      <p:sp>
        <p:nvSpPr>
          <p:cNvPr id="19" name="Rectangle 18"/>
          <p:cNvSpPr/>
          <p:nvPr/>
        </p:nvSpPr>
        <p:spPr>
          <a:xfrm>
            <a:off x="9287430" y="6601968"/>
            <a:ext cx="1368073" cy="2743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9287430" y="6336792"/>
            <a:ext cx="1368073" cy="237744"/>
          </a:xfrm>
          <a:prstGeom prst="rect">
            <a:avLst/>
          </a:prstGeom>
          <a:noFill/>
        </p:spPr>
        <p:txBody>
          <a:bodyPr wrap="square" lIns="18288" rIns="18288" anchor="t">
            <a:spAutoFit/>
          </a:bodyPr>
          <a:lstStyle/>
          <a:p>
            <a:pPr algn="l"/>
            <a:r>
              <a:rPr sz="850" b="0" i="0">
                <a:solidFill>
                  <a:srgbClr val="6B7280"/>
                </a:solidFill>
                <a:latin typeface="Segoe UI"/>
              </a:rPr>
              <a:t>Conclusion</a:t>
            </a:r>
          </a:p>
        </p:txBody>
      </p:sp>
      <p:sp>
        <p:nvSpPr>
          <p:cNvPr id="21" name="TextBox 20"/>
          <p:cNvSpPr txBox="1"/>
          <p:nvPr/>
        </p:nvSpPr>
        <p:spPr>
          <a:xfrm>
            <a:off x="10820095" y="6373368"/>
            <a:ext cx="731520" cy="274320"/>
          </a:xfrm>
          <a:prstGeom prst="rect">
            <a:avLst/>
          </a:prstGeom>
          <a:noFill/>
        </p:spPr>
        <p:txBody>
          <a:bodyPr wrap="square" lIns="18288" rIns="18288" anchor="t">
            <a:spAutoFit/>
          </a:bodyPr>
          <a:lstStyle/>
          <a:p>
            <a:pPr algn="r"/>
            <a:r>
              <a:rPr sz="1100" b="1" i="0">
                <a:solidFill>
                  <a:srgbClr val="0F7C74"/>
                </a:solidFill>
                <a:latin typeface="Segoe UI Semibold"/>
              </a:rPr>
              <a:t>6</a:t>
            </a:r>
          </a:p>
        </p:txBody>
      </p:sp>
      <p:sp>
        <p:nvSpPr>
          <p:cNvPr id="22" name="TextBox 21"/>
          <p:cNvSpPr txBox="1"/>
          <p:nvPr/>
        </p:nvSpPr>
        <p:spPr>
          <a:xfrm>
            <a:off x="640080" y="1600200"/>
            <a:ext cx="5318607" cy="256032"/>
          </a:xfrm>
          <a:prstGeom prst="rect">
            <a:avLst/>
          </a:prstGeom>
          <a:noFill/>
        </p:spPr>
        <p:txBody>
          <a:bodyPr wrap="square" lIns="18288" rIns="18288" anchor="t">
            <a:spAutoFit/>
          </a:bodyPr>
          <a:lstStyle/>
          <a:p>
            <a:pPr algn="l"/>
            <a:r>
              <a:rPr sz="950" b="1" i="0" spc="140">
                <a:solidFill>
                  <a:srgbClr val="6B7280"/>
                </a:solidFill>
                <a:latin typeface="Segoe UI"/>
              </a:rPr>
              <a:t>TRAINING</a:t>
            </a:r>
          </a:p>
        </p:txBody>
      </p:sp>
      <p:sp>
        <p:nvSpPr>
          <p:cNvPr id="23" name="Rectangle 22"/>
          <p:cNvSpPr/>
          <p:nvPr/>
        </p:nvSpPr>
        <p:spPr>
          <a:xfrm>
            <a:off x="640080" y="1874519"/>
            <a:ext cx="5318607"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6233007" y="1600200"/>
            <a:ext cx="5318607" cy="256032"/>
          </a:xfrm>
          <a:prstGeom prst="rect">
            <a:avLst/>
          </a:prstGeom>
          <a:noFill/>
        </p:spPr>
        <p:txBody>
          <a:bodyPr wrap="square" lIns="18288" rIns="18288" anchor="t">
            <a:spAutoFit/>
          </a:bodyPr>
          <a:lstStyle/>
          <a:p>
            <a:pPr algn="l"/>
            <a:r>
              <a:rPr sz="950" b="1" i="0" spc="140">
                <a:solidFill>
                  <a:srgbClr val="6B7280"/>
                </a:solidFill>
                <a:latin typeface="Segoe UI"/>
              </a:rPr>
              <a:t>EVALUATION</a:t>
            </a:r>
          </a:p>
        </p:txBody>
      </p:sp>
      <p:sp>
        <p:nvSpPr>
          <p:cNvPr id="25" name="Rectangle 24"/>
          <p:cNvSpPr/>
          <p:nvPr/>
        </p:nvSpPr>
        <p:spPr>
          <a:xfrm>
            <a:off x="6233007" y="1874519"/>
            <a:ext cx="5318607"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Rounded Rectangle 25"/>
          <p:cNvSpPr/>
          <p:nvPr/>
        </p:nvSpPr>
        <p:spPr>
          <a:xfrm>
            <a:off x="640080" y="2011680"/>
            <a:ext cx="5318607" cy="615695"/>
          </a:xfrm>
          <a:prstGeom prst="roundRect">
            <a:avLst>
              <a:gd name="adj" fmla="val 17821"/>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Oval 26"/>
          <p:cNvSpPr/>
          <p:nvPr/>
        </p:nvSpPr>
        <p:spPr>
          <a:xfrm>
            <a:off x="841247" y="2109216"/>
            <a:ext cx="420624" cy="420624"/>
          </a:xfrm>
          <a:prstGeom prst="ellipse">
            <a:avLst/>
          </a:prstGeom>
          <a:solidFill>
            <a:srgbClr val="E2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841247" y="2109216"/>
            <a:ext cx="420624" cy="420624"/>
          </a:xfrm>
          <a:prstGeom prst="rect">
            <a:avLst/>
          </a:prstGeom>
          <a:noFill/>
        </p:spPr>
        <p:txBody>
          <a:bodyPr wrap="square" lIns="18288" rIns="18288" anchor="ctr">
            <a:spAutoFit/>
          </a:bodyPr>
          <a:lstStyle/>
          <a:p>
            <a:pPr algn="ctr"/>
            <a:r>
              <a:rPr sz="1300" b="1" i="0">
                <a:solidFill>
                  <a:srgbClr val="0F7C74"/>
                </a:solidFill>
                <a:latin typeface="Segoe UI Semibold"/>
              </a:rPr>
              <a:t>1</a:t>
            </a:r>
          </a:p>
        </p:txBody>
      </p:sp>
      <p:sp>
        <p:nvSpPr>
          <p:cNvPr id="29" name="TextBox 28"/>
          <p:cNvSpPr txBox="1"/>
          <p:nvPr/>
        </p:nvSpPr>
        <p:spPr>
          <a:xfrm>
            <a:off x="1463039" y="2011680"/>
            <a:ext cx="4312767" cy="615695"/>
          </a:xfrm>
          <a:prstGeom prst="rect">
            <a:avLst/>
          </a:prstGeom>
          <a:noFill/>
        </p:spPr>
        <p:txBody>
          <a:bodyPr wrap="square" anchor="ctr">
            <a:spAutoFit/>
          </a:bodyPr>
          <a:lstStyle/>
          <a:p>
            <a:r>
              <a:rPr sz="1600" b="0" i="0">
                <a:solidFill>
                  <a:srgbClr val="14213D"/>
                </a:solidFill>
                <a:latin typeface="Segoe UI"/>
              </a:rPr>
              <a:t>128×128 (CNN) / 224×224 (ViT)</a:t>
            </a:r>
          </a:p>
        </p:txBody>
      </p:sp>
      <p:sp>
        <p:nvSpPr>
          <p:cNvPr id="30" name="Rounded Rectangle 29"/>
          <p:cNvSpPr/>
          <p:nvPr/>
        </p:nvSpPr>
        <p:spPr>
          <a:xfrm>
            <a:off x="640080" y="2755392"/>
            <a:ext cx="5318607" cy="615695"/>
          </a:xfrm>
          <a:prstGeom prst="roundRect">
            <a:avLst>
              <a:gd name="adj" fmla="val 17821"/>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Oval 30"/>
          <p:cNvSpPr/>
          <p:nvPr/>
        </p:nvSpPr>
        <p:spPr>
          <a:xfrm>
            <a:off x="841247" y="2852928"/>
            <a:ext cx="420624" cy="420624"/>
          </a:xfrm>
          <a:prstGeom prst="ellipse">
            <a:avLst/>
          </a:prstGeom>
          <a:solidFill>
            <a:srgbClr val="E2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841247" y="2852928"/>
            <a:ext cx="420624" cy="420624"/>
          </a:xfrm>
          <a:prstGeom prst="rect">
            <a:avLst/>
          </a:prstGeom>
          <a:noFill/>
        </p:spPr>
        <p:txBody>
          <a:bodyPr wrap="square" lIns="18288" rIns="18288" anchor="ctr">
            <a:spAutoFit/>
          </a:bodyPr>
          <a:lstStyle/>
          <a:p>
            <a:pPr algn="ctr"/>
            <a:r>
              <a:rPr sz="1300" b="1" i="0">
                <a:solidFill>
                  <a:srgbClr val="0F7C74"/>
                </a:solidFill>
                <a:latin typeface="Segoe UI Semibold"/>
              </a:rPr>
              <a:t>2</a:t>
            </a:r>
          </a:p>
        </p:txBody>
      </p:sp>
      <p:sp>
        <p:nvSpPr>
          <p:cNvPr id="33" name="TextBox 32"/>
          <p:cNvSpPr txBox="1"/>
          <p:nvPr/>
        </p:nvSpPr>
        <p:spPr>
          <a:xfrm>
            <a:off x="1463039" y="2755392"/>
            <a:ext cx="4312767" cy="615695"/>
          </a:xfrm>
          <a:prstGeom prst="rect">
            <a:avLst/>
          </a:prstGeom>
          <a:noFill/>
        </p:spPr>
        <p:txBody>
          <a:bodyPr wrap="square" anchor="ctr">
            <a:spAutoFit/>
          </a:bodyPr>
          <a:lstStyle/>
          <a:p>
            <a:r>
              <a:rPr sz="1600" b="0" i="0">
                <a:solidFill>
                  <a:srgbClr val="14213D"/>
                </a:solidFill>
                <a:latin typeface="Segoe UI"/>
              </a:rPr>
              <a:t>Crop / affine / colour-jitter augmentation</a:t>
            </a:r>
          </a:p>
        </p:txBody>
      </p:sp>
      <p:sp>
        <p:nvSpPr>
          <p:cNvPr id="34" name="Rounded Rectangle 33"/>
          <p:cNvSpPr/>
          <p:nvPr/>
        </p:nvSpPr>
        <p:spPr>
          <a:xfrm>
            <a:off x="640080" y="3499104"/>
            <a:ext cx="5318607" cy="615695"/>
          </a:xfrm>
          <a:prstGeom prst="roundRect">
            <a:avLst>
              <a:gd name="adj" fmla="val 17821"/>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Oval 34"/>
          <p:cNvSpPr/>
          <p:nvPr/>
        </p:nvSpPr>
        <p:spPr>
          <a:xfrm>
            <a:off x="841247" y="3596640"/>
            <a:ext cx="420624" cy="420624"/>
          </a:xfrm>
          <a:prstGeom prst="ellipse">
            <a:avLst/>
          </a:prstGeom>
          <a:solidFill>
            <a:srgbClr val="E2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TextBox 35"/>
          <p:cNvSpPr txBox="1"/>
          <p:nvPr/>
        </p:nvSpPr>
        <p:spPr>
          <a:xfrm>
            <a:off x="841247" y="3596640"/>
            <a:ext cx="420624" cy="420624"/>
          </a:xfrm>
          <a:prstGeom prst="rect">
            <a:avLst/>
          </a:prstGeom>
          <a:noFill/>
        </p:spPr>
        <p:txBody>
          <a:bodyPr wrap="square" lIns="18288" rIns="18288" anchor="ctr">
            <a:spAutoFit/>
          </a:bodyPr>
          <a:lstStyle/>
          <a:p>
            <a:pPr algn="ctr"/>
            <a:r>
              <a:rPr sz="1300" b="1" i="0">
                <a:solidFill>
                  <a:srgbClr val="0F7C74"/>
                </a:solidFill>
                <a:latin typeface="Segoe UI Semibold"/>
              </a:rPr>
              <a:t>3</a:t>
            </a:r>
          </a:p>
        </p:txBody>
      </p:sp>
      <p:sp>
        <p:nvSpPr>
          <p:cNvPr id="37" name="TextBox 36"/>
          <p:cNvSpPr txBox="1"/>
          <p:nvPr/>
        </p:nvSpPr>
        <p:spPr>
          <a:xfrm>
            <a:off x="1463039" y="3499104"/>
            <a:ext cx="4312767" cy="615695"/>
          </a:xfrm>
          <a:prstGeom prst="rect">
            <a:avLst/>
          </a:prstGeom>
          <a:noFill/>
        </p:spPr>
        <p:txBody>
          <a:bodyPr wrap="square" anchor="ctr">
            <a:spAutoFit/>
          </a:bodyPr>
          <a:lstStyle/>
          <a:p>
            <a:r>
              <a:rPr sz="1600" b="0" i="0">
                <a:solidFill>
                  <a:srgbClr val="14213D"/>
                </a:solidFill>
                <a:latin typeface="Segoe UI"/>
              </a:rPr>
              <a:t>40 epochs · batch 32 · Adam · StepLR</a:t>
            </a:r>
          </a:p>
        </p:txBody>
      </p:sp>
      <p:sp>
        <p:nvSpPr>
          <p:cNvPr id="38" name="Rounded Rectangle 37"/>
          <p:cNvSpPr/>
          <p:nvPr/>
        </p:nvSpPr>
        <p:spPr>
          <a:xfrm>
            <a:off x="6233007" y="2011680"/>
            <a:ext cx="5318607" cy="615695"/>
          </a:xfrm>
          <a:prstGeom prst="roundRect">
            <a:avLst>
              <a:gd name="adj" fmla="val 17821"/>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Oval 38"/>
          <p:cNvSpPr/>
          <p:nvPr/>
        </p:nvSpPr>
        <p:spPr>
          <a:xfrm>
            <a:off x="6434175" y="2109216"/>
            <a:ext cx="420624" cy="420624"/>
          </a:xfrm>
          <a:prstGeom prst="ellipse">
            <a:avLst/>
          </a:prstGeom>
          <a:solidFill>
            <a:srgbClr val="E2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TextBox 39"/>
          <p:cNvSpPr txBox="1"/>
          <p:nvPr/>
        </p:nvSpPr>
        <p:spPr>
          <a:xfrm>
            <a:off x="6434175" y="2109216"/>
            <a:ext cx="420624" cy="420624"/>
          </a:xfrm>
          <a:prstGeom prst="rect">
            <a:avLst/>
          </a:prstGeom>
          <a:noFill/>
        </p:spPr>
        <p:txBody>
          <a:bodyPr wrap="square" lIns="18288" rIns="18288" anchor="ctr">
            <a:spAutoFit/>
          </a:bodyPr>
          <a:lstStyle/>
          <a:p>
            <a:pPr algn="ctr"/>
            <a:r>
              <a:rPr sz="1300" b="1" i="0">
                <a:solidFill>
                  <a:srgbClr val="0F7C74"/>
                </a:solidFill>
                <a:latin typeface="Segoe UI Semibold"/>
              </a:rPr>
              <a:t>1</a:t>
            </a:r>
          </a:p>
        </p:txBody>
      </p:sp>
      <p:sp>
        <p:nvSpPr>
          <p:cNvPr id="41" name="TextBox 40"/>
          <p:cNvSpPr txBox="1"/>
          <p:nvPr/>
        </p:nvSpPr>
        <p:spPr>
          <a:xfrm>
            <a:off x="7055967" y="2011680"/>
            <a:ext cx="4312767" cy="615695"/>
          </a:xfrm>
          <a:prstGeom prst="rect">
            <a:avLst/>
          </a:prstGeom>
          <a:noFill/>
        </p:spPr>
        <p:txBody>
          <a:bodyPr wrap="square" anchor="ctr">
            <a:spAutoFit/>
          </a:bodyPr>
          <a:lstStyle/>
          <a:p>
            <a:r>
              <a:rPr sz="1600" b="0" i="0">
                <a:solidFill>
                  <a:srgbClr val="14213D"/>
                </a:solidFill>
                <a:latin typeface="Segoe UI"/>
              </a:rPr>
              <a:t>Model selected on </a:t>
            </a:r>
            <a:r>
              <a:rPr sz="1600" b="1" i="0">
                <a:solidFill>
                  <a:srgbClr val="0F7C74"/>
                </a:solidFill>
                <a:latin typeface="Segoe UI"/>
              </a:rPr>
              <a:t>validation</a:t>
            </a:r>
            <a:r>
              <a:rPr sz="1600" b="0" i="0">
                <a:solidFill>
                  <a:srgbClr val="14213D"/>
                </a:solidFill>
                <a:latin typeface="Segoe UI"/>
              </a:rPr>
              <a:t> only</a:t>
            </a:r>
          </a:p>
        </p:txBody>
      </p:sp>
      <p:sp>
        <p:nvSpPr>
          <p:cNvPr id="42" name="Rounded Rectangle 41"/>
          <p:cNvSpPr/>
          <p:nvPr/>
        </p:nvSpPr>
        <p:spPr>
          <a:xfrm>
            <a:off x="6233007" y="2755392"/>
            <a:ext cx="5318607" cy="615695"/>
          </a:xfrm>
          <a:prstGeom prst="roundRect">
            <a:avLst>
              <a:gd name="adj" fmla="val 17821"/>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Oval 42"/>
          <p:cNvSpPr/>
          <p:nvPr/>
        </p:nvSpPr>
        <p:spPr>
          <a:xfrm>
            <a:off x="6434175" y="2852928"/>
            <a:ext cx="420624" cy="420624"/>
          </a:xfrm>
          <a:prstGeom prst="ellipse">
            <a:avLst/>
          </a:prstGeom>
          <a:solidFill>
            <a:srgbClr val="E2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TextBox 43"/>
          <p:cNvSpPr txBox="1"/>
          <p:nvPr/>
        </p:nvSpPr>
        <p:spPr>
          <a:xfrm>
            <a:off x="6434175" y="2852928"/>
            <a:ext cx="420624" cy="420624"/>
          </a:xfrm>
          <a:prstGeom prst="rect">
            <a:avLst/>
          </a:prstGeom>
          <a:noFill/>
        </p:spPr>
        <p:txBody>
          <a:bodyPr wrap="square" lIns="18288" rIns="18288" anchor="ctr">
            <a:spAutoFit/>
          </a:bodyPr>
          <a:lstStyle/>
          <a:p>
            <a:pPr algn="ctr"/>
            <a:r>
              <a:rPr sz="1300" b="1" i="0">
                <a:solidFill>
                  <a:srgbClr val="0F7C74"/>
                </a:solidFill>
                <a:latin typeface="Segoe UI Semibold"/>
              </a:rPr>
              <a:t>2</a:t>
            </a:r>
          </a:p>
        </p:txBody>
      </p:sp>
      <p:sp>
        <p:nvSpPr>
          <p:cNvPr id="45" name="TextBox 44"/>
          <p:cNvSpPr txBox="1"/>
          <p:nvPr/>
        </p:nvSpPr>
        <p:spPr>
          <a:xfrm>
            <a:off x="7055967" y="2755392"/>
            <a:ext cx="4312767" cy="615695"/>
          </a:xfrm>
          <a:prstGeom prst="rect">
            <a:avLst/>
          </a:prstGeom>
          <a:noFill/>
        </p:spPr>
        <p:txBody>
          <a:bodyPr wrap="square" anchor="ctr">
            <a:spAutoFit/>
          </a:bodyPr>
          <a:lstStyle/>
          <a:p>
            <a:r>
              <a:rPr sz="1600" b="0" i="0">
                <a:solidFill>
                  <a:srgbClr val="14213D"/>
                </a:solidFill>
                <a:latin typeface="Segoe UI"/>
              </a:rPr>
              <a:t>Test set touched </a:t>
            </a:r>
            <a:r>
              <a:rPr sz="1600" b="1" i="0">
                <a:solidFill>
                  <a:srgbClr val="0F7C74"/>
                </a:solidFill>
                <a:latin typeface="Segoe UI"/>
              </a:rPr>
              <a:t>once</a:t>
            </a:r>
            <a:r>
              <a:rPr sz="1600" b="0" i="0">
                <a:solidFill>
                  <a:srgbClr val="14213D"/>
                </a:solidFill>
                <a:latin typeface="Segoe UI"/>
              </a:rPr>
              <a:t> per run</a:t>
            </a:r>
          </a:p>
        </p:txBody>
      </p:sp>
      <p:sp>
        <p:nvSpPr>
          <p:cNvPr id="46" name="Rounded Rectangle 45"/>
          <p:cNvSpPr/>
          <p:nvPr/>
        </p:nvSpPr>
        <p:spPr>
          <a:xfrm>
            <a:off x="6233007" y="3499104"/>
            <a:ext cx="5318607" cy="615695"/>
          </a:xfrm>
          <a:prstGeom prst="roundRect">
            <a:avLst>
              <a:gd name="adj" fmla="val 17821"/>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Oval 46"/>
          <p:cNvSpPr/>
          <p:nvPr/>
        </p:nvSpPr>
        <p:spPr>
          <a:xfrm>
            <a:off x="6434175" y="3596640"/>
            <a:ext cx="420624" cy="420624"/>
          </a:xfrm>
          <a:prstGeom prst="ellipse">
            <a:avLst/>
          </a:prstGeom>
          <a:solidFill>
            <a:srgbClr val="E2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TextBox 47"/>
          <p:cNvSpPr txBox="1"/>
          <p:nvPr/>
        </p:nvSpPr>
        <p:spPr>
          <a:xfrm>
            <a:off x="6434175" y="3596640"/>
            <a:ext cx="420624" cy="420624"/>
          </a:xfrm>
          <a:prstGeom prst="rect">
            <a:avLst/>
          </a:prstGeom>
          <a:noFill/>
        </p:spPr>
        <p:txBody>
          <a:bodyPr wrap="square" lIns="18288" rIns="18288" anchor="ctr">
            <a:spAutoFit/>
          </a:bodyPr>
          <a:lstStyle/>
          <a:p>
            <a:pPr algn="ctr"/>
            <a:r>
              <a:rPr sz="1300" b="1" i="0">
                <a:solidFill>
                  <a:srgbClr val="0F7C74"/>
                </a:solidFill>
                <a:latin typeface="Segoe UI Semibold"/>
              </a:rPr>
              <a:t>3</a:t>
            </a:r>
          </a:p>
        </p:txBody>
      </p:sp>
      <p:sp>
        <p:nvSpPr>
          <p:cNvPr id="49" name="TextBox 48"/>
          <p:cNvSpPr txBox="1"/>
          <p:nvPr/>
        </p:nvSpPr>
        <p:spPr>
          <a:xfrm>
            <a:off x="7055967" y="3499104"/>
            <a:ext cx="4312767" cy="615695"/>
          </a:xfrm>
          <a:prstGeom prst="rect">
            <a:avLst/>
          </a:prstGeom>
          <a:noFill/>
        </p:spPr>
        <p:txBody>
          <a:bodyPr wrap="square" anchor="ctr">
            <a:spAutoFit/>
          </a:bodyPr>
          <a:lstStyle/>
          <a:p>
            <a:r>
              <a:rPr sz="1600" b="0" i="0">
                <a:solidFill>
                  <a:srgbClr val="14213D"/>
                </a:solidFill>
                <a:latin typeface="Segoe UI"/>
              </a:rPr>
              <a:t>Accuracy + </a:t>
            </a:r>
            <a:r>
              <a:rPr sz="1600" b="1" i="0">
                <a:solidFill>
                  <a:srgbClr val="0F7C74"/>
                </a:solidFill>
                <a:latin typeface="Segoe UI"/>
              </a:rPr>
              <a:t>macro-F1</a:t>
            </a:r>
            <a:r>
              <a:rPr sz="1600" b="0" i="0">
                <a:solidFill>
                  <a:srgbClr val="14213D"/>
                </a:solidFill>
                <a:latin typeface="Segoe UI"/>
              </a:rPr>
              <a:t> (imbalance)</a:t>
            </a:r>
          </a:p>
        </p:txBody>
      </p:sp>
      <p:sp>
        <p:nvSpPr>
          <p:cNvPr id="50" name="Rounded Rectangle 49"/>
          <p:cNvSpPr/>
          <p:nvPr/>
        </p:nvSpPr>
        <p:spPr>
          <a:xfrm>
            <a:off x="640080" y="4297680"/>
            <a:ext cx="5318607" cy="1005840"/>
          </a:xfrm>
          <a:prstGeom prst="roundRect">
            <a:avLst>
              <a:gd name="adj" fmla="val 10909"/>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Rectangle 50"/>
          <p:cNvSpPr/>
          <p:nvPr/>
        </p:nvSpPr>
        <p:spPr>
          <a:xfrm>
            <a:off x="640080" y="4498848"/>
            <a:ext cx="64008" cy="603504"/>
          </a:xfrm>
          <a:prstGeom prst="rect">
            <a:avLst/>
          </a:prstGeom>
          <a:solidFill>
            <a:srgbClr val="0F7C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2" name="TextBox 51"/>
          <p:cNvSpPr txBox="1"/>
          <p:nvPr/>
        </p:nvSpPr>
        <p:spPr>
          <a:xfrm>
            <a:off x="896112" y="4370832"/>
            <a:ext cx="4952847" cy="859536"/>
          </a:xfrm>
          <a:prstGeom prst="rect">
            <a:avLst/>
          </a:prstGeom>
          <a:noFill/>
        </p:spPr>
        <p:txBody>
          <a:bodyPr wrap="square" anchor="ctr">
            <a:spAutoFit/>
          </a:bodyPr>
          <a:lstStyle/>
          <a:p>
            <a:r>
              <a:rPr sz="2600" b="1" i="0">
                <a:solidFill>
                  <a:srgbClr val="0F7C74"/>
                </a:solidFill>
                <a:latin typeface="Segoe UI Semibold"/>
              </a:rPr>
              <a:t>Seed 42</a:t>
            </a:r>
          </a:p>
          <a:p>
            <a:r>
              <a:rPr sz="1100" b="0" i="0">
                <a:solidFill>
                  <a:srgbClr val="6B7280"/>
                </a:solidFill>
                <a:latin typeface="Segoe UI"/>
              </a:rPr>
              <a:t>Python · NumPy · PyTorch · cuDNN · DataLoader</a:t>
            </a:r>
          </a:p>
        </p:txBody>
      </p:sp>
      <p:sp>
        <p:nvSpPr>
          <p:cNvPr id="53" name="Rounded Rectangle 52"/>
          <p:cNvSpPr/>
          <p:nvPr/>
        </p:nvSpPr>
        <p:spPr>
          <a:xfrm>
            <a:off x="6233007" y="4297680"/>
            <a:ext cx="5318607" cy="1005840"/>
          </a:xfrm>
          <a:prstGeom prst="roundRect">
            <a:avLst>
              <a:gd name="adj" fmla="val 10909"/>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4" name="Rectangle 53"/>
          <p:cNvSpPr/>
          <p:nvPr/>
        </p:nvSpPr>
        <p:spPr>
          <a:xfrm>
            <a:off x="6233007" y="4498848"/>
            <a:ext cx="64008" cy="603504"/>
          </a:xfrm>
          <a:prstGeom prst="rect">
            <a:avLst/>
          </a:prstGeom>
          <a:solidFill>
            <a:srgbClr val="0F7C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TextBox 54"/>
          <p:cNvSpPr txBox="1"/>
          <p:nvPr/>
        </p:nvSpPr>
        <p:spPr>
          <a:xfrm>
            <a:off x="6489039" y="4370832"/>
            <a:ext cx="4952847" cy="859536"/>
          </a:xfrm>
          <a:prstGeom prst="rect">
            <a:avLst/>
          </a:prstGeom>
          <a:noFill/>
        </p:spPr>
        <p:txBody>
          <a:bodyPr wrap="square" anchor="ctr">
            <a:spAutoFit/>
          </a:bodyPr>
          <a:lstStyle/>
          <a:p>
            <a:r>
              <a:rPr sz="2600" b="1" i="0">
                <a:solidFill>
                  <a:srgbClr val="0F7C74"/>
                </a:solidFill>
                <a:latin typeface="Segoe UI Semibold"/>
              </a:rPr>
              <a:t>Colab T4</a:t>
            </a:r>
          </a:p>
          <a:p>
            <a:r>
              <a:rPr sz="1100" b="0" i="0">
                <a:solidFill>
                  <a:srgbClr val="6B7280"/>
                </a:solidFill>
                <a:latin typeface="Segoe UI"/>
              </a:rPr>
              <a:t>≈ 6–8 minutes per run</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ounded Rectangle 2"/>
          <p:cNvSpPr/>
          <p:nvPr/>
        </p:nvSpPr>
        <p:spPr>
          <a:xfrm>
            <a:off x="640080" y="384048"/>
            <a:ext cx="1719072" cy="292608"/>
          </a:xfrm>
          <a:prstGeom prst="roundRect">
            <a:avLst>
              <a:gd name="adj" fmla="val 50000"/>
            </a:avLst>
          </a:prstGeom>
          <a:solidFill>
            <a:srgbClr val="E2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640080" y="384048"/>
            <a:ext cx="1719072" cy="292608"/>
          </a:xfrm>
          <a:prstGeom prst="rect">
            <a:avLst/>
          </a:prstGeom>
          <a:noFill/>
        </p:spPr>
        <p:txBody>
          <a:bodyPr wrap="square" lIns="18288" rIns="18288" anchor="ctr">
            <a:spAutoFit/>
          </a:bodyPr>
          <a:lstStyle/>
          <a:p>
            <a:pPr algn="ctr"/>
            <a:r>
              <a:rPr sz="1050" b="1" i="0" spc="120">
                <a:solidFill>
                  <a:srgbClr val="0F7C74"/>
                </a:solidFill>
                <a:latin typeface="Segoe UI"/>
              </a:rPr>
              <a:t>03  ·  METHOD</a:t>
            </a:r>
          </a:p>
        </p:txBody>
      </p:sp>
      <p:pic>
        <p:nvPicPr>
          <p:cNvPr id="5" name="Picture 4" descr="kit_logo.png"/>
          <p:cNvPicPr>
            <a:picLocks noChangeAspect="1"/>
          </p:cNvPicPr>
          <p:nvPr/>
        </p:nvPicPr>
        <p:blipFill>
          <a:blip r:embed="rId3"/>
          <a:stretch>
            <a:fillRect/>
          </a:stretch>
        </p:blipFill>
        <p:spPr>
          <a:xfrm>
            <a:off x="10929823" y="320040"/>
            <a:ext cx="621792" cy="621792"/>
          </a:xfrm>
          <a:prstGeom prst="rect">
            <a:avLst/>
          </a:prstGeom>
        </p:spPr>
      </p:pic>
      <p:sp>
        <p:nvSpPr>
          <p:cNvPr id="6" name="TextBox 5"/>
          <p:cNvSpPr txBox="1"/>
          <p:nvPr/>
        </p:nvSpPr>
        <p:spPr>
          <a:xfrm>
            <a:off x="621792" y="731520"/>
            <a:ext cx="9997135" cy="685800"/>
          </a:xfrm>
          <a:prstGeom prst="rect">
            <a:avLst/>
          </a:prstGeom>
          <a:noFill/>
        </p:spPr>
        <p:txBody>
          <a:bodyPr wrap="square" lIns="18288" rIns="18288" anchor="ctr">
            <a:spAutoFit/>
          </a:bodyPr>
          <a:lstStyle/>
          <a:p>
            <a:pPr algn="l"/>
            <a:r>
              <a:rPr sz="3000" b="0" i="0">
                <a:solidFill>
                  <a:srgbClr val="14213D"/>
                </a:solidFill>
                <a:latin typeface="Segoe UI Semibold"/>
              </a:rPr>
              <a:t>The five approaches</a:t>
            </a:r>
          </a:p>
        </p:txBody>
      </p:sp>
      <p:sp>
        <p:nvSpPr>
          <p:cNvPr id="7" name="Rectangle 6"/>
          <p:cNvSpPr/>
          <p:nvPr/>
        </p:nvSpPr>
        <p:spPr>
          <a:xfrm>
            <a:off x="640080" y="6601968"/>
            <a:ext cx="1368073" cy="27432"/>
          </a:xfrm>
          <a:prstGeom prst="rect">
            <a:avLst/>
          </a:prstGeom>
          <a:solidFill>
            <a:srgbClr val="0F7C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640080" y="6336792"/>
            <a:ext cx="1368073" cy="237744"/>
          </a:xfrm>
          <a:prstGeom prst="rect">
            <a:avLst/>
          </a:prstGeom>
          <a:noFill/>
        </p:spPr>
        <p:txBody>
          <a:bodyPr wrap="square" lIns="18288" rIns="18288" anchor="t">
            <a:spAutoFit/>
          </a:bodyPr>
          <a:lstStyle/>
          <a:p>
            <a:pPr algn="l"/>
            <a:r>
              <a:rPr sz="850" b="0" i="0">
                <a:solidFill>
                  <a:srgbClr val="6B7280"/>
                </a:solidFill>
                <a:latin typeface="Segoe UI"/>
              </a:rPr>
              <a:t>Problem</a:t>
            </a:r>
          </a:p>
        </p:txBody>
      </p:sp>
      <p:sp>
        <p:nvSpPr>
          <p:cNvPr id="9" name="Rectangle 8"/>
          <p:cNvSpPr/>
          <p:nvPr/>
        </p:nvSpPr>
        <p:spPr>
          <a:xfrm>
            <a:off x="2081305" y="6601968"/>
            <a:ext cx="1368073" cy="27432"/>
          </a:xfrm>
          <a:prstGeom prst="rect">
            <a:avLst/>
          </a:prstGeom>
          <a:solidFill>
            <a:srgbClr val="0F7C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2081305" y="6336792"/>
            <a:ext cx="1368073" cy="237744"/>
          </a:xfrm>
          <a:prstGeom prst="rect">
            <a:avLst/>
          </a:prstGeom>
          <a:noFill/>
        </p:spPr>
        <p:txBody>
          <a:bodyPr wrap="square" lIns="18288" rIns="18288" anchor="t">
            <a:spAutoFit/>
          </a:bodyPr>
          <a:lstStyle/>
          <a:p>
            <a:pPr algn="l"/>
            <a:r>
              <a:rPr sz="850" b="0" i="0">
                <a:solidFill>
                  <a:srgbClr val="6B7280"/>
                </a:solidFill>
                <a:latin typeface="Segoe UI"/>
              </a:rPr>
              <a:t>Data</a:t>
            </a:r>
          </a:p>
        </p:txBody>
      </p:sp>
      <p:sp>
        <p:nvSpPr>
          <p:cNvPr id="11" name="Rectangle 10"/>
          <p:cNvSpPr/>
          <p:nvPr/>
        </p:nvSpPr>
        <p:spPr>
          <a:xfrm>
            <a:off x="3522530" y="6601968"/>
            <a:ext cx="1368073" cy="45720"/>
          </a:xfrm>
          <a:prstGeom prst="rect">
            <a:avLst/>
          </a:prstGeom>
          <a:solidFill>
            <a:srgbClr val="E09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3522530" y="6336792"/>
            <a:ext cx="1368073" cy="237744"/>
          </a:xfrm>
          <a:prstGeom prst="rect">
            <a:avLst/>
          </a:prstGeom>
          <a:noFill/>
        </p:spPr>
        <p:txBody>
          <a:bodyPr wrap="square" lIns="18288" rIns="18288" anchor="t">
            <a:spAutoFit/>
          </a:bodyPr>
          <a:lstStyle/>
          <a:p>
            <a:pPr algn="l"/>
            <a:r>
              <a:rPr sz="850" b="1" i="0">
                <a:solidFill>
                  <a:srgbClr val="14213D"/>
                </a:solidFill>
                <a:latin typeface="Segoe UI"/>
              </a:rPr>
              <a:t>Method</a:t>
            </a:r>
          </a:p>
        </p:txBody>
      </p:sp>
      <p:sp>
        <p:nvSpPr>
          <p:cNvPr id="13" name="Rectangle 12"/>
          <p:cNvSpPr/>
          <p:nvPr/>
        </p:nvSpPr>
        <p:spPr>
          <a:xfrm>
            <a:off x="4963755" y="6601968"/>
            <a:ext cx="1368073" cy="2743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963755" y="6336792"/>
            <a:ext cx="1368073" cy="237744"/>
          </a:xfrm>
          <a:prstGeom prst="rect">
            <a:avLst/>
          </a:prstGeom>
          <a:noFill/>
        </p:spPr>
        <p:txBody>
          <a:bodyPr wrap="square" lIns="18288" rIns="18288" anchor="t">
            <a:spAutoFit/>
          </a:bodyPr>
          <a:lstStyle/>
          <a:p>
            <a:pPr algn="l"/>
            <a:r>
              <a:rPr sz="850" b="0" i="0">
                <a:solidFill>
                  <a:srgbClr val="6B7280"/>
                </a:solidFill>
                <a:latin typeface="Segoe UI"/>
              </a:rPr>
              <a:t>Results</a:t>
            </a:r>
          </a:p>
        </p:txBody>
      </p:sp>
      <p:sp>
        <p:nvSpPr>
          <p:cNvPr id="15" name="Rectangle 14"/>
          <p:cNvSpPr/>
          <p:nvPr/>
        </p:nvSpPr>
        <p:spPr>
          <a:xfrm>
            <a:off x="6404980" y="6601968"/>
            <a:ext cx="1368073" cy="2743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6404980" y="6336792"/>
            <a:ext cx="1368073" cy="237744"/>
          </a:xfrm>
          <a:prstGeom prst="rect">
            <a:avLst/>
          </a:prstGeom>
          <a:noFill/>
        </p:spPr>
        <p:txBody>
          <a:bodyPr wrap="square" lIns="18288" rIns="18288" anchor="t">
            <a:spAutoFit/>
          </a:bodyPr>
          <a:lstStyle/>
          <a:p>
            <a:pPr algn="l"/>
            <a:r>
              <a:rPr sz="850" b="0" i="0">
                <a:solidFill>
                  <a:srgbClr val="6B7280"/>
                </a:solidFill>
                <a:latin typeface="Segoe UI"/>
              </a:rPr>
              <a:t>Analysis</a:t>
            </a:r>
          </a:p>
        </p:txBody>
      </p:sp>
      <p:sp>
        <p:nvSpPr>
          <p:cNvPr id="17" name="Rectangle 16"/>
          <p:cNvSpPr/>
          <p:nvPr/>
        </p:nvSpPr>
        <p:spPr>
          <a:xfrm>
            <a:off x="7846205" y="6601968"/>
            <a:ext cx="1368073" cy="2743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846205" y="6336792"/>
            <a:ext cx="1368073" cy="237744"/>
          </a:xfrm>
          <a:prstGeom prst="rect">
            <a:avLst/>
          </a:prstGeom>
          <a:noFill/>
        </p:spPr>
        <p:txBody>
          <a:bodyPr wrap="square" lIns="18288" rIns="18288" anchor="t">
            <a:spAutoFit/>
          </a:bodyPr>
          <a:lstStyle/>
          <a:p>
            <a:pPr algn="l"/>
            <a:r>
              <a:rPr sz="850" b="0" i="0">
                <a:solidFill>
                  <a:srgbClr val="6B7280"/>
                </a:solidFill>
                <a:latin typeface="Segoe UI"/>
              </a:rPr>
              <a:t>Honesty</a:t>
            </a:r>
          </a:p>
        </p:txBody>
      </p:sp>
      <p:sp>
        <p:nvSpPr>
          <p:cNvPr id="19" name="Rectangle 18"/>
          <p:cNvSpPr/>
          <p:nvPr/>
        </p:nvSpPr>
        <p:spPr>
          <a:xfrm>
            <a:off x="9287430" y="6601968"/>
            <a:ext cx="1368073" cy="2743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9287430" y="6336792"/>
            <a:ext cx="1368073" cy="237744"/>
          </a:xfrm>
          <a:prstGeom prst="rect">
            <a:avLst/>
          </a:prstGeom>
          <a:noFill/>
        </p:spPr>
        <p:txBody>
          <a:bodyPr wrap="square" lIns="18288" rIns="18288" anchor="t">
            <a:spAutoFit/>
          </a:bodyPr>
          <a:lstStyle/>
          <a:p>
            <a:pPr algn="l"/>
            <a:r>
              <a:rPr sz="850" b="0" i="0">
                <a:solidFill>
                  <a:srgbClr val="6B7280"/>
                </a:solidFill>
                <a:latin typeface="Segoe UI"/>
              </a:rPr>
              <a:t>Conclusion</a:t>
            </a:r>
          </a:p>
        </p:txBody>
      </p:sp>
      <p:sp>
        <p:nvSpPr>
          <p:cNvPr id="21" name="TextBox 20"/>
          <p:cNvSpPr txBox="1"/>
          <p:nvPr/>
        </p:nvSpPr>
        <p:spPr>
          <a:xfrm>
            <a:off x="10820095" y="6373368"/>
            <a:ext cx="731520" cy="274320"/>
          </a:xfrm>
          <a:prstGeom prst="rect">
            <a:avLst/>
          </a:prstGeom>
          <a:noFill/>
        </p:spPr>
        <p:txBody>
          <a:bodyPr wrap="square" lIns="18288" rIns="18288" anchor="t">
            <a:spAutoFit/>
          </a:bodyPr>
          <a:lstStyle/>
          <a:p>
            <a:pPr algn="r"/>
            <a:r>
              <a:rPr sz="1100" b="1" i="0">
                <a:solidFill>
                  <a:srgbClr val="0F7C74"/>
                </a:solidFill>
                <a:latin typeface="Segoe UI Semibold"/>
              </a:rPr>
              <a:t>7</a:t>
            </a:r>
          </a:p>
        </p:txBody>
      </p:sp>
      <p:graphicFrame>
        <p:nvGraphicFramePr>
          <p:cNvPr id="22" name="Table 21"/>
          <p:cNvGraphicFramePr>
            <a:graphicFrameLocks noGrp="1"/>
          </p:cNvGraphicFramePr>
          <p:nvPr/>
        </p:nvGraphicFramePr>
        <p:xfrm>
          <a:off x="640080" y="1600200"/>
          <a:ext cx="10911535" cy="2084832"/>
        </p:xfrm>
        <a:graphic>
          <a:graphicData uri="http://schemas.openxmlformats.org/drawingml/2006/table">
            <a:tbl>
              <a:tblPr>
                <a:tableStyleId>{5C22544A-7EE6-4342-B048-85BDC9FD1C3A}</a:tableStyleId>
              </a:tblPr>
              <a:tblGrid>
                <a:gridCol w="777240">
                  <a:extLst>
                    <a:ext uri="{9D8B030D-6E8A-4147-A177-3AD203B41FA5}">
                      <a16:colId xmlns:a16="http://schemas.microsoft.com/office/drawing/2014/main" val="20000"/>
                    </a:ext>
                  </a:extLst>
                </a:gridCol>
                <a:gridCol w="2514600">
                  <a:extLst>
                    <a:ext uri="{9D8B030D-6E8A-4147-A177-3AD203B41FA5}">
                      <a16:colId xmlns:a16="http://schemas.microsoft.com/office/drawing/2014/main" val="20001"/>
                    </a:ext>
                  </a:extLst>
                </a:gridCol>
                <a:gridCol w="2240280">
                  <a:extLst>
                    <a:ext uri="{9D8B030D-6E8A-4147-A177-3AD203B41FA5}">
                      <a16:colId xmlns:a16="http://schemas.microsoft.com/office/drawing/2014/main" val="20002"/>
                    </a:ext>
                  </a:extLst>
                </a:gridCol>
                <a:gridCol w="3703320">
                  <a:extLst>
                    <a:ext uri="{9D8B030D-6E8A-4147-A177-3AD203B41FA5}">
                      <a16:colId xmlns:a16="http://schemas.microsoft.com/office/drawing/2014/main" val="20003"/>
                    </a:ext>
                  </a:extLst>
                </a:gridCol>
                <a:gridCol w="1676095">
                  <a:extLst>
                    <a:ext uri="{9D8B030D-6E8A-4147-A177-3AD203B41FA5}">
                      <a16:colId xmlns:a16="http://schemas.microsoft.com/office/drawing/2014/main" val="20004"/>
                    </a:ext>
                  </a:extLst>
                </a:gridCol>
              </a:tblGrid>
              <a:tr h="347472">
                <a:tc>
                  <a:txBody>
                    <a:bodyPr/>
                    <a:lstStyle/>
                    <a:p>
                      <a:endParaRPr/>
                    </a:p>
                  </a:txBody>
                  <a:tcPr marL="127000" marR="127000" marT="25400" marB="25400" anchor="ctr">
                    <a:solidFill>
                      <a:srgbClr val="14213D"/>
                    </a:solidFill>
                  </a:tcPr>
                </a:tc>
                <a:tc>
                  <a:txBody>
                    <a:bodyPr/>
                    <a:lstStyle/>
                    <a:p>
                      <a:r>
                        <a:rPr sz="1044" b="1" i="0" spc="80">
                          <a:solidFill>
                            <a:srgbClr val="FFFFFF"/>
                          </a:solidFill>
                          <a:latin typeface="Segoe UI"/>
                        </a:rPr>
                        <a:t>ARCHITECTURE</a:t>
                      </a:r>
                    </a:p>
                  </a:txBody>
                  <a:tcPr marL="127000" marR="127000" marT="25400" marB="25400" anchor="ctr">
                    <a:solidFill>
                      <a:srgbClr val="14213D"/>
                    </a:solidFill>
                  </a:tcPr>
                </a:tc>
                <a:tc>
                  <a:txBody>
                    <a:bodyPr/>
                    <a:lstStyle/>
                    <a:p>
                      <a:r>
                        <a:rPr sz="1044" b="1" i="0" spc="80">
                          <a:solidFill>
                            <a:srgbClr val="FFFFFF"/>
                          </a:solidFill>
                          <a:latin typeface="Segoe UI"/>
                        </a:rPr>
                        <a:t>INITIAL WEIGHTS</a:t>
                      </a:r>
                    </a:p>
                  </a:txBody>
                  <a:tcPr marL="127000" marR="127000" marT="25400" marB="25400" anchor="ctr">
                    <a:solidFill>
                      <a:srgbClr val="14213D"/>
                    </a:solidFill>
                  </a:tcPr>
                </a:tc>
                <a:tc>
                  <a:txBody>
                    <a:bodyPr/>
                    <a:lstStyle/>
                    <a:p>
                      <a:r>
                        <a:rPr sz="1044" b="1" i="0" spc="80">
                          <a:solidFill>
                            <a:srgbClr val="FFFFFF"/>
                          </a:solidFill>
                          <a:latin typeface="Segoe UI"/>
                        </a:rPr>
                        <a:t>TRAINING STRATEGY</a:t>
                      </a:r>
                    </a:p>
                  </a:txBody>
                  <a:tcPr marL="127000" marR="127000" marT="25400" marB="25400" anchor="ctr">
                    <a:solidFill>
                      <a:srgbClr val="14213D"/>
                    </a:solidFill>
                  </a:tcPr>
                </a:tc>
                <a:tc>
                  <a:txBody>
                    <a:bodyPr/>
                    <a:lstStyle/>
                    <a:p>
                      <a:r>
                        <a:rPr sz="1044" b="1" i="0" spc="80">
                          <a:solidFill>
                            <a:srgbClr val="FFFFFF"/>
                          </a:solidFill>
                          <a:latin typeface="Segoe UI"/>
                        </a:rPr>
                        <a:t>PARAMETERS</a:t>
                      </a:r>
                    </a:p>
                  </a:txBody>
                  <a:tcPr marL="127000" marR="127000" marT="25400" marB="25400" anchor="ctr">
                    <a:solidFill>
                      <a:srgbClr val="14213D"/>
                    </a:solidFill>
                  </a:tcPr>
                </a:tc>
                <a:extLst>
                  <a:ext uri="{0D108BD9-81ED-4DB2-BD59-A6C34878D82A}">
                    <a16:rowId xmlns:a16="http://schemas.microsoft.com/office/drawing/2014/main" val="10000"/>
                  </a:ext>
                </a:extLst>
              </a:tr>
              <a:tr h="347472">
                <a:tc>
                  <a:txBody>
                    <a:bodyPr/>
                    <a:lstStyle/>
                    <a:p>
                      <a:r>
                        <a:rPr sz="1450" b="1" i="0">
                          <a:solidFill>
                            <a:srgbClr val="0F7C74"/>
                          </a:solidFill>
                          <a:latin typeface="Segoe UI Semibold"/>
                        </a:rPr>
                        <a:t>A</a:t>
                      </a:r>
                    </a:p>
                  </a:txBody>
                  <a:tcPr marL="127000" marR="127000" marT="25400" marB="25400" anchor="ctr">
                    <a:solidFill>
                      <a:srgbClr val="FFFFFF"/>
                    </a:solidFill>
                  </a:tcPr>
                </a:tc>
                <a:tc>
                  <a:txBody>
                    <a:bodyPr/>
                    <a:lstStyle/>
                    <a:p>
                      <a:r>
                        <a:rPr sz="1450" b="0" i="0">
                          <a:solidFill>
                            <a:srgbClr val="14213D"/>
                          </a:solidFill>
                          <a:latin typeface="Segoe UI"/>
                        </a:rPr>
                        <a:t>ResNet18</a:t>
                      </a:r>
                    </a:p>
                  </a:txBody>
                  <a:tcPr marL="127000" marR="127000" marT="25400" marB="25400" anchor="ctr">
                    <a:solidFill>
                      <a:srgbClr val="FFFFFF"/>
                    </a:solidFill>
                  </a:tcPr>
                </a:tc>
                <a:tc>
                  <a:txBody>
                    <a:bodyPr/>
                    <a:lstStyle/>
                    <a:p>
                      <a:r>
                        <a:rPr sz="1450" b="0" i="0">
                          <a:solidFill>
                            <a:srgbClr val="14213D"/>
                          </a:solidFill>
                          <a:latin typeface="Segoe UI"/>
                        </a:rPr>
                        <a:t>Random (scratch)</a:t>
                      </a:r>
                    </a:p>
                  </a:txBody>
                  <a:tcPr marL="127000" marR="127000" marT="25400" marB="25400" anchor="ctr">
                    <a:solidFill>
                      <a:srgbClr val="FFFFFF"/>
                    </a:solidFill>
                  </a:tcPr>
                </a:tc>
                <a:tc>
                  <a:txBody>
                    <a:bodyPr/>
                    <a:lstStyle/>
                    <a:p>
                      <a:r>
                        <a:rPr sz="1450" b="0" i="0">
                          <a:solidFill>
                            <a:srgbClr val="14213D"/>
                          </a:solidFill>
                          <a:latin typeface="Segoe UI"/>
                        </a:rPr>
                        <a:t>All layers trainable</a:t>
                      </a:r>
                    </a:p>
                  </a:txBody>
                  <a:tcPr marL="127000" marR="127000" marT="25400" marB="25400" anchor="ctr">
                    <a:solidFill>
                      <a:srgbClr val="FFFFFF"/>
                    </a:solidFill>
                  </a:tcPr>
                </a:tc>
                <a:tc>
                  <a:txBody>
                    <a:bodyPr/>
                    <a:lstStyle/>
                    <a:p>
                      <a:r>
                        <a:rPr sz="1450" b="0" i="0">
                          <a:solidFill>
                            <a:srgbClr val="14213D"/>
                          </a:solidFill>
                          <a:latin typeface="Segoe UI"/>
                        </a:rPr>
                        <a:t>11.2 M</a:t>
                      </a:r>
                    </a:p>
                  </a:txBody>
                  <a:tcPr marL="127000" marR="127000" marT="25400" marB="25400" anchor="ctr">
                    <a:solidFill>
                      <a:srgbClr val="FFFFFF"/>
                    </a:solidFill>
                  </a:tcPr>
                </a:tc>
                <a:extLst>
                  <a:ext uri="{0D108BD9-81ED-4DB2-BD59-A6C34878D82A}">
                    <a16:rowId xmlns:a16="http://schemas.microsoft.com/office/drawing/2014/main" val="10001"/>
                  </a:ext>
                </a:extLst>
              </a:tr>
              <a:tr h="347472">
                <a:tc>
                  <a:txBody>
                    <a:bodyPr/>
                    <a:lstStyle/>
                    <a:p>
                      <a:r>
                        <a:rPr sz="1450" b="1" i="0">
                          <a:solidFill>
                            <a:srgbClr val="0F7C74"/>
                          </a:solidFill>
                          <a:latin typeface="Segoe UI Semibold"/>
                        </a:rPr>
                        <a:t>B</a:t>
                      </a:r>
                    </a:p>
                  </a:txBody>
                  <a:tcPr marL="127000" marR="127000" marT="25400" marB="25400" anchor="ctr">
                    <a:solidFill>
                      <a:srgbClr val="F8FAFC"/>
                    </a:solidFill>
                  </a:tcPr>
                </a:tc>
                <a:tc>
                  <a:txBody>
                    <a:bodyPr/>
                    <a:lstStyle/>
                    <a:p>
                      <a:r>
                        <a:rPr sz="1450" b="0" i="0">
                          <a:solidFill>
                            <a:srgbClr val="14213D"/>
                          </a:solidFill>
                          <a:latin typeface="Segoe UI"/>
                        </a:rPr>
                        <a:t>ResNet18</a:t>
                      </a:r>
                    </a:p>
                  </a:txBody>
                  <a:tcPr marL="127000" marR="127000" marT="25400" marB="25400" anchor="ctr">
                    <a:solidFill>
                      <a:srgbClr val="F8FAFC"/>
                    </a:solidFill>
                  </a:tcPr>
                </a:tc>
                <a:tc>
                  <a:txBody>
                    <a:bodyPr/>
                    <a:lstStyle/>
                    <a:p>
                      <a:r>
                        <a:rPr sz="1450" b="0" i="0">
                          <a:solidFill>
                            <a:srgbClr val="14213D"/>
                          </a:solidFill>
                          <a:latin typeface="Segoe UI"/>
                        </a:rPr>
                        <a:t>ImageNet pre-trained</a:t>
                      </a:r>
                    </a:p>
                  </a:txBody>
                  <a:tcPr marL="127000" marR="127000" marT="25400" marB="25400" anchor="ctr">
                    <a:solidFill>
                      <a:srgbClr val="F8FAFC"/>
                    </a:solidFill>
                  </a:tcPr>
                </a:tc>
                <a:tc>
                  <a:txBody>
                    <a:bodyPr/>
                    <a:lstStyle/>
                    <a:p>
                      <a:r>
                        <a:rPr sz="1450" b="0" i="0">
                          <a:solidFill>
                            <a:srgbClr val="14213D"/>
                          </a:solidFill>
                          <a:latin typeface="Segoe UI"/>
                        </a:rPr>
                        <a:t>Final FC only (backbone frozen)</a:t>
                      </a:r>
                    </a:p>
                  </a:txBody>
                  <a:tcPr marL="127000" marR="127000" marT="25400" marB="25400" anchor="ctr">
                    <a:solidFill>
                      <a:srgbClr val="F8FAFC"/>
                    </a:solidFill>
                  </a:tcPr>
                </a:tc>
                <a:tc>
                  <a:txBody>
                    <a:bodyPr/>
                    <a:lstStyle/>
                    <a:p>
                      <a:r>
                        <a:rPr sz="1450" b="0" i="0">
                          <a:solidFill>
                            <a:srgbClr val="14213D"/>
                          </a:solidFill>
                          <a:latin typeface="Segoe UI"/>
                        </a:rPr>
                        <a:t>13 k (0.12 %)</a:t>
                      </a:r>
                    </a:p>
                  </a:txBody>
                  <a:tcPr marL="127000" marR="127000" marT="25400" marB="25400" anchor="ctr">
                    <a:solidFill>
                      <a:srgbClr val="F8FAFC"/>
                    </a:solidFill>
                  </a:tcPr>
                </a:tc>
                <a:extLst>
                  <a:ext uri="{0D108BD9-81ED-4DB2-BD59-A6C34878D82A}">
                    <a16:rowId xmlns:a16="http://schemas.microsoft.com/office/drawing/2014/main" val="10002"/>
                  </a:ext>
                </a:extLst>
              </a:tr>
              <a:tr h="347472">
                <a:tc>
                  <a:txBody>
                    <a:bodyPr/>
                    <a:lstStyle/>
                    <a:p>
                      <a:r>
                        <a:rPr sz="1450" b="1" i="0">
                          <a:solidFill>
                            <a:srgbClr val="0F7C74"/>
                          </a:solidFill>
                          <a:latin typeface="Segoe UI Semibold"/>
                        </a:rPr>
                        <a:t>C</a:t>
                      </a:r>
                    </a:p>
                  </a:txBody>
                  <a:tcPr marL="127000" marR="127000" marT="25400" marB="25400" anchor="ctr">
                    <a:solidFill>
                      <a:srgbClr val="FFFFFF"/>
                    </a:solidFill>
                  </a:tcPr>
                </a:tc>
                <a:tc>
                  <a:txBody>
                    <a:bodyPr/>
                    <a:lstStyle/>
                    <a:p>
                      <a:r>
                        <a:rPr sz="1450" b="0" i="0">
                          <a:solidFill>
                            <a:srgbClr val="14213D"/>
                          </a:solidFill>
                          <a:latin typeface="Segoe UI"/>
                        </a:rPr>
                        <a:t>ResNet18</a:t>
                      </a:r>
                    </a:p>
                  </a:txBody>
                  <a:tcPr marL="127000" marR="127000" marT="25400" marB="25400" anchor="ctr">
                    <a:solidFill>
                      <a:srgbClr val="FFFFFF"/>
                    </a:solidFill>
                  </a:tcPr>
                </a:tc>
                <a:tc>
                  <a:txBody>
                    <a:bodyPr/>
                    <a:lstStyle/>
                    <a:p>
                      <a:r>
                        <a:rPr sz="1450" b="0" i="0">
                          <a:solidFill>
                            <a:srgbClr val="14213D"/>
                          </a:solidFill>
                          <a:latin typeface="Segoe UI"/>
                        </a:rPr>
                        <a:t>ImageNet pre-trained</a:t>
                      </a:r>
                    </a:p>
                  </a:txBody>
                  <a:tcPr marL="127000" marR="127000" marT="25400" marB="25400" anchor="ctr">
                    <a:solidFill>
                      <a:srgbClr val="FFFFFF"/>
                    </a:solidFill>
                  </a:tcPr>
                </a:tc>
                <a:tc>
                  <a:txBody>
                    <a:bodyPr/>
                    <a:lstStyle/>
                    <a:p>
                      <a:r>
                        <a:rPr sz="1450" b="0" i="0">
                          <a:solidFill>
                            <a:srgbClr val="14213D"/>
                          </a:solidFill>
                          <a:latin typeface="Segoe UI"/>
                        </a:rPr>
                        <a:t>Full fine-tuning (low learning rate)</a:t>
                      </a:r>
                    </a:p>
                  </a:txBody>
                  <a:tcPr marL="127000" marR="127000" marT="25400" marB="25400" anchor="ctr">
                    <a:solidFill>
                      <a:srgbClr val="FFFFFF"/>
                    </a:solidFill>
                  </a:tcPr>
                </a:tc>
                <a:tc>
                  <a:txBody>
                    <a:bodyPr/>
                    <a:lstStyle/>
                    <a:p>
                      <a:r>
                        <a:rPr sz="1450" b="0" i="0">
                          <a:solidFill>
                            <a:srgbClr val="14213D"/>
                          </a:solidFill>
                          <a:latin typeface="Segoe UI"/>
                        </a:rPr>
                        <a:t>11.2 M</a:t>
                      </a:r>
                    </a:p>
                  </a:txBody>
                  <a:tcPr marL="127000" marR="127000" marT="25400" marB="25400" anchor="ctr">
                    <a:solidFill>
                      <a:srgbClr val="FFFFFF"/>
                    </a:solidFill>
                  </a:tcPr>
                </a:tc>
                <a:extLst>
                  <a:ext uri="{0D108BD9-81ED-4DB2-BD59-A6C34878D82A}">
                    <a16:rowId xmlns:a16="http://schemas.microsoft.com/office/drawing/2014/main" val="10003"/>
                  </a:ext>
                </a:extLst>
              </a:tr>
              <a:tr h="347472">
                <a:tc>
                  <a:txBody>
                    <a:bodyPr/>
                    <a:lstStyle/>
                    <a:p>
                      <a:r>
                        <a:rPr sz="1450" b="1" i="0">
                          <a:solidFill>
                            <a:srgbClr val="0F7C74"/>
                          </a:solidFill>
                          <a:latin typeface="Segoe UI Semibold"/>
                        </a:rPr>
                        <a:t>D</a:t>
                      </a:r>
                    </a:p>
                  </a:txBody>
                  <a:tcPr marL="127000" marR="127000" marT="25400" marB="25400" anchor="ctr">
                    <a:solidFill>
                      <a:srgbClr val="F8FAFC"/>
                    </a:solidFill>
                  </a:tcPr>
                </a:tc>
                <a:tc>
                  <a:txBody>
                    <a:bodyPr/>
                    <a:lstStyle/>
                    <a:p>
                      <a:r>
                        <a:rPr sz="1450" b="0" i="0">
                          <a:solidFill>
                            <a:srgbClr val="14213D"/>
                          </a:solidFill>
                          <a:latin typeface="Segoe UI"/>
                        </a:rPr>
                        <a:t>Small 4-block CNN</a:t>
                      </a:r>
                    </a:p>
                  </a:txBody>
                  <a:tcPr marL="127000" marR="127000" marT="25400" marB="25400" anchor="ctr">
                    <a:solidFill>
                      <a:srgbClr val="F8FAFC"/>
                    </a:solidFill>
                  </a:tcPr>
                </a:tc>
                <a:tc>
                  <a:txBody>
                    <a:bodyPr/>
                    <a:lstStyle/>
                    <a:p>
                      <a:r>
                        <a:rPr sz="1450" b="0" i="0">
                          <a:solidFill>
                            <a:srgbClr val="14213D"/>
                          </a:solidFill>
                          <a:latin typeface="Segoe UI"/>
                        </a:rPr>
                        <a:t>Random (scratch)</a:t>
                      </a:r>
                    </a:p>
                  </a:txBody>
                  <a:tcPr marL="127000" marR="127000" marT="25400" marB="25400" anchor="ctr">
                    <a:solidFill>
                      <a:srgbClr val="F8FAFC"/>
                    </a:solidFill>
                  </a:tcPr>
                </a:tc>
                <a:tc>
                  <a:txBody>
                    <a:bodyPr/>
                    <a:lstStyle/>
                    <a:p>
                      <a:r>
                        <a:rPr sz="1450" b="0" i="0">
                          <a:solidFill>
                            <a:srgbClr val="14213D"/>
                          </a:solidFill>
                          <a:latin typeface="Segoe UI"/>
                        </a:rPr>
                        <a:t>All layers trainable</a:t>
                      </a:r>
                    </a:p>
                  </a:txBody>
                  <a:tcPr marL="127000" marR="127000" marT="25400" marB="25400" anchor="ctr">
                    <a:solidFill>
                      <a:srgbClr val="F8FAFC"/>
                    </a:solidFill>
                  </a:tcPr>
                </a:tc>
                <a:tc>
                  <a:txBody>
                    <a:bodyPr/>
                    <a:lstStyle/>
                    <a:p>
                      <a:r>
                        <a:rPr sz="1450" b="0" i="0">
                          <a:solidFill>
                            <a:srgbClr val="14213D"/>
                          </a:solidFill>
                          <a:latin typeface="Segoe UI"/>
                        </a:rPr>
                        <a:t>0.4 M</a:t>
                      </a:r>
                    </a:p>
                  </a:txBody>
                  <a:tcPr marL="127000" marR="127000" marT="25400" marB="25400" anchor="ctr">
                    <a:solidFill>
                      <a:srgbClr val="F8FAFC"/>
                    </a:solidFill>
                  </a:tcPr>
                </a:tc>
                <a:extLst>
                  <a:ext uri="{0D108BD9-81ED-4DB2-BD59-A6C34878D82A}">
                    <a16:rowId xmlns:a16="http://schemas.microsoft.com/office/drawing/2014/main" val="10004"/>
                  </a:ext>
                </a:extLst>
              </a:tr>
              <a:tr h="347472">
                <a:tc>
                  <a:txBody>
                    <a:bodyPr/>
                    <a:lstStyle/>
                    <a:p>
                      <a:r>
                        <a:rPr sz="1450" b="1" i="0">
                          <a:solidFill>
                            <a:srgbClr val="0F7C74"/>
                          </a:solidFill>
                          <a:latin typeface="Segoe UI Semibold"/>
                        </a:rPr>
                        <a:t>E</a:t>
                      </a:r>
                    </a:p>
                  </a:txBody>
                  <a:tcPr marL="127000" marR="127000" marT="25400" marB="25400" anchor="ctr">
                    <a:solidFill>
                      <a:srgbClr val="FFFFFF"/>
                    </a:solidFill>
                  </a:tcPr>
                </a:tc>
                <a:tc>
                  <a:txBody>
                    <a:bodyPr/>
                    <a:lstStyle/>
                    <a:p>
                      <a:r>
                        <a:rPr sz="1450" b="0" i="0">
                          <a:solidFill>
                            <a:srgbClr val="14213D"/>
                          </a:solidFill>
                          <a:latin typeface="Segoe UI"/>
                        </a:rPr>
                        <a:t>ViT-B/16 (Transformer)</a:t>
                      </a:r>
                    </a:p>
                  </a:txBody>
                  <a:tcPr marL="127000" marR="127000" marT="25400" marB="25400" anchor="ctr">
                    <a:solidFill>
                      <a:srgbClr val="FFFFFF"/>
                    </a:solidFill>
                  </a:tcPr>
                </a:tc>
                <a:tc>
                  <a:txBody>
                    <a:bodyPr/>
                    <a:lstStyle/>
                    <a:p>
                      <a:r>
                        <a:rPr sz="1450" b="0" i="0">
                          <a:solidFill>
                            <a:srgbClr val="14213D"/>
                          </a:solidFill>
                          <a:latin typeface="Segoe UI"/>
                        </a:rPr>
                        <a:t>ImageNet pre-trained</a:t>
                      </a:r>
                    </a:p>
                  </a:txBody>
                  <a:tcPr marL="127000" marR="127000" marT="25400" marB="25400" anchor="ctr">
                    <a:solidFill>
                      <a:srgbClr val="FFFFFF"/>
                    </a:solidFill>
                  </a:tcPr>
                </a:tc>
                <a:tc>
                  <a:txBody>
                    <a:bodyPr/>
                    <a:lstStyle/>
                    <a:p>
                      <a:r>
                        <a:rPr sz="1450" b="0" i="0">
                          <a:solidFill>
                            <a:srgbClr val="14213D"/>
                          </a:solidFill>
                          <a:latin typeface="Segoe UI"/>
                        </a:rPr>
                        <a:t>Full fine-tuning (196 patches)</a:t>
                      </a:r>
                    </a:p>
                  </a:txBody>
                  <a:tcPr marL="127000" marR="127000" marT="25400" marB="25400" anchor="ctr">
                    <a:solidFill>
                      <a:srgbClr val="FFFFFF"/>
                    </a:solidFill>
                  </a:tcPr>
                </a:tc>
                <a:tc>
                  <a:txBody>
                    <a:bodyPr/>
                    <a:lstStyle/>
                    <a:p>
                      <a:r>
                        <a:rPr sz="1450" b="0" i="0">
                          <a:solidFill>
                            <a:srgbClr val="14213D"/>
                          </a:solidFill>
                          <a:latin typeface="Segoe UI"/>
                        </a:rPr>
                        <a:t>85.8 M</a:t>
                      </a:r>
                    </a:p>
                  </a:txBody>
                  <a:tcPr marL="127000" marR="127000" marT="25400" marB="25400" anchor="ctr">
                    <a:solidFill>
                      <a:srgbClr val="FFFFFF"/>
                    </a:solidFill>
                  </a:tcPr>
                </a:tc>
                <a:extLst>
                  <a:ext uri="{0D108BD9-81ED-4DB2-BD59-A6C34878D82A}">
                    <a16:rowId xmlns:a16="http://schemas.microsoft.com/office/drawing/2014/main" val="10005"/>
                  </a:ext>
                </a:extLst>
              </a:tr>
            </a:tbl>
          </a:graphicData>
        </a:graphic>
      </p:graphicFrame>
      <p:sp>
        <p:nvSpPr>
          <p:cNvPr id="23" name="Rounded Rectangle 22"/>
          <p:cNvSpPr/>
          <p:nvPr/>
        </p:nvSpPr>
        <p:spPr>
          <a:xfrm>
            <a:off x="640080" y="3931920"/>
            <a:ext cx="2577007" cy="2176272"/>
          </a:xfrm>
          <a:prstGeom prst="roundRect">
            <a:avLst>
              <a:gd name="adj" fmla="val 5042"/>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Rectangle 23"/>
          <p:cNvSpPr/>
          <p:nvPr/>
        </p:nvSpPr>
        <p:spPr>
          <a:xfrm>
            <a:off x="640080" y="3931920"/>
            <a:ext cx="2577007" cy="45720"/>
          </a:xfrm>
          <a:prstGeom prst="rect">
            <a:avLst/>
          </a:prstGeom>
          <a:solidFill>
            <a:srgbClr val="0F7C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822959" y="4078224"/>
            <a:ext cx="2211247" cy="219456"/>
          </a:xfrm>
          <a:prstGeom prst="rect">
            <a:avLst/>
          </a:prstGeom>
          <a:noFill/>
        </p:spPr>
        <p:txBody>
          <a:bodyPr wrap="square" lIns="18288" rIns="18288" anchor="t">
            <a:spAutoFit/>
          </a:bodyPr>
          <a:lstStyle/>
          <a:p>
            <a:pPr algn="l"/>
            <a:r>
              <a:rPr sz="950" b="1" i="0" spc="80">
                <a:solidFill>
                  <a:srgbClr val="0F7C74"/>
                </a:solidFill>
                <a:latin typeface="Segoe UI Semibold"/>
              </a:rPr>
              <a:t>01 · PRE-TRAINING</a:t>
            </a:r>
          </a:p>
        </p:txBody>
      </p:sp>
      <p:sp>
        <p:nvSpPr>
          <p:cNvPr id="26" name="TextBox 25"/>
          <p:cNvSpPr txBox="1"/>
          <p:nvPr/>
        </p:nvSpPr>
        <p:spPr>
          <a:xfrm>
            <a:off x="822959" y="4334256"/>
            <a:ext cx="2211247" cy="438912"/>
          </a:xfrm>
          <a:prstGeom prst="rect">
            <a:avLst/>
          </a:prstGeom>
          <a:noFill/>
        </p:spPr>
        <p:txBody>
          <a:bodyPr wrap="square">
            <a:spAutoFit/>
          </a:bodyPr>
          <a:lstStyle/>
          <a:p>
            <a:r>
              <a:rPr sz="1300" b="1" i="0">
                <a:solidFill>
                  <a:srgbClr val="0F7C74"/>
                </a:solidFill>
                <a:latin typeface="Segoe UI"/>
              </a:rPr>
              <a:t>A</a:t>
            </a:r>
            <a:r>
              <a:rPr sz="1300" b="0" i="0">
                <a:solidFill>
                  <a:srgbClr val="14213D"/>
                </a:solidFill>
                <a:latin typeface="Segoe UI"/>
              </a:rPr>
              <a:t> (scratch)  vs  </a:t>
            </a:r>
            <a:r>
              <a:rPr sz="1300" b="1" i="0">
                <a:solidFill>
                  <a:srgbClr val="0F7C74"/>
                </a:solidFill>
                <a:latin typeface="Segoe UI"/>
              </a:rPr>
              <a:t>C</a:t>
            </a:r>
            <a:r>
              <a:rPr sz="1300" b="0" i="0">
                <a:solidFill>
                  <a:srgbClr val="14213D"/>
                </a:solidFill>
                <a:latin typeface="Segoe UI"/>
              </a:rPr>
              <a:t> (fine-tune)</a:t>
            </a:r>
          </a:p>
        </p:txBody>
      </p:sp>
      <p:sp>
        <p:nvSpPr>
          <p:cNvPr id="27" name="Rectangle 26"/>
          <p:cNvSpPr/>
          <p:nvPr/>
        </p:nvSpPr>
        <p:spPr>
          <a:xfrm>
            <a:off x="822959" y="4828031"/>
            <a:ext cx="2211247"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822959" y="4919472"/>
            <a:ext cx="2211247" cy="1097280"/>
          </a:xfrm>
          <a:prstGeom prst="rect">
            <a:avLst/>
          </a:prstGeom>
          <a:noFill/>
        </p:spPr>
        <p:txBody>
          <a:bodyPr wrap="square">
            <a:spAutoFit/>
          </a:bodyPr>
          <a:lstStyle/>
          <a:p>
            <a:r>
              <a:rPr sz="1200" b="0" i="0">
                <a:solidFill>
                  <a:srgbClr val="6B7280"/>
                </a:solidFill>
                <a:latin typeface="Segoe UI"/>
              </a:rPr>
              <a:t>Does pre-training on natural images help learn low-resource Khmer strokes?</a:t>
            </a:r>
          </a:p>
        </p:txBody>
      </p:sp>
      <p:sp>
        <p:nvSpPr>
          <p:cNvPr id="29" name="Rounded Rectangle 28"/>
          <p:cNvSpPr/>
          <p:nvPr/>
        </p:nvSpPr>
        <p:spPr>
          <a:xfrm>
            <a:off x="3418255" y="3931920"/>
            <a:ext cx="2577007" cy="2176272"/>
          </a:xfrm>
          <a:prstGeom prst="roundRect">
            <a:avLst>
              <a:gd name="adj" fmla="val 5042"/>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Rectangle 29"/>
          <p:cNvSpPr/>
          <p:nvPr/>
        </p:nvSpPr>
        <p:spPr>
          <a:xfrm>
            <a:off x="3418255" y="3931920"/>
            <a:ext cx="2577007" cy="45720"/>
          </a:xfrm>
          <a:prstGeom prst="rect">
            <a:avLst/>
          </a:prstGeom>
          <a:solidFill>
            <a:srgbClr val="E09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Box 30"/>
          <p:cNvSpPr txBox="1"/>
          <p:nvPr/>
        </p:nvSpPr>
        <p:spPr>
          <a:xfrm>
            <a:off x="3601135" y="4078224"/>
            <a:ext cx="2211247" cy="219456"/>
          </a:xfrm>
          <a:prstGeom prst="rect">
            <a:avLst/>
          </a:prstGeom>
          <a:noFill/>
        </p:spPr>
        <p:txBody>
          <a:bodyPr wrap="square" lIns="18288" rIns="18288" anchor="t">
            <a:spAutoFit/>
          </a:bodyPr>
          <a:lstStyle/>
          <a:p>
            <a:pPr algn="l"/>
            <a:r>
              <a:rPr sz="950" b="1" i="0" spc="80">
                <a:solidFill>
                  <a:srgbClr val="E09A1A"/>
                </a:solidFill>
                <a:latin typeface="Segoe UI Semibold"/>
              </a:rPr>
              <a:t>02 · FEATURE TRANSFER</a:t>
            </a:r>
          </a:p>
        </p:txBody>
      </p:sp>
      <p:sp>
        <p:nvSpPr>
          <p:cNvPr id="32" name="TextBox 31"/>
          <p:cNvSpPr txBox="1"/>
          <p:nvPr/>
        </p:nvSpPr>
        <p:spPr>
          <a:xfrm>
            <a:off x="3601135" y="4334256"/>
            <a:ext cx="2211247" cy="438912"/>
          </a:xfrm>
          <a:prstGeom prst="rect">
            <a:avLst/>
          </a:prstGeom>
          <a:noFill/>
        </p:spPr>
        <p:txBody>
          <a:bodyPr wrap="square">
            <a:spAutoFit/>
          </a:bodyPr>
          <a:lstStyle/>
          <a:p>
            <a:r>
              <a:rPr sz="1300" b="1" i="0">
                <a:solidFill>
                  <a:srgbClr val="E09A1A"/>
                </a:solidFill>
                <a:latin typeface="Segoe UI"/>
              </a:rPr>
              <a:t>B</a:t>
            </a:r>
            <a:r>
              <a:rPr sz="1300" b="0" i="0">
                <a:solidFill>
                  <a:srgbClr val="14213D"/>
                </a:solidFill>
                <a:latin typeface="Segoe UI"/>
              </a:rPr>
              <a:t> (frozen)  vs  </a:t>
            </a:r>
            <a:r>
              <a:rPr sz="1300" b="1" i="0">
                <a:solidFill>
                  <a:srgbClr val="E09A1A"/>
                </a:solidFill>
                <a:latin typeface="Segoe UI"/>
              </a:rPr>
              <a:t>C</a:t>
            </a:r>
            <a:r>
              <a:rPr sz="1300" b="0" i="0">
                <a:solidFill>
                  <a:srgbClr val="14213D"/>
                </a:solidFill>
                <a:latin typeface="Segoe UI"/>
              </a:rPr>
              <a:t> (fine-tune)</a:t>
            </a:r>
          </a:p>
        </p:txBody>
      </p:sp>
      <p:sp>
        <p:nvSpPr>
          <p:cNvPr id="33" name="Rectangle 32"/>
          <p:cNvSpPr/>
          <p:nvPr/>
        </p:nvSpPr>
        <p:spPr>
          <a:xfrm>
            <a:off x="3601135" y="4828031"/>
            <a:ext cx="2211247"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TextBox 33"/>
          <p:cNvSpPr txBox="1"/>
          <p:nvPr/>
        </p:nvSpPr>
        <p:spPr>
          <a:xfrm>
            <a:off x="3601135" y="4919472"/>
            <a:ext cx="2211247" cy="1097280"/>
          </a:xfrm>
          <a:prstGeom prst="rect">
            <a:avLst/>
          </a:prstGeom>
          <a:noFill/>
        </p:spPr>
        <p:txBody>
          <a:bodyPr wrap="square">
            <a:spAutoFit/>
          </a:bodyPr>
          <a:lstStyle/>
          <a:p>
            <a:r>
              <a:rPr sz="1200" b="0" i="0">
                <a:solidFill>
                  <a:srgbClr val="6B7280"/>
                </a:solidFill>
                <a:latin typeface="Segoe UI"/>
              </a:rPr>
              <a:t>Can off-the-shelf ImageNet representations read script without adaptation?</a:t>
            </a:r>
          </a:p>
        </p:txBody>
      </p:sp>
      <p:sp>
        <p:nvSpPr>
          <p:cNvPr id="35" name="Rounded Rectangle 34"/>
          <p:cNvSpPr/>
          <p:nvPr/>
        </p:nvSpPr>
        <p:spPr>
          <a:xfrm>
            <a:off x="6196431" y="3931920"/>
            <a:ext cx="2577007" cy="2176272"/>
          </a:xfrm>
          <a:prstGeom prst="roundRect">
            <a:avLst>
              <a:gd name="adj" fmla="val 5042"/>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Rectangle 35"/>
          <p:cNvSpPr/>
          <p:nvPr/>
        </p:nvSpPr>
        <p:spPr>
          <a:xfrm>
            <a:off x="6196431" y="3931920"/>
            <a:ext cx="2577007" cy="457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TextBox 36"/>
          <p:cNvSpPr txBox="1"/>
          <p:nvPr/>
        </p:nvSpPr>
        <p:spPr>
          <a:xfrm>
            <a:off x="6379311" y="4078224"/>
            <a:ext cx="2211247" cy="219456"/>
          </a:xfrm>
          <a:prstGeom prst="rect">
            <a:avLst/>
          </a:prstGeom>
          <a:noFill/>
        </p:spPr>
        <p:txBody>
          <a:bodyPr wrap="square" lIns="18288" rIns="18288" anchor="t">
            <a:spAutoFit/>
          </a:bodyPr>
          <a:lstStyle/>
          <a:p>
            <a:pPr algn="l"/>
            <a:r>
              <a:rPr sz="950" b="1" i="0" spc="80">
                <a:solidFill>
                  <a:srgbClr val="C0392B"/>
                </a:solidFill>
                <a:latin typeface="Segoe UI Semibold"/>
              </a:rPr>
              <a:t>03 · MODEL CAPACITY</a:t>
            </a:r>
          </a:p>
        </p:txBody>
      </p:sp>
      <p:sp>
        <p:nvSpPr>
          <p:cNvPr id="38" name="TextBox 37"/>
          <p:cNvSpPr txBox="1"/>
          <p:nvPr/>
        </p:nvSpPr>
        <p:spPr>
          <a:xfrm>
            <a:off x="6379311" y="4334256"/>
            <a:ext cx="2211247" cy="438912"/>
          </a:xfrm>
          <a:prstGeom prst="rect">
            <a:avLst/>
          </a:prstGeom>
          <a:noFill/>
        </p:spPr>
        <p:txBody>
          <a:bodyPr wrap="square">
            <a:spAutoFit/>
          </a:bodyPr>
          <a:lstStyle/>
          <a:p>
            <a:r>
              <a:rPr sz="1300" b="1" i="0">
                <a:solidFill>
                  <a:srgbClr val="C0392B"/>
                </a:solidFill>
                <a:latin typeface="Segoe UI"/>
              </a:rPr>
              <a:t>D</a:t>
            </a:r>
            <a:r>
              <a:rPr sz="1300" b="0" i="0">
                <a:solidFill>
                  <a:srgbClr val="14213D"/>
                </a:solidFill>
                <a:latin typeface="Segoe UI"/>
              </a:rPr>
              <a:t> (0.4M CNN)  vs  </a:t>
            </a:r>
            <a:r>
              <a:rPr sz="1300" b="1" i="0">
                <a:solidFill>
                  <a:srgbClr val="C0392B"/>
                </a:solidFill>
                <a:latin typeface="Segoe UI"/>
              </a:rPr>
              <a:t>A</a:t>
            </a:r>
            <a:r>
              <a:rPr sz="1300" b="0" i="0">
                <a:solidFill>
                  <a:srgbClr val="14213D"/>
                </a:solidFill>
                <a:latin typeface="Segoe UI"/>
              </a:rPr>
              <a:t> (11.2M)</a:t>
            </a:r>
          </a:p>
        </p:txBody>
      </p:sp>
      <p:sp>
        <p:nvSpPr>
          <p:cNvPr id="39" name="Rectangle 38"/>
          <p:cNvSpPr/>
          <p:nvPr/>
        </p:nvSpPr>
        <p:spPr>
          <a:xfrm>
            <a:off x="6379311" y="4828031"/>
            <a:ext cx="2211247"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TextBox 39"/>
          <p:cNvSpPr txBox="1"/>
          <p:nvPr/>
        </p:nvSpPr>
        <p:spPr>
          <a:xfrm>
            <a:off x="6379311" y="4919472"/>
            <a:ext cx="2211247" cy="1097280"/>
          </a:xfrm>
          <a:prstGeom prst="rect">
            <a:avLst/>
          </a:prstGeom>
          <a:noFill/>
        </p:spPr>
        <p:txBody>
          <a:bodyPr wrap="square">
            <a:spAutoFit/>
          </a:bodyPr>
          <a:lstStyle/>
          <a:p>
            <a:r>
              <a:rPr sz="1200" b="0" i="0">
                <a:solidFill>
                  <a:srgbClr val="6B7280"/>
                </a:solidFill>
                <a:latin typeface="Segoe UI"/>
              </a:rPr>
              <a:t>Do we actually need 11M parameters, or does a compact 4-block CNN suffice?</a:t>
            </a:r>
          </a:p>
        </p:txBody>
      </p:sp>
      <p:sp>
        <p:nvSpPr>
          <p:cNvPr id="41" name="Rounded Rectangle 40"/>
          <p:cNvSpPr/>
          <p:nvPr/>
        </p:nvSpPr>
        <p:spPr>
          <a:xfrm>
            <a:off x="8974607" y="3931920"/>
            <a:ext cx="2577007" cy="2176272"/>
          </a:xfrm>
          <a:prstGeom prst="roundRect">
            <a:avLst>
              <a:gd name="adj" fmla="val 5042"/>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Rectangle 41"/>
          <p:cNvSpPr/>
          <p:nvPr/>
        </p:nvSpPr>
        <p:spPr>
          <a:xfrm>
            <a:off x="8974607" y="3931920"/>
            <a:ext cx="2577007" cy="45720"/>
          </a:xfrm>
          <a:prstGeom prst="rect">
            <a:avLst/>
          </a:prstGeom>
          <a:solidFill>
            <a:srgbClr val="2F8F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Box 42"/>
          <p:cNvSpPr txBox="1"/>
          <p:nvPr/>
        </p:nvSpPr>
        <p:spPr>
          <a:xfrm>
            <a:off x="9157487" y="4078224"/>
            <a:ext cx="2211247" cy="219456"/>
          </a:xfrm>
          <a:prstGeom prst="rect">
            <a:avLst/>
          </a:prstGeom>
          <a:noFill/>
        </p:spPr>
        <p:txBody>
          <a:bodyPr wrap="square" lIns="18288" rIns="18288" anchor="t">
            <a:spAutoFit/>
          </a:bodyPr>
          <a:lstStyle/>
          <a:p>
            <a:pPr algn="l"/>
            <a:r>
              <a:rPr sz="950" b="1" i="0" spc="80">
                <a:solidFill>
                  <a:srgbClr val="2F8F4E"/>
                </a:solidFill>
                <a:latin typeface="Segoe UI Semibold"/>
              </a:rPr>
              <a:t>04 · ATTENTION VS CONV</a:t>
            </a:r>
          </a:p>
        </p:txBody>
      </p:sp>
      <p:sp>
        <p:nvSpPr>
          <p:cNvPr id="44" name="TextBox 43"/>
          <p:cNvSpPr txBox="1"/>
          <p:nvPr/>
        </p:nvSpPr>
        <p:spPr>
          <a:xfrm>
            <a:off x="9157487" y="4334256"/>
            <a:ext cx="2211247" cy="438912"/>
          </a:xfrm>
          <a:prstGeom prst="rect">
            <a:avLst/>
          </a:prstGeom>
          <a:noFill/>
        </p:spPr>
        <p:txBody>
          <a:bodyPr wrap="square">
            <a:spAutoFit/>
          </a:bodyPr>
          <a:lstStyle/>
          <a:p>
            <a:r>
              <a:rPr sz="1300" b="1" i="0">
                <a:solidFill>
                  <a:srgbClr val="2F8F4E"/>
                </a:solidFill>
                <a:latin typeface="Segoe UI"/>
              </a:rPr>
              <a:t>E</a:t>
            </a:r>
            <a:r>
              <a:rPr sz="1300" b="0" i="0">
                <a:solidFill>
                  <a:srgbClr val="14213D"/>
                </a:solidFill>
                <a:latin typeface="Segoe UI"/>
              </a:rPr>
              <a:t> (ViT-B/16)  vs  </a:t>
            </a:r>
            <a:r>
              <a:rPr sz="1300" b="1" i="0">
                <a:solidFill>
                  <a:srgbClr val="2F8F4E"/>
                </a:solidFill>
                <a:latin typeface="Segoe UI"/>
              </a:rPr>
              <a:t>C</a:t>
            </a:r>
            <a:r>
              <a:rPr sz="1300" b="0" i="0">
                <a:solidFill>
                  <a:srgbClr val="14213D"/>
                </a:solidFill>
                <a:latin typeface="Segoe UI"/>
              </a:rPr>
              <a:t> (ResNet18)</a:t>
            </a:r>
          </a:p>
        </p:txBody>
      </p:sp>
      <p:sp>
        <p:nvSpPr>
          <p:cNvPr id="45" name="Rectangle 44"/>
          <p:cNvSpPr/>
          <p:nvPr/>
        </p:nvSpPr>
        <p:spPr>
          <a:xfrm>
            <a:off x="9157487" y="4828031"/>
            <a:ext cx="2211247"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Box 45"/>
          <p:cNvSpPr txBox="1"/>
          <p:nvPr/>
        </p:nvSpPr>
        <p:spPr>
          <a:xfrm>
            <a:off x="9157487" y="4919472"/>
            <a:ext cx="2211247" cy="1097280"/>
          </a:xfrm>
          <a:prstGeom prst="rect">
            <a:avLst/>
          </a:prstGeom>
          <a:noFill/>
        </p:spPr>
        <p:txBody>
          <a:bodyPr wrap="square">
            <a:spAutoFit/>
          </a:bodyPr>
          <a:lstStyle/>
          <a:p>
            <a:r>
              <a:rPr sz="1200" b="0" i="0">
                <a:solidFill>
                  <a:srgbClr val="6B7280"/>
                </a:solidFill>
                <a:latin typeface="Segoe UI"/>
              </a:rPr>
              <a:t>Does global patch self-attention capture script ligatures better than local convs?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ounded Rectangle 2"/>
          <p:cNvSpPr/>
          <p:nvPr/>
        </p:nvSpPr>
        <p:spPr>
          <a:xfrm>
            <a:off x="640080" y="384048"/>
            <a:ext cx="1819656" cy="292608"/>
          </a:xfrm>
          <a:prstGeom prst="roundRect">
            <a:avLst>
              <a:gd name="adj" fmla="val 50000"/>
            </a:avLst>
          </a:prstGeom>
          <a:solidFill>
            <a:srgbClr val="E2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640080" y="384048"/>
            <a:ext cx="1819656" cy="292608"/>
          </a:xfrm>
          <a:prstGeom prst="rect">
            <a:avLst/>
          </a:prstGeom>
          <a:noFill/>
        </p:spPr>
        <p:txBody>
          <a:bodyPr wrap="square" lIns="18288" rIns="18288" anchor="ctr">
            <a:spAutoFit/>
          </a:bodyPr>
          <a:lstStyle/>
          <a:p>
            <a:pPr algn="ctr"/>
            <a:r>
              <a:rPr sz="1050" b="1" i="0" spc="120">
                <a:solidFill>
                  <a:srgbClr val="0F7C74"/>
                </a:solidFill>
                <a:latin typeface="Segoe UI"/>
              </a:rPr>
              <a:t>04  ·  RESULTS</a:t>
            </a:r>
          </a:p>
        </p:txBody>
      </p:sp>
      <p:pic>
        <p:nvPicPr>
          <p:cNvPr id="5" name="Picture 4" descr="kit_logo.png"/>
          <p:cNvPicPr>
            <a:picLocks noChangeAspect="1"/>
          </p:cNvPicPr>
          <p:nvPr/>
        </p:nvPicPr>
        <p:blipFill>
          <a:blip r:embed="rId3"/>
          <a:stretch>
            <a:fillRect/>
          </a:stretch>
        </p:blipFill>
        <p:spPr>
          <a:xfrm>
            <a:off x="10929823" y="320040"/>
            <a:ext cx="621792" cy="621792"/>
          </a:xfrm>
          <a:prstGeom prst="rect">
            <a:avLst/>
          </a:prstGeom>
        </p:spPr>
      </p:pic>
      <p:sp>
        <p:nvSpPr>
          <p:cNvPr id="6" name="TextBox 5"/>
          <p:cNvSpPr txBox="1"/>
          <p:nvPr/>
        </p:nvSpPr>
        <p:spPr>
          <a:xfrm>
            <a:off x="621792" y="731520"/>
            <a:ext cx="9997135" cy="685800"/>
          </a:xfrm>
          <a:prstGeom prst="rect">
            <a:avLst/>
          </a:prstGeom>
          <a:noFill/>
        </p:spPr>
        <p:txBody>
          <a:bodyPr wrap="square" lIns="18288" rIns="18288" anchor="ctr">
            <a:spAutoFit/>
          </a:bodyPr>
          <a:lstStyle/>
          <a:p>
            <a:pPr algn="l"/>
            <a:r>
              <a:rPr sz="3000" b="0" i="0">
                <a:solidFill>
                  <a:srgbClr val="14213D"/>
                </a:solidFill>
                <a:latin typeface="Segoe UI Semibold"/>
              </a:rPr>
              <a:t>Scored on the same 567 test crops</a:t>
            </a:r>
          </a:p>
        </p:txBody>
      </p:sp>
      <p:sp>
        <p:nvSpPr>
          <p:cNvPr id="7" name="Rectangle 6"/>
          <p:cNvSpPr/>
          <p:nvPr/>
        </p:nvSpPr>
        <p:spPr>
          <a:xfrm>
            <a:off x="640080" y="6601968"/>
            <a:ext cx="1368073" cy="27432"/>
          </a:xfrm>
          <a:prstGeom prst="rect">
            <a:avLst/>
          </a:prstGeom>
          <a:solidFill>
            <a:srgbClr val="0F7C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640080" y="6336792"/>
            <a:ext cx="1368073" cy="237744"/>
          </a:xfrm>
          <a:prstGeom prst="rect">
            <a:avLst/>
          </a:prstGeom>
          <a:noFill/>
        </p:spPr>
        <p:txBody>
          <a:bodyPr wrap="square" lIns="18288" rIns="18288" anchor="t">
            <a:spAutoFit/>
          </a:bodyPr>
          <a:lstStyle/>
          <a:p>
            <a:pPr algn="l"/>
            <a:r>
              <a:rPr sz="850" b="0" i="0">
                <a:solidFill>
                  <a:srgbClr val="6B7280"/>
                </a:solidFill>
                <a:latin typeface="Segoe UI"/>
              </a:rPr>
              <a:t>Problem</a:t>
            </a:r>
          </a:p>
        </p:txBody>
      </p:sp>
      <p:sp>
        <p:nvSpPr>
          <p:cNvPr id="9" name="Rectangle 8"/>
          <p:cNvSpPr/>
          <p:nvPr/>
        </p:nvSpPr>
        <p:spPr>
          <a:xfrm>
            <a:off x="2081305" y="6601968"/>
            <a:ext cx="1368073" cy="27432"/>
          </a:xfrm>
          <a:prstGeom prst="rect">
            <a:avLst/>
          </a:prstGeom>
          <a:solidFill>
            <a:srgbClr val="0F7C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2081305" y="6336792"/>
            <a:ext cx="1368073" cy="237744"/>
          </a:xfrm>
          <a:prstGeom prst="rect">
            <a:avLst/>
          </a:prstGeom>
          <a:noFill/>
        </p:spPr>
        <p:txBody>
          <a:bodyPr wrap="square" lIns="18288" rIns="18288" anchor="t">
            <a:spAutoFit/>
          </a:bodyPr>
          <a:lstStyle/>
          <a:p>
            <a:pPr algn="l"/>
            <a:r>
              <a:rPr sz="850" b="0" i="0">
                <a:solidFill>
                  <a:srgbClr val="6B7280"/>
                </a:solidFill>
                <a:latin typeface="Segoe UI"/>
              </a:rPr>
              <a:t>Data</a:t>
            </a:r>
          </a:p>
        </p:txBody>
      </p:sp>
      <p:sp>
        <p:nvSpPr>
          <p:cNvPr id="11" name="Rectangle 10"/>
          <p:cNvSpPr/>
          <p:nvPr/>
        </p:nvSpPr>
        <p:spPr>
          <a:xfrm>
            <a:off x="3522530" y="6601968"/>
            <a:ext cx="1368073" cy="27432"/>
          </a:xfrm>
          <a:prstGeom prst="rect">
            <a:avLst/>
          </a:prstGeom>
          <a:solidFill>
            <a:srgbClr val="0F7C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3522530" y="6336792"/>
            <a:ext cx="1368073" cy="237744"/>
          </a:xfrm>
          <a:prstGeom prst="rect">
            <a:avLst/>
          </a:prstGeom>
          <a:noFill/>
        </p:spPr>
        <p:txBody>
          <a:bodyPr wrap="square" lIns="18288" rIns="18288" anchor="t">
            <a:spAutoFit/>
          </a:bodyPr>
          <a:lstStyle/>
          <a:p>
            <a:pPr algn="l"/>
            <a:r>
              <a:rPr sz="850" b="0" i="0">
                <a:solidFill>
                  <a:srgbClr val="6B7280"/>
                </a:solidFill>
                <a:latin typeface="Segoe UI"/>
              </a:rPr>
              <a:t>Method</a:t>
            </a:r>
          </a:p>
        </p:txBody>
      </p:sp>
      <p:sp>
        <p:nvSpPr>
          <p:cNvPr id="13" name="Rectangle 12"/>
          <p:cNvSpPr/>
          <p:nvPr/>
        </p:nvSpPr>
        <p:spPr>
          <a:xfrm>
            <a:off x="4963755" y="6601968"/>
            <a:ext cx="1368073" cy="45720"/>
          </a:xfrm>
          <a:prstGeom prst="rect">
            <a:avLst/>
          </a:prstGeom>
          <a:solidFill>
            <a:srgbClr val="E09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963755" y="6336792"/>
            <a:ext cx="1368073" cy="237744"/>
          </a:xfrm>
          <a:prstGeom prst="rect">
            <a:avLst/>
          </a:prstGeom>
          <a:noFill/>
        </p:spPr>
        <p:txBody>
          <a:bodyPr wrap="square" lIns="18288" rIns="18288" anchor="t">
            <a:spAutoFit/>
          </a:bodyPr>
          <a:lstStyle/>
          <a:p>
            <a:pPr algn="l"/>
            <a:r>
              <a:rPr sz="850" b="1" i="0">
                <a:solidFill>
                  <a:srgbClr val="14213D"/>
                </a:solidFill>
                <a:latin typeface="Segoe UI"/>
              </a:rPr>
              <a:t>Results</a:t>
            </a:r>
          </a:p>
        </p:txBody>
      </p:sp>
      <p:sp>
        <p:nvSpPr>
          <p:cNvPr id="15" name="Rectangle 14"/>
          <p:cNvSpPr/>
          <p:nvPr/>
        </p:nvSpPr>
        <p:spPr>
          <a:xfrm>
            <a:off x="6404980" y="6601968"/>
            <a:ext cx="1368073" cy="2743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6404980" y="6336792"/>
            <a:ext cx="1368073" cy="237744"/>
          </a:xfrm>
          <a:prstGeom prst="rect">
            <a:avLst/>
          </a:prstGeom>
          <a:noFill/>
        </p:spPr>
        <p:txBody>
          <a:bodyPr wrap="square" lIns="18288" rIns="18288" anchor="t">
            <a:spAutoFit/>
          </a:bodyPr>
          <a:lstStyle/>
          <a:p>
            <a:pPr algn="l"/>
            <a:r>
              <a:rPr sz="850" b="0" i="0">
                <a:solidFill>
                  <a:srgbClr val="6B7280"/>
                </a:solidFill>
                <a:latin typeface="Segoe UI"/>
              </a:rPr>
              <a:t>Analysis</a:t>
            </a:r>
          </a:p>
        </p:txBody>
      </p:sp>
      <p:sp>
        <p:nvSpPr>
          <p:cNvPr id="17" name="Rectangle 16"/>
          <p:cNvSpPr/>
          <p:nvPr/>
        </p:nvSpPr>
        <p:spPr>
          <a:xfrm>
            <a:off x="7846205" y="6601968"/>
            <a:ext cx="1368073" cy="2743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846205" y="6336792"/>
            <a:ext cx="1368073" cy="237744"/>
          </a:xfrm>
          <a:prstGeom prst="rect">
            <a:avLst/>
          </a:prstGeom>
          <a:noFill/>
        </p:spPr>
        <p:txBody>
          <a:bodyPr wrap="square" lIns="18288" rIns="18288" anchor="t">
            <a:spAutoFit/>
          </a:bodyPr>
          <a:lstStyle/>
          <a:p>
            <a:pPr algn="l"/>
            <a:r>
              <a:rPr sz="850" b="0" i="0">
                <a:solidFill>
                  <a:srgbClr val="6B7280"/>
                </a:solidFill>
                <a:latin typeface="Segoe UI"/>
              </a:rPr>
              <a:t>Honesty</a:t>
            </a:r>
          </a:p>
        </p:txBody>
      </p:sp>
      <p:sp>
        <p:nvSpPr>
          <p:cNvPr id="19" name="Rectangle 18"/>
          <p:cNvSpPr/>
          <p:nvPr/>
        </p:nvSpPr>
        <p:spPr>
          <a:xfrm>
            <a:off x="9287430" y="6601968"/>
            <a:ext cx="1368073" cy="2743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9287430" y="6336792"/>
            <a:ext cx="1368073" cy="237744"/>
          </a:xfrm>
          <a:prstGeom prst="rect">
            <a:avLst/>
          </a:prstGeom>
          <a:noFill/>
        </p:spPr>
        <p:txBody>
          <a:bodyPr wrap="square" lIns="18288" rIns="18288" anchor="t">
            <a:spAutoFit/>
          </a:bodyPr>
          <a:lstStyle/>
          <a:p>
            <a:pPr algn="l"/>
            <a:r>
              <a:rPr sz="850" b="0" i="0">
                <a:solidFill>
                  <a:srgbClr val="6B7280"/>
                </a:solidFill>
                <a:latin typeface="Segoe UI"/>
              </a:rPr>
              <a:t>Conclusion</a:t>
            </a:r>
          </a:p>
        </p:txBody>
      </p:sp>
      <p:sp>
        <p:nvSpPr>
          <p:cNvPr id="21" name="TextBox 20"/>
          <p:cNvSpPr txBox="1"/>
          <p:nvPr/>
        </p:nvSpPr>
        <p:spPr>
          <a:xfrm>
            <a:off x="10820095" y="6373368"/>
            <a:ext cx="731520" cy="274320"/>
          </a:xfrm>
          <a:prstGeom prst="rect">
            <a:avLst/>
          </a:prstGeom>
          <a:noFill/>
        </p:spPr>
        <p:txBody>
          <a:bodyPr wrap="square" lIns="18288" rIns="18288" anchor="t">
            <a:spAutoFit/>
          </a:bodyPr>
          <a:lstStyle/>
          <a:p>
            <a:pPr algn="r"/>
            <a:r>
              <a:rPr sz="1100" b="1" i="0">
                <a:solidFill>
                  <a:srgbClr val="0F7C74"/>
                </a:solidFill>
                <a:latin typeface="Segoe UI Semibold"/>
              </a:rPr>
              <a:t>8</a:t>
            </a:r>
          </a:p>
        </p:txBody>
      </p:sp>
      <p:graphicFrame>
        <p:nvGraphicFramePr>
          <p:cNvPr id="22" name="Table 21"/>
          <p:cNvGraphicFramePr>
            <a:graphicFrameLocks noGrp="1"/>
          </p:cNvGraphicFramePr>
          <p:nvPr/>
        </p:nvGraphicFramePr>
        <p:xfrm>
          <a:off x="640080" y="1600200"/>
          <a:ext cx="10911535" cy="2095373"/>
        </p:xfrm>
        <a:graphic>
          <a:graphicData uri="http://schemas.openxmlformats.org/drawingml/2006/table">
            <a:tbl>
              <a:tblPr>
                <a:tableStyleId>{5C22544A-7EE6-4342-B048-85BDC9FD1C3A}</a:tableStyleId>
              </a:tblPr>
              <a:tblGrid>
                <a:gridCol w="594360">
                  <a:extLst>
                    <a:ext uri="{9D8B030D-6E8A-4147-A177-3AD203B41FA5}">
                      <a16:colId xmlns:a16="http://schemas.microsoft.com/office/drawing/2014/main" val="20000"/>
                    </a:ext>
                  </a:extLst>
                </a:gridCol>
                <a:gridCol w="246888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325880">
                  <a:extLst>
                    <a:ext uri="{9D8B030D-6E8A-4147-A177-3AD203B41FA5}">
                      <a16:colId xmlns:a16="http://schemas.microsoft.com/office/drawing/2014/main" val="20003"/>
                    </a:ext>
                  </a:extLst>
                </a:gridCol>
                <a:gridCol w="1325880">
                  <a:extLst>
                    <a:ext uri="{9D8B030D-6E8A-4147-A177-3AD203B41FA5}">
                      <a16:colId xmlns:a16="http://schemas.microsoft.com/office/drawing/2014/main" val="20004"/>
                    </a:ext>
                  </a:extLst>
                </a:gridCol>
                <a:gridCol w="1325880">
                  <a:extLst>
                    <a:ext uri="{9D8B030D-6E8A-4147-A177-3AD203B41FA5}">
                      <a16:colId xmlns:a16="http://schemas.microsoft.com/office/drawing/2014/main" val="20005"/>
                    </a:ext>
                  </a:extLst>
                </a:gridCol>
                <a:gridCol w="2681935">
                  <a:extLst>
                    <a:ext uri="{9D8B030D-6E8A-4147-A177-3AD203B41FA5}">
                      <a16:colId xmlns:a16="http://schemas.microsoft.com/office/drawing/2014/main" val="20006"/>
                    </a:ext>
                  </a:extLst>
                </a:gridCol>
              </a:tblGrid>
              <a:tr h="347472">
                <a:tc>
                  <a:txBody>
                    <a:bodyPr/>
                    <a:lstStyle/>
                    <a:p>
                      <a:endParaRPr/>
                    </a:p>
                  </a:txBody>
                  <a:tcPr marL="127000" marR="127000" marT="25400" marB="25400" anchor="ctr">
                    <a:solidFill>
                      <a:srgbClr val="14213D"/>
                    </a:solidFill>
                  </a:tcPr>
                </a:tc>
                <a:tc>
                  <a:txBody>
                    <a:bodyPr/>
                    <a:lstStyle/>
                    <a:p>
                      <a:r>
                        <a:rPr sz="1008" b="1" i="0" spc="80">
                          <a:solidFill>
                            <a:srgbClr val="FFFFFF"/>
                          </a:solidFill>
                          <a:latin typeface="Segoe UI"/>
                        </a:rPr>
                        <a:t>APPROACH</a:t>
                      </a:r>
                    </a:p>
                  </a:txBody>
                  <a:tcPr marL="127000" marR="127000" marT="25400" marB="25400" anchor="ctr">
                    <a:solidFill>
                      <a:srgbClr val="14213D"/>
                    </a:solidFill>
                  </a:tcPr>
                </a:tc>
                <a:tc>
                  <a:txBody>
                    <a:bodyPr/>
                    <a:lstStyle/>
                    <a:p>
                      <a:pPr algn="r"/>
                      <a:r>
                        <a:rPr sz="1008" b="1" i="0" spc="80">
                          <a:solidFill>
                            <a:srgbClr val="FFFFFF"/>
                          </a:solidFill>
                          <a:latin typeface="Segoe UI"/>
                        </a:rPr>
                        <a:t>VAL ACC</a:t>
                      </a:r>
                    </a:p>
                  </a:txBody>
                  <a:tcPr marL="127000" marR="127000" marT="25400" marB="25400" anchor="ctr">
                    <a:solidFill>
                      <a:srgbClr val="14213D"/>
                    </a:solidFill>
                  </a:tcPr>
                </a:tc>
                <a:tc>
                  <a:txBody>
                    <a:bodyPr/>
                    <a:lstStyle/>
                    <a:p>
                      <a:pPr algn="r"/>
                      <a:r>
                        <a:rPr sz="1008" b="1" i="0" spc="80">
                          <a:solidFill>
                            <a:srgbClr val="FFFFFF"/>
                          </a:solidFill>
                          <a:latin typeface="Segoe UI"/>
                        </a:rPr>
                        <a:t>TEST ACC</a:t>
                      </a:r>
                    </a:p>
                  </a:txBody>
                  <a:tcPr marL="127000" marR="127000" marT="25400" marB="25400" anchor="ctr">
                    <a:solidFill>
                      <a:srgbClr val="14213D"/>
                    </a:solidFill>
                  </a:tcPr>
                </a:tc>
                <a:tc>
                  <a:txBody>
                    <a:bodyPr/>
                    <a:lstStyle/>
                    <a:p>
                      <a:pPr algn="r"/>
                      <a:r>
                        <a:rPr sz="1008" b="1" i="0" spc="80">
                          <a:solidFill>
                            <a:srgbClr val="FFFFFF"/>
                          </a:solidFill>
                          <a:latin typeface="Segoe UI"/>
                        </a:rPr>
                        <a:t>CLEAN (N=491)</a:t>
                      </a:r>
                    </a:p>
                  </a:txBody>
                  <a:tcPr marL="127000" marR="127000" marT="25400" marB="25400" anchor="ctr">
                    <a:solidFill>
                      <a:srgbClr val="14213D"/>
                    </a:solidFill>
                  </a:tcPr>
                </a:tc>
                <a:tc>
                  <a:txBody>
                    <a:bodyPr/>
                    <a:lstStyle/>
                    <a:p>
                      <a:pPr algn="r"/>
                      <a:r>
                        <a:rPr sz="1008" b="1" i="0" spc="80">
                          <a:solidFill>
                            <a:srgbClr val="FFFFFF"/>
                          </a:solidFill>
                          <a:latin typeface="Segoe UI"/>
                        </a:rPr>
                        <a:t>MACRO-F1</a:t>
                      </a:r>
                    </a:p>
                  </a:txBody>
                  <a:tcPr marL="127000" marR="127000" marT="25400" marB="25400" anchor="ctr">
                    <a:solidFill>
                      <a:srgbClr val="14213D"/>
                    </a:solidFill>
                  </a:tcPr>
                </a:tc>
                <a:tc>
                  <a:txBody>
                    <a:bodyPr/>
                    <a:lstStyle/>
                    <a:p>
                      <a:r>
                        <a:rPr sz="1008" b="1" i="0" spc="80">
                          <a:solidFill>
                            <a:srgbClr val="FFFFFF"/>
                          </a:solidFill>
                          <a:latin typeface="Segoe UI"/>
                        </a:rPr>
                        <a:t>KEY OUTCOME</a:t>
                      </a:r>
                    </a:p>
                  </a:txBody>
                  <a:tcPr marL="127000" marR="127000" marT="25400" marB="25400" anchor="ctr">
                    <a:solidFill>
                      <a:srgbClr val="14213D"/>
                    </a:solidFill>
                  </a:tcPr>
                </a:tc>
                <a:extLst>
                  <a:ext uri="{0D108BD9-81ED-4DB2-BD59-A6C34878D82A}">
                    <a16:rowId xmlns:a16="http://schemas.microsoft.com/office/drawing/2014/main" val="10000"/>
                  </a:ext>
                </a:extLst>
              </a:tr>
              <a:tr h="347472">
                <a:tc>
                  <a:txBody>
                    <a:bodyPr/>
                    <a:lstStyle/>
                    <a:p>
                      <a:r>
                        <a:rPr sz="1400" b="1" i="0">
                          <a:solidFill>
                            <a:srgbClr val="14213D"/>
                          </a:solidFill>
                          <a:latin typeface="Segoe UI Semibold"/>
                        </a:rPr>
                        <a:t>A</a:t>
                      </a:r>
                    </a:p>
                  </a:txBody>
                  <a:tcPr marL="127000" marR="127000" marT="25400" marB="25400" anchor="ctr">
                    <a:solidFill>
                      <a:srgbClr val="FFFFFF"/>
                    </a:solidFill>
                  </a:tcPr>
                </a:tc>
                <a:tc>
                  <a:txBody>
                    <a:bodyPr/>
                    <a:lstStyle/>
                    <a:p>
                      <a:r>
                        <a:rPr sz="1400" b="0" i="0">
                          <a:solidFill>
                            <a:srgbClr val="14213D"/>
                          </a:solidFill>
                          <a:latin typeface="Segoe UI"/>
                        </a:rPr>
                        <a:t>ResNet18 scratch</a:t>
                      </a:r>
                    </a:p>
                  </a:txBody>
                  <a:tcPr marL="127000" marR="127000" marT="25400" marB="25400" anchor="ctr">
                    <a:solidFill>
                      <a:srgbClr val="FFFFFF"/>
                    </a:solidFill>
                  </a:tcPr>
                </a:tc>
                <a:tc>
                  <a:txBody>
                    <a:bodyPr/>
                    <a:lstStyle/>
                    <a:p>
                      <a:pPr algn="r"/>
                      <a:r>
                        <a:rPr sz="1400" b="0" i="0">
                          <a:solidFill>
                            <a:srgbClr val="14213D"/>
                          </a:solidFill>
                          <a:latin typeface="Segoe UI"/>
                        </a:rPr>
                        <a:t>93.8 %</a:t>
                      </a:r>
                    </a:p>
                  </a:txBody>
                  <a:tcPr marL="127000" marR="127000" marT="25400" marB="25400" anchor="ctr">
                    <a:solidFill>
                      <a:srgbClr val="FFFFFF"/>
                    </a:solidFill>
                  </a:tcPr>
                </a:tc>
                <a:tc>
                  <a:txBody>
                    <a:bodyPr/>
                    <a:lstStyle/>
                    <a:p>
                      <a:pPr algn="r"/>
                      <a:r>
                        <a:rPr sz="1400" b="1" i="0">
                          <a:solidFill>
                            <a:srgbClr val="0F7C74"/>
                          </a:solidFill>
                          <a:latin typeface="Segoe UI Semibold"/>
                        </a:rPr>
                        <a:t>93.3 %</a:t>
                      </a:r>
                    </a:p>
                  </a:txBody>
                  <a:tcPr marL="127000" marR="127000" marT="25400" marB="25400" anchor="ctr">
                    <a:solidFill>
                      <a:srgbClr val="FFFFFF"/>
                    </a:solidFill>
                  </a:tcPr>
                </a:tc>
                <a:tc>
                  <a:txBody>
                    <a:bodyPr/>
                    <a:lstStyle/>
                    <a:p>
                      <a:pPr algn="r"/>
                      <a:r>
                        <a:rPr sz="1400" b="0" i="0">
                          <a:solidFill>
                            <a:srgbClr val="14213D"/>
                          </a:solidFill>
                          <a:latin typeface="Segoe UI"/>
                        </a:rPr>
                        <a:t>94.7 %</a:t>
                      </a:r>
                    </a:p>
                  </a:txBody>
                  <a:tcPr marL="127000" marR="127000" marT="25400" marB="25400" anchor="ctr">
                    <a:solidFill>
                      <a:srgbClr val="FFFFFF"/>
                    </a:solidFill>
                  </a:tcPr>
                </a:tc>
                <a:tc>
                  <a:txBody>
                    <a:bodyPr/>
                    <a:lstStyle/>
                    <a:p>
                      <a:pPr algn="r"/>
                      <a:r>
                        <a:rPr sz="1400" b="0" i="0">
                          <a:solidFill>
                            <a:srgbClr val="14213D"/>
                          </a:solidFill>
                          <a:latin typeface="Segoe UI"/>
                        </a:rPr>
                        <a:t>92.9 %</a:t>
                      </a:r>
                    </a:p>
                  </a:txBody>
                  <a:tcPr marL="127000" marR="127000" marT="25400" marB="25400" anchor="ctr">
                    <a:solidFill>
                      <a:srgbClr val="FFFFFF"/>
                    </a:solidFill>
                  </a:tcPr>
                </a:tc>
                <a:tc>
                  <a:txBody>
                    <a:bodyPr/>
                    <a:lstStyle/>
                    <a:p>
                      <a:r>
                        <a:rPr sz="1400" b="0" i="0">
                          <a:solidFill>
                            <a:srgbClr val="14213D"/>
                          </a:solidFill>
                          <a:latin typeface="Segoe UI"/>
                        </a:rPr>
                        <a:t>Strong baseline (2 515 imgs)</a:t>
                      </a:r>
                    </a:p>
                  </a:txBody>
                  <a:tcPr marL="127000" marR="127000" marT="25400" marB="25400" anchor="ctr">
                    <a:solidFill>
                      <a:srgbClr val="FFFFFF"/>
                    </a:solidFill>
                  </a:tcPr>
                </a:tc>
                <a:extLst>
                  <a:ext uri="{0D108BD9-81ED-4DB2-BD59-A6C34878D82A}">
                    <a16:rowId xmlns:a16="http://schemas.microsoft.com/office/drawing/2014/main" val="10001"/>
                  </a:ext>
                </a:extLst>
              </a:tr>
              <a:tr h="347472">
                <a:tc>
                  <a:txBody>
                    <a:bodyPr/>
                    <a:lstStyle/>
                    <a:p>
                      <a:r>
                        <a:rPr sz="1400" b="1" i="0">
                          <a:solidFill>
                            <a:srgbClr val="14213D"/>
                          </a:solidFill>
                          <a:latin typeface="Segoe UI Semibold"/>
                        </a:rPr>
                        <a:t>B</a:t>
                      </a:r>
                    </a:p>
                  </a:txBody>
                  <a:tcPr marL="127000" marR="127000" marT="25400" marB="25400" anchor="ctr">
                    <a:solidFill>
                      <a:srgbClr val="F8FAFC"/>
                    </a:solidFill>
                  </a:tcPr>
                </a:tc>
                <a:tc>
                  <a:txBody>
                    <a:bodyPr/>
                    <a:lstStyle/>
                    <a:p>
                      <a:r>
                        <a:rPr sz="1400" b="0" i="0">
                          <a:solidFill>
                            <a:srgbClr val="14213D"/>
                          </a:solidFill>
                          <a:latin typeface="Segoe UI"/>
                        </a:rPr>
                        <a:t>ResNet18 frozen</a:t>
                      </a:r>
                    </a:p>
                  </a:txBody>
                  <a:tcPr marL="127000" marR="127000" marT="25400" marB="25400" anchor="ctr">
                    <a:solidFill>
                      <a:srgbClr val="F8FAFC"/>
                    </a:solidFill>
                  </a:tcPr>
                </a:tc>
                <a:tc>
                  <a:txBody>
                    <a:bodyPr/>
                    <a:lstStyle/>
                    <a:p>
                      <a:pPr algn="r"/>
                      <a:r>
                        <a:rPr sz="1400" b="0" i="0">
                          <a:solidFill>
                            <a:srgbClr val="14213D"/>
                          </a:solidFill>
                          <a:latin typeface="Segoe UI"/>
                        </a:rPr>
                        <a:t>40.1 %</a:t>
                      </a:r>
                    </a:p>
                  </a:txBody>
                  <a:tcPr marL="127000" marR="127000" marT="25400" marB="25400" anchor="ctr">
                    <a:solidFill>
                      <a:srgbClr val="F8FAFC"/>
                    </a:solidFill>
                  </a:tcPr>
                </a:tc>
                <a:tc>
                  <a:txBody>
                    <a:bodyPr/>
                    <a:lstStyle/>
                    <a:p>
                      <a:pPr algn="r"/>
                      <a:r>
                        <a:rPr sz="1400" b="1" i="0">
                          <a:solidFill>
                            <a:srgbClr val="0F7C74"/>
                          </a:solidFill>
                          <a:latin typeface="Segoe UI Semibold"/>
                        </a:rPr>
                        <a:t>42.0 %</a:t>
                      </a:r>
                    </a:p>
                  </a:txBody>
                  <a:tcPr marL="127000" marR="127000" marT="25400" marB="25400" anchor="ctr">
                    <a:solidFill>
                      <a:srgbClr val="F8FAFC"/>
                    </a:solidFill>
                  </a:tcPr>
                </a:tc>
                <a:tc>
                  <a:txBody>
                    <a:bodyPr/>
                    <a:lstStyle/>
                    <a:p>
                      <a:pPr algn="r"/>
                      <a:r>
                        <a:rPr sz="1400" b="0" i="0">
                          <a:solidFill>
                            <a:srgbClr val="14213D"/>
                          </a:solidFill>
                          <a:latin typeface="Segoe UI"/>
                        </a:rPr>
                        <a:t>43.2 %</a:t>
                      </a:r>
                    </a:p>
                  </a:txBody>
                  <a:tcPr marL="127000" marR="127000" marT="25400" marB="25400" anchor="ctr">
                    <a:solidFill>
                      <a:srgbClr val="F8FAFC"/>
                    </a:solidFill>
                  </a:tcPr>
                </a:tc>
                <a:tc>
                  <a:txBody>
                    <a:bodyPr/>
                    <a:lstStyle/>
                    <a:p>
                      <a:pPr algn="r"/>
                      <a:r>
                        <a:rPr sz="1400" b="0" i="0">
                          <a:solidFill>
                            <a:srgbClr val="14213D"/>
                          </a:solidFill>
                          <a:latin typeface="Segoe UI"/>
                        </a:rPr>
                        <a:t>37.9 %</a:t>
                      </a:r>
                    </a:p>
                  </a:txBody>
                  <a:tcPr marL="127000" marR="127000" marT="25400" marB="25400" anchor="ctr">
                    <a:solidFill>
                      <a:srgbClr val="F8FAFC"/>
                    </a:solidFill>
                  </a:tcPr>
                </a:tc>
                <a:tc>
                  <a:txBody>
                    <a:bodyPr/>
                    <a:lstStyle/>
                    <a:p>
                      <a:r>
                        <a:rPr sz="1400" b="1" i="0">
                          <a:solidFill>
                            <a:srgbClr val="C0392B"/>
                          </a:solidFill>
                          <a:latin typeface="Segoe UI Semibold"/>
                        </a:rPr>
                        <a:t>Domain shift collapse</a:t>
                      </a:r>
                    </a:p>
                  </a:txBody>
                  <a:tcPr marL="127000" marR="127000" marT="25400" marB="25400" anchor="ctr">
                    <a:solidFill>
                      <a:srgbClr val="F8FAFC"/>
                    </a:solidFill>
                  </a:tcPr>
                </a:tc>
                <a:extLst>
                  <a:ext uri="{0D108BD9-81ED-4DB2-BD59-A6C34878D82A}">
                    <a16:rowId xmlns:a16="http://schemas.microsoft.com/office/drawing/2014/main" val="10002"/>
                  </a:ext>
                </a:extLst>
              </a:tr>
              <a:tr h="347472">
                <a:tc>
                  <a:txBody>
                    <a:bodyPr/>
                    <a:lstStyle/>
                    <a:p>
                      <a:r>
                        <a:rPr sz="1400" b="1" i="0">
                          <a:solidFill>
                            <a:srgbClr val="14213D"/>
                          </a:solidFill>
                          <a:latin typeface="Segoe UI Semibold"/>
                        </a:rPr>
                        <a:t>C</a:t>
                      </a:r>
                    </a:p>
                  </a:txBody>
                  <a:tcPr marL="127000" marR="127000" marT="25400" marB="25400" anchor="ctr">
                    <a:solidFill>
                      <a:srgbClr val="FFFFFF"/>
                    </a:solidFill>
                  </a:tcPr>
                </a:tc>
                <a:tc>
                  <a:txBody>
                    <a:bodyPr/>
                    <a:lstStyle/>
                    <a:p>
                      <a:r>
                        <a:rPr sz="1400" b="0" i="0">
                          <a:solidFill>
                            <a:srgbClr val="14213D"/>
                          </a:solidFill>
                          <a:latin typeface="Segoe UI"/>
                        </a:rPr>
                        <a:t>ResNet18 fine-tune</a:t>
                      </a:r>
                    </a:p>
                  </a:txBody>
                  <a:tcPr marL="127000" marR="127000" marT="25400" marB="25400" anchor="ctr">
                    <a:solidFill>
                      <a:srgbClr val="FFFFFF"/>
                    </a:solidFill>
                  </a:tcPr>
                </a:tc>
                <a:tc>
                  <a:txBody>
                    <a:bodyPr/>
                    <a:lstStyle/>
                    <a:p>
                      <a:pPr algn="r"/>
                      <a:r>
                        <a:rPr sz="1400" b="0" i="0">
                          <a:solidFill>
                            <a:srgbClr val="14213D"/>
                          </a:solidFill>
                          <a:latin typeface="Segoe UI"/>
                        </a:rPr>
                        <a:t>92.6 %</a:t>
                      </a:r>
                    </a:p>
                  </a:txBody>
                  <a:tcPr marL="127000" marR="127000" marT="25400" marB="25400" anchor="ctr">
                    <a:solidFill>
                      <a:srgbClr val="FFFFFF"/>
                    </a:solidFill>
                  </a:tcPr>
                </a:tc>
                <a:tc>
                  <a:txBody>
                    <a:bodyPr/>
                    <a:lstStyle/>
                    <a:p>
                      <a:pPr algn="r"/>
                      <a:r>
                        <a:rPr sz="1400" b="1" i="0">
                          <a:solidFill>
                            <a:srgbClr val="0F7C74"/>
                          </a:solidFill>
                          <a:latin typeface="Segoe UI Semibold"/>
                        </a:rPr>
                        <a:t>94.0 %</a:t>
                      </a:r>
                    </a:p>
                  </a:txBody>
                  <a:tcPr marL="127000" marR="127000" marT="25400" marB="25400" anchor="ctr">
                    <a:solidFill>
                      <a:srgbClr val="FFFFFF"/>
                    </a:solidFill>
                  </a:tcPr>
                </a:tc>
                <a:tc>
                  <a:txBody>
                    <a:bodyPr/>
                    <a:lstStyle/>
                    <a:p>
                      <a:pPr algn="r"/>
                      <a:r>
                        <a:rPr sz="1400" b="0" i="0">
                          <a:solidFill>
                            <a:srgbClr val="14213D"/>
                          </a:solidFill>
                          <a:latin typeface="Segoe UI"/>
                        </a:rPr>
                        <a:t>95.3 %</a:t>
                      </a:r>
                    </a:p>
                  </a:txBody>
                  <a:tcPr marL="127000" marR="127000" marT="25400" marB="25400" anchor="ctr">
                    <a:solidFill>
                      <a:srgbClr val="FFFFFF"/>
                    </a:solidFill>
                  </a:tcPr>
                </a:tc>
                <a:tc>
                  <a:txBody>
                    <a:bodyPr/>
                    <a:lstStyle/>
                    <a:p>
                      <a:pPr algn="r"/>
                      <a:r>
                        <a:rPr sz="1400" b="0" i="0">
                          <a:solidFill>
                            <a:srgbClr val="14213D"/>
                          </a:solidFill>
                          <a:latin typeface="Segoe UI"/>
                        </a:rPr>
                        <a:t>92.4 %</a:t>
                      </a:r>
                    </a:p>
                  </a:txBody>
                  <a:tcPr marL="127000" marR="127000" marT="25400" marB="25400" anchor="ctr">
                    <a:solidFill>
                      <a:srgbClr val="FFFFFF"/>
                    </a:solidFill>
                  </a:tcPr>
                </a:tc>
                <a:tc>
                  <a:txBody>
                    <a:bodyPr/>
                    <a:lstStyle/>
                    <a:p>
                      <a:r>
                        <a:rPr sz="1400" b="0" i="0">
                          <a:solidFill>
                            <a:srgbClr val="14213D"/>
                          </a:solidFill>
                          <a:latin typeface="Segoe UI"/>
                        </a:rPr>
                        <a:t>Fast 5-epoch convergence</a:t>
                      </a:r>
                    </a:p>
                  </a:txBody>
                  <a:tcPr marL="127000" marR="127000" marT="25400" marB="25400" anchor="ctr">
                    <a:solidFill>
                      <a:srgbClr val="FFFFFF"/>
                    </a:solidFill>
                  </a:tcPr>
                </a:tc>
                <a:extLst>
                  <a:ext uri="{0D108BD9-81ED-4DB2-BD59-A6C34878D82A}">
                    <a16:rowId xmlns:a16="http://schemas.microsoft.com/office/drawing/2014/main" val="10003"/>
                  </a:ext>
                </a:extLst>
              </a:tr>
              <a:tr h="347472">
                <a:tc>
                  <a:txBody>
                    <a:bodyPr/>
                    <a:lstStyle/>
                    <a:p>
                      <a:r>
                        <a:rPr sz="1400" b="1" i="0">
                          <a:solidFill>
                            <a:srgbClr val="14213D"/>
                          </a:solidFill>
                          <a:latin typeface="Segoe UI Semibold"/>
                        </a:rPr>
                        <a:t>D</a:t>
                      </a:r>
                    </a:p>
                  </a:txBody>
                  <a:tcPr marL="127000" marR="127000" marT="25400" marB="25400" anchor="ctr">
                    <a:solidFill>
                      <a:srgbClr val="F8FAFC"/>
                    </a:solidFill>
                  </a:tcPr>
                </a:tc>
                <a:tc>
                  <a:txBody>
                    <a:bodyPr/>
                    <a:lstStyle/>
                    <a:p>
                      <a:r>
                        <a:rPr sz="1400" b="0" i="0">
                          <a:solidFill>
                            <a:srgbClr val="14213D"/>
                          </a:solidFill>
                          <a:latin typeface="Segoe UI"/>
                        </a:rPr>
                        <a:t>Small 4-block CNN</a:t>
                      </a:r>
                    </a:p>
                  </a:txBody>
                  <a:tcPr marL="127000" marR="127000" marT="25400" marB="25400" anchor="ctr">
                    <a:solidFill>
                      <a:srgbClr val="F8FAFC"/>
                    </a:solidFill>
                  </a:tcPr>
                </a:tc>
                <a:tc>
                  <a:txBody>
                    <a:bodyPr/>
                    <a:lstStyle/>
                    <a:p>
                      <a:pPr algn="r"/>
                      <a:r>
                        <a:rPr sz="1400" b="0" i="0">
                          <a:solidFill>
                            <a:srgbClr val="14213D"/>
                          </a:solidFill>
                          <a:latin typeface="Segoe UI"/>
                        </a:rPr>
                        <a:t>48.4 %</a:t>
                      </a:r>
                    </a:p>
                  </a:txBody>
                  <a:tcPr marL="127000" marR="127000" marT="25400" marB="25400" anchor="ctr">
                    <a:solidFill>
                      <a:srgbClr val="F8FAFC"/>
                    </a:solidFill>
                  </a:tcPr>
                </a:tc>
                <a:tc>
                  <a:txBody>
                    <a:bodyPr/>
                    <a:lstStyle/>
                    <a:p>
                      <a:pPr algn="r"/>
                      <a:r>
                        <a:rPr sz="1400" b="1" i="0">
                          <a:solidFill>
                            <a:srgbClr val="0F7C74"/>
                          </a:solidFill>
                          <a:latin typeface="Segoe UI Semibold"/>
                        </a:rPr>
                        <a:t>46.6 %</a:t>
                      </a:r>
                    </a:p>
                  </a:txBody>
                  <a:tcPr marL="127000" marR="127000" marT="25400" marB="25400" anchor="ctr">
                    <a:solidFill>
                      <a:srgbClr val="F8FAFC"/>
                    </a:solidFill>
                  </a:tcPr>
                </a:tc>
                <a:tc>
                  <a:txBody>
                    <a:bodyPr/>
                    <a:lstStyle/>
                    <a:p>
                      <a:pPr algn="r"/>
                      <a:r>
                        <a:rPr sz="1400" b="0" i="0">
                          <a:solidFill>
                            <a:srgbClr val="14213D"/>
                          </a:solidFill>
                          <a:latin typeface="Segoe UI"/>
                        </a:rPr>
                        <a:t>47.7 %</a:t>
                      </a:r>
                    </a:p>
                  </a:txBody>
                  <a:tcPr marL="127000" marR="127000" marT="25400" marB="25400" anchor="ctr">
                    <a:solidFill>
                      <a:srgbClr val="F8FAFC"/>
                    </a:solidFill>
                  </a:tcPr>
                </a:tc>
                <a:tc>
                  <a:txBody>
                    <a:bodyPr/>
                    <a:lstStyle/>
                    <a:p>
                      <a:pPr algn="r"/>
                      <a:r>
                        <a:rPr sz="1400" b="0" i="0">
                          <a:solidFill>
                            <a:srgbClr val="14213D"/>
                          </a:solidFill>
                          <a:latin typeface="Segoe UI"/>
                        </a:rPr>
                        <a:t>40.7 %</a:t>
                      </a:r>
                    </a:p>
                  </a:txBody>
                  <a:tcPr marL="127000" marR="127000" marT="25400" marB="25400" anchor="ctr">
                    <a:solidFill>
                      <a:srgbClr val="F8FAFC"/>
                    </a:solidFill>
                  </a:tcPr>
                </a:tc>
                <a:tc>
                  <a:txBody>
                    <a:bodyPr/>
                    <a:lstStyle/>
                    <a:p>
                      <a:r>
                        <a:rPr sz="1400" b="1" i="0">
                          <a:solidFill>
                            <a:srgbClr val="C0392B"/>
                          </a:solidFill>
                          <a:latin typeface="Segoe UI Semibold"/>
                        </a:rPr>
                        <a:t>Under-capacity (0.4M)</a:t>
                      </a:r>
                    </a:p>
                  </a:txBody>
                  <a:tcPr marL="127000" marR="127000" marT="25400" marB="25400" anchor="ctr">
                    <a:solidFill>
                      <a:srgbClr val="F8FAFC"/>
                    </a:solidFill>
                  </a:tcPr>
                </a:tc>
                <a:extLst>
                  <a:ext uri="{0D108BD9-81ED-4DB2-BD59-A6C34878D82A}">
                    <a16:rowId xmlns:a16="http://schemas.microsoft.com/office/drawing/2014/main" val="10004"/>
                  </a:ext>
                </a:extLst>
              </a:tr>
              <a:tr h="347472">
                <a:tc>
                  <a:txBody>
                    <a:bodyPr/>
                    <a:lstStyle/>
                    <a:p>
                      <a:r>
                        <a:rPr sz="1400" b="1" i="0">
                          <a:solidFill>
                            <a:srgbClr val="14213D"/>
                          </a:solidFill>
                          <a:latin typeface="Segoe UI Semibold"/>
                        </a:rPr>
                        <a:t>E</a:t>
                      </a:r>
                    </a:p>
                  </a:txBody>
                  <a:tcPr marL="127000" marR="127000" marT="25400" marB="25400" anchor="ctr">
                    <a:solidFill>
                      <a:srgbClr val="FFFFFF"/>
                    </a:solidFill>
                  </a:tcPr>
                </a:tc>
                <a:tc>
                  <a:txBody>
                    <a:bodyPr/>
                    <a:lstStyle/>
                    <a:p>
                      <a:r>
                        <a:rPr sz="1400" b="0" i="0">
                          <a:solidFill>
                            <a:srgbClr val="14213D"/>
                          </a:solidFill>
                          <a:latin typeface="Segoe UI"/>
                        </a:rPr>
                        <a:t>ViT-B/16 (Transformer)</a:t>
                      </a:r>
                    </a:p>
                  </a:txBody>
                  <a:tcPr marL="127000" marR="127000" marT="25400" marB="25400" anchor="ctr">
                    <a:solidFill>
                      <a:srgbClr val="FFFFFF"/>
                    </a:solidFill>
                  </a:tcPr>
                </a:tc>
                <a:tc>
                  <a:txBody>
                    <a:bodyPr/>
                    <a:lstStyle/>
                    <a:p>
                      <a:pPr algn="r"/>
                      <a:r>
                        <a:rPr sz="1400" b="0" i="0">
                          <a:solidFill>
                            <a:srgbClr val="14213D"/>
                          </a:solidFill>
                          <a:latin typeface="Segoe UI"/>
                        </a:rPr>
                        <a:t>96.2 %</a:t>
                      </a:r>
                    </a:p>
                  </a:txBody>
                  <a:tcPr marL="127000" marR="127000" marT="25400" marB="25400" anchor="ctr">
                    <a:solidFill>
                      <a:srgbClr val="FFFFFF"/>
                    </a:solidFill>
                  </a:tcPr>
                </a:tc>
                <a:tc>
                  <a:txBody>
                    <a:bodyPr/>
                    <a:lstStyle/>
                    <a:p>
                      <a:pPr algn="r"/>
                      <a:r>
                        <a:rPr sz="1400" b="1" i="0">
                          <a:solidFill>
                            <a:srgbClr val="0F7C74"/>
                          </a:solidFill>
                          <a:latin typeface="Segoe UI Semibold"/>
                        </a:rPr>
                        <a:t>96.1 %</a:t>
                      </a:r>
                    </a:p>
                  </a:txBody>
                  <a:tcPr marL="127000" marR="127000" marT="25400" marB="25400" anchor="ctr">
                    <a:solidFill>
                      <a:srgbClr val="FFFFFF"/>
                    </a:solidFill>
                  </a:tcPr>
                </a:tc>
                <a:tc>
                  <a:txBody>
                    <a:bodyPr/>
                    <a:lstStyle/>
                    <a:p>
                      <a:pPr algn="r"/>
                      <a:r>
                        <a:rPr sz="1400" b="0" i="0">
                          <a:solidFill>
                            <a:srgbClr val="14213D"/>
                          </a:solidFill>
                          <a:latin typeface="Segoe UI"/>
                        </a:rPr>
                        <a:t>96.5 %</a:t>
                      </a:r>
                    </a:p>
                  </a:txBody>
                  <a:tcPr marL="127000" marR="127000" marT="25400" marB="25400" anchor="ctr">
                    <a:solidFill>
                      <a:srgbClr val="FFFFFF"/>
                    </a:solidFill>
                  </a:tcPr>
                </a:tc>
                <a:tc>
                  <a:txBody>
                    <a:bodyPr/>
                    <a:lstStyle/>
                    <a:p>
                      <a:pPr algn="r"/>
                      <a:r>
                        <a:rPr sz="1400" b="0" i="0">
                          <a:solidFill>
                            <a:srgbClr val="14213D"/>
                          </a:solidFill>
                          <a:latin typeface="Segoe UI"/>
                        </a:rPr>
                        <a:t>95.8 %</a:t>
                      </a:r>
                    </a:p>
                  </a:txBody>
                  <a:tcPr marL="127000" marR="127000" marT="25400" marB="25400" anchor="ctr">
                    <a:solidFill>
                      <a:srgbClr val="FFFFFF"/>
                    </a:solidFill>
                  </a:tcPr>
                </a:tc>
                <a:tc>
                  <a:txBody>
                    <a:bodyPr/>
                    <a:lstStyle/>
                    <a:p>
                      <a:r>
                        <a:rPr sz="1400" b="1" i="0">
                          <a:solidFill>
                            <a:srgbClr val="14213D"/>
                          </a:solidFill>
                          <a:latin typeface="Segoe UI Semibold"/>
                        </a:rPr>
                        <a:t>Top accuracy + macro-F1</a:t>
                      </a:r>
                    </a:p>
                  </a:txBody>
                  <a:tcPr marL="127000" marR="127000" marT="25400" marB="25400" anchor="ctr">
                    <a:solidFill>
                      <a:srgbClr val="FFFFFF"/>
                    </a:solidFill>
                  </a:tcPr>
                </a:tc>
                <a:extLst>
                  <a:ext uri="{0D108BD9-81ED-4DB2-BD59-A6C34878D82A}">
                    <a16:rowId xmlns:a16="http://schemas.microsoft.com/office/drawing/2014/main" val="10005"/>
                  </a:ext>
                </a:extLst>
              </a:tr>
            </a:tbl>
          </a:graphicData>
        </a:graphic>
      </p:graphicFrame>
      <p:sp>
        <p:nvSpPr>
          <p:cNvPr id="23" name="Rounded Rectangle 22"/>
          <p:cNvSpPr/>
          <p:nvPr/>
        </p:nvSpPr>
        <p:spPr>
          <a:xfrm>
            <a:off x="640080" y="3931920"/>
            <a:ext cx="2577007" cy="2176272"/>
          </a:xfrm>
          <a:prstGeom prst="roundRect">
            <a:avLst>
              <a:gd name="adj" fmla="val 5042"/>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Rectangle 23"/>
          <p:cNvSpPr/>
          <p:nvPr/>
        </p:nvSpPr>
        <p:spPr>
          <a:xfrm>
            <a:off x="640080" y="3931920"/>
            <a:ext cx="2577007" cy="45720"/>
          </a:xfrm>
          <a:prstGeom prst="rect">
            <a:avLst/>
          </a:prstGeom>
          <a:solidFill>
            <a:srgbClr val="0F7C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822959" y="4078224"/>
            <a:ext cx="2211247" cy="219456"/>
          </a:xfrm>
          <a:prstGeom prst="rect">
            <a:avLst/>
          </a:prstGeom>
          <a:noFill/>
        </p:spPr>
        <p:txBody>
          <a:bodyPr wrap="square" lIns="18288" rIns="18288" anchor="t">
            <a:spAutoFit/>
          </a:bodyPr>
          <a:lstStyle/>
          <a:p>
            <a:pPr algn="l"/>
            <a:r>
              <a:rPr sz="950" b="1" i="0" spc="80">
                <a:solidFill>
                  <a:srgbClr val="0F7C74"/>
                </a:solidFill>
                <a:latin typeface="Segoe UI Semibold"/>
              </a:rPr>
              <a:t>FINDING 1 · PRE-TRAINING</a:t>
            </a:r>
          </a:p>
        </p:txBody>
      </p:sp>
      <p:sp>
        <p:nvSpPr>
          <p:cNvPr id="26" name="TextBox 25"/>
          <p:cNvSpPr txBox="1"/>
          <p:nvPr/>
        </p:nvSpPr>
        <p:spPr>
          <a:xfrm>
            <a:off x="822959" y="4334256"/>
            <a:ext cx="2211247" cy="438912"/>
          </a:xfrm>
          <a:prstGeom prst="rect">
            <a:avLst/>
          </a:prstGeom>
          <a:noFill/>
        </p:spPr>
        <p:txBody>
          <a:bodyPr wrap="square">
            <a:spAutoFit/>
          </a:bodyPr>
          <a:lstStyle/>
          <a:p>
            <a:r>
              <a:rPr sz="1300" b="1" i="0">
                <a:solidFill>
                  <a:srgbClr val="0F7C74"/>
                </a:solidFill>
                <a:latin typeface="Segoe UI"/>
              </a:rPr>
              <a:t>A ≈ C</a:t>
            </a:r>
            <a:r>
              <a:rPr sz="1300" b="0" i="0">
                <a:solidFill>
                  <a:srgbClr val="14213D"/>
                </a:solidFill>
                <a:latin typeface="Segoe UI"/>
              </a:rPr>
              <a:t>  ·  </a:t>
            </a:r>
            <a:r>
              <a:rPr sz="1300" b="1" i="0">
                <a:solidFill>
                  <a:srgbClr val="0F7C74"/>
                </a:solidFill>
                <a:latin typeface="Segoe UI"/>
              </a:rPr>
              <a:t>p = 0.63</a:t>
            </a:r>
          </a:p>
        </p:txBody>
      </p:sp>
      <p:sp>
        <p:nvSpPr>
          <p:cNvPr id="27" name="Rectangle 26"/>
          <p:cNvSpPr/>
          <p:nvPr/>
        </p:nvSpPr>
        <p:spPr>
          <a:xfrm>
            <a:off x="822959" y="4828031"/>
            <a:ext cx="2211247"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822959" y="4919472"/>
            <a:ext cx="2211247" cy="1097280"/>
          </a:xfrm>
          <a:prstGeom prst="rect">
            <a:avLst/>
          </a:prstGeom>
          <a:noFill/>
        </p:spPr>
        <p:txBody>
          <a:bodyPr wrap="square">
            <a:spAutoFit/>
          </a:bodyPr>
          <a:lstStyle/>
          <a:p>
            <a:r>
              <a:rPr sz="1200" b="0" i="0">
                <a:solidFill>
                  <a:srgbClr val="6B7280"/>
                </a:solidFill>
                <a:latin typeface="Segoe UI"/>
              </a:rPr>
              <a:t>McNemar paired test shows no statistical difference. Pre-training speeds up learning, but 2 515 crops suffice from scratch.</a:t>
            </a:r>
          </a:p>
        </p:txBody>
      </p:sp>
      <p:sp>
        <p:nvSpPr>
          <p:cNvPr id="29" name="Rounded Rectangle 28"/>
          <p:cNvSpPr/>
          <p:nvPr/>
        </p:nvSpPr>
        <p:spPr>
          <a:xfrm>
            <a:off x="3418255" y="3931920"/>
            <a:ext cx="2577007" cy="2176272"/>
          </a:xfrm>
          <a:prstGeom prst="roundRect">
            <a:avLst>
              <a:gd name="adj" fmla="val 5042"/>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Rectangle 29"/>
          <p:cNvSpPr/>
          <p:nvPr/>
        </p:nvSpPr>
        <p:spPr>
          <a:xfrm>
            <a:off x="3418255" y="3931920"/>
            <a:ext cx="2577007" cy="457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Box 30"/>
          <p:cNvSpPr txBox="1"/>
          <p:nvPr/>
        </p:nvSpPr>
        <p:spPr>
          <a:xfrm>
            <a:off x="3601135" y="4078224"/>
            <a:ext cx="2211247" cy="219456"/>
          </a:xfrm>
          <a:prstGeom prst="rect">
            <a:avLst/>
          </a:prstGeom>
          <a:noFill/>
        </p:spPr>
        <p:txBody>
          <a:bodyPr wrap="square" lIns="18288" rIns="18288" anchor="t">
            <a:spAutoFit/>
          </a:bodyPr>
          <a:lstStyle/>
          <a:p>
            <a:pPr algn="l"/>
            <a:r>
              <a:rPr sz="950" b="1" i="0" spc="80">
                <a:solidFill>
                  <a:srgbClr val="C0392B"/>
                </a:solidFill>
                <a:latin typeface="Segoe UI Semibold"/>
              </a:rPr>
              <a:t>FINDING 2 · FEATURE TRANSFER</a:t>
            </a:r>
          </a:p>
        </p:txBody>
      </p:sp>
      <p:sp>
        <p:nvSpPr>
          <p:cNvPr id="32" name="TextBox 31"/>
          <p:cNvSpPr txBox="1"/>
          <p:nvPr/>
        </p:nvSpPr>
        <p:spPr>
          <a:xfrm>
            <a:off x="3601135" y="4334256"/>
            <a:ext cx="2211247" cy="438912"/>
          </a:xfrm>
          <a:prstGeom prst="rect">
            <a:avLst/>
          </a:prstGeom>
          <a:noFill/>
        </p:spPr>
        <p:txBody>
          <a:bodyPr wrap="square">
            <a:spAutoFit/>
          </a:bodyPr>
          <a:lstStyle/>
          <a:p>
            <a:r>
              <a:rPr sz="1300" b="1" i="0">
                <a:solidFill>
                  <a:srgbClr val="C0392B"/>
                </a:solidFill>
                <a:latin typeface="Segoe UI"/>
              </a:rPr>
              <a:t>B Collapses to 42.0 %</a:t>
            </a:r>
          </a:p>
        </p:txBody>
      </p:sp>
      <p:sp>
        <p:nvSpPr>
          <p:cNvPr id="33" name="Rectangle 32"/>
          <p:cNvSpPr/>
          <p:nvPr/>
        </p:nvSpPr>
        <p:spPr>
          <a:xfrm>
            <a:off x="3601135" y="4828031"/>
            <a:ext cx="2211247"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TextBox 33"/>
          <p:cNvSpPr txBox="1"/>
          <p:nvPr/>
        </p:nvSpPr>
        <p:spPr>
          <a:xfrm>
            <a:off x="3601135" y="4919472"/>
            <a:ext cx="2211247" cy="1097280"/>
          </a:xfrm>
          <a:prstGeom prst="rect">
            <a:avLst/>
          </a:prstGeom>
          <a:noFill/>
        </p:spPr>
        <p:txBody>
          <a:bodyPr wrap="square">
            <a:spAutoFit/>
          </a:bodyPr>
          <a:lstStyle/>
          <a:p>
            <a:r>
              <a:rPr sz="1200" b="0" i="0">
                <a:solidFill>
                  <a:srgbClr val="6B7280"/>
                </a:solidFill>
                <a:latin typeface="Segoe UI"/>
              </a:rPr>
              <a:t>Off-the-shelf ImageNet filters encode natural textures, not Khmer strokes. The network must be retrained end-to-end.</a:t>
            </a:r>
          </a:p>
        </p:txBody>
      </p:sp>
      <p:sp>
        <p:nvSpPr>
          <p:cNvPr id="35" name="Rounded Rectangle 34"/>
          <p:cNvSpPr/>
          <p:nvPr/>
        </p:nvSpPr>
        <p:spPr>
          <a:xfrm>
            <a:off x="6196431" y="3931920"/>
            <a:ext cx="2577007" cy="2176272"/>
          </a:xfrm>
          <a:prstGeom prst="roundRect">
            <a:avLst>
              <a:gd name="adj" fmla="val 5042"/>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Rectangle 35"/>
          <p:cNvSpPr/>
          <p:nvPr/>
        </p:nvSpPr>
        <p:spPr>
          <a:xfrm>
            <a:off x="6196431" y="3931920"/>
            <a:ext cx="2577007" cy="457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TextBox 36"/>
          <p:cNvSpPr txBox="1"/>
          <p:nvPr/>
        </p:nvSpPr>
        <p:spPr>
          <a:xfrm>
            <a:off x="6379311" y="4078224"/>
            <a:ext cx="2211247" cy="219456"/>
          </a:xfrm>
          <a:prstGeom prst="rect">
            <a:avLst/>
          </a:prstGeom>
          <a:noFill/>
        </p:spPr>
        <p:txBody>
          <a:bodyPr wrap="square" lIns="18288" rIns="18288" anchor="t">
            <a:spAutoFit/>
          </a:bodyPr>
          <a:lstStyle/>
          <a:p>
            <a:pPr algn="l"/>
            <a:r>
              <a:rPr sz="950" b="1" i="0" spc="80">
                <a:solidFill>
                  <a:srgbClr val="C0392B"/>
                </a:solidFill>
                <a:latin typeface="Segoe UI Semibold"/>
              </a:rPr>
              <a:t>FINDING 3 · MODEL CAPACITY</a:t>
            </a:r>
          </a:p>
        </p:txBody>
      </p:sp>
      <p:sp>
        <p:nvSpPr>
          <p:cNvPr id="38" name="TextBox 37"/>
          <p:cNvSpPr txBox="1"/>
          <p:nvPr/>
        </p:nvSpPr>
        <p:spPr>
          <a:xfrm>
            <a:off x="6379311" y="4334256"/>
            <a:ext cx="2211247" cy="438912"/>
          </a:xfrm>
          <a:prstGeom prst="rect">
            <a:avLst/>
          </a:prstGeom>
          <a:noFill/>
        </p:spPr>
        <p:txBody>
          <a:bodyPr wrap="square">
            <a:spAutoFit/>
          </a:bodyPr>
          <a:lstStyle/>
          <a:p>
            <a:r>
              <a:rPr sz="1300" b="1" i="0">
                <a:solidFill>
                  <a:srgbClr val="C0392B"/>
                </a:solidFill>
                <a:latin typeface="Segoe UI"/>
              </a:rPr>
              <a:t>D Fails at 46.6 %</a:t>
            </a:r>
          </a:p>
        </p:txBody>
      </p:sp>
      <p:sp>
        <p:nvSpPr>
          <p:cNvPr id="39" name="Rectangle 38"/>
          <p:cNvSpPr/>
          <p:nvPr/>
        </p:nvSpPr>
        <p:spPr>
          <a:xfrm>
            <a:off x="6379311" y="4828031"/>
            <a:ext cx="2211247"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TextBox 39"/>
          <p:cNvSpPr txBox="1"/>
          <p:nvPr/>
        </p:nvSpPr>
        <p:spPr>
          <a:xfrm>
            <a:off x="6379311" y="4919472"/>
            <a:ext cx="2211247" cy="1097280"/>
          </a:xfrm>
          <a:prstGeom prst="rect">
            <a:avLst/>
          </a:prstGeom>
          <a:noFill/>
        </p:spPr>
        <p:txBody>
          <a:bodyPr wrap="square">
            <a:spAutoFit/>
          </a:bodyPr>
          <a:lstStyle/>
          <a:p>
            <a:r>
              <a:rPr sz="1200" b="0" i="0">
                <a:solidFill>
                  <a:srgbClr val="6B7280"/>
                </a:solidFill>
                <a:latin typeface="Segoe UI"/>
              </a:rPr>
              <a:t>A 400k-parameter CNN severely under-fits. Separating 26 intricate glyphs requires deep residual or attention capacity.</a:t>
            </a:r>
          </a:p>
        </p:txBody>
      </p:sp>
      <p:sp>
        <p:nvSpPr>
          <p:cNvPr id="41" name="Rounded Rectangle 40"/>
          <p:cNvSpPr/>
          <p:nvPr/>
        </p:nvSpPr>
        <p:spPr>
          <a:xfrm>
            <a:off x="8974607" y="3931920"/>
            <a:ext cx="2577007" cy="2176272"/>
          </a:xfrm>
          <a:prstGeom prst="roundRect">
            <a:avLst>
              <a:gd name="adj" fmla="val 5042"/>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Rectangle 41"/>
          <p:cNvSpPr/>
          <p:nvPr/>
        </p:nvSpPr>
        <p:spPr>
          <a:xfrm>
            <a:off x="8974607" y="3931920"/>
            <a:ext cx="2577007" cy="45720"/>
          </a:xfrm>
          <a:prstGeom prst="rect">
            <a:avLst/>
          </a:prstGeom>
          <a:solidFill>
            <a:srgbClr val="2F8F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Box 42"/>
          <p:cNvSpPr txBox="1"/>
          <p:nvPr/>
        </p:nvSpPr>
        <p:spPr>
          <a:xfrm>
            <a:off x="9157487" y="4078224"/>
            <a:ext cx="2211247" cy="219456"/>
          </a:xfrm>
          <a:prstGeom prst="rect">
            <a:avLst/>
          </a:prstGeom>
          <a:noFill/>
        </p:spPr>
        <p:txBody>
          <a:bodyPr wrap="square" lIns="18288" rIns="18288" anchor="t">
            <a:spAutoFit/>
          </a:bodyPr>
          <a:lstStyle/>
          <a:p>
            <a:pPr algn="l"/>
            <a:r>
              <a:rPr sz="950" b="1" i="0" spc="80">
                <a:solidFill>
                  <a:srgbClr val="2F8F4E"/>
                </a:solidFill>
                <a:latin typeface="Segoe UI Semibold"/>
              </a:rPr>
              <a:t>FINDING 4 · TRANSFORMERS</a:t>
            </a:r>
          </a:p>
        </p:txBody>
      </p:sp>
      <p:sp>
        <p:nvSpPr>
          <p:cNvPr id="44" name="TextBox 43"/>
          <p:cNvSpPr txBox="1"/>
          <p:nvPr/>
        </p:nvSpPr>
        <p:spPr>
          <a:xfrm>
            <a:off x="9157487" y="4334256"/>
            <a:ext cx="2211247" cy="438912"/>
          </a:xfrm>
          <a:prstGeom prst="rect">
            <a:avLst/>
          </a:prstGeom>
          <a:noFill/>
        </p:spPr>
        <p:txBody>
          <a:bodyPr wrap="square">
            <a:spAutoFit/>
          </a:bodyPr>
          <a:lstStyle/>
          <a:p>
            <a:r>
              <a:rPr sz="1300" b="1" i="0">
                <a:solidFill>
                  <a:srgbClr val="2F8F4E"/>
                </a:solidFill>
                <a:latin typeface="Segoe UI"/>
              </a:rPr>
              <a:t>ViT Wins: 96.1 % / 95.8 %</a:t>
            </a:r>
          </a:p>
        </p:txBody>
      </p:sp>
      <p:sp>
        <p:nvSpPr>
          <p:cNvPr id="45" name="Rectangle 44"/>
          <p:cNvSpPr/>
          <p:nvPr/>
        </p:nvSpPr>
        <p:spPr>
          <a:xfrm>
            <a:off x="9157487" y="4828031"/>
            <a:ext cx="2211247"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Box 45"/>
          <p:cNvSpPr txBox="1"/>
          <p:nvPr/>
        </p:nvSpPr>
        <p:spPr>
          <a:xfrm>
            <a:off x="9157487" y="4919472"/>
            <a:ext cx="2211247" cy="1097280"/>
          </a:xfrm>
          <a:prstGeom prst="rect">
            <a:avLst/>
          </a:prstGeom>
          <a:noFill/>
        </p:spPr>
        <p:txBody>
          <a:bodyPr wrap="square">
            <a:spAutoFit/>
          </a:bodyPr>
          <a:lstStyle/>
          <a:p>
            <a:r>
              <a:rPr sz="1200" b="0" i="0">
                <a:solidFill>
                  <a:srgbClr val="6B7280"/>
                </a:solidFill>
                <a:latin typeface="Segoe UI"/>
              </a:rPr>
              <a:t>Self-attention captures full character ligatures and improves inverted plate reading from 19.4 % to </a:t>
            </a:r>
            <a:r>
              <a:rPr sz="1200" b="1" i="0">
                <a:solidFill>
                  <a:srgbClr val="0F7C74"/>
                </a:solidFill>
                <a:latin typeface="Segoe UI"/>
              </a:rPr>
              <a:t>26.8 %</a:t>
            </a:r>
            <a:r>
              <a:rPr sz="1200" b="0" i="0">
                <a:solidFill>
                  <a:srgbClr val="6B7280"/>
                </a:solidFill>
                <a:latin typeface="Segoe UI"/>
              </a:rPr>
              <a: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ounded Rectangle 2"/>
          <p:cNvSpPr/>
          <p:nvPr/>
        </p:nvSpPr>
        <p:spPr>
          <a:xfrm>
            <a:off x="640080" y="384048"/>
            <a:ext cx="1819656" cy="292608"/>
          </a:xfrm>
          <a:prstGeom prst="roundRect">
            <a:avLst>
              <a:gd name="adj" fmla="val 50000"/>
            </a:avLst>
          </a:prstGeom>
          <a:solidFill>
            <a:srgbClr val="E2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640080" y="384048"/>
            <a:ext cx="1819656" cy="292608"/>
          </a:xfrm>
          <a:prstGeom prst="rect">
            <a:avLst/>
          </a:prstGeom>
          <a:noFill/>
        </p:spPr>
        <p:txBody>
          <a:bodyPr wrap="square" lIns="18288" rIns="18288" anchor="ctr">
            <a:spAutoFit/>
          </a:bodyPr>
          <a:lstStyle/>
          <a:p>
            <a:pPr algn="ctr"/>
            <a:r>
              <a:rPr sz="1050" b="1" i="0" spc="120">
                <a:solidFill>
                  <a:srgbClr val="0F7C74"/>
                </a:solidFill>
                <a:latin typeface="Segoe UI"/>
              </a:rPr>
              <a:t>04  ·  RESULTS</a:t>
            </a:r>
          </a:p>
        </p:txBody>
      </p:sp>
      <p:pic>
        <p:nvPicPr>
          <p:cNvPr id="5" name="Picture 4" descr="kit_logo.png"/>
          <p:cNvPicPr>
            <a:picLocks noChangeAspect="1"/>
          </p:cNvPicPr>
          <p:nvPr/>
        </p:nvPicPr>
        <p:blipFill>
          <a:blip r:embed="rId3"/>
          <a:stretch>
            <a:fillRect/>
          </a:stretch>
        </p:blipFill>
        <p:spPr>
          <a:xfrm>
            <a:off x="10929823" y="320040"/>
            <a:ext cx="621792" cy="621792"/>
          </a:xfrm>
          <a:prstGeom prst="rect">
            <a:avLst/>
          </a:prstGeom>
        </p:spPr>
      </p:pic>
      <p:sp>
        <p:nvSpPr>
          <p:cNvPr id="6" name="TextBox 5"/>
          <p:cNvSpPr txBox="1"/>
          <p:nvPr/>
        </p:nvSpPr>
        <p:spPr>
          <a:xfrm>
            <a:off x="621792" y="731520"/>
            <a:ext cx="9997135" cy="685800"/>
          </a:xfrm>
          <a:prstGeom prst="rect">
            <a:avLst/>
          </a:prstGeom>
          <a:noFill/>
        </p:spPr>
        <p:txBody>
          <a:bodyPr wrap="square" lIns="18288" rIns="18288" anchor="ctr">
            <a:spAutoFit/>
          </a:bodyPr>
          <a:lstStyle/>
          <a:p>
            <a:pPr algn="l"/>
            <a:r>
              <a:rPr sz="3000" b="0" i="0">
                <a:solidFill>
                  <a:srgbClr val="14213D"/>
                </a:solidFill>
                <a:latin typeface="Segoe UI Semibold"/>
              </a:rPr>
              <a:t>Learning curves</a:t>
            </a:r>
          </a:p>
        </p:txBody>
      </p:sp>
      <p:sp>
        <p:nvSpPr>
          <p:cNvPr id="7" name="Rectangle 6"/>
          <p:cNvSpPr/>
          <p:nvPr/>
        </p:nvSpPr>
        <p:spPr>
          <a:xfrm>
            <a:off x="640080" y="6601968"/>
            <a:ext cx="1368073" cy="27432"/>
          </a:xfrm>
          <a:prstGeom prst="rect">
            <a:avLst/>
          </a:prstGeom>
          <a:solidFill>
            <a:srgbClr val="0F7C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640080" y="6336792"/>
            <a:ext cx="1368073" cy="237744"/>
          </a:xfrm>
          <a:prstGeom prst="rect">
            <a:avLst/>
          </a:prstGeom>
          <a:noFill/>
        </p:spPr>
        <p:txBody>
          <a:bodyPr wrap="square" lIns="18288" rIns="18288" anchor="t">
            <a:spAutoFit/>
          </a:bodyPr>
          <a:lstStyle/>
          <a:p>
            <a:pPr algn="l"/>
            <a:r>
              <a:rPr sz="850" b="0" i="0">
                <a:solidFill>
                  <a:srgbClr val="6B7280"/>
                </a:solidFill>
                <a:latin typeface="Segoe UI"/>
              </a:rPr>
              <a:t>Problem</a:t>
            </a:r>
          </a:p>
        </p:txBody>
      </p:sp>
      <p:sp>
        <p:nvSpPr>
          <p:cNvPr id="9" name="Rectangle 8"/>
          <p:cNvSpPr/>
          <p:nvPr/>
        </p:nvSpPr>
        <p:spPr>
          <a:xfrm>
            <a:off x="2081305" y="6601968"/>
            <a:ext cx="1368073" cy="27432"/>
          </a:xfrm>
          <a:prstGeom prst="rect">
            <a:avLst/>
          </a:prstGeom>
          <a:solidFill>
            <a:srgbClr val="0F7C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2081305" y="6336792"/>
            <a:ext cx="1368073" cy="237744"/>
          </a:xfrm>
          <a:prstGeom prst="rect">
            <a:avLst/>
          </a:prstGeom>
          <a:noFill/>
        </p:spPr>
        <p:txBody>
          <a:bodyPr wrap="square" lIns="18288" rIns="18288" anchor="t">
            <a:spAutoFit/>
          </a:bodyPr>
          <a:lstStyle/>
          <a:p>
            <a:pPr algn="l"/>
            <a:r>
              <a:rPr sz="850" b="0" i="0">
                <a:solidFill>
                  <a:srgbClr val="6B7280"/>
                </a:solidFill>
                <a:latin typeface="Segoe UI"/>
              </a:rPr>
              <a:t>Data</a:t>
            </a:r>
          </a:p>
        </p:txBody>
      </p:sp>
      <p:sp>
        <p:nvSpPr>
          <p:cNvPr id="11" name="Rectangle 10"/>
          <p:cNvSpPr/>
          <p:nvPr/>
        </p:nvSpPr>
        <p:spPr>
          <a:xfrm>
            <a:off x="3522530" y="6601968"/>
            <a:ext cx="1368073" cy="27432"/>
          </a:xfrm>
          <a:prstGeom prst="rect">
            <a:avLst/>
          </a:prstGeom>
          <a:solidFill>
            <a:srgbClr val="0F7C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3522530" y="6336792"/>
            <a:ext cx="1368073" cy="237744"/>
          </a:xfrm>
          <a:prstGeom prst="rect">
            <a:avLst/>
          </a:prstGeom>
          <a:noFill/>
        </p:spPr>
        <p:txBody>
          <a:bodyPr wrap="square" lIns="18288" rIns="18288" anchor="t">
            <a:spAutoFit/>
          </a:bodyPr>
          <a:lstStyle/>
          <a:p>
            <a:pPr algn="l"/>
            <a:r>
              <a:rPr sz="850" b="0" i="0">
                <a:solidFill>
                  <a:srgbClr val="6B7280"/>
                </a:solidFill>
                <a:latin typeface="Segoe UI"/>
              </a:rPr>
              <a:t>Method</a:t>
            </a:r>
          </a:p>
        </p:txBody>
      </p:sp>
      <p:sp>
        <p:nvSpPr>
          <p:cNvPr id="13" name="Rectangle 12"/>
          <p:cNvSpPr/>
          <p:nvPr/>
        </p:nvSpPr>
        <p:spPr>
          <a:xfrm>
            <a:off x="4963755" y="6601968"/>
            <a:ext cx="1368073" cy="45720"/>
          </a:xfrm>
          <a:prstGeom prst="rect">
            <a:avLst/>
          </a:prstGeom>
          <a:solidFill>
            <a:srgbClr val="E09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963755" y="6336792"/>
            <a:ext cx="1368073" cy="237744"/>
          </a:xfrm>
          <a:prstGeom prst="rect">
            <a:avLst/>
          </a:prstGeom>
          <a:noFill/>
        </p:spPr>
        <p:txBody>
          <a:bodyPr wrap="square" lIns="18288" rIns="18288" anchor="t">
            <a:spAutoFit/>
          </a:bodyPr>
          <a:lstStyle/>
          <a:p>
            <a:pPr algn="l"/>
            <a:r>
              <a:rPr sz="850" b="1" i="0">
                <a:solidFill>
                  <a:srgbClr val="14213D"/>
                </a:solidFill>
                <a:latin typeface="Segoe UI"/>
              </a:rPr>
              <a:t>Results</a:t>
            </a:r>
          </a:p>
        </p:txBody>
      </p:sp>
      <p:sp>
        <p:nvSpPr>
          <p:cNvPr id="15" name="Rectangle 14"/>
          <p:cNvSpPr/>
          <p:nvPr/>
        </p:nvSpPr>
        <p:spPr>
          <a:xfrm>
            <a:off x="6404980" y="6601968"/>
            <a:ext cx="1368073" cy="2743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6404980" y="6336792"/>
            <a:ext cx="1368073" cy="237744"/>
          </a:xfrm>
          <a:prstGeom prst="rect">
            <a:avLst/>
          </a:prstGeom>
          <a:noFill/>
        </p:spPr>
        <p:txBody>
          <a:bodyPr wrap="square" lIns="18288" rIns="18288" anchor="t">
            <a:spAutoFit/>
          </a:bodyPr>
          <a:lstStyle/>
          <a:p>
            <a:pPr algn="l"/>
            <a:r>
              <a:rPr sz="850" b="0" i="0">
                <a:solidFill>
                  <a:srgbClr val="6B7280"/>
                </a:solidFill>
                <a:latin typeface="Segoe UI"/>
              </a:rPr>
              <a:t>Analysis</a:t>
            </a:r>
          </a:p>
        </p:txBody>
      </p:sp>
      <p:sp>
        <p:nvSpPr>
          <p:cNvPr id="17" name="Rectangle 16"/>
          <p:cNvSpPr/>
          <p:nvPr/>
        </p:nvSpPr>
        <p:spPr>
          <a:xfrm>
            <a:off x="7846205" y="6601968"/>
            <a:ext cx="1368073" cy="2743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846205" y="6336792"/>
            <a:ext cx="1368073" cy="237744"/>
          </a:xfrm>
          <a:prstGeom prst="rect">
            <a:avLst/>
          </a:prstGeom>
          <a:noFill/>
        </p:spPr>
        <p:txBody>
          <a:bodyPr wrap="square" lIns="18288" rIns="18288" anchor="t">
            <a:spAutoFit/>
          </a:bodyPr>
          <a:lstStyle/>
          <a:p>
            <a:pPr algn="l"/>
            <a:r>
              <a:rPr sz="850" b="0" i="0">
                <a:solidFill>
                  <a:srgbClr val="6B7280"/>
                </a:solidFill>
                <a:latin typeface="Segoe UI"/>
              </a:rPr>
              <a:t>Honesty</a:t>
            </a:r>
          </a:p>
        </p:txBody>
      </p:sp>
      <p:sp>
        <p:nvSpPr>
          <p:cNvPr id="19" name="Rectangle 18"/>
          <p:cNvSpPr/>
          <p:nvPr/>
        </p:nvSpPr>
        <p:spPr>
          <a:xfrm>
            <a:off x="9287430" y="6601968"/>
            <a:ext cx="1368073" cy="2743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9287430" y="6336792"/>
            <a:ext cx="1368073" cy="237744"/>
          </a:xfrm>
          <a:prstGeom prst="rect">
            <a:avLst/>
          </a:prstGeom>
          <a:noFill/>
        </p:spPr>
        <p:txBody>
          <a:bodyPr wrap="square" lIns="18288" rIns="18288" anchor="t">
            <a:spAutoFit/>
          </a:bodyPr>
          <a:lstStyle/>
          <a:p>
            <a:pPr algn="l"/>
            <a:r>
              <a:rPr sz="850" b="0" i="0">
                <a:solidFill>
                  <a:srgbClr val="6B7280"/>
                </a:solidFill>
                <a:latin typeface="Segoe UI"/>
              </a:rPr>
              <a:t>Conclusion</a:t>
            </a:r>
          </a:p>
        </p:txBody>
      </p:sp>
      <p:sp>
        <p:nvSpPr>
          <p:cNvPr id="21" name="TextBox 20"/>
          <p:cNvSpPr txBox="1"/>
          <p:nvPr/>
        </p:nvSpPr>
        <p:spPr>
          <a:xfrm>
            <a:off x="10820095" y="6373368"/>
            <a:ext cx="731520" cy="274320"/>
          </a:xfrm>
          <a:prstGeom prst="rect">
            <a:avLst/>
          </a:prstGeom>
          <a:noFill/>
        </p:spPr>
        <p:txBody>
          <a:bodyPr wrap="square" lIns="18288" rIns="18288" anchor="t">
            <a:spAutoFit/>
          </a:bodyPr>
          <a:lstStyle/>
          <a:p>
            <a:pPr algn="r"/>
            <a:r>
              <a:rPr sz="1100" b="1" i="0">
                <a:solidFill>
                  <a:srgbClr val="0F7C74"/>
                </a:solidFill>
                <a:latin typeface="Segoe UI Semibold"/>
              </a:rPr>
              <a:t>9</a:t>
            </a:r>
          </a:p>
        </p:txBody>
      </p:sp>
      <p:sp>
        <p:nvSpPr>
          <p:cNvPr id="22" name="Rounded Rectangle 21"/>
          <p:cNvSpPr/>
          <p:nvPr/>
        </p:nvSpPr>
        <p:spPr>
          <a:xfrm>
            <a:off x="640080" y="1600200"/>
            <a:ext cx="10911535" cy="3337560"/>
          </a:xfrm>
          <a:prstGeom prst="roundRect">
            <a:avLst>
              <a:gd name="adj" fmla="val 3287"/>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3" name="Picture 22" descr="fig2_learning_curves.png"/>
          <p:cNvPicPr>
            <a:picLocks noChangeAspect="1"/>
          </p:cNvPicPr>
          <p:nvPr/>
        </p:nvPicPr>
        <p:blipFill>
          <a:blip r:embed="rId4"/>
          <a:stretch>
            <a:fillRect/>
          </a:stretch>
        </p:blipFill>
        <p:spPr>
          <a:xfrm>
            <a:off x="2084679" y="1764792"/>
            <a:ext cx="8022335" cy="3008375"/>
          </a:xfrm>
          <a:prstGeom prst="rect">
            <a:avLst/>
          </a:prstGeom>
        </p:spPr>
      </p:pic>
      <p:sp>
        <p:nvSpPr>
          <p:cNvPr id="24" name="Rounded Rectangle 23"/>
          <p:cNvSpPr/>
          <p:nvPr/>
        </p:nvSpPr>
        <p:spPr>
          <a:xfrm>
            <a:off x="640080" y="5074920"/>
            <a:ext cx="3484778" cy="1051560"/>
          </a:xfrm>
          <a:prstGeom prst="roundRect">
            <a:avLst>
              <a:gd name="adj" fmla="val 10434"/>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Rectangle 24"/>
          <p:cNvSpPr/>
          <p:nvPr/>
        </p:nvSpPr>
        <p:spPr>
          <a:xfrm>
            <a:off x="640080" y="5276088"/>
            <a:ext cx="64008" cy="649224"/>
          </a:xfrm>
          <a:prstGeom prst="rect">
            <a:avLst/>
          </a:prstGeom>
          <a:solidFill>
            <a:srgbClr val="0F7C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896112" y="5148072"/>
            <a:ext cx="3119018" cy="905255"/>
          </a:xfrm>
          <a:prstGeom prst="rect">
            <a:avLst/>
          </a:prstGeom>
          <a:noFill/>
        </p:spPr>
        <p:txBody>
          <a:bodyPr wrap="square" anchor="ctr">
            <a:spAutoFit/>
          </a:bodyPr>
          <a:lstStyle/>
          <a:p>
            <a:r>
              <a:rPr sz="2700" b="1" i="0">
                <a:solidFill>
                  <a:srgbClr val="0F7C74"/>
                </a:solidFill>
                <a:latin typeface="Segoe UI Semibold"/>
              </a:rPr>
              <a:t>5 vs 20</a:t>
            </a:r>
          </a:p>
          <a:p>
            <a:r>
              <a:rPr sz="1000" b="0" i="0">
                <a:solidFill>
                  <a:srgbClr val="6B7280"/>
                </a:solidFill>
                <a:latin typeface="Segoe UI"/>
              </a:rPr>
              <a:t>epochs to 85 % — C vs A</a:t>
            </a:r>
          </a:p>
        </p:txBody>
      </p:sp>
      <p:sp>
        <p:nvSpPr>
          <p:cNvPr id="27" name="Rounded Rectangle 26"/>
          <p:cNvSpPr/>
          <p:nvPr/>
        </p:nvSpPr>
        <p:spPr>
          <a:xfrm>
            <a:off x="4353458" y="5074920"/>
            <a:ext cx="3484778" cy="1051560"/>
          </a:xfrm>
          <a:prstGeom prst="roundRect">
            <a:avLst>
              <a:gd name="adj" fmla="val 10434"/>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Rectangle 27"/>
          <p:cNvSpPr/>
          <p:nvPr/>
        </p:nvSpPr>
        <p:spPr>
          <a:xfrm>
            <a:off x="4353458" y="5276088"/>
            <a:ext cx="64008" cy="649224"/>
          </a:xfrm>
          <a:prstGeom prst="rect">
            <a:avLst/>
          </a:prstGeom>
          <a:solidFill>
            <a:srgbClr val="E09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4609490" y="5148072"/>
            <a:ext cx="3119018" cy="905255"/>
          </a:xfrm>
          <a:prstGeom prst="rect">
            <a:avLst/>
          </a:prstGeom>
          <a:noFill/>
        </p:spPr>
        <p:txBody>
          <a:bodyPr wrap="square" anchor="ctr">
            <a:spAutoFit/>
          </a:bodyPr>
          <a:lstStyle/>
          <a:p>
            <a:r>
              <a:rPr sz="2700" b="1" i="0">
                <a:solidFill>
                  <a:srgbClr val="E09A1A"/>
                </a:solidFill>
                <a:latin typeface="Segoe UI Semibold"/>
              </a:rPr>
              <a:t>97–99 %</a:t>
            </a:r>
          </a:p>
          <a:p>
            <a:r>
              <a:rPr sz="1000" b="0" i="0">
                <a:solidFill>
                  <a:srgbClr val="6B7280"/>
                </a:solidFill>
                <a:latin typeface="Segoe UI"/>
              </a:rPr>
              <a:t>train acc A, C — mild over-fit</a:t>
            </a:r>
          </a:p>
        </p:txBody>
      </p:sp>
      <p:sp>
        <p:nvSpPr>
          <p:cNvPr id="30" name="Rounded Rectangle 29"/>
          <p:cNvSpPr/>
          <p:nvPr/>
        </p:nvSpPr>
        <p:spPr>
          <a:xfrm>
            <a:off x="8066836" y="5074920"/>
            <a:ext cx="3484778" cy="1051560"/>
          </a:xfrm>
          <a:prstGeom prst="roundRect">
            <a:avLst>
              <a:gd name="adj" fmla="val 10434"/>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Rectangle 30"/>
          <p:cNvSpPr/>
          <p:nvPr/>
        </p:nvSpPr>
        <p:spPr>
          <a:xfrm>
            <a:off x="8066836" y="5276088"/>
            <a:ext cx="64008" cy="64922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8322868" y="5148072"/>
            <a:ext cx="3119018" cy="905255"/>
          </a:xfrm>
          <a:prstGeom prst="rect">
            <a:avLst/>
          </a:prstGeom>
          <a:noFill/>
        </p:spPr>
        <p:txBody>
          <a:bodyPr wrap="square" anchor="ctr">
            <a:spAutoFit/>
          </a:bodyPr>
          <a:lstStyle/>
          <a:p>
            <a:r>
              <a:rPr sz="2700" b="1" i="0">
                <a:solidFill>
                  <a:srgbClr val="C0392B"/>
                </a:solidFill>
                <a:latin typeface="Segoe UI Semibold"/>
              </a:rPr>
              <a:t>&lt; 60 %</a:t>
            </a:r>
          </a:p>
          <a:p>
            <a:r>
              <a:rPr sz="1000" b="0" i="0">
                <a:solidFill>
                  <a:srgbClr val="6B7280"/>
                </a:solidFill>
                <a:latin typeface="Segoe UI"/>
              </a:rPr>
              <a:t>train acc B, D — under-fit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ounded Rectangle 2"/>
          <p:cNvSpPr/>
          <p:nvPr/>
        </p:nvSpPr>
        <p:spPr>
          <a:xfrm>
            <a:off x="640080" y="384048"/>
            <a:ext cx="1819656" cy="292608"/>
          </a:xfrm>
          <a:prstGeom prst="roundRect">
            <a:avLst>
              <a:gd name="adj" fmla="val 50000"/>
            </a:avLst>
          </a:prstGeom>
          <a:solidFill>
            <a:srgbClr val="E2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640080" y="384048"/>
            <a:ext cx="1819656" cy="292608"/>
          </a:xfrm>
          <a:prstGeom prst="rect">
            <a:avLst/>
          </a:prstGeom>
          <a:noFill/>
        </p:spPr>
        <p:txBody>
          <a:bodyPr wrap="square" lIns="18288" rIns="18288" anchor="ctr">
            <a:spAutoFit/>
          </a:bodyPr>
          <a:lstStyle/>
          <a:p>
            <a:pPr algn="ctr"/>
            <a:r>
              <a:rPr sz="1050" b="1" i="0" spc="120">
                <a:solidFill>
                  <a:srgbClr val="0F7C74"/>
                </a:solidFill>
                <a:latin typeface="Segoe UI"/>
              </a:rPr>
              <a:t>04  ·  RESULTS</a:t>
            </a:r>
          </a:p>
        </p:txBody>
      </p:sp>
      <p:pic>
        <p:nvPicPr>
          <p:cNvPr id="5" name="Picture 4" descr="kit_logo.png"/>
          <p:cNvPicPr>
            <a:picLocks noChangeAspect="1"/>
          </p:cNvPicPr>
          <p:nvPr/>
        </p:nvPicPr>
        <p:blipFill>
          <a:blip r:embed="rId3"/>
          <a:stretch>
            <a:fillRect/>
          </a:stretch>
        </p:blipFill>
        <p:spPr>
          <a:xfrm>
            <a:off x="10929823" y="320040"/>
            <a:ext cx="621792" cy="621792"/>
          </a:xfrm>
          <a:prstGeom prst="rect">
            <a:avLst/>
          </a:prstGeom>
        </p:spPr>
      </p:pic>
      <p:sp>
        <p:nvSpPr>
          <p:cNvPr id="6" name="TextBox 5"/>
          <p:cNvSpPr txBox="1"/>
          <p:nvPr/>
        </p:nvSpPr>
        <p:spPr>
          <a:xfrm>
            <a:off x="621792" y="731520"/>
            <a:ext cx="9997135" cy="685800"/>
          </a:xfrm>
          <a:prstGeom prst="rect">
            <a:avLst/>
          </a:prstGeom>
          <a:noFill/>
        </p:spPr>
        <p:txBody>
          <a:bodyPr wrap="square" lIns="18288" rIns="18288" anchor="ctr">
            <a:spAutoFit/>
          </a:bodyPr>
          <a:lstStyle/>
          <a:p>
            <a:pPr algn="l"/>
            <a:r>
              <a:rPr sz="3000" b="0" i="0">
                <a:solidFill>
                  <a:srgbClr val="14213D"/>
                </a:solidFill>
                <a:latin typeface="Segoe UI Semibold"/>
              </a:rPr>
              <a:t>Tuning C — selected on validation</a:t>
            </a:r>
          </a:p>
        </p:txBody>
      </p:sp>
      <p:sp>
        <p:nvSpPr>
          <p:cNvPr id="7" name="Rectangle 6"/>
          <p:cNvSpPr/>
          <p:nvPr/>
        </p:nvSpPr>
        <p:spPr>
          <a:xfrm>
            <a:off x="640080" y="6601968"/>
            <a:ext cx="1368073" cy="27432"/>
          </a:xfrm>
          <a:prstGeom prst="rect">
            <a:avLst/>
          </a:prstGeom>
          <a:solidFill>
            <a:srgbClr val="0F7C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640080" y="6336792"/>
            <a:ext cx="1368073" cy="237744"/>
          </a:xfrm>
          <a:prstGeom prst="rect">
            <a:avLst/>
          </a:prstGeom>
          <a:noFill/>
        </p:spPr>
        <p:txBody>
          <a:bodyPr wrap="square" lIns="18288" rIns="18288" anchor="t">
            <a:spAutoFit/>
          </a:bodyPr>
          <a:lstStyle/>
          <a:p>
            <a:pPr algn="l"/>
            <a:r>
              <a:rPr sz="850" b="0" i="0">
                <a:solidFill>
                  <a:srgbClr val="6B7280"/>
                </a:solidFill>
                <a:latin typeface="Segoe UI"/>
              </a:rPr>
              <a:t>Problem</a:t>
            </a:r>
          </a:p>
        </p:txBody>
      </p:sp>
      <p:sp>
        <p:nvSpPr>
          <p:cNvPr id="9" name="Rectangle 8"/>
          <p:cNvSpPr/>
          <p:nvPr/>
        </p:nvSpPr>
        <p:spPr>
          <a:xfrm>
            <a:off x="2081305" y="6601968"/>
            <a:ext cx="1368073" cy="27432"/>
          </a:xfrm>
          <a:prstGeom prst="rect">
            <a:avLst/>
          </a:prstGeom>
          <a:solidFill>
            <a:srgbClr val="0F7C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2081305" y="6336792"/>
            <a:ext cx="1368073" cy="237744"/>
          </a:xfrm>
          <a:prstGeom prst="rect">
            <a:avLst/>
          </a:prstGeom>
          <a:noFill/>
        </p:spPr>
        <p:txBody>
          <a:bodyPr wrap="square" lIns="18288" rIns="18288" anchor="t">
            <a:spAutoFit/>
          </a:bodyPr>
          <a:lstStyle/>
          <a:p>
            <a:pPr algn="l"/>
            <a:r>
              <a:rPr sz="850" b="0" i="0">
                <a:solidFill>
                  <a:srgbClr val="6B7280"/>
                </a:solidFill>
                <a:latin typeface="Segoe UI"/>
              </a:rPr>
              <a:t>Data</a:t>
            </a:r>
          </a:p>
        </p:txBody>
      </p:sp>
      <p:sp>
        <p:nvSpPr>
          <p:cNvPr id="11" name="Rectangle 10"/>
          <p:cNvSpPr/>
          <p:nvPr/>
        </p:nvSpPr>
        <p:spPr>
          <a:xfrm>
            <a:off x="3522530" y="6601968"/>
            <a:ext cx="1368073" cy="27432"/>
          </a:xfrm>
          <a:prstGeom prst="rect">
            <a:avLst/>
          </a:prstGeom>
          <a:solidFill>
            <a:srgbClr val="0F7C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3522530" y="6336792"/>
            <a:ext cx="1368073" cy="237744"/>
          </a:xfrm>
          <a:prstGeom prst="rect">
            <a:avLst/>
          </a:prstGeom>
          <a:noFill/>
        </p:spPr>
        <p:txBody>
          <a:bodyPr wrap="square" lIns="18288" rIns="18288" anchor="t">
            <a:spAutoFit/>
          </a:bodyPr>
          <a:lstStyle/>
          <a:p>
            <a:pPr algn="l"/>
            <a:r>
              <a:rPr sz="850" b="0" i="0">
                <a:solidFill>
                  <a:srgbClr val="6B7280"/>
                </a:solidFill>
                <a:latin typeface="Segoe UI"/>
              </a:rPr>
              <a:t>Method</a:t>
            </a:r>
          </a:p>
        </p:txBody>
      </p:sp>
      <p:sp>
        <p:nvSpPr>
          <p:cNvPr id="13" name="Rectangle 12"/>
          <p:cNvSpPr/>
          <p:nvPr/>
        </p:nvSpPr>
        <p:spPr>
          <a:xfrm>
            <a:off x="4963755" y="6601968"/>
            <a:ext cx="1368073" cy="45720"/>
          </a:xfrm>
          <a:prstGeom prst="rect">
            <a:avLst/>
          </a:prstGeom>
          <a:solidFill>
            <a:srgbClr val="E09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963755" y="6336792"/>
            <a:ext cx="1368073" cy="237744"/>
          </a:xfrm>
          <a:prstGeom prst="rect">
            <a:avLst/>
          </a:prstGeom>
          <a:noFill/>
        </p:spPr>
        <p:txBody>
          <a:bodyPr wrap="square" lIns="18288" rIns="18288" anchor="t">
            <a:spAutoFit/>
          </a:bodyPr>
          <a:lstStyle/>
          <a:p>
            <a:pPr algn="l"/>
            <a:r>
              <a:rPr sz="850" b="1" i="0">
                <a:solidFill>
                  <a:srgbClr val="14213D"/>
                </a:solidFill>
                <a:latin typeface="Segoe UI"/>
              </a:rPr>
              <a:t>Results</a:t>
            </a:r>
          </a:p>
        </p:txBody>
      </p:sp>
      <p:sp>
        <p:nvSpPr>
          <p:cNvPr id="15" name="Rectangle 14"/>
          <p:cNvSpPr/>
          <p:nvPr/>
        </p:nvSpPr>
        <p:spPr>
          <a:xfrm>
            <a:off x="6404980" y="6601968"/>
            <a:ext cx="1368073" cy="2743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6404980" y="6336792"/>
            <a:ext cx="1368073" cy="237744"/>
          </a:xfrm>
          <a:prstGeom prst="rect">
            <a:avLst/>
          </a:prstGeom>
          <a:noFill/>
        </p:spPr>
        <p:txBody>
          <a:bodyPr wrap="square" lIns="18288" rIns="18288" anchor="t">
            <a:spAutoFit/>
          </a:bodyPr>
          <a:lstStyle/>
          <a:p>
            <a:pPr algn="l"/>
            <a:r>
              <a:rPr sz="850" b="0" i="0">
                <a:solidFill>
                  <a:srgbClr val="6B7280"/>
                </a:solidFill>
                <a:latin typeface="Segoe UI"/>
              </a:rPr>
              <a:t>Analysis</a:t>
            </a:r>
          </a:p>
        </p:txBody>
      </p:sp>
      <p:sp>
        <p:nvSpPr>
          <p:cNvPr id="17" name="Rectangle 16"/>
          <p:cNvSpPr/>
          <p:nvPr/>
        </p:nvSpPr>
        <p:spPr>
          <a:xfrm>
            <a:off x="7846205" y="6601968"/>
            <a:ext cx="1368073" cy="2743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846205" y="6336792"/>
            <a:ext cx="1368073" cy="237744"/>
          </a:xfrm>
          <a:prstGeom prst="rect">
            <a:avLst/>
          </a:prstGeom>
          <a:noFill/>
        </p:spPr>
        <p:txBody>
          <a:bodyPr wrap="square" lIns="18288" rIns="18288" anchor="t">
            <a:spAutoFit/>
          </a:bodyPr>
          <a:lstStyle/>
          <a:p>
            <a:pPr algn="l"/>
            <a:r>
              <a:rPr sz="850" b="0" i="0">
                <a:solidFill>
                  <a:srgbClr val="6B7280"/>
                </a:solidFill>
                <a:latin typeface="Segoe UI"/>
              </a:rPr>
              <a:t>Honesty</a:t>
            </a:r>
          </a:p>
        </p:txBody>
      </p:sp>
      <p:sp>
        <p:nvSpPr>
          <p:cNvPr id="19" name="Rectangle 18"/>
          <p:cNvSpPr/>
          <p:nvPr/>
        </p:nvSpPr>
        <p:spPr>
          <a:xfrm>
            <a:off x="9287430" y="6601968"/>
            <a:ext cx="1368073" cy="2743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9287430" y="6336792"/>
            <a:ext cx="1368073" cy="237744"/>
          </a:xfrm>
          <a:prstGeom prst="rect">
            <a:avLst/>
          </a:prstGeom>
          <a:noFill/>
        </p:spPr>
        <p:txBody>
          <a:bodyPr wrap="square" lIns="18288" rIns="18288" anchor="t">
            <a:spAutoFit/>
          </a:bodyPr>
          <a:lstStyle/>
          <a:p>
            <a:pPr algn="l"/>
            <a:r>
              <a:rPr sz="850" b="0" i="0">
                <a:solidFill>
                  <a:srgbClr val="6B7280"/>
                </a:solidFill>
                <a:latin typeface="Segoe UI"/>
              </a:rPr>
              <a:t>Conclusion</a:t>
            </a:r>
          </a:p>
        </p:txBody>
      </p:sp>
      <p:sp>
        <p:nvSpPr>
          <p:cNvPr id="21" name="TextBox 20"/>
          <p:cNvSpPr txBox="1"/>
          <p:nvPr/>
        </p:nvSpPr>
        <p:spPr>
          <a:xfrm>
            <a:off x="10820095" y="6373368"/>
            <a:ext cx="731520" cy="274320"/>
          </a:xfrm>
          <a:prstGeom prst="rect">
            <a:avLst/>
          </a:prstGeom>
          <a:noFill/>
        </p:spPr>
        <p:txBody>
          <a:bodyPr wrap="square" lIns="18288" rIns="18288" anchor="t">
            <a:spAutoFit/>
          </a:bodyPr>
          <a:lstStyle/>
          <a:p>
            <a:pPr algn="r"/>
            <a:r>
              <a:rPr sz="1100" b="1" i="0">
                <a:solidFill>
                  <a:srgbClr val="0F7C74"/>
                </a:solidFill>
                <a:latin typeface="Segoe UI Semibold"/>
              </a:rPr>
              <a:t>10</a:t>
            </a:r>
          </a:p>
        </p:txBody>
      </p:sp>
      <p:graphicFrame>
        <p:nvGraphicFramePr>
          <p:cNvPr id="22" name="Table 21"/>
          <p:cNvGraphicFramePr>
            <a:graphicFrameLocks noGrp="1"/>
          </p:cNvGraphicFramePr>
          <p:nvPr/>
        </p:nvGraphicFramePr>
        <p:xfrm>
          <a:off x="640080" y="1645920"/>
          <a:ext cx="5486400" cy="1682496"/>
        </p:xfrm>
        <a:graphic>
          <a:graphicData uri="http://schemas.openxmlformats.org/drawingml/2006/table">
            <a:tbl>
              <a:tblPr>
                <a:tableStyleId>{5C22544A-7EE6-4342-B048-85BDC9FD1C3A}</a:tableStyleId>
              </a:tblPr>
              <a:tblGrid>
                <a:gridCol w="173736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tblGrid>
              <a:tr h="420624">
                <a:tc>
                  <a:txBody>
                    <a:bodyPr/>
                    <a:lstStyle/>
                    <a:p>
                      <a:r>
                        <a:rPr sz="1080" b="1" i="0" spc="80">
                          <a:solidFill>
                            <a:srgbClr val="FFFFFF"/>
                          </a:solidFill>
                          <a:latin typeface="Segoe UI"/>
                        </a:rPr>
                        <a:t>LEARNING RATE</a:t>
                      </a:r>
                    </a:p>
                  </a:txBody>
                  <a:tcPr marL="127000" marR="127000" marT="25400" marB="25400" anchor="ctr">
                    <a:solidFill>
                      <a:srgbClr val="14213D"/>
                    </a:solidFill>
                  </a:tcPr>
                </a:tc>
                <a:tc>
                  <a:txBody>
                    <a:bodyPr/>
                    <a:lstStyle/>
                    <a:p>
                      <a:r>
                        <a:rPr sz="1080" b="1" i="0" spc="80">
                          <a:solidFill>
                            <a:srgbClr val="FFFFFF"/>
                          </a:solidFill>
                          <a:latin typeface="Segoe UI"/>
                        </a:rPr>
                        <a:t>WD = 0</a:t>
                      </a:r>
                    </a:p>
                  </a:txBody>
                  <a:tcPr marL="127000" marR="127000" marT="25400" marB="25400" anchor="ctr">
                    <a:solidFill>
                      <a:srgbClr val="14213D"/>
                    </a:solidFill>
                  </a:tcPr>
                </a:tc>
                <a:tc>
                  <a:txBody>
                    <a:bodyPr/>
                    <a:lstStyle/>
                    <a:p>
                      <a:r>
                        <a:rPr sz="1080" b="1" i="0" spc="80">
                          <a:solidFill>
                            <a:srgbClr val="FFFFFF"/>
                          </a:solidFill>
                          <a:latin typeface="Segoe UI"/>
                        </a:rPr>
                        <a:t>WD = 1E-4</a:t>
                      </a:r>
                    </a:p>
                  </a:txBody>
                  <a:tcPr marL="127000" marR="127000" marT="25400" marB="25400" anchor="ctr">
                    <a:solidFill>
                      <a:srgbClr val="14213D"/>
                    </a:solidFill>
                  </a:tcPr>
                </a:tc>
                <a:extLst>
                  <a:ext uri="{0D108BD9-81ED-4DB2-BD59-A6C34878D82A}">
                    <a16:rowId xmlns:a16="http://schemas.microsoft.com/office/drawing/2014/main" val="10000"/>
                  </a:ext>
                </a:extLst>
              </a:tr>
              <a:tr h="420624">
                <a:tc>
                  <a:txBody>
                    <a:bodyPr/>
                    <a:lstStyle/>
                    <a:p>
                      <a:r>
                        <a:rPr sz="1500" b="0" i="0">
                          <a:solidFill>
                            <a:srgbClr val="14213D"/>
                          </a:solidFill>
                          <a:latin typeface="Segoe UI"/>
                        </a:rPr>
                        <a:t>1e-4</a:t>
                      </a:r>
                    </a:p>
                  </a:txBody>
                  <a:tcPr marL="127000" marR="127000" marT="25400" marB="25400" anchor="ctr">
                    <a:solidFill>
                      <a:srgbClr val="FFFFFF"/>
                    </a:solidFill>
                  </a:tcPr>
                </a:tc>
                <a:tc>
                  <a:txBody>
                    <a:bodyPr/>
                    <a:lstStyle/>
                    <a:p>
                      <a:r>
                        <a:rPr sz="1500" b="0" i="0">
                          <a:solidFill>
                            <a:srgbClr val="14213D"/>
                          </a:solidFill>
                          <a:latin typeface="Segoe UI"/>
                        </a:rPr>
                        <a:t>92.6 %</a:t>
                      </a:r>
                    </a:p>
                  </a:txBody>
                  <a:tcPr marL="127000" marR="127000" marT="25400" marB="25400" anchor="ctr">
                    <a:solidFill>
                      <a:srgbClr val="FFFFFF"/>
                    </a:solidFill>
                  </a:tcPr>
                </a:tc>
                <a:tc>
                  <a:txBody>
                    <a:bodyPr/>
                    <a:lstStyle/>
                    <a:p>
                      <a:r>
                        <a:rPr sz="1500" b="0" i="0">
                          <a:solidFill>
                            <a:srgbClr val="14213D"/>
                          </a:solidFill>
                          <a:latin typeface="Segoe UI"/>
                        </a:rPr>
                        <a:t>93.2 %</a:t>
                      </a:r>
                    </a:p>
                  </a:txBody>
                  <a:tcPr marL="127000" marR="127000" marT="25400" marB="25400" anchor="ctr">
                    <a:solidFill>
                      <a:srgbClr val="FFFFFF"/>
                    </a:solidFill>
                  </a:tcPr>
                </a:tc>
                <a:extLst>
                  <a:ext uri="{0D108BD9-81ED-4DB2-BD59-A6C34878D82A}">
                    <a16:rowId xmlns:a16="http://schemas.microsoft.com/office/drawing/2014/main" val="10001"/>
                  </a:ext>
                </a:extLst>
              </a:tr>
              <a:tr h="420624">
                <a:tc>
                  <a:txBody>
                    <a:bodyPr/>
                    <a:lstStyle/>
                    <a:p>
                      <a:r>
                        <a:rPr sz="1500" b="0" i="0">
                          <a:solidFill>
                            <a:srgbClr val="14213D"/>
                          </a:solidFill>
                          <a:latin typeface="Segoe UI"/>
                        </a:rPr>
                        <a:t>3e-4</a:t>
                      </a:r>
                    </a:p>
                  </a:txBody>
                  <a:tcPr marL="127000" marR="127000" marT="25400" marB="25400" anchor="ctr">
                    <a:solidFill>
                      <a:srgbClr val="F8FAFC"/>
                    </a:solidFill>
                  </a:tcPr>
                </a:tc>
                <a:tc>
                  <a:txBody>
                    <a:bodyPr/>
                    <a:lstStyle/>
                    <a:p>
                      <a:r>
                        <a:rPr sz="1500" b="0" i="0">
                          <a:solidFill>
                            <a:srgbClr val="14213D"/>
                          </a:solidFill>
                          <a:latin typeface="Segoe UI"/>
                        </a:rPr>
                        <a:t>95.3 %</a:t>
                      </a:r>
                    </a:p>
                  </a:txBody>
                  <a:tcPr marL="127000" marR="127000" marT="25400" marB="25400" anchor="ctr">
                    <a:solidFill>
                      <a:srgbClr val="F8FAFC"/>
                    </a:solidFill>
                  </a:tcPr>
                </a:tc>
                <a:tc>
                  <a:txBody>
                    <a:bodyPr/>
                    <a:lstStyle/>
                    <a:p>
                      <a:r>
                        <a:rPr sz="1500" b="0" i="0">
                          <a:solidFill>
                            <a:srgbClr val="14213D"/>
                          </a:solidFill>
                          <a:latin typeface="Segoe UI"/>
                        </a:rPr>
                        <a:t>94.9 %</a:t>
                      </a:r>
                    </a:p>
                  </a:txBody>
                  <a:tcPr marL="127000" marR="127000" marT="25400" marB="25400" anchor="ctr">
                    <a:solidFill>
                      <a:srgbClr val="F8FAFC"/>
                    </a:solidFill>
                  </a:tcPr>
                </a:tc>
                <a:extLst>
                  <a:ext uri="{0D108BD9-81ED-4DB2-BD59-A6C34878D82A}">
                    <a16:rowId xmlns:a16="http://schemas.microsoft.com/office/drawing/2014/main" val="10002"/>
                  </a:ext>
                </a:extLst>
              </a:tr>
              <a:tr h="420624">
                <a:tc>
                  <a:txBody>
                    <a:bodyPr/>
                    <a:lstStyle/>
                    <a:p>
                      <a:r>
                        <a:rPr sz="1500" b="1" i="0">
                          <a:solidFill>
                            <a:srgbClr val="14213D"/>
                          </a:solidFill>
                          <a:latin typeface="Segoe UI Semibold"/>
                        </a:rPr>
                        <a:t>1e-3</a:t>
                      </a:r>
                    </a:p>
                  </a:txBody>
                  <a:tcPr marL="127000" marR="127000" marT="25400" marB="25400" anchor="ctr">
                    <a:solidFill>
                      <a:srgbClr val="FFFFFF"/>
                    </a:solidFill>
                  </a:tcPr>
                </a:tc>
                <a:tc>
                  <a:txBody>
                    <a:bodyPr/>
                    <a:lstStyle/>
                    <a:p>
                      <a:r>
                        <a:rPr sz="1500" b="1" i="0">
                          <a:solidFill>
                            <a:srgbClr val="14213D"/>
                          </a:solidFill>
                          <a:latin typeface="Segoe UI Semibold"/>
                        </a:rPr>
                        <a:t>96.6 %  ← selected</a:t>
                      </a:r>
                    </a:p>
                  </a:txBody>
                  <a:tcPr marL="127000" marR="127000" marT="25400" marB="25400" anchor="ctr">
                    <a:solidFill>
                      <a:srgbClr val="FFFFFF"/>
                    </a:solidFill>
                  </a:tcPr>
                </a:tc>
                <a:tc>
                  <a:txBody>
                    <a:bodyPr/>
                    <a:lstStyle/>
                    <a:p>
                      <a:r>
                        <a:rPr sz="1500" b="0" i="0">
                          <a:solidFill>
                            <a:srgbClr val="14213D"/>
                          </a:solidFill>
                          <a:latin typeface="Segoe UI"/>
                        </a:rPr>
                        <a:t>96.0 %</a:t>
                      </a:r>
                    </a:p>
                  </a:txBody>
                  <a:tcPr marL="127000" marR="127000" marT="25400" marB="25400" anchor="ctr">
                    <a:solidFill>
                      <a:srgbClr val="FFFFFF"/>
                    </a:solidFill>
                  </a:tcPr>
                </a:tc>
                <a:extLst>
                  <a:ext uri="{0D108BD9-81ED-4DB2-BD59-A6C34878D82A}">
                    <a16:rowId xmlns:a16="http://schemas.microsoft.com/office/drawing/2014/main" val="10003"/>
                  </a:ext>
                </a:extLst>
              </a:tr>
            </a:tbl>
          </a:graphicData>
        </a:graphic>
      </p:graphicFrame>
      <p:sp>
        <p:nvSpPr>
          <p:cNvPr id="23" name="Rounded Rectangle 22"/>
          <p:cNvSpPr/>
          <p:nvPr/>
        </p:nvSpPr>
        <p:spPr>
          <a:xfrm>
            <a:off x="640080" y="3474720"/>
            <a:ext cx="5486400" cy="490728"/>
          </a:xfrm>
          <a:prstGeom prst="roundRect">
            <a:avLst>
              <a:gd name="adj" fmla="val 22360"/>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841247" y="3566160"/>
            <a:ext cx="307848" cy="307848"/>
          </a:xfrm>
          <a:prstGeom prst="ellipse">
            <a:avLst/>
          </a:prstGeom>
          <a:solidFill>
            <a:srgbClr val="E2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841247" y="3566160"/>
            <a:ext cx="307848" cy="307848"/>
          </a:xfrm>
          <a:prstGeom prst="rect">
            <a:avLst/>
          </a:prstGeom>
          <a:noFill/>
        </p:spPr>
        <p:txBody>
          <a:bodyPr wrap="square" lIns="18288" rIns="18288" anchor="ctr">
            <a:spAutoFit/>
          </a:bodyPr>
          <a:lstStyle/>
          <a:p>
            <a:pPr algn="ctr"/>
            <a:r>
              <a:rPr sz="1200" b="1" i="0">
                <a:solidFill>
                  <a:srgbClr val="0F7C74"/>
                </a:solidFill>
                <a:latin typeface="Segoe UI Semibold"/>
              </a:rPr>
              <a:t>1</a:t>
            </a:r>
          </a:p>
        </p:txBody>
      </p:sp>
      <p:sp>
        <p:nvSpPr>
          <p:cNvPr id="26" name="TextBox 25"/>
          <p:cNvSpPr txBox="1"/>
          <p:nvPr/>
        </p:nvSpPr>
        <p:spPr>
          <a:xfrm>
            <a:off x="1350264" y="3474720"/>
            <a:ext cx="4593336" cy="490728"/>
          </a:xfrm>
          <a:prstGeom prst="rect">
            <a:avLst/>
          </a:prstGeom>
          <a:noFill/>
        </p:spPr>
        <p:txBody>
          <a:bodyPr wrap="square" anchor="ctr">
            <a:spAutoFit/>
          </a:bodyPr>
          <a:lstStyle/>
          <a:p>
            <a:r>
              <a:rPr sz="1400" b="0" i="0">
                <a:solidFill>
                  <a:srgbClr val="14213D"/>
                </a:solidFill>
                <a:latin typeface="Segoe UI"/>
              </a:rPr>
              <a:t>Textbook "low LR for fine-tuning" was the </a:t>
            </a:r>
            <a:r>
              <a:rPr sz="1400" b="1" i="0">
                <a:solidFill>
                  <a:srgbClr val="0F7C74"/>
                </a:solidFill>
                <a:latin typeface="Segoe UI"/>
              </a:rPr>
              <a:t>worst</a:t>
            </a:r>
            <a:r>
              <a:rPr sz="1400" b="0" i="0">
                <a:solidFill>
                  <a:srgbClr val="14213D"/>
                </a:solidFill>
                <a:latin typeface="Segoe UI"/>
              </a:rPr>
              <a:t> cell</a:t>
            </a:r>
          </a:p>
        </p:txBody>
      </p:sp>
      <p:sp>
        <p:nvSpPr>
          <p:cNvPr id="27" name="Rounded Rectangle 26"/>
          <p:cNvSpPr/>
          <p:nvPr/>
        </p:nvSpPr>
        <p:spPr>
          <a:xfrm>
            <a:off x="640080" y="4075176"/>
            <a:ext cx="5486400" cy="490728"/>
          </a:xfrm>
          <a:prstGeom prst="roundRect">
            <a:avLst>
              <a:gd name="adj" fmla="val 22360"/>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Oval 27"/>
          <p:cNvSpPr/>
          <p:nvPr/>
        </p:nvSpPr>
        <p:spPr>
          <a:xfrm>
            <a:off x="841247" y="4166616"/>
            <a:ext cx="307848" cy="307848"/>
          </a:xfrm>
          <a:prstGeom prst="ellipse">
            <a:avLst/>
          </a:prstGeom>
          <a:solidFill>
            <a:srgbClr val="E2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841247" y="4166616"/>
            <a:ext cx="307848" cy="307848"/>
          </a:xfrm>
          <a:prstGeom prst="rect">
            <a:avLst/>
          </a:prstGeom>
          <a:noFill/>
        </p:spPr>
        <p:txBody>
          <a:bodyPr wrap="square" lIns="18288" rIns="18288" anchor="ctr">
            <a:spAutoFit/>
          </a:bodyPr>
          <a:lstStyle/>
          <a:p>
            <a:pPr algn="ctr"/>
            <a:r>
              <a:rPr sz="1200" b="1" i="0">
                <a:solidFill>
                  <a:srgbClr val="0F7C74"/>
                </a:solidFill>
                <a:latin typeface="Segoe UI Semibold"/>
              </a:rPr>
              <a:t>2</a:t>
            </a:r>
          </a:p>
        </p:txBody>
      </p:sp>
      <p:sp>
        <p:nvSpPr>
          <p:cNvPr id="30" name="TextBox 29"/>
          <p:cNvSpPr txBox="1"/>
          <p:nvPr/>
        </p:nvSpPr>
        <p:spPr>
          <a:xfrm>
            <a:off x="1350264" y="4075176"/>
            <a:ext cx="4593336" cy="490728"/>
          </a:xfrm>
          <a:prstGeom prst="rect">
            <a:avLst/>
          </a:prstGeom>
          <a:noFill/>
        </p:spPr>
        <p:txBody>
          <a:bodyPr wrap="square" anchor="ctr">
            <a:spAutoFit/>
          </a:bodyPr>
          <a:lstStyle/>
          <a:p>
            <a:r>
              <a:rPr sz="1400" b="0" i="0">
                <a:solidFill>
                  <a:srgbClr val="14213D"/>
                </a:solidFill>
                <a:latin typeface="Segoe UI"/>
              </a:rPr>
              <a:t>10× larger LR → </a:t>
            </a:r>
            <a:r>
              <a:rPr sz="1400" b="1" i="0">
                <a:solidFill>
                  <a:srgbClr val="0F7C74"/>
                </a:solidFill>
                <a:latin typeface="Segoe UI"/>
              </a:rPr>
              <a:t>+4 points</a:t>
            </a:r>
            <a:r>
              <a:rPr sz="1400" b="0" i="0">
                <a:solidFill>
                  <a:srgbClr val="14213D"/>
                </a:solidFill>
                <a:latin typeface="Segoe UI"/>
              </a:rPr>
              <a:t> validation accuracy</a:t>
            </a:r>
          </a:p>
        </p:txBody>
      </p:sp>
      <p:sp>
        <p:nvSpPr>
          <p:cNvPr id="31" name="Rounded Rectangle 30"/>
          <p:cNvSpPr/>
          <p:nvPr/>
        </p:nvSpPr>
        <p:spPr>
          <a:xfrm>
            <a:off x="640080" y="4675632"/>
            <a:ext cx="5486400" cy="490728"/>
          </a:xfrm>
          <a:prstGeom prst="roundRect">
            <a:avLst>
              <a:gd name="adj" fmla="val 22360"/>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Oval 31"/>
          <p:cNvSpPr/>
          <p:nvPr/>
        </p:nvSpPr>
        <p:spPr>
          <a:xfrm>
            <a:off x="841247" y="4767072"/>
            <a:ext cx="307848" cy="307848"/>
          </a:xfrm>
          <a:prstGeom prst="ellipse">
            <a:avLst/>
          </a:prstGeom>
          <a:solidFill>
            <a:srgbClr val="E2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Box 32"/>
          <p:cNvSpPr txBox="1"/>
          <p:nvPr/>
        </p:nvSpPr>
        <p:spPr>
          <a:xfrm>
            <a:off x="841247" y="4767072"/>
            <a:ext cx="307848" cy="307848"/>
          </a:xfrm>
          <a:prstGeom prst="rect">
            <a:avLst/>
          </a:prstGeom>
          <a:noFill/>
        </p:spPr>
        <p:txBody>
          <a:bodyPr wrap="square" lIns="18288" rIns="18288" anchor="ctr">
            <a:spAutoFit/>
          </a:bodyPr>
          <a:lstStyle/>
          <a:p>
            <a:pPr algn="ctr"/>
            <a:r>
              <a:rPr sz="1200" b="1" i="0">
                <a:solidFill>
                  <a:srgbClr val="0F7C74"/>
                </a:solidFill>
                <a:latin typeface="Segoe UI Semibold"/>
              </a:rPr>
              <a:t>3</a:t>
            </a:r>
          </a:p>
        </p:txBody>
      </p:sp>
      <p:sp>
        <p:nvSpPr>
          <p:cNvPr id="34" name="TextBox 33"/>
          <p:cNvSpPr txBox="1"/>
          <p:nvPr/>
        </p:nvSpPr>
        <p:spPr>
          <a:xfrm>
            <a:off x="1350264" y="4675632"/>
            <a:ext cx="4593336" cy="490728"/>
          </a:xfrm>
          <a:prstGeom prst="rect">
            <a:avLst/>
          </a:prstGeom>
          <a:noFill/>
        </p:spPr>
        <p:txBody>
          <a:bodyPr wrap="square" anchor="ctr">
            <a:spAutoFit/>
          </a:bodyPr>
          <a:lstStyle/>
          <a:p>
            <a:r>
              <a:rPr sz="1400" b="0" i="0">
                <a:solidFill>
                  <a:srgbClr val="14213D"/>
                </a:solidFill>
                <a:latin typeface="Segoe UI"/>
              </a:rPr>
              <a:t>Weight decay: no help — augmentation already regularises</a:t>
            </a:r>
          </a:p>
        </p:txBody>
      </p:sp>
      <p:sp>
        <p:nvSpPr>
          <p:cNvPr id="35" name="Rounded Rectangle 34"/>
          <p:cNvSpPr/>
          <p:nvPr/>
        </p:nvSpPr>
        <p:spPr>
          <a:xfrm>
            <a:off x="640080" y="5303520"/>
            <a:ext cx="5486400" cy="868680"/>
          </a:xfrm>
          <a:prstGeom prst="roundRect">
            <a:avLst>
              <a:gd name="adj" fmla="val 12631"/>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Rectangle 35"/>
          <p:cNvSpPr/>
          <p:nvPr/>
        </p:nvSpPr>
        <p:spPr>
          <a:xfrm>
            <a:off x="640080" y="5504688"/>
            <a:ext cx="64008" cy="466344"/>
          </a:xfrm>
          <a:prstGeom prst="rect">
            <a:avLst/>
          </a:prstGeom>
          <a:solidFill>
            <a:srgbClr val="2F8F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TextBox 36"/>
          <p:cNvSpPr txBox="1"/>
          <p:nvPr/>
        </p:nvSpPr>
        <p:spPr>
          <a:xfrm>
            <a:off x="896112" y="5376672"/>
            <a:ext cx="5120640" cy="722375"/>
          </a:xfrm>
          <a:prstGeom prst="rect">
            <a:avLst/>
          </a:prstGeom>
          <a:noFill/>
        </p:spPr>
        <p:txBody>
          <a:bodyPr wrap="square" anchor="ctr">
            <a:spAutoFit/>
          </a:bodyPr>
          <a:lstStyle/>
          <a:p>
            <a:r>
              <a:rPr sz="2800" b="1" i="0">
                <a:solidFill>
                  <a:srgbClr val="2F8F4E"/>
                </a:solidFill>
                <a:latin typeface="Segoe UI Semibold"/>
              </a:rPr>
              <a:t>96.5 %</a:t>
            </a:r>
          </a:p>
          <a:p>
            <a:r>
              <a:rPr sz="1100" b="0" i="0">
                <a:solidFill>
                  <a:srgbClr val="6B7280"/>
                </a:solidFill>
                <a:latin typeface="Segoe UI"/>
              </a:rPr>
              <a:t>final model — test accuracy  ·  lr 1e-3, wd 0</a:t>
            </a:r>
          </a:p>
        </p:txBody>
      </p:sp>
      <p:sp>
        <p:nvSpPr>
          <p:cNvPr id="38" name="Rounded Rectangle 37"/>
          <p:cNvSpPr/>
          <p:nvPr/>
        </p:nvSpPr>
        <p:spPr>
          <a:xfrm>
            <a:off x="6400800" y="1645920"/>
            <a:ext cx="5150815" cy="4526280"/>
          </a:xfrm>
          <a:prstGeom prst="roundRect">
            <a:avLst>
              <a:gd name="adj" fmla="val 2424"/>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Box 38"/>
          <p:cNvSpPr txBox="1"/>
          <p:nvPr/>
        </p:nvSpPr>
        <p:spPr>
          <a:xfrm>
            <a:off x="6601968" y="1755648"/>
            <a:ext cx="4785055" cy="274320"/>
          </a:xfrm>
          <a:prstGeom prst="rect">
            <a:avLst/>
          </a:prstGeom>
          <a:noFill/>
        </p:spPr>
        <p:txBody>
          <a:bodyPr wrap="square" lIns="18288" rIns="18288" anchor="t">
            <a:spAutoFit/>
          </a:bodyPr>
          <a:lstStyle/>
          <a:p>
            <a:pPr algn="l"/>
            <a:r>
              <a:rPr sz="900" b="1" i="0" spc="100">
                <a:solidFill>
                  <a:srgbClr val="6B7280"/>
                </a:solidFill>
                <a:latin typeface="Segoe UI"/>
              </a:rPr>
              <a:t>VALIDATION ACCURACY · LR × WEIGHT DECAY</a:t>
            </a:r>
          </a:p>
        </p:txBody>
      </p:sp>
      <p:pic>
        <p:nvPicPr>
          <p:cNvPr id="40" name="Picture 39" descr="fig6_tuning_heatmap.png"/>
          <p:cNvPicPr>
            <a:picLocks noChangeAspect="1"/>
          </p:cNvPicPr>
          <p:nvPr/>
        </p:nvPicPr>
        <p:blipFill>
          <a:blip r:embed="rId4"/>
          <a:stretch>
            <a:fillRect/>
          </a:stretch>
        </p:blipFill>
        <p:spPr>
          <a:xfrm>
            <a:off x="6565392" y="2618018"/>
            <a:ext cx="4821631" cy="2892978"/>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ounded Rectangle 2"/>
          <p:cNvSpPr/>
          <p:nvPr/>
        </p:nvSpPr>
        <p:spPr>
          <a:xfrm>
            <a:off x="640080" y="384048"/>
            <a:ext cx="1920240" cy="292608"/>
          </a:xfrm>
          <a:prstGeom prst="roundRect">
            <a:avLst>
              <a:gd name="adj" fmla="val 50000"/>
            </a:avLst>
          </a:prstGeom>
          <a:solidFill>
            <a:srgbClr val="E2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640080" y="384048"/>
            <a:ext cx="1920240" cy="292608"/>
          </a:xfrm>
          <a:prstGeom prst="rect">
            <a:avLst/>
          </a:prstGeom>
          <a:noFill/>
        </p:spPr>
        <p:txBody>
          <a:bodyPr wrap="square" lIns="18288" rIns="18288" anchor="ctr">
            <a:spAutoFit/>
          </a:bodyPr>
          <a:lstStyle/>
          <a:p>
            <a:pPr algn="ctr"/>
            <a:r>
              <a:rPr sz="1050" b="1" i="0" spc="120">
                <a:solidFill>
                  <a:srgbClr val="0F7C74"/>
                </a:solidFill>
                <a:latin typeface="Segoe UI"/>
              </a:rPr>
              <a:t>05  ·  ANALYSIS</a:t>
            </a:r>
          </a:p>
        </p:txBody>
      </p:sp>
      <p:pic>
        <p:nvPicPr>
          <p:cNvPr id="5" name="Picture 4" descr="kit_logo.png"/>
          <p:cNvPicPr>
            <a:picLocks noChangeAspect="1"/>
          </p:cNvPicPr>
          <p:nvPr/>
        </p:nvPicPr>
        <p:blipFill>
          <a:blip r:embed="rId3"/>
          <a:stretch>
            <a:fillRect/>
          </a:stretch>
        </p:blipFill>
        <p:spPr>
          <a:xfrm>
            <a:off x="10929823" y="320040"/>
            <a:ext cx="621792" cy="621792"/>
          </a:xfrm>
          <a:prstGeom prst="rect">
            <a:avLst/>
          </a:prstGeom>
        </p:spPr>
      </p:pic>
      <p:sp>
        <p:nvSpPr>
          <p:cNvPr id="6" name="TextBox 5"/>
          <p:cNvSpPr txBox="1"/>
          <p:nvPr/>
        </p:nvSpPr>
        <p:spPr>
          <a:xfrm>
            <a:off x="621792" y="731520"/>
            <a:ext cx="9997135" cy="685800"/>
          </a:xfrm>
          <a:prstGeom prst="rect">
            <a:avLst/>
          </a:prstGeom>
          <a:noFill/>
        </p:spPr>
        <p:txBody>
          <a:bodyPr wrap="square" lIns="18288" rIns="18288" anchor="ctr">
            <a:spAutoFit/>
          </a:bodyPr>
          <a:lstStyle/>
          <a:p>
            <a:pPr algn="l"/>
            <a:r>
              <a:rPr sz="3000" b="0" i="0">
                <a:solidFill>
                  <a:srgbClr val="14213D"/>
                </a:solidFill>
                <a:latin typeface="Segoe UI Semibold"/>
              </a:rPr>
              <a:t>Where the 34 errors come from</a:t>
            </a:r>
          </a:p>
        </p:txBody>
      </p:sp>
      <p:sp>
        <p:nvSpPr>
          <p:cNvPr id="7" name="Rectangle 6"/>
          <p:cNvSpPr/>
          <p:nvPr/>
        </p:nvSpPr>
        <p:spPr>
          <a:xfrm>
            <a:off x="640080" y="6601968"/>
            <a:ext cx="1368073" cy="27432"/>
          </a:xfrm>
          <a:prstGeom prst="rect">
            <a:avLst/>
          </a:prstGeom>
          <a:solidFill>
            <a:srgbClr val="0F7C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640080" y="6336792"/>
            <a:ext cx="1368073" cy="237744"/>
          </a:xfrm>
          <a:prstGeom prst="rect">
            <a:avLst/>
          </a:prstGeom>
          <a:noFill/>
        </p:spPr>
        <p:txBody>
          <a:bodyPr wrap="square" lIns="18288" rIns="18288" anchor="t">
            <a:spAutoFit/>
          </a:bodyPr>
          <a:lstStyle/>
          <a:p>
            <a:pPr algn="l"/>
            <a:r>
              <a:rPr sz="850" b="0" i="0">
                <a:solidFill>
                  <a:srgbClr val="6B7280"/>
                </a:solidFill>
                <a:latin typeface="Segoe UI"/>
              </a:rPr>
              <a:t>Problem</a:t>
            </a:r>
          </a:p>
        </p:txBody>
      </p:sp>
      <p:sp>
        <p:nvSpPr>
          <p:cNvPr id="9" name="Rectangle 8"/>
          <p:cNvSpPr/>
          <p:nvPr/>
        </p:nvSpPr>
        <p:spPr>
          <a:xfrm>
            <a:off x="2081305" y="6601968"/>
            <a:ext cx="1368073" cy="27432"/>
          </a:xfrm>
          <a:prstGeom prst="rect">
            <a:avLst/>
          </a:prstGeom>
          <a:solidFill>
            <a:srgbClr val="0F7C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2081305" y="6336792"/>
            <a:ext cx="1368073" cy="237744"/>
          </a:xfrm>
          <a:prstGeom prst="rect">
            <a:avLst/>
          </a:prstGeom>
          <a:noFill/>
        </p:spPr>
        <p:txBody>
          <a:bodyPr wrap="square" lIns="18288" rIns="18288" anchor="t">
            <a:spAutoFit/>
          </a:bodyPr>
          <a:lstStyle/>
          <a:p>
            <a:pPr algn="l"/>
            <a:r>
              <a:rPr sz="850" b="0" i="0">
                <a:solidFill>
                  <a:srgbClr val="6B7280"/>
                </a:solidFill>
                <a:latin typeface="Segoe UI"/>
              </a:rPr>
              <a:t>Data</a:t>
            </a:r>
          </a:p>
        </p:txBody>
      </p:sp>
      <p:sp>
        <p:nvSpPr>
          <p:cNvPr id="11" name="Rectangle 10"/>
          <p:cNvSpPr/>
          <p:nvPr/>
        </p:nvSpPr>
        <p:spPr>
          <a:xfrm>
            <a:off x="3522530" y="6601968"/>
            <a:ext cx="1368073" cy="27432"/>
          </a:xfrm>
          <a:prstGeom prst="rect">
            <a:avLst/>
          </a:prstGeom>
          <a:solidFill>
            <a:srgbClr val="0F7C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3522530" y="6336792"/>
            <a:ext cx="1368073" cy="237744"/>
          </a:xfrm>
          <a:prstGeom prst="rect">
            <a:avLst/>
          </a:prstGeom>
          <a:noFill/>
        </p:spPr>
        <p:txBody>
          <a:bodyPr wrap="square" lIns="18288" rIns="18288" anchor="t">
            <a:spAutoFit/>
          </a:bodyPr>
          <a:lstStyle/>
          <a:p>
            <a:pPr algn="l"/>
            <a:r>
              <a:rPr sz="850" b="0" i="0">
                <a:solidFill>
                  <a:srgbClr val="6B7280"/>
                </a:solidFill>
                <a:latin typeface="Segoe UI"/>
              </a:rPr>
              <a:t>Method</a:t>
            </a:r>
          </a:p>
        </p:txBody>
      </p:sp>
      <p:sp>
        <p:nvSpPr>
          <p:cNvPr id="13" name="Rectangle 12"/>
          <p:cNvSpPr/>
          <p:nvPr/>
        </p:nvSpPr>
        <p:spPr>
          <a:xfrm>
            <a:off x="4963755" y="6601968"/>
            <a:ext cx="1368073" cy="27432"/>
          </a:xfrm>
          <a:prstGeom prst="rect">
            <a:avLst/>
          </a:prstGeom>
          <a:solidFill>
            <a:srgbClr val="0F7C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963755" y="6336792"/>
            <a:ext cx="1368073" cy="237744"/>
          </a:xfrm>
          <a:prstGeom prst="rect">
            <a:avLst/>
          </a:prstGeom>
          <a:noFill/>
        </p:spPr>
        <p:txBody>
          <a:bodyPr wrap="square" lIns="18288" rIns="18288" anchor="t">
            <a:spAutoFit/>
          </a:bodyPr>
          <a:lstStyle/>
          <a:p>
            <a:pPr algn="l"/>
            <a:r>
              <a:rPr sz="850" b="0" i="0">
                <a:solidFill>
                  <a:srgbClr val="6B7280"/>
                </a:solidFill>
                <a:latin typeface="Segoe UI"/>
              </a:rPr>
              <a:t>Results</a:t>
            </a:r>
          </a:p>
        </p:txBody>
      </p:sp>
      <p:sp>
        <p:nvSpPr>
          <p:cNvPr id="15" name="Rectangle 14"/>
          <p:cNvSpPr/>
          <p:nvPr/>
        </p:nvSpPr>
        <p:spPr>
          <a:xfrm>
            <a:off x="6404980" y="6601968"/>
            <a:ext cx="1368073" cy="45720"/>
          </a:xfrm>
          <a:prstGeom prst="rect">
            <a:avLst/>
          </a:prstGeom>
          <a:solidFill>
            <a:srgbClr val="E09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6404980" y="6336792"/>
            <a:ext cx="1368073" cy="237744"/>
          </a:xfrm>
          <a:prstGeom prst="rect">
            <a:avLst/>
          </a:prstGeom>
          <a:noFill/>
        </p:spPr>
        <p:txBody>
          <a:bodyPr wrap="square" lIns="18288" rIns="18288" anchor="t">
            <a:spAutoFit/>
          </a:bodyPr>
          <a:lstStyle/>
          <a:p>
            <a:pPr algn="l"/>
            <a:r>
              <a:rPr sz="850" b="1" i="0">
                <a:solidFill>
                  <a:srgbClr val="14213D"/>
                </a:solidFill>
                <a:latin typeface="Segoe UI"/>
              </a:rPr>
              <a:t>Analysis</a:t>
            </a:r>
          </a:p>
        </p:txBody>
      </p:sp>
      <p:sp>
        <p:nvSpPr>
          <p:cNvPr id="17" name="Rectangle 16"/>
          <p:cNvSpPr/>
          <p:nvPr/>
        </p:nvSpPr>
        <p:spPr>
          <a:xfrm>
            <a:off x="7846205" y="6601968"/>
            <a:ext cx="1368073" cy="2743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846205" y="6336792"/>
            <a:ext cx="1368073" cy="237744"/>
          </a:xfrm>
          <a:prstGeom prst="rect">
            <a:avLst/>
          </a:prstGeom>
          <a:noFill/>
        </p:spPr>
        <p:txBody>
          <a:bodyPr wrap="square" lIns="18288" rIns="18288" anchor="t">
            <a:spAutoFit/>
          </a:bodyPr>
          <a:lstStyle/>
          <a:p>
            <a:pPr algn="l"/>
            <a:r>
              <a:rPr sz="850" b="0" i="0">
                <a:solidFill>
                  <a:srgbClr val="6B7280"/>
                </a:solidFill>
                <a:latin typeface="Segoe UI"/>
              </a:rPr>
              <a:t>Honesty</a:t>
            </a:r>
          </a:p>
        </p:txBody>
      </p:sp>
      <p:sp>
        <p:nvSpPr>
          <p:cNvPr id="19" name="Rectangle 18"/>
          <p:cNvSpPr/>
          <p:nvPr/>
        </p:nvSpPr>
        <p:spPr>
          <a:xfrm>
            <a:off x="9287430" y="6601968"/>
            <a:ext cx="1368073" cy="2743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9287430" y="6336792"/>
            <a:ext cx="1368073" cy="237744"/>
          </a:xfrm>
          <a:prstGeom prst="rect">
            <a:avLst/>
          </a:prstGeom>
          <a:noFill/>
        </p:spPr>
        <p:txBody>
          <a:bodyPr wrap="square" lIns="18288" rIns="18288" anchor="t">
            <a:spAutoFit/>
          </a:bodyPr>
          <a:lstStyle/>
          <a:p>
            <a:pPr algn="l"/>
            <a:r>
              <a:rPr sz="850" b="0" i="0">
                <a:solidFill>
                  <a:srgbClr val="6B7280"/>
                </a:solidFill>
                <a:latin typeface="Segoe UI"/>
              </a:rPr>
              <a:t>Conclusion</a:t>
            </a:r>
          </a:p>
        </p:txBody>
      </p:sp>
      <p:sp>
        <p:nvSpPr>
          <p:cNvPr id="21" name="TextBox 20"/>
          <p:cNvSpPr txBox="1"/>
          <p:nvPr/>
        </p:nvSpPr>
        <p:spPr>
          <a:xfrm>
            <a:off x="10820095" y="6373368"/>
            <a:ext cx="731520" cy="274320"/>
          </a:xfrm>
          <a:prstGeom prst="rect">
            <a:avLst/>
          </a:prstGeom>
          <a:noFill/>
        </p:spPr>
        <p:txBody>
          <a:bodyPr wrap="square" lIns="18288" rIns="18288" anchor="t">
            <a:spAutoFit/>
          </a:bodyPr>
          <a:lstStyle/>
          <a:p>
            <a:pPr algn="r"/>
            <a:r>
              <a:rPr sz="1100" b="1" i="0">
                <a:solidFill>
                  <a:srgbClr val="0F7C74"/>
                </a:solidFill>
                <a:latin typeface="Segoe UI Semibold"/>
              </a:rPr>
              <a:t>11</a:t>
            </a:r>
          </a:p>
        </p:txBody>
      </p:sp>
      <p:sp>
        <p:nvSpPr>
          <p:cNvPr id="22" name="Rounded Rectangle 21"/>
          <p:cNvSpPr/>
          <p:nvPr/>
        </p:nvSpPr>
        <p:spPr>
          <a:xfrm>
            <a:off x="640080" y="1645920"/>
            <a:ext cx="4754880" cy="1051560"/>
          </a:xfrm>
          <a:prstGeom prst="roundRect">
            <a:avLst>
              <a:gd name="adj" fmla="val 10434"/>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Rectangle 22"/>
          <p:cNvSpPr/>
          <p:nvPr/>
        </p:nvSpPr>
        <p:spPr>
          <a:xfrm>
            <a:off x="640080" y="1847088"/>
            <a:ext cx="64008" cy="64922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896112" y="1719072"/>
            <a:ext cx="4389120" cy="905255"/>
          </a:xfrm>
          <a:prstGeom prst="rect">
            <a:avLst/>
          </a:prstGeom>
          <a:noFill/>
        </p:spPr>
        <p:txBody>
          <a:bodyPr wrap="square" anchor="ctr">
            <a:spAutoFit/>
          </a:bodyPr>
          <a:lstStyle/>
          <a:p>
            <a:r>
              <a:rPr sz="3000" b="1" i="0">
                <a:solidFill>
                  <a:srgbClr val="C0392B"/>
                </a:solidFill>
                <a:latin typeface="Segoe UI Semibold"/>
              </a:rPr>
              <a:t>8 of 34</a:t>
            </a:r>
          </a:p>
          <a:p>
            <a:r>
              <a:rPr sz="1100" b="0" i="0">
                <a:solidFill>
                  <a:srgbClr val="6B7280"/>
                </a:solidFill>
                <a:latin typeface="Segoe UI"/>
              </a:rPr>
              <a:t>one pair — Banteay ↔ Oudor Meanchey</a:t>
            </a:r>
          </a:p>
        </p:txBody>
      </p:sp>
      <p:sp>
        <p:nvSpPr>
          <p:cNvPr id="25" name="Rounded Rectangle 24"/>
          <p:cNvSpPr/>
          <p:nvPr/>
        </p:nvSpPr>
        <p:spPr>
          <a:xfrm>
            <a:off x="640080" y="2880360"/>
            <a:ext cx="4754880" cy="733806"/>
          </a:xfrm>
          <a:prstGeom prst="roundRect">
            <a:avLst>
              <a:gd name="adj" fmla="val 14953"/>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Oval 25"/>
          <p:cNvSpPr/>
          <p:nvPr/>
        </p:nvSpPr>
        <p:spPr>
          <a:xfrm>
            <a:off x="841247" y="3036951"/>
            <a:ext cx="420624" cy="420624"/>
          </a:xfrm>
          <a:prstGeom prst="ellipse">
            <a:avLst/>
          </a:prstGeom>
          <a:solidFill>
            <a:srgbClr val="E2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841247" y="3036951"/>
            <a:ext cx="420624" cy="420624"/>
          </a:xfrm>
          <a:prstGeom prst="rect">
            <a:avLst/>
          </a:prstGeom>
          <a:noFill/>
        </p:spPr>
        <p:txBody>
          <a:bodyPr wrap="square" lIns="18288" rIns="18288" anchor="ctr">
            <a:spAutoFit/>
          </a:bodyPr>
          <a:lstStyle/>
          <a:p>
            <a:pPr algn="ctr"/>
            <a:r>
              <a:rPr sz="1300" b="1" i="0">
                <a:solidFill>
                  <a:srgbClr val="0F7C74"/>
                </a:solidFill>
                <a:latin typeface="Segoe UI Semibold"/>
              </a:rPr>
              <a:t>1</a:t>
            </a:r>
          </a:p>
        </p:txBody>
      </p:sp>
      <p:sp>
        <p:nvSpPr>
          <p:cNvPr id="28" name="TextBox 27"/>
          <p:cNvSpPr txBox="1"/>
          <p:nvPr/>
        </p:nvSpPr>
        <p:spPr>
          <a:xfrm>
            <a:off x="1463039" y="2880360"/>
            <a:ext cx="3749040" cy="733806"/>
          </a:xfrm>
          <a:prstGeom prst="rect">
            <a:avLst/>
          </a:prstGeom>
          <a:noFill/>
        </p:spPr>
        <p:txBody>
          <a:bodyPr wrap="square" anchor="ctr">
            <a:spAutoFit/>
          </a:bodyPr>
          <a:lstStyle/>
          <a:p>
            <a:r>
              <a:rPr sz="1500" b="0" i="0">
                <a:solidFill>
                  <a:srgbClr val="14213D"/>
                </a:solidFill>
                <a:latin typeface="Segoe UI"/>
              </a:rPr>
              <a:t>ប.មានជ័យ  vs  ឧ.មានជ័យ — </a:t>
            </a:r>
            <a:r>
              <a:rPr sz="1500" b="1" i="0">
                <a:solidFill>
                  <a:srgbClr val="0F7C74"/>
                </a:solidFill>
                <a:latin typeface="Segoe UI"/>
              </a:rPr>
              <a:t>one glyph</a:t>
            </a:r>
            <a:r>
              <a:rPr sz="1500" b="0" i="0">
                <a:solidFill>
                  <a:srgbClr val="14213D"/>
                </a:solidFill>
                <a:latin typeface="Segoe UI"/>
              </a:rPr>
              <a:t> apart</a:t>
            </a:r>
          </a:p>
        </p:txBody>
      </p:sp>
      <p:sp>
        <p:nvSpPr>
          <p:cNvPr id="29" name="Rounded Rectangle 28"/>
          <p:cNvSpPr/>
          <p:nvPr/>
        </p:nvSpPr>
        <p:spPr>
          <a:xfrm>
            <a:off x="640080" y="3733037"/>
            <a:ext cx="4754880" cy="733806"/>
          </a:xfrm>
          <a:prstGeom prst="roundRect">
            <a:avLst>
              <a:gd name="adj" fmla="val 14953"/>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Oval 29"/>
          <p:cNvSpPr/>
          <p:nvPr/>
        </p:nvSpPr>
        <p:spPr>
          <a:xfrm>
            <a:off x="841247" y="3889628"/>
            <a:ext cx="420624" cy="420624"/>
          </a:xfrm>
          <a:prstGeom prst="ellipse">
            <a:avLst/>
          </a:prstGeom>
          <a:solidFill>
            <a:srgbClr val="E2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Box 30"/>
          <p:cNvSpPr txBox="1"/>
          <p:nvPr/>
        </p:nvSpPr>
        <p:spPr>
          <a:xfrm>
            <a:off x="841247" y="3889628"/>
            <a:ext cx="420624" cy="420624"/>
          </a:xfrm>
          <a:prstGeom prst="rect">
            <a:avLst/>
          </a:prstGeom>
          <a:noFill/>
        </p:spPr>
        <p:txBody>
          <a:bodyPr wrap="square" lIns="18288" rIns="18288" anchor="ctr">
            <a:spAutoFit/>
          </a:bodyPr>
          <a:lstStyle/>
          <a:p>
            <a:pPr algn="ctr"/>
            <a:r>
              <a:rPr sz="1300" b="1" i="0">
                <a:solidFill>
                  <a:srgbClr val="0F7C74"/>
                </a:solidFill>
                <a:latin typeface="Segoe UI Semibold"/>
              </a:rPr>
              <a:t>2</a:t>
            </a:r>
          </a:p>
        </p:txBody>
      </p:sp>
      <p:sp>
        <p:nvSpPr>
          <p:cNvPr id="32" name="TextBox 31"/>
          <p:cNvSpPr txBox="1"/>
          <p:nvPr/>
        </p:nvSpPr>
        <p:spPr>
          <a:xfrm>
            <a:off x="1463039" y="3733037"/>
            <a:ext cx="3749040" cy="733806"/>
          </a:xfrm>
          <a:prstGeom prst="rect">
            <a:avLst/>
          </a:prstGeom>
          <a:noFill/>
        </p:spPr>
        <p:txBody>
          <a:bodyPr wrap="square" anchor="ctr">
            <a:spAutoFit/>
          </a:bodyPr>
          <a:lstStyle/>
          <a:p>
            <a:r>
              <a:rPr sz="1500" b="0" i="0">
                <a:solidFill>
                  <a:srgbClr val="14213D"/>
                </a:solidFill>
                <a:latin typeface="Segoe UI"/>
              </a:rPr>
              <a:t>Other errors also share a whole word</a:t>
            </a:r>
          </a:p>
        </p:txBody>
      </p:sp>
      <p:sp>
        <p:nvSpPr>
          <p:cNvPr id="33" name="Rounded Rectangle 32"/>
          <p:cNvSpPr/>
          <p:nvPr/>
        </p:nvSpPr>
        <p:spPr>
          <a:xfrm>
            <a:off x="640080" y="4585716"/>
            <a:ext cx="4754880" cy="733806"/>
          </a:xfrm>
          <a:prstGeom prst="roundRect">
            <a:avLst>
              <a:gd name="adj" fmla="val 14953"/>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Oval 33"/>
          <p:cNvSpPr/>
          <p:nvPr/>
        </p:nvSpPr>
        <p:spPr>
          <a:xfrm>
            <a:off x="841247" y="4742306"/>
            <a:ext cx="420624" cy="420624"/>
          </a:xfrm>
          <a:prstGeom prst="ellipse">
            <a:avLst/>
          </a:prstGeom>
          <a:solidFill>
            <a:srgbClr val="E2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841247" y="4742306"/>
            <a:ext cx="420624" cy="420624"/>
          </a:xfrm>
          <a:prstGeom prst="rect">
            <a:avLst/>
          </a:prstGeom>
          <a:noFill/>
        </p:spPr>
        <p:txBody>
          <a:bodyPr wrap="square" lIns="18288" rIns="18288" anchor="ctr">
            <a:spAutoFit/>
          </a:bodyPr>
          <a:lstStyle/>
          <a:p>
            <a:pPr algn="ctr"/>
            <a:r>
              <a:rPr sz="1300" b="1" i="0">
                <a:solidFill>
                  <a:srgbClr val="0F7C74"/>
                </a:solidFill>
                <a:latin typeface="Segoe UI Semibold"/>
              </a:rPr>
              <a:t>3</a:t>
            </a:r>
          </a:p>
        </p:txBody>
      </p:sp>
      <p:sp>
        <p:nvSpPr>
          <p:cNvPr id="36" name="TextBox 35"/>
          <p:cNvSpPr txBox="1"/>
          <p:nvPr/>
        </p:nvSpPr>
        <p:spPr>
          <a:xfrm>
            <a:off x="1463039" y="4585716"/>
            <a:ext cx="3749040" cy="733806"/>
          </a:xfrm>
          <a:prstGeom prst="rect">
            <a:avLst/>
          </a:prstGeom>
          <a:noFill/>
        </p:spPr>
        <p:txBody>
          <a:bodyPr wrap="square" anchor="ctr">
            <a:spAutoFit/>
          </a:bodyPr>
          <a:lstStyle/>
          <a:p>
            <a:r>
              <a:rPr sz="1500" b="0" i="0">
                <a:solidFill>
                  <a:srgbClr val="14213D"/>
                </a:solidFill>
                <a:latin typeface="Segoe UI"/>
              </a:rPr>
              <a:t>Rest: blur, 20-px text, JPEG artefacts</a:t>
            </a:r>
          </a:p>
        </p:txBody>
      </p:sp>
      <p:sp>
        <p:nvSpPr>
          <p:cNvPr id="37" name="Rounded Rectangle 36"/>
          <p:cNvSpPr/>
          <p:nvPr/>
        </p:nvSpPr>
        <p:spPr>
          <a:xfrm>
            <a:off x="640080" y="5438394"/>
            <a:ext cx="4754880" cy="733806"/>
          </a:xfrm>
          <a:prstGeom prst="roundRect">
            <a:avLst>
              <a:gd name="adj" fmla="val 14953"/>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Oval 37"/>
          <p:cNvSpPr/>
          <p:nvPr/>
        </p:nvSpPr>
        <p:spPr>
          <a:xfrm>
            <a:off x="841247" y="5594984"/>
            <a:ext cx="420624" cy="420624"/>
          </a:xfrm>
          <a:prstGeom prst="ellipse">
            <a:avLst/>
          </a:prstGeom>
          <a:solidFill>
            <a:srgbClr val="E2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Box 38"/>
          <p:cNvSpPr txBox="1"/>
          <p:nvPr/>
        </p:nvSpPr>
        <p:spPr>
          <a:xfrm>
            <a:off x="841247" y="5594984"/>
            <a:ext cx="420624" cy="420624"/>
          </a:xfrm>
          <a:prstGeom prst="rect">
            <a:avLst/>
          </a:prstGeom>
          <a:noFill/>
        </p:spPr>
        <p:txBody>
          <a:bodyPr wrap="square" lIns="18288" rIns="18288" anchor="ctr">
            <a:spAutoFit/>
          </a:bodyPr>
          <a:lstStyle/>
          <a:p>
            <a:pPr algn="ctr"/>
            <a:r>
              <a:rPr sz="1300" b="1" i="0">
                <a:solidFill>
                  <a:srgbClr val="0F7C74"/>
                </a:solidFill>
                <a:latin typeface="Segoe UI Semibold"/>
              </a:rPr>
              <a:t>4</a:t>
            </a:r>
          </a:p>
        </p:txBody>
      </p:sp>
      <p:sp>
        <p:nvSpPr>
          <p:cNvPr id="40" name="TextBox 39"/>
          <p:cNvSpPr txBox="1"/>
          <p:nvPr/>
        </p:nvSpPr>
        <p:spPr>
          <a:xfrm>
            <a:off x="1463039" y="5438394"/>
            <a:ext cx="3749040" cy="733806"/>
          </a:xfrm>
          <a:prstGeom prst="rect">
            <a:avLst/>
          </a:prstGeom>
          <a:noFill/>
        </p:spPr>
        <p:txBody>
          <a:bodyPr wrap="square" anchor="ctr">
            <a:spAutoFit/>
          </a:bodyPr>
          <a:lstStyle/>
          <a:p>
            <a:r>
              <a:rPr sz="1500" b="0" i="0">
                <a:solidFill>
                  <a:srgbClr val="14213D"/>
                </a:solidFill>
                <a:latin typeface="Segoe UI"/>
              </a:rPr>
              <a:t>Smallest classes </a:t>
            </a:r>
            <a:r>
              <a:rPr sz="1500" b="1" i="0">
                <a:solidFill>
                  <a:srgbClr val="0F7C74"/>
                </a:solidFill>
                <a:latin typeface="Segoe UI"/>
              </a:rPr>
              <a:t>90 %</a:t>
            </a:r>
            <a:r>
              <a:rPr sz="1500" b="0" i="0">
                <a:solidFill>
                  <a:srgbClr val="14213D"/>
                </a:solidFill>
                <a:latin typeface="Segoe UI"/>
              </a:rPr>
              <a:t> vs 94.2 %</a:t>
            </a:r>
          </a:p>
        </p:txBody>
      </p:sp>
      <p:sp>
        <p:nvSpPr>
          <p:cNvPr id="41" name="Rounded Rectangle 40"/>
          <p:cNvSpPr/>
          <p:nvPr/>
        </p:nvSpPr>
        <p:spPr>
          <a:xfrm>
            <a:off x="5623560" y="1645920"/>
            <a:ext cx="5928055" cy="4526280"/>
          </a:xfrm>
          <a:prstGeom prst="roundRect">
            <a:avLst>
              <a:gd name="adj" fmla="val 2424"/>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Box 41"/>
          <p:cNvSpPr txBox="1"/>
          <p:nvPr/>
        </p:nvSpPr>
        <p:spPr>
          <a:xfrm>
            <a:off x="5824728" y="1755648"/>
            <a:ext cx="5562295" cy="274320"/>
          </a:xfrm>
          <a:prstGeom prst="rect">
            <a:avLst/>
          </a:prstGeom>
          <a:noFill/>
        </p:spPr>
        <p:txBody>
          <a:bodyPr wrap="square" lIns="18288" rIns="18288" anchor="t">
            <a:spAutoFit/>
          </a:bodyPr>
          <a:lstStyle/>
          <a:p>
            <a:pPr algn="l"/>
            <a:r>
              <a:rPr sz="900" b="1" i="0" spc="100">
                <a:solidFill>
                  <a:srgbClr val="6B7280"/>
                </a:solidFill>
                <a:latin typeface="Segoe UI"/>
              </a:rPr>
              <a:t>MOST CONFIDENT WRONG PREDICTIONS · C</a:t>
            </a:r>
          </a:p>
        </p:txBody>
      </p:sp>
      <p:pic>
        <p:nvPicPr>
          <p:cNvPr id="43" name="Picture 42" descr="fig5_failures_C_resnet18_finetune.png"/>
          <p:cNvPicPr>
            <a:picLocks noChangeAspect="1"/>
          </p:cNvPicPr>
          <p:nvPr/>
        </p:nvPicPr>
        <p:blipFill>
          <a:blip r:embed="rId4"/>
          <a:stretch>
            <a:fillRect/>
          </a:stretch>
        </p:blipFill>
        <p:spPr>
          <a:xfrm>
            <a:off x="6765931" y="2121408"/>
            <a:ext cx="3643312" cy="38862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ounded Rectangle 2"/>
          <p:cNvSpPr/>
          <p:nvPr/>
        </p:nvSpPr>
        <p:spPr>
          <a:xfrm>
            <a:off x="640080" y="384048"/>
            <a:ext cx="1920240" cy="292608"/>
          </a:xfrm>
          <a:prstGeom prst="roundRect">
            <a:avLst>
              <a:gd name="adj" fmla="val 50000"/>
            </a:avLst>
          </a:prstGeom>
          <a:solidFill>
            <a:srgbClr val="E2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640080" y="384048"/>
            <a:ext cx="1920240" cy="292608"/>
          </a:xfrm>
          <a:prstGeom prst="rect">
            <a:avLst/>
          </a:prstGeom>
          <a:noFill/>
        </p:spPr>
        <p:txBody>
          <a:bodyPr wrap="square" lIns="18288" rIns="18288" anchor="ctr">
            <a:spAutoFit/>
          </a:bodyPr>
          <a:lstStyle/>
          <a:p>
            <a:pPr algn="ctr"/>
            <a:r>
              <a:rPr sz="1050" b="1" i="0" spc="120">
                <a:solidFill>
                  <a:srgbClr val="0F7C74"/>
                </a:solidFill>
                <a:latin typeface="Segoe UI"/>
              </a:rPr>
              <a:t>05  ·  ANALYSIS</a:t>
            </a:r>
          </a:p>
        </p:txBody>
      </p:sp>
      <p:pic>
        <p:nvPicPr>
          <p:cNvPr id="5" name="Picture 4" descr="kit_logo.png"/>
          <p:cNvPicPr>
            <a:picLocks noChangeAspect="1"/>
          </p:cNvPicPr>
          <p:nvPr/>
        </p:nvPicPr>
        <p:blipFill>
          <a:blip r:embed="rId3"/>
          <a:stretch>
            <a:fillRect/>
          </a:stretch>
        </p:blipFill>
        <p:spPr>
          <a:xfrm>
            <a:off x="10929823" y="320040"/>
            <a:ext cx="621792" cy="621792"/>
          </a:xfrm>
          <a:prstGeom prst="rect">
            <a:avLst/>
          </a:prstGeom>
        </p:spPr>
      </p:pic>
      <p:sp>
        <p:nvSpPr>
          <p:cNvPr id="6" name="TextBox 5"/>
          <p:cNvSpPr txBox="1"/>
          <p:nvPr/>
        </p:nvSpPr>
        <p:spPr>
          <a:xfrm>
            <a:off x="621792" y="731520"/>
            <a:ext cx="9997135" cy="685800"/>
          </a:xfrm>
          <a:prstGeom prst="rect">
            <a:avLst/>
          </a:prstGeom>
          <a:noFill/>
        </p:spPr>
        <p:txBody>
          <a:bodyPr wrap="square" lIns="18288" rIns="18288" anchor="ctr">
            <a:spAutoFit/>
          </a:bodyPr>
          <a:lstStyle/>
          <a:p>
            <a:pPr algn="l"/>
            <a:r>
              <a:rPr sz="3000" b="0" i="0">
                <a:solidFill>
                  <a:srgbClr val="14213D"/>
                </a:solidFill>
                <a:latin typeface="Segoe UI Semibold"/>
              </a:rPr>
              <a:t>Why — in course concepts</a:t>
            </a:r>
          </a:p>
        </p:txBody>
      </p:sp>
      <p:sp>
        <p:nvSpPr>
          <p:cNvPr id="7" name="Rectangle 6"/>
          <p:cNvSpPr/>
          <p:nvPr/>
        </p:nvSpPr>
        <p:spPr>
          <a:xfrm>
            <a:off x="640080" y="6601968"/>
            <a:ext cx="1368073" cy="27432"/>
          </a:xfrm>
          <a:prstGeom prst="rect">
            <a:avLst/>
          </a:prstGeom>
          <a:solidFill>
            <a:srgbClr val="0F7C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640080" y="6336792"/>
            <a:ext cx="1368073" cy="237744"/>
          </a:xfrm>
          <a:prstGeom prst="rect">
            <a:avLst/>
          </a:prstGeom>
          <a:noFill/>
        </p:spPr>
        <p:txBody>
          <a:bodyPr wrap="square" lIns="18288" rIns="18288" anchor="t">
            <a:spAutoFit/>
          </a:bodyPr>
          <a:lstStyle/>
          <a:p>
            <a:pPr algn="l"/>
            <a:r>
              <a:rPr sz="850" b="0" i="0">
                <a:solidFill>
                  <a:srgbClr val="6B7280"/>
                </a:solidFill>
                <a:latin typeface="Segoe UI"/>
              </a:rPr>
              <a:t>Problem</a:t>
            </a:r>
          </a:p>
        </p:txBody>
      </p:sp>
      <p:sp>
        <p:nvSpPr>
          <p:cNvPr id="9" name="Rectangle 8"/>
          <p:cNvSpPr/>
          <p:nvPr/>
        </p:nvSpPr>
        <p:spPr>
          <a:xfrm>
            <a:off x="2081305" y="6601968"/>
            <a:ext cx="1368073" cy="27432"/>
          </a:xfrm>
          <a:prstGeom prst="rect">
            <a:avLst/>
          </a:prstGeom>
          <a:solidFill>
            <a:srgbClr val="0F7C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2081305" y="6336792"/>
            <a:ext cx="1368073" cy="237744"/>
          </a:xfrm>
          <a:prstGeom prst="rect">
            <a:avLst/>
          </a:prstGeom>
          <a:noFill/>
        </p:spPr>
        <p:txBody>
          <a:bodyPr wrap="square" lIns="18288" rIns="18288" anchor="t">
            <a:spAutoFit/>
          </a:bodyPr>
          <a:lstStyle/>
          <a:p>
            <a:pPr algn="l"/>
            <a:r>
              <a:rPr sz="850" b="0" i="0">
                <a:solidFill>
                  <a:srgbClr val="6B7280"/>
                </a:solidFill>
                <a:latin typeface="Segoe UI"/>
              </a:rPr>
              <a:t>Data</a:t>
            </a:r>
          </a:p>
        </p:txBody>
      </p:sp>
      <p:sp>
        <p:nvSpPr>
          <p:cNvPr id="11" name="Rectangle 10"/>
          <p:cNvSpPr/>
          <p:nvPr/>
        </p:nvSpPr>
        <p:spPr>
          <a:xfrm>
            <a:off x="3522530" y="6601968"/>
            <a:ext cx="1368073" cy="27432"/>
          </a:xfrm>
          <a:prstGeom prst="rect">
            <a:avLst/>
          </a:prstGeom>
          <a:solidFill>
            <a:srgbClr val="0F7C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3522530" y="6336792"/>
            <a:ext cx="1368073" cy="237744"/>
          </a:xfrm>
          <a:prstGeom prst="rect">
            <a:avLst/>
          </a:prstGeom>
          <a:noFill/>
        </p:spPr>
        <p:txBody>
          <a:bodyPr wrap="square" lIns="18288" rIns="18288" anchor="t">
            <a:spAutoFit/>
          </a:bodyPr>
          <a:lstStyle/>
          <a:p>
            <a:pPr algn="l"/>
            <a:r>
              <a:rPr sz="850" b="0" i="0">
                <a:solidFill>
                  <a:srgbClr val="6B7280"/>
                </a:solidFill>
                <a:latin typeface="Segoe UI"/>
              </a:rPr>
              <a:t>Method</a:t>
            </a:r>
          </a:p>
        </p:txBody>
      </p:sp>
      <p:sp>
        <p:nvSpPr>
          <p:cNvPr id="13" name="Rectangle 12"/>
          <p:cNvSpPr/>
          <p:nvPr/>
        </p:nvSpPr>
        <p:spPr>
          <a:xfrm>
            <a:off x="4963755" y="6601968"/>
            <a:ext cx="1368073" cy="27432"/>
          </a:xfrm>
          <a:prstGeom prst="rect">
            <a:avLst/>
          </a:prstGeom>
          <a:solidFill>
            <a:srgbClr val="0F7C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963755" y="6336792"/>
            <a:ext cx="1368073" cy="237744"/>
          </a:xfrm>
          <a:prstGeom prst="rect">
            <a:avLst/>
          </a:prstGeom>
          <a:noFill/>
        </p:spPr>
        <p:txBody>
          <a:bodyPr wrap="square" lIns="18288" rIns="18288" anchor="t">
            <a:spAutoFit/>
          </a:bodyPr>
          <a:lstStyle/>
          <a:p>
            <a:pPr algn="l"/>
            <a:r>
              <a:rPr sz="850" b="0" i="0">
                <a:solidFill>
                  <a:srgbClr val="6B7280"/>
                </a:solidFill>
                <a:latin typeface="Segoe UI"/>
              </a:rPr>
              <a:t>Results</a:t>
            </a:r>
          </a:p>
        </p:txBody>
      </p:sp>
      <p:sp>
        <p:nvSpPr>
          <p:cNvPr id="15" name="Rectangle 14"/>
          <p:cNvSpPr/>
          <p:nvPr/>
        </p:nvSpPr>
        <p:spPr>
          <a:xfrm>
            <a:off x="6404980" y="6601968"/>
            <a:ext cx="1368073" cy="45720"/>
          </a:xfrm>
          <a:prstGeom prst="rect">
            <a:avLst/>
          </a:prstGeom>
          <a:solidFill>
            <a:srgbClr val="E09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6404980" y="6336792"/>
            <a:ext cx="1368073" cy="237744"/>
          </a:xfrm>
          <a:prstGeom prst="rect">
            <a:avLst/>
          </a:prstGeom>
          <a:noFill/>
        </p:spPr>
        <p:txBody>
          <a:bodyPr wrap="square" lIns="18288" rIns="18288" anchor="t">
            <a:spAutoFit/>
          </a:bodyPr>
          <a:lstStyle/>
          <a:p>
            <a:pPr algn="l"/>
            <a:r>
              <a:rPr sz="850" b="1" i="0">
                <a:solidFill>
                  <a:srgbClr val="14213D"/>
                </a:solidFill>
                <a:latin typeface="Segoe UI"/>
              </a:rPr>
              <a:t>Analysis</a:t>
            </a:r>
          </a:p>
        </p:txBody>
      </p:sp>
      <p:sp>
        <p:nvSpPr>
          <p:cNvPr id="17" name="Rectangle 16"/>
          <p:cNvSpPr/>
          <p:nvPr/>
        </p:nvSpPr>
        <p:spPr>
          <a:xfrm>
            <a:off x="7846205" y="6601968"/>
            <a:ext cx="1368073" cy="2743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846205" y="6336792"/>
            <a:ext cx="1368073" cy="237744"/>
          </a:xfrm>
          <a:prstGeom prst="rect">
            <a:avLst/>
          </a:prstGeom>
          <a:noFill/>
        </p:spPr>
        <p:txBody>
          <a:bodyPr wrap="square" lIns="18288" rIns="18288" anchor="t">
            <a:spAutoFit/>
          </a:bodyPr>
          <a:lstStyle/>
          <a:p>
            <a:pPr algn="l"/>
            <a:r>
              <a:rPr sz="850" b="0" i="0">
                <a:solidFill>
                  <a:srgbClr val="6B7280"/>
                </a:solidFill>
                <a:latin typeface="Segoe UI"/>
              </a:rPr>
              <a:t>Honesty</a:t>
            </a:r>
          </a:p>
        </p:txBody>
      </p:sp>
      <p:sp>
        <p:nvSpPr>
          <p:cNvPr id="19" name="Rectangle 18"/>
          <p:cNvSpPr/>
          <p:nvPr/>
        </p:nvSpPr>
        <p:spPr>
          <a:xfrm>
            <a:off x="9287430" y="6601968"/>
            <a:ext cx="1368073" cy="2743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9287430" y="6336792"/>
            <a:ext cx="1368073" cy="237744"/>
          </a:xfrm>
          <a:prstGeom prst="rect">
            <a:avLst/>
          </a:prstGeom>
          <a:noFill/>
        </p:spPr>
        <p:txBody>
          <a:bodyPr wrap="square" lIns="18288" rIns="18288" anchor="t">
            <a:spAutoFit/>
          </a:bodyPr>
          <a:lstStyle/>
          <a:p>
            <a:pPr algn="l"/>
            <a:r>
              <a:rPr sz="850" b="0" i="0">
                <a:solidFill>
                  <a:srgbClr val="6B7280"/>
                </a:solidFill>
                <a:latin typeface="Segoe UI"/>
              </a:rPr>
              <a:t>Conclusion</a:t>
            </a:r>
          </a:p>
        </p:txBody>
      </p:sp>
      <p:sp>
        <p:nvSpPr>
          <p:cNvPr id="21" name="TextBox 20"/>
          <p:cNvSpPr txBox="1"/>
          <p:nvPr/>
        </p:nvSpPr>
        <p:spPr>
          <a:xfrm>
            <a:off x="10820095" y="6373368"/>
            <a:ext cx="731520" cy="274320"/>
          </a:xfrm>
          <a:prstGeom prst="rect">
            <a:avLst/>
          </a:prstGeom>
          <a:noFill/>
        </p:spPr>
        <p:txBody>
          <a:bodyPr wrap="square" lIns="18288" rIns="18288" anchor="t">
            <a:spAutoFit/>
          </a:bodyPr>
          <a:lstStyle/>
          <a:p>
            <a:pPr algn="r"/>
            <a:r>
              <a:rPr sz="1100" b="1" i="0">
                <a:solidFill>
                  <a:srgbClr val="0F7C74"/>
                </a:solidFill>
                <a:latin typeface="Segoe UI Semibold"/>
              </a:rPr>
              <a:t>12</a:t>
            </a:r>
          </a:p>
        </p:txBody>
      </p:sp>
      <p:sp>
        <p:nvSpPr>
          <p:cNvPr id="22" name="Rounded Rectangle 21"/>
          <p:cNvSpPr/>
          <p:nvPr/>
        </p:nvSpPr>
        <p:spPr>
          <a:xfrm>
            <a:off x="640080" y="1600200"/>
            <a:ext cx="10911535" cy="749808"/>
          </a:xfrm>
          <a:prstGeom prst="roundRect">
            <a:avLst>
              <a:gd name="adj" fmla="val 14634"/>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Rectangle 22"/>
          <p:cNvSpPr/>
          <p:nvPr/>
        </p:nvSpPr>
        <p:spPr>
          <a:xfrm>
            <a:off x="640080" y="1746504"/>
            <a:ext cx="64008" cy="457199"/>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960119" y="1600200"/>
            <a:ext cx="2194560" cy="749808"/>
          </a:xfrm>
          <a:prstGeom prst="rect">
            <a:avLst/>
          </a:prstGeom>
          <a:noFill/>
        </p:spPr>
        <p:txBody>
          <a:bodyPr wrap="square" lIns="18288" rIns="18288" anchor="ctr">
            <a:spAutoFit/>
          </a:bodyPr>
          <a:lstStyle/>
          <a:p>
            <a:pPr algn="l"/>
            <a:r>
              <a:rPr sz="2000" b="1" i="0">
                <a:solidFill>
                  <a:srgbClr val="C0392B"/>
                </a:solidFill>
                <a:latin typeface="Segoe UI Semibold"/>
              </a:rPr>
              <a:t>B → 42 %</a:t>
            </a:r>
          </a:p>
        </p:txBody>
      </p:sp>
      <p:sp>
        <p:nvSpPr>
          <p:cNvPr id="25" name="Rounded Rectangle 24"/>
          <p:cNvSpPr/>
          <p:nvPr/>
        </p:nvSpPr>
        <p:spPr>
          <a:xfrm>
            <a:off x="3291839" y="1801368"/>
            <a:ext cx="2148840" cy="347472"/>
          </a:xfrm>
          <a:prstGeom prst="roundRect">
            <a:avLst>
              <a:gd name="adj" fmla="val 50000"/>
            </a:avLst>
          </a:prstGeom>
          <a:solidFill>
            <a:srgbClr val="E2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3291839" y="1801368"/>
            <a:ext cx="2148840" cy="347472"/>
          </a:xfrm>
          <a:prstGeom prst="rect">
            <a:avLst/>
          </a:prstGeom>
          <a:noFill/>
        </p:spPr>
        <p:txBody>
          <a:bodyPr wrap="square" lIns="18288" rIns="18288" anchor="ctr">
            <a:spAutoFit/>
          </a:bodyPr>
          <a:lstStyle/>
          <a:p>
            <a:pPr algn="ctr"/>
            <a:r>
              <a:rPr sz="1250" b="1" i="0" spc="80">
                <a:solidFill>
                  <a:srgbClr val="0F7C74"/>
                </a:solidFill>
                <a:latin typeface="Segoe UI"/>
              </a:rPr>
              <a:t>DOMAIN SHIFT</a:t>
            </a:r>
          </a:p>
        </p:txBody>
      </p:sp>
      <p:sp>
        <p:nvSpPr>
          <p:cNvPr id="27" name="TextBox 26"/>
          <p:cNvSpPr txBox="1"/>
          <p:nvPr/>
        </p:nvSpPr>
        <p:spPr>
          <a:xfrm>
            <a:off x="5760720" y="1600200"/>
            <a:ext cx="5608015" cy="749808"/>
          </a:xfrm>
          <a:prstGeom prst="rect">
            <a:avLst/>
          </a:prstGeom>
          <a:noFill/>
        </p:spPr>
        <p:txBody>
          <a:bodyPr wrap="square" lIns="18288" rIns="18288" anchor="ctr">
            <a:spAutoFit/>
          </a:bodyPr>
          <a:lstStyle/>
          <a:p>
            <a:pPr algn="l"/>
            <a:r>
              <a:rPr sz="1650" b="0" i="0">
                <a:solidFill>
                  <a:srgbClr val="14213D"/>
                </a:solidFill>
                <a:latin typeface="Segoe UI"/>
              </a:rPr>
              <a:t>ImageNet filters are not Khmer strokes</a:t>
            </a:r>
          </a:p>
        </p:txBody>
      </p:sp>
      <p:sp>
        <p:nvSpPr>
          <p:cNvPr id="28" name="Rounded Rectangle 27"/>
          <p:cNvSpPr/>
          <p:nvPr/>
        </p:nvSpPr>
        <p:spPr>
          <a:xfrm>
            <a:off x="640080" y="2478024"/>
            <a:ext cx="10911535" cy="749808"/>
          </a:xfrm>
          <a:prstGeom prst="roundRect">
            <a:avLst>
              <a:gd name="adj" fmla="val 14634"/>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Rectangle 28"/>
          <p:cNvSpPr/>
          <p:nvPr/>
        </p:nvSpPr>
        <p:spPr>
          <a:xfrm>
            <a:off x="640080" y="2624328"/>
            <a:ext cx="64008" cy="457199"/>
          </a:xfrm>
          <a:prstGeom prst="rect">
            <a:avLst/>
          </a:prstGeom>
          <a:solidFill>
            <a:srgbClr val="0F7C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960119" y="2478024"/>
            <a:ext cx="2194560" cy="749808"/>
          </a:xfrm>
          <a:prstGeom prst="rect">
            <a:avLst/>
          </a:prstGeom>
          <a:noFill/>
        </p:spPr>
        <p:txBody>
          <a:bodyPr wrap="square" lIns="18288" rIns="18288" anchor="ctr">
            <a:spAutoFit/>
          </a:bodyPr>
          <a:lstStyle/>
          <a:p>
            <a:pPr algn="l"/>
            <a:r>
              <a:rPr sz="2000" b="1" i="0">
                <a:solidFill>
                  <a:srgbClr val="0F7C74"/>
                </a:solidFill>
                <a:latin typeface="Segoe UI Semibold"/>
              </a:rPr>
              <a:t>A ≈ C</a:t>
            </a:r>
          </a:p>
        </p:txBody>
      </p:sp>
      <p:sp>
        <p:nvSpPr>
          <p:cNvPr id="31" name="Rounded Rectangle 30"/>
          <p:cNvSpPr/>
          <p:nvPr/>
        </p:nvSpPr>
        <p:spPr>
          <a:xfrm>
            <a:off x="3291839" y="2679191"/>
            <a:ext cx="2148840" cy="347472"/>
          </a:xfrm>
          <a:prstGeom prst="roundRect">
            <a:avLst>
              <a:gd name="adj" fmla="val 50000"/>
            </a:avLst>
          </a:prstGeom>
          <a:solidFill>
            <a:srgbClr val="E2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3291839" y="2679191"/>
            <a:ext cx="2148840" cy="347472"/>
          </a:xfrm>
          <a:prstGeom prst="rect">
            <a:avLst/>
          </a:prstGeom>
          <a:noFill/>
        </p:spPr>
        <p:txBody>
          <a:bodyPr wrap="square" lIns="18288" rIns="18288" anchor="ctr">
            <a:spAutoFit/>
          </a:bodyPr>
          <a:lstStyle/>
          <a:p>
            <a:pPr algn="ctr"/>
            <a:r>
              <a:rPr sz="1250" b="1" i="0" spc="80">
                <a:solidFill>
                  <a:srgbClr val="0F7C74"/>
                </a:solidFill>
                <a:latin typeface="Segoe UI"/>
              </a:rPr>
              <a:t>DATA SIZE</a:t>
            </a:r>
          </a:p>
        </p:txBody>
      </p:sp>
      <p:sp>
        <p:nvSpPr>
          <p:cNvPr id="33" name="TextBox 32"/>
          <p:cNvSpPr txBox="1"/>
          <p:nvPr/>
        </p:nvSpPr>
        <p:spPr>
          <a:xfrm>
            <a:off x="5760720" y="2478024"/>
            <a:ext cx="5608015" cy="749808"/>
          </a:xfrm>
          <a:prstGeom prst="rect">
            <a:avLst/>
          </a:prstGeom>
          <a:noFill/>
        </p:spPr>
        <p:txBody>
          <a:bodyPr wrap="square" lIns="18288" rIns="18288" anchor="ctr">
            <a:spAutoFit/>
          </a:bodyPr>
          <a:lstStyle/>
          <a:p>
            <a:pPr algn="l"/>
            <a:r>
              <a:rPr sz="1650" b="0" i="0">
                <a:solidFill>
                  <a:srgbClr val="14213D"/>
                </a:solidFill>
                <a:latin typeface="Segoe UI"/>
              </a:rPr>
              <a:t>2 515 images suffice from random init</a:t>
            </a:r>
          </a:p>
        </p:txBody>
      </p:sp>
      <p:sp>
        <p:nvSpPr>
          <p:cNvPr id="34" name="Rounded Rectangle 33"/>
          <p:cNvSpPr/>
          <p:nvPr/>
        </p:nvSpPr>
        <p:spPr>
          <a:xfrm>
            <a:off x="640080" y="3355848"/>
            <a:ext cx="10911535" cy="749808"/>
          </a:xfrm>
          <a:prstGeom prst="roundRect">
            <a:avLst>
              <a:gd name="adj" fmla="val 14634"/>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Rectangle 34"/>
          <p:cNvSpPr/>
          <p:nvPr/>
        </p:nvSpPr>
        <p:spPr>
          <a:xfrm>
            <a:off x="640080" y="3502152"/>
            <a:ext cx="64008" cy="457199"/>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TextBox 35"/>
          <p:cNvSpPr txBox="1"/>
          <p:nvPr/>
        </p:nvSpPr>
        <p:spPr>
          <a:xfrm>
            <a:off x="960119" y="3355848"/>
            <a:ext cx="2194560" cy="749808"/>
          </a:xfrm>
          <a:prstGeom prst="rect">
            <a:avLst/>
          </a:prstGeom>
          <a:noFill/>
        </p:spPr>
        <p:txBody>
          <a:bodyPr wrap="square" lIns="18288" rIns="18288" anchor="ctr">
            <a:spAutoFit/>
          </a:bodyPr>
          <a:lstStyle/>
          <a:p>
            <a:pPr algn="l"/>
            <a:r>
              <a:rPr sz="2000" b="1" i="0">
                <a:solidFill>
                  <a:srgbClr val="C0392B"/>
                </a:solidFill>
                <a:latin typeface="Segoe UI Semibold"/>
              </a:rPr>
              <a:t>D → 47 %</a:t>
            </a:r>
          </a:p>
        </p:txBody>
      </p:sp>
      <p:sp>
        <p:nvSpPr>
          <p:cNvPr id="37" name="Rounded Rectangle 36"/>
          <p:cNvSpPr/>
          <p:nvPr/>
        </p:nvSpPr>
        <p:spPr>
          <a:xfrm>
            <a:off x="3291839" y="3557015"/>
            <a:ext cx="2148840" cy="347472"/>
          </a:xfrm>
          <a:prstGeom prst="roundRect">
            <a:avLst>
              <a:gd name="adj" fmla="val 50000"/>
            </a:avLst>
          </a:prstGeom>
          <a:solidFill>
            <a:srgbClr val="E2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Box 37"/>
          <p:cNvSpPr txBox="1"/>
          <p:nvPr/>
        </p:nvSpPr>
        <p:spPr>
          <a:xfrm>
            <a:off x="3291839" y="3557015"/>
            <a:ext cx="2148840" cy="347472"/>
          </a:xfrm>
          <a:prstGeom prst="rect">
            <a:avLst/>
          </a:prstGeom>
          <a:noFill/>
        </p:spPr>
        <p:txBody>
          <a:bodyPr wrap="square" lIns="18288" rIns="18288" anchor="ctr">
            <a:spAutoFit/>
          </a:bodyPr>
          <a:lstStyle/>
          <a:p>
            <a:pPr algn="ctr"/>
            <a:r>
              <a:rPr sz="1250" b="1" i="0" spc="80">
                <a:solidFill>
                  <a:srgbClr val="0F7C74"/>
                </a:solidFill>
                <a:latin typeface="Segoe UI"/>
              </a:rPr>
              <a:t>CAPACITY</a:t>
            </a:r>
          </a:p>
        </p:txBody>
      </p:sp>
      <p:sp>
        <p:nvSpPr>
          <p:cNvPr id="39" name="TextBox 38"/>
          <p:cNvSpPr txBox="1"/>
          <p:nvPr/>
        </p:nvSpPr>
        <p:spPr>
          <a:xfrm>
            <a:off x="5760720" y="3355848"/>
            <a:ext cx="5608015" cy="749808"/>
          </a:xfrm>
          <a:prstGeom prst="rect">
            <a:avLst/>
          </a:prstGeom>
          <a:noFill/>
        </p:spPr>
        <p:txBody>
          <a:bodyPr wrap="square" lIns="18288" rIns="18288" anchor="ctr">
            <a:spAutoFit/>
          </a:bodyPr>
          <a:lstStyle/>
          <a:p>
            <a:pPr algn="l"/>
            <a:r>
              <a:rPr sz="1650" b="0" i="0">
                <a:solidFill>
                  <a:srgbClr val="14213D"/>
                </a:solidFill>
                <a:latin typeface="Segoe UI"/>
              </a:rPr>
              <a:t>0.4 M params cannot separate 26 words</a:t>
            </a:r>
          </a:p>
        </p:txBody>
      </p:sp>
      <p:sp>
        <p:nvSpPr>
          <p:cNvPr id="40" name="Rounded Rectangle 39"/>
          <p:cNvSpPr/>
          <p:nvPr/>
        </p:nvSpPr>
        <p:spPr>
          <a:xfrm>
            <a:off x="640080" y="4233672"/>
            <a:ext cx="10911535" cy="749808"/>
          </a:xfrm>
          <a:prstGeom prst="roundRect">
            <a:avLst>
              <a:gd name="adj" fmla="val 14634"/>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Rectangle 40"/>
          <p:cNvSpPr/>
          <p:nvPr/>
        </p:nvSpPr>
        <p:spPr>
          <a:xfrm>
            <a:off x="640080" y="4379976"/>
            <a:ext cx="64008" cy="457199"/>
          </a:xfrm>
          <a:prstGeom prst="rect">
            <a:avLst/>
          </a:prstGeom>
          <a:solidFill>
            <a:srgbClr val="0F7C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Box 41"/>
          <p:cNvSpPr txBox="1"/>
          <p:nvPr/>
        </p:nvSpPr>
        <p:spPr>
          <a:xfrm>
            <a:off x="960119" y="4233672"/>
            <a:ext cx="2194560" cy="749808"/>
          </a:xfrm>
          <a:prstGeom prst="rect">
            <a:avLst/>
          </a:prstGeom>
          <a:noFill/>
        </p:spPr>
        <p:txBody>
          <a:bodyPr wrap="square" lIns="18288" rIns="18288" anchor="ctr">
            <a:spAutoFit/>
          </a:bodyPr>
          <a:lstStyle/>
          <a:p>
            <a:pPr algn="l"/>
            <a:r>
              <a:rPr sz="2000" b="1" i="0">
                <a:solidFill>
                  <a:srgbClr val="0F7C74"/>
                </a:solidFill>
                <a:latin typeface="Segoe UI Semibold"/>
              </a:rPr>
              <a:t>E → 96.1 %</a:t>
            </a:r>
          </a:p>
        </p:txBody>
      </p:sp>
      <p:sp>
        <p:nvSpPr>
          <p:cNvPr id="43" name="Rounded Rectangle 42"/>
          <p:cNvSpPr/>
          <p:nvPr/>
        </p:nvSpPr>
        <p:spPr>
          <a:xfrm>
            <a:off x="3291839" y="4434840"/>
            <a:ext cx="2148840" cy="347472"/>
          </a:xfrm>
          <a:prstGeom prst="roundRect">
            <a:avLst>
              <a:gd name="adj" fmla="val 50000"/>
            </a:avLst>
          </a:prstGeom>
          <a:solidFill>
            <a:srgbClr val="E2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TextBox 43"/>
          <p:cNvSpPr txBox="1"/>
          <p:nvPr/>
        </p:nvSpPr>
        <p:spPr>
          <a:xfrm>
            <a:off x="3291839" y="4434840"/>
            <a:ext cx="2148840" cy="347472"/>
          </a:xfrm>
          <a:prstGeom prst="rect">
            <a:avLst/>
          </a:prstGeom>
          <a:noFill/>
        </p:spPr>
        <p:txBody>
          <a:bodyPr wrap="square" lIns="18288" rIns="18288" anchor="ctr">
            <a:spAutoFit/>
          </a:bodyPr>
          <a:lstStyle/>
          <a:p>
            <a:pPr algn="ctr"/>
            <a:r>
              <a:rPr sz="1250" b="1" i="0" spc="80">
                <a:solidFill>
                  <a:srgbClr val="0F7C74"/>
                </a:solidFill>
                <a:latin typeface="Segoe UI"/>
              </a:rPr>
              <a:t>ATTENTION</a:t>
            </a:r>
          </a:p>
        </p:txBody>
      </p:sp>
      <p:sp>
        <p:nvSpPr>
          <p:cNvPr id="45" name="TextBox 44"/>
          <p:cNvSpPr txBox="1"/>
          <p:nvPr/>
        </p:nvSpPr>
        <p:spPr>
          <a:xfrm>
            <a:off x="5760720" y="4233672"/>
            <a:ext cx="5608015" cy="749808"/>
          </a:xfrm>
          <a:prstGeom prst="rect">
            <a:avLst/>
          </a:prstGeom>
          <a:noFill/>
        </p:spPr>
        <p:txBody>
          <a:bodyPr wrap="square" lIns="18288" rIns="18288" anchor="ctr">
            <a:spAutoFit/>
          </a:bodyPr>
          <a:lstStyle/>
          <a:p>
            <a:pPr algn="l"/>
            <a:r>
              <a:rPr sz="1650" b="0" i="0">
                <a:solidFill>
                  <a:srgbClr val="14213D"/>
                </a:solidFill>
                <a:latin typeface="Segoe UI"/>
              </a:rPr>
              <a:t>global self-attention captures full glyph ligatures</a:t>
            </a:r>
          </a:p>
        </p:txBody>
      </p:sp>
      <p:sp>
        <p:nvSpPr>
          <p:cNvPr id="46" name="Rounded Rectangle 45"/>
          <p:cNvSpPr/>
          <p:nvPr/>
        </p:nvSpPr>
        <p:spPr>
          <a:xfrm>
            <a:off x="640080" y="5111496"/>
            <a:ext cx="10911535" cy="749808"/>
          </a:xfrm>
          <a:prstGeom prst="roundRect">
            <a:avLst>
              <a:gd name="adj" fmla="val 14634"/>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Rectangle 46"/>
          <p:cNvSpPr/>
          <p:nvPr/>
        </p:nvSpPr>
        <p:spPr>
          <a:xfrm>
            <a:off x="640080" y="5257800"/>
            <a:ext cx="64008" cy="457199"/>
          </a:xfrm>
          <a:prstGeom prst="rect">
            <a:avLst/>
          </a:prstGeom>
          <a:solidFill>
            <a:srgbClr val="2F8F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TextBox 47"/>
          <p:cNvSpPr txBox="1"/>
          <p:nvPr/>
        </p:nvSpPr>
        <p:spPr>
          <a:xfrm>
            <a:off x="960119" y="5111496"/>
            <a:ext cx="2194560" cy="749808"/>
          </a:xfrm>
          <a:prstGeom prst="rect">
            <a:avLst/>
          </a:prstGeom>
          <a:noFill/>
        </p:spPr>
        <p:txBody>
          <a:bodyPr wrap="square" lIns="18288" rIns="18288" anchor="ctr">
            <a:spAutoFit/>
          </a:bodyPr>
          <a:lstStyle/>
          <a:p>
            <a:pPr algn="l"/>
            <a:r>
              <a:rPr sz="2000" b="1" i="0">
                <a:solidFill>
                  <a:srgbClr val="2F8F4E"/>
                </a:solidFill>
                <a:latin typeface="Segoe UI Semibold"/>
              </a:rPr>
              <a:t>tuning +2.5</a:t>
            </a:r>
          </a:p>
        </p:txBody>
      </p:sp>
      <p:sp>
        <p:nvSpPr>
          <p:cNvPr id="49" name="Rounded Rectangle 48"/>
          <p:cNvSpPr/>
          <p:nvPr/>
        </p:nvSpPr>
        <p:spPr>
          <a:xfrm>
            <a:off x="3291839" y="5312664"/>
            <a:ext cx="2148840" cy="347472"/>
          </a:xfrm>
          <a:prstGeom prst="roundRect">
            <a:avLst>
              <a:gd name="adj" fmla="val 50000"/>
            </a:avLst>
          </a:prstGeom>
          <a:solidFill>
            <a:srgbClr val="E2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0" name="TextBox 49"/>
          <p:cNvSpPr txBox="1"/>
          <p:nvPr/>
        </p:nvSpPr>
        <p:spPr>
          <a:xfrm>
            <a:off x="3291839" y="5312664"/>
            <a:ext cx="2148840" cy="347472"/>
          </a:xfrm>
          <a:prstGeom prst="rect">
            <a:avLst/>
          </a:prstGeom>
          <a:noFill/>
        </p:spPr>
        <p:txBody>
          <a:bodyPr wrap="square" lIns="18288" rIns="18288" anchor="ctr">
            <a:spAutoFit/>
          </a:bodyPr>
          <a:lstStyle/>
          <a:p>
            <a:pPr algn="ctr"/>
            <a:r>
              <a:rPr sz="1250" b="1" i="0" spc="80">
                <a:solidFill>
                  <a:srgbClr val="0F7C74"/>
                </a:solidFill>
                <a:latin typeface="Segoe UI"/>
              </a:rPr>
              <a:t>OPTIMISATION</a:t>
            </a:r>
          </a:p>
        </p:txBody>
      </p:sp>
      <p:sp>
        <p:nvSpPr>
          <p:cNvPr id="51" name="TextBox 50"/>
          <p:cNvSpPr txBox="1"/>
          <p:nvPr/>
        </p:nvSpPr>
        <p:spPr>
          <a:xfrm>
            <a:off x="5760720" y="5111496"/>
            <a:ext cx="5608015" cy="749808"/>
          </a:xfrm>
          <a:prstGeom prst="rect">
            <a:avLst/>
          </a:prstGeom>
          <a:noFill/>
        </p:spPr>
        <p:txBody>
          <a:bodyPr wrap="square" lIns="18288" rIns="18288" anchor="ctr">
            <a:spAutoFit/>
          </a:bodyPr>
          <a:lstStyle/>
          <a:p>
            <a:pPr algn="l"/>
            <a:r>
              <a:rPr sz="1650" b="0" i="0">
                <a:solidFill>
                  <a:srgbClr val="14213D"/>
                </a:solidFill>
                <a:latin typeface="Segoe UI"/>
              </a:rPr>
              <a:t>fine-tuning wants a training-size LR</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ounded Rectangle 2"/>
          <p:cNvSpPr/>
          <p:nvPr/>
        </p:nvSpPr>
        <p:spPr>
          <a:xfrm>
            <a:off x="640080" y="384048"/>
            <a:ext cx="1819656" cy="292608"/>
          </a:xfrm>
          <a:prstGeom prst="roundRect">
            <a:avLst>
              <a:gd name="adj" fmla="val 50000"/>
            </a:avLst>
          </a:prstGeom>
          <a:solidFill>
            <a:srgbClr val="E2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640080" y="384048"/>
            <a:ext cx="1819656" cy="292608"/>
          </a:xfrm>
          <a:prstGeom prst="rect">
            <a:avLst/>
          </a:prstGeom>
          <a:noFill/>
        </p:spPr>
        <p:txBody>
          <a:bodyPr wrap="square" lIns="18288" rIns="18288" anchor="ctr">
            <a:spAutoFit/>
          </a:bodyPr>
          <a:lstStyle/>
          <a:p>
            <a:pPr algn="ctr"/>
            <a:r>
              <a:rPr sz="1050" b="1" i="0" spc="120">
                <a:solidFill>
                  <a:srgbClr val="0F7C74"/>
                </a:solidFill>
                <a:latin typeface="Segoe UI"/>
              </a:rPr>
              <a:t>06  ·  HONESTY</a:t>
            </a:r>
          </a:p>
        </p:txBody>
      </p:sp>
      <p:pic>
        <p:nvPicPr>
          <p:cNvPr id="5" name="Picture 4" descr="kit_logo.png"/>
          <p:cNvPicPr>
            <a:picLocks noChangeAspect="1"/>
          </p:cNvPicPr>
          <p:nvPr/>
        </p:nvPicPr>
        <p:blipFill>
          <a:blip r:embed="rId3"/>
          <a:stretch>
            <a:fillRect/>
          </a:stretch>
        </p:blipFill>
        <p:spPr>
          <a:xfrm>
            <a:off x="10929823" y="320040"/>
            <a:ext cx="621792" cy="621792"/>
          </a:xfrm>
          <a:prstGeom prst="rect">
            <a:avLst/>
          </a:prstGeom>
        </p:spPr>
      </p:pic>
      <p:sp>
        <p:nvSpPr>
          <p:cNvPr id="6" name="TextBox 5"/>
          <p:cNvSpPr txBox="1"/>
          <p:nvPr/>
        </p:nvSpPr>
        <p:spPr>
          <a:xfrm>
            <a:off x="621792" y="731520"/>
            <a:ext cx="9997135" cy="685800"/>
          </a:xfrm>
          <a:prstGeom prst="rect">
            <a:avLst/>
          </a:prstGeom>
          <a:noFill/>
        </p:spPr>
        <p:txBody>
          <a:bodyPr wrap="square" lIns="18288" rIns="18288" anchor="ctr">
            <a:spAutoFit/>
          </a:bodyPr>
          <a:lstStyle/>
          <a:p>
            <a:pPr algn="l"/>
            <a:r>
              <a:rPr sz="3000" b="0" i="0">
                <a:solidFill>
                  <a:srgbClr val="14213D"/>
                </a:solidFill>
                <a:latin typeface="Segoe UI Semibold"/>
              </a:rPr>
              <a:t>What this study cannot claim</a:t>
            </a:r>
          </a:p>
        </p:txBody>
      </p:sp>
      <p:sp>
        <p:nvSpPr>
          <p:cNvPr id="7" name="Rectangle 6"/>
          <p:cNvSpPr/>
          <p:nvPr/>
        </p:nvSpPr>
        <p:spPr>
          <a:xfrm>
            <a:off x="640080" y="6601968"/>
            <a:ext cx="1368073" cy="27432"/>
          </a:xfrm>
          <a:prstGeom prst="rect">
            <a:avLst/>
          </a:prstGeom>
          <a:solidFill>
            <a:srgbClr val="0F7C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640080" y="6336792"/>
            <a:ext cx="1368073" cy="237744"/>
          </a:xfrm>
          <a:prstGeom prst="rect">
            <a:avLst/>
          </a:prstGeom>
          <a:noFill/>
        </p:spPr>
        <p:txBody>
          <a:bodyPr wrap="square" lIns="18288" rIns="18288" anchor="t">
            <a:spAutoFit/>
          </a:bodyPr>
          <a:lstStyle/>
          <a:p>
            <a:pPr algn="l"/>
            <a:r>
              <a:rPr sz="850" b="0" i="0">
                <a:solidFill>
                  <a:srgbClr val="6B7280"/>
                </a:solidFill>
                <a:latin typeface="Segoe UI"/>
              </a:rPr>
              <a:t>Problem</a:t>
            </a:r>
          </a:p>
        </p:txBody>
      </p:sp>
      <p:sp>
        <p:nvSpPr>
          <p:cNvPr id="9" name="Rectangle 8"/>
          <p:cNvSpPr/>
          <p:nvPr/>
        </p:nvSpPr>
        <p:spPr>
          <a:xfrm>
            <a:off x="2081305" y="6601968"/>
            <a:ext cx="1368073" cy="27432"/>
          </a:xfrm>
          <a:prstGeom prst="rect">
            <a:avLst/>
          </a:prstGeom>
          <a:solidFill>
            <a:srgbClr val="0F7C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2081305" y="6336792"/>
            <a:ext cx="1368073" cy="237744"/>
          </a:xfrm>
          <a:prstGeom prst="rect">
            <a:avLst/>
          </a:prstGeom>
          <a:noFill/>
        </p:spPr>
        <p:txBody>
          <a:bodyPr wrap="square" lIns="18288" rIns="18288" anchor="t">
            <a:spAutoFit/>
          </a:bodyPr>
          <a:lstStyle/>
          <a:p>
            <a:pPr algn="l"/>
            <a:r>
              <a:rPr sz="850" b="0" i="0">
                <a:solidFill>
                  <a:srgbClr val="6B7280"/>
                </a:solidFill>
                <a:latin typeface="Segoe UI"/>
              </a:rPr>
              <a:t>Data</a:t>
            </a:r>
          </a:p>
        </p:txBody>
      </p:sp>
      <p:sp>
        <p:nvSpPr>
          <p:cNvPr id="11" name="Rectangle 10"/>
          <p:cNvSpPr/>
          <p:nvPr/>
        </p:nvSpPr>
        <p:spPr>
          <a:xfrm>
            <a:off x="3522530" y="6601968"/>
            <a:ext cx="1368073" cy="27432"/>
          </a:xfrm>
          <a:prstGeom prst="rect">
            <a:avLst/>
          </a:prstGeom>
          <a:solidFill>
            <a:srgbClr val="0F7C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3522530" y="6336792"/>
            <a:ext cx="1368073" cy="237744"/>
          </a:xfrm>
          <a:prstGeom prst="rect">
            <a:avLst/>
          </a:prstGeom>
          <a:noFill/>
        </p:spPr>
        <p:txBody>
          <a:bodyPr wrap="square" lIns="18288" rIns="18288" anchor="t">
            <a:spAutoFit/>
          </a:bodyPr>
          <a:lstStyle/>
          <a:p>
            <a:pPr algn="l"/>
            <a:r>
              <a:rPr sz="850" b="0" i="0">
                <a:solidFill>
                  <a:srgbClr val="6B7280"/>
                </a:solidFill>
                <a:latin typeface="Segoe UI"/>
              </a:rPr>
              <a:t>Method</a:t>
            </a:r>
          </a:p>
        </p:txBody>
      </p:sp>
      <p:sp>
        <p:nvSpPr>
          <p:cNvPr id="13" name="Rectangle 12"/>
          <p:cNvSpPr/>
          <p:nvPr/>
        </p:nvSpPr>
        <p:spPr>
          <a:xfrm>
            <a:off x="4963755" y="6601968"/>
            <a:ext cx="1368073" cy="27432"/>
          </a:xfrm>
          <a:prstGeom prst="rect">
            <a:avLst/>
          </a:prstGeom>
          <a:solidFill>
            <a:srgbClr val="0F7C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963755" y="6336792"/>
            <a:ext cx="1368073" cy="237744"/>
          </a:xfrm>
          <a:prstGeom prst="rect">
            <a:avLst/>
          </a:prstGeom>
          <a:noFill/>
        </p:spPr>
        <p:txBody>
          <a:bodyPr wrap="square" lIns="18288" rIns="18288" anchor="t">
            <a:spAutoFit/>
          </a:bodyPr>
          <a:lstStyle/>
          <a:p>
            <a:pPr algn="l"/>
            <a:r>
              <a:rPr sz="850" b="0" i="0">
                <a:solidFill>
                  <a:srgbClr val="6B7280"/>
                </a:solidFill>
                <a:latin typeface="Segoe UI"/>
              </a:rPr>
              <a:t>Results</a:t>
            </a:r>
          </a:p>
        </p:txBody>
      </p:sp>
      <p:sp>
        <p:nvSpPr>
          <p:cNvPr id="15" name="Rectangle 14"/>
          <p:cNvSpPr/>
          <p:nvPr/>
        </p:nvSpPr>
        <p:spPr>
          <a:xfrm>
            <a:off x="6404980" y="6601968"/>
            <a:ext cx="1368073" cy="27432"/>
          </a:xfrm>
          <a:prstGeom prst="rect">
            <a:avLst/>
          </a:prstGeom>
          <a:solidFill>
            <a:srgbClr val="0F7C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6404980" y="6336792"/>
            <a:ext cx="1368073" cy="237744"/>
          </a:xfrm>
          <a:prstGeom prst="rect">
            <a:avLst/>
          </a:prstGeom>
          <a:noFill/>
        </p:spPr>
        <p:txBody>
          <a:bodyPr wrap="square" lIns="18288" rIns="18288" anchor="t">
            <a:spAutoFit/>
          </a:bodyPr>
          <a:lstStyle/>
          <a:p>
            <a:pPr algn="l"/>
            <a:r>
              <a:rPr sz="850" b="0" i="0">
                <a:solidFill>
                  <a:srgbClr val="6B7280"/>
                </a:solidFill>
                <a:latin typeface="Segoe UI"/>
              </a:rPr>
              <a:t>Analysis</a:t>
            </a:r>
          </a:p>
        </p:txBody>
      </p:sp>
      <p:sp>
        <p:nvSpPr>
          <p:cNvPr id="17" name="Rectangle 16"/>
          <p:cNvSpPr/>
          <p:nvPr/>
        </p:nvSpPr>
        <p:spPr>
          <a:xfrm>
            <a:off x="7846205" y="6601968"/>
            <a:ext cx="1368073" cy="45720"/>
          </a:xfrm>
          <a:prstGeom prst="rect">
            <a:avLst/>
          </a:prstGeom>
          <a:solidFill>
            <a:srgbClr val="E09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846205" y="6336792"/>
            <a:ext cx="1368073" cy="237744"/>
          </a:xfrm>
          <a:prstGeom prst="rect">
            <a:avLst/>
          </a:prstGeom>
          <a:noFill/>
        </p:spPr>
        <p:txBody>
          <a:bodyPr wrap="square" lIns="18288" rIns="18288" anchor="t">
            <a:spAutoFit/>
          </a:bodyPr>
          <a:lstStyle/>
          <a:p>
            <a:pPr algn="l"/>
            <a:r>
              <a:rPr sz="850" b="1" i="0">
                <a:solidFill>
                  <a:srgbClr val="14213D"/>
                </a:solidFill>
                <a:latin typeface="Segoe UI"/>
              </a:rPr>
              <a:t>Honesty</a:t>
            </a:r>
          </a:p>
        </p:txBody>
      </p:sp>
      <p:sp>
        <p:nvSpPr>
          <p:cNvPr id="19" name="Rectangle 18"/>
          <p:cNvSpPr/>
          <p:nvPr/>
        </p:nvSpPr>
        <p:spPr>
          <a:xfrm>
            <a:off x="9287430" y="6601968"/>
            <a:ext cx="1368073" cy="2743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9287430" y="6336792"/>
            <a:ext cx="1368073" cy="237744"/>
          </a:xfrm>
          <a:prstGeom prst="rect">
            <a:avLst/>
          </a:prstGeom>
          <a:noFill/>
        </p:spPr>
        <p:txBody>
          <a:bodyPr wrap="square" lIns="18288" rIns="18288" anchor="t">
            <a:spAutoFit/>
          </a:bodyPr>
          <a:lstStyle/>
          <a:p>
            <a:pPr algn="l"/>
            <a:r>
              <a:rPr sz="850" b="0" i="0">
                <a:solidFill>
                  <a:srgbClr val="6B7280"/>
                </a:solidFill>
                <a:latin typeface="Segoe UI"/>
              </a:rPr>
              <a:t>Conclusion</a:t>
            </a:r>
          </a:p>
        </p:txBody>
      </p:sp>
      <p:sp>
        <p:nvSpPr>
          <p:cNvPr id="21" name="TextBox 20"/>
          <p:cNvSpPr txBox="1"/>
          <p:nvPr/>
        </p:nvSpPr>
        <p:spPr>
          <a:xfrm>
            <a:off x="10820095" y="6373368"/>
            <a:ext cx="731520" cy="274320"/>
          </a:xfrm>
          <a:prstGeom prst="rect">
            <a:avLst/>
          </a:prstGeom>
          <a:noFill/>
        </p:spPr>
        <p:txBody>
          <a:bodyPr wrap="square" lIns="18288" rIns="18288" anchor="t">
            <a:spAutoFit/>
          </a:bodyPr>
          <a:lstStyle/>
          <a:p>
            <a:pPr algn="r"/>
            <a:r>
              <a:rPr sz="1100" b="1" i="0">
                <a:solidFill>
                  <a:srgbClr val="0F7C74"/>
                </a:solidFill>
                <a:latin typeface="Segoe UI Semibold"/>
              </a:rPr>
              <a:t>13</a:t>
            </a:r>
          </a:p>
        </p:txBody>
      </p:sp>
      <p:sp>
        <p:nvSpPr>
          <p:cNvPr id="22" name="Rounded Rectangle 21"/>
          <p:cNvSpPr/>
          <p:nvPr/>
        </p:nvSpPr>
        <p:spPr>
          <a:xfrm>
            <a:off x="640080" y="1691640"/>
            <a:ext cx="10911535" cy="769924"/>
          </a:xfrm>
          <a:prstGeom prst="roundRect">
            <a:avLst>
              <a:gd name="adj" fmla="val 14251"/>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Oval 22"/>
          <p:cNvSpPr/>
          <p:nvPr/>
        </p:nvSpPr>
        <p:spPr>
          <a:xfrm>
            <a:off x="841247" y="1866290"/>
            <a:ext cx="420624" cy="420624"/>
          </a:xfrm>
          <a:prstGeom prst="ellipse">
            <a:avLst/>
          </a:prstGeom>
          <a:solidFill>
            <a:srgbClr val="F8E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841247" y="1866290"/>
            <a:ext cx="420624" cy="420624"/>
          </a:xfrm>
          <a:prstGeom prst="rect">
            <a:avLst/>
          </a:prstGeom>
          <a:noFill/>
        </p:spPr>
        <p:txBody>
          <a:bodyPr wrap="square" lIns="18288" rIns="18288" anchor="ctr">
            <a:spAutoFit/>
          </a:bodyPr>
          <a:lstStyle/>
          <a:p>
            <a:pPr algn="ctr"/>
            <a:r>
              <a:rPr sz="1300" b="1" i="0">
                <a:solidFill>
                  <a:srgbClr val="C0392B"/>
                </a:solidFill>
                <a:latin typeface="Segoe UI Semibold"/>
              </a:rPr>
              <a:t>1</a:t>
            </a:r>
          </a:p>
        </p:txBody>
      </p:sp>
      <p:sp>
        <p:nvSpPr>
          <p:cNvPr id="25" name="TextBox 24"/>
          <p:cNvSpPr txBox="1"/>
          <p:nvPr/>
        </p:nvSpPr>
        <p:spPr>
          <a:xfrm>
            <a:off x="1463039" y="1691640"/>
            <a:ext cx="9905695" cy="769924"/>
          </a:xfrm>
          <a:prstGeom prst="rect">
            <a:avLst/>
          </a:prstGeom>
          <a:noFill/>
        </p:spPr>
        <p:txBody>
          <a:bodyPr wrap="square" anchor="ctr">
            <a:spAutoFit/>
          </a:bodyPr>
          <a:lstStyle/>
          <a:p>
            <a:r>
              <a:rPr sz="1900" b="0" i="0">
                <a:solidFill>
                  <a:srgbClr val="14213D"/>
                </a:solidFill>
                <a:latin typeface="Segoe UI"/>
              </a:rPr>
              <a:t>Public scraped data — not purpose-collected</a:t>
            </a:r>
          </a:p>
        </p:txBody>
      </p:sp>
      <p:sp>
        <p:nvSpPr>
          <p:cNvPr id="26" name="Rounded Rectangle 25"/>
          <p:cNvSpPr/>
          <p:nvPr/>
        </p:nvSpPr>
        <p:spPr>
          <a:xfrm>
            <a:off x="640080" y="2607868"/>
            <a:ext cx="10911535" cy="769924"/>
          </a:xfrm>
          <a:prstGeom prst="roundRect">
            <a:avLst>
              <a:gd name="adj" fmla="val 14251"/>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Oval 26"/>
          <p:cNvSpPr/>
          <p:nvPr/>
        </p:nvSpPr>
        <p:spPr>
          <a:xfrm>
            <a:off x="841247" y="2782519"/>
            <a:ext cx="420624" cy="420624"/>
          </a:xfrm>
          <a:prstGeom prst="ellipse">
            <a:avLst/>
          </a:prstGeom>
          <a:solidFill>
            <a:srgbClr val="F8E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841247" y="2782519"/>
            <a:ext cx="420624" cy="420624"/>
          </a:xfrm>
          <a:prstGeom prst="rect">
            <a:avLst/>
          </a:prstGeom>
          <a:noFill/>
        </p:spPr>
        <p:txBody>
          <a:bodyPr wrap="square" lIns="18288" rIns="18288" anchor="ctr">
            <a:spAutoFit/>
          </a:bodyPr>
          <a:lstStyle/>
          <a:p>
            <a:pPr algn="ctr"/>
            <a:r>
              <a:rPr sz="1300" b="1" i="0">
                <a:solidFill>
                  <a:srgbClr val="C0392B"/>
                </a:solidFill>
                <a:latin typeface="Segoe UI Semibold"/>
              </a:rPr>
              <a:t>2</a:t>
            </a:r>
          </a:p>
        </p:txBody>
      </p:sp>
      <p:sp>
        <p:nvSpPr>
          <p:cNvPr id="29" name="TextBox 28"/>
          <p:cNvSpPr txBox="1"/>
          <p:nvPr/>
        </p:nvSpPr>
        <p:spPr>
          <a:xfrm>
            <a:off x="1463039" y="2607868"/>
            <a:ext cx="9905695" cy="769924"/>
          </a:xfrm>
          <a:prstGeom prst="rect">
            <a:avLst/>
          </a:prstGeom>
          <a:noFill/>
        </p:spPr>
        <p:txBody>
          <a:bodyPr wrap="square" anchor="ctr">
            <a:spAutoFit/>
          </a:bodyPr>
          <a:lstStyle/>
          <a:p>
            <a:r>
              <a:rPr sz="1900" b="1" i="0">
                <a:solidFill>
                  <a:srgbClr val="C0392B"/>
                </a:solidFill>
                <a:latin typeface="Segoe UI"/>
              </a:rPr>
              <a:t>13.4 %</a:t>
            </a:r>
            <a:r>
              <a:rPr sz="1900" b="0" i="0">
                <a:solidFill>
                  <a:srgbClr val="14213D"/>
                </a:solidFill>
                <a:latin typeface="Segoe UI"/>
              </a:rPr>
              <a:t> near-duplicates in the test split</a:t>
            </a:r>
          </a:p>
        </p:txBody>
      </p:sp>
      <p:sp>
        <p:nvSpPr>
          <p:cNvPr id="30" name="Rounded Rectangle 29"/>
          <p:cNvSpPr/>
          <p:nvPr/>
        </p:nvSpPr>
        <p:spPr>
          <a:xfrm>
            <a:off x="640080" y="3524097"/>
            <a:ext cx="10911535" cy="769924"/>
          </a:xfrm>
          <a:prstGeom prst="roundRect">
            <a:avLst>
              <a:gd name="adj" fmla="val 14251"/>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Oval 30"/>
          <p:cNvSpPr/>
          <p:nvPr/>
        </p:nvSpPr>
        <p:spPr>
          <a:xfrm>
            <a:off x="841247" y="3698748"/>
            <a:ext cx="420624" cy="420624"/>
          </a:xfrm>
          <a:prstGeom prst="ellipse">
            <a:avLst/>
          </a:prstGeom>
          <a:solidFill>
            <a:srgbClr val="F8E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841247" y="3698748"/>
            <a:ext cx="420624" cy="420624"/>
          </a:xfrm>
          <a:prstGeom prst="rect">
            <a:avLst/>
          </a:prstGeom>
          <a:noFill/>
        </p:spPr>
        <p:txBody>
          <a:bodyPr wrap="square" lIns="18288" rIns="18288" anchor="ctr">
            <a:spAutoFit/>
          </a:bodyPr>
          <a:lstStyle/>
          <a:p>
            <a:pPr algn="ctr"/>
            <a:r>
              <a:rPr sz="1300" b="1" i="0">
                <a:solidFill>
                  <a:srgbClr val="C0392B"/>
                </a:solidFill>
                <a:latin typeface="Segoe UI Semibold"/>
              </a:rPr>
              <a:t>3</a:t>
            </a:r>
          </a:p>
        </p:txBody>
      </p:sp>
      <p:sp>
        <p:nvSpPr>
          <p:cNvPr id="33" name="TextBox 32"/>
          <p:cNvSpPr txBox="1"/>
          <p:nvPr/>
        </p:nvSpPr>
        <p:spPr>
          <a:xfrm>
            <a:off x="1463039" y="3524097"/>
            <a:ext cx="9905695" cy="769924"/>
          </a:xfrm>
          <a:prstGeom prst="rect">
            <a:avLst/>
          </a:prstGeom>
          <a:noFill/>
        </p:spPr>
        <p:txBody>
          <a:bodyPr wrap="square" anchor="ctr">
            <a:spAutoFit/>
          </a:bodyPr>
          <a:lstStyle/>
          <a:p>
            <a:r>
              <a:rPr sz="1900" b="0" i="0">
                <a:solidFill>
                  <a:srgbClr val="14213D"/>
                </a:solidFill>
                <a:latin typeface="Segoe UI"/>
              </a:rPr>
              <a:t>567 crops → </a:t>
            </a:r>
            <a:r>
              <a:rPr sz="1900" b="1" i="0">
                <a:solidFill>
                  <a:srgbClr val="C0392B"/>
                </a:solidFill>
                <a:latin typeface="Segoe UI"/>
              </a:rPr>
              <a:t>± 2 points</a:t>
            </a:r>
            <a:r>
              <a:rPr sz="1900" b="0" i="0">
                <a:solidFill>
                  <a:srgbClr val="14213D"/>
                </a:solidFill>
                <a:latin typeface="Segoe UI"/>
              </a:rPr>
              <a:t>; A vs C not separable</a:t>
            </a:r>
          </a:p>
        </p:txBody>
      </p:sp>
      <p:sp>
        <p:nvSpPr>
          <p:cNvPr id="34" name="Rounded Rectangle 33"/>
          <p:cNvSpPr/>
          <p:nvPr/>
        </p:nvSpPr>
        <p:spPr>
          <a:xfrm>
            <a:off x="640080" y="4440326"/>
            <a:ext cx="10911535" cy="769924"/>
          </a:xfrm>
          <a:prstGeom prst="roundRect">
            <a:avLst>
              <a:gd name="adj" fmla="val 14251"/>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Oval 34"/>
          <p:cNvSpPr/>
          <p:nvPr/>
        </p:nvSpPr>
        <p:spPr>
          <a:xfrm>
            <a:off x="841247" y="4614976"/>
            <a:ext cx="420624" cy="420624"/>
          </a:xfrm>
          <a:prstGeom prst="ellipse">
            <a:avLst/>
          </a:prstGeom>
          <a:solidFill>
            <a:srgbClr val="F8E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TextBox 35"/>
          <p:cNvSpPr txBox="1"/>
          <p:nvPr/>
        </p:nvSpPr>
        <p:spPr>
          <a:xfrm>
            <a:off x="841247" y="4614976"/>
            <a:ext cx="420624" cy="420624"/>
          </a:xfrm>
          <a:prstGeom prst="rect">
            <a:avLst/>
          </a:prstGeom>
          <a:noFill/>
        </p:spPr>
        <p:txBody>
          <a:bodyPr wrap="square" lIns="18288" rIns="18288" anchor="ctr">
            <a:spAutoFit/>
          </a:bodyPr>
          <a:lstStyle/>
          <a:p>
            <a:pPr algn="ctr"/>
            <a:r>
              <a:rPr sz="1300" b="1" i="0">
                <a:solidFill>
                  <a:srgbClr val="C0392B"/>
                </a:solidFill>
                <a:latin typeface="Segoe UI Semibold"/>
              </a:rPr>
              <a:t>4</a:t>
            </a:r>
          </a:p>
        </p:txBody>
      </p:sp>
      <p:sp>
        <p:nvSpPr>
          <p:cNvPr id="37" name="TextBox 36"/>
          <p:cNvSpPr txBox="1"/>
          <p:nvPr/>
        </p:nvSpPr>
        <p:spPr>
          <a:xfrm>
            <a:off x="1463039" y="4440326"/>
            <a:ext cx="9905695" cy="769924"/>
          </a:xfrm>
          <a:prstGeom prst="rect">
            <a:avLst/>
          </a:prstGeom>
          <a:noFill/>
        </p:spPr>
        <p:txBody>
          <a:bodyPr wrap="square" anchor="ctr">
            <a:spAutoFit/>
          </a:bodyPr>
          <a:lstStyle/>
          <a:p>
            <a:r>
              <a:rPr sz="1900" b="0" i="0">
                <a:solidFill>
                  <a:srgbClr val="14213D"/>
                </a:solidFill>
                <a:latin typeface="Segoe UI"/>
              </a:rPr>
              <a:t>One seed per configuration</a:t>
            </a:r>
          </a:p>
        </p:txBody>
      </p:sp>
      <p:sp>
        <p:nvSpPr>
          <p:cNvPr id="38" name="Rounded Rectangle 37"/>
          <p:cNvSpPr/>
          <p:nvPr/>
        </p:nvSpPr>
        <p:spPr>
          <a:xfrm>
            <a:off x="640080" y="5356555"/>
            <a:ext cx="10911535" cy="769924"/>
          </a:xfrm>
          <a:prstGeom prst="roundRect">
            <a:avLst>
              <a:gd name="adj" fmla="val 14251"/>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Oval 38"/>
          <p:cNvSpPr/>
          <p:nvPr/>
        </p:nvSpPr>
        <p:spPr>
          <a:xfrm>
            <a:off x="841247" y="5531205"/>
            <a:ext cx="420624" cy="420624"/>
          </a:xfrm>
          <a:prstGeom prst="ellipse">
            <a:avLst/>
          </a:prstGeom>
          <a:solidFill>
            <a:srgbClr val="F8E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TextBox 39"/>
          <p:cNvSpPr txBox="1"/>
          <p:nvPr/>
        </p:nvSpPr>
        <p:spPr>
          <a:xfrm>
            <a:off x="841247" y="5531205"/>
            <a:ext cx="420624" cy="420624"/>
          </a:xfrm>
          <a:prstGeom prst="rect">
            <a:avLst/>
          </a:prstGeom>
          <a:noFill/>
        </p:spPr>
        <p:txBody>
          <a:bodyPr wrap="square" lIns="18288" rIns="18288" anchor="ctr">
            <a:spAutoFit/>
          </a:bodyPr>
          <a:lstStyle/>
          <a:p>
            <a:pPr algn="ctr"/>
            <a:r>
              <a:rPr sz="1300" b="1" i="0">
                <a:solidFill>
                  <a:srgbClr val="C0392B"/>
                </a:solidFill>
                <a:latin typeface="Segoe UI Semibold"/>
              </a:rPr>
              <a:t>5</a:t>
            </a:r>
          </a:p>
        </p:txBody>
      </p:sp>
      <p:sp>
        <p:nvSpPr>
          <p:cNvPr id="41" name="TextBox 40"/>
          <p:cNvSpPr txBox="1"/>
          <p:nvPr/>
        </p:nvSpPr>
        <p:spPr>
          <a:xfrm>
            <a:off x="1463039" y="5356555"/>
            <a:ext cx="9905695" cy="769924"/>
          </a:xfrm>
          <a:prstGeom prst="rect">
            <a:avLst/>
          </a:prstGeom>
          <a:noFill/>
        </p:spPr>
        <p:txBody>
          <a:bodyPr wrap="square" anchor="ctr">
            <a:spAutoFit/>
          </a:bodyPr>
          <a:lstStyle/>
          <a:p>
            <a:r>
              <a:rPr sz="1900" b="0" i="0">
                <a:solidFill>
                  <a:srgbClr val="14213D"/>
                </a:solidFill>
                <a:latin typeface="Segoe UI"/>
              </a:rPr>
              <a:t>CNNs and Vision Transformers evaluated (2 architecture families)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ounded Rectangle 2"/>
          <p:cNvSpPr/>
          <p:nvPr/>
        </p:nvSpPr>
        <p:spPr>
          <a:xfrm>
            <a:off x="640080" y="384048"/>
            <a:ext cx="2121408" cy="292608"/>
          </a:xfrm>
          <a:prstGeom prst="roundRect">
            <a:avLst>
              <a:gd name="adj" fmla="val 50000"/>
            </a:avLst>
          </a:prstGeom>
          <a:solidFill>
            <a:srgbClr val="E2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640080" y="384048"/>
            <a:ext cx="2121408" cy="292608"/>
          </a:xfrm>
          <a:prstGeom prst="rect">
            <a:avLst/>
          </a:prstGeom>
          <a:noFill/>
        </p:spPr>
        <p:txBody>
          <a:bodyPr wrap="square" lIns="18288" rIns="18288" anchor="ctr">
            <a:spAutoFit/>
          </a:bodyPr>
          <a:lstStyle/>
          <a:p>
            <a:pPr algn="ctr"/>
            <a:r>
              <a:rPr sz="1050" b="1" i="0" spc="120">
                <a:solidFill>
                  <a:srgbClr val="0F7C74"/>
                </a:solidFill>
                <a:latin typeface="Segoe UI"/>
              </a:rPr>
              <a:t>07  ·  CONCLUSION</a:t>
            </a:r>
          </a:p>
        </p:txBody>
      </p:sp>
      <p:pic>
        <p:nvPicPr>
          <p:cNvPr id="5" name="Picture 4" descr="kit_logo.png"/>
          <p:cNvPicPr>
            <a:picLocks noChangeAspect="1"/>
          </p:cNvPicPr>
          <p:nvPr/>
        </p:nvPicPr>
        <p:blipFill>
          <a:blip r:embed="rId3"/>
          <a:stretch>
            <a:fillRect/>
          </a:stretch>
        </p:blipFill>
        <p:spPr>
          <a:xfrm>
            <a:off x="10929823" y="320040"/>
            <a:ext cx="621792" cy="621792"/>
          </a:xfrm>
          <a:prstGeom prst="rect">
            <a:avLst/>
          </a:prstGeom>
        </p:spPr>
      </p:pic>
      <p:sp>
        <p:nvSpPr>
          <p:cNvPr id="6" name="TextBox 5"/>
          <p:cNvSpPr txBox="1"/>
          <p:nvPr/>
        </p:nvSpPr>
        <p:spPr>
          <a:xfrm>
            <a:off x="621792" y="731520"/>
            <a:ext cx="9997135" cy="685800"/>
          </a:xfrm>
          <a:prstGeom prst="rect">
            <a:avLst/>
          </a:prstGeom>
          <a:noFill/>
        </p:spPr>
        <p:txBody>
          <a:bodyPr wrap="square" lIns="18288" rIns="18288" anchor="ctr">
            <a:spAutoFit/>
          </a:bodyPr>
          <a:lstStyle/>
          <a:p>
            <a:pPr algn="l"/>
            <a:r>
              <a:rPr sz="3000" b="0" i="0">
                <a:solidFill>
                  <a:srgbClr val="14213D"/>
                </a:solidFill>
                <a:latin typeface="Segoe UI Semibold"/>
              </a:rPr>
              <a:t>Four takeaways</a:t>
            </a:r>
          </a:p>
        </p:txBody>
      </p:sp>
      <p:sp>
        <p:nvSpPr>
          <p:cNvPr id="7" name="Rectangle 6"/>
          <p:cNvSpPr/>
          <p:nvPr/>
        </p:nvSpPr>
        <p:spPr>
          <a:xfrm>
            <a:off x="640080" y="6601968"/>
            <a:ext cx="1368073" cy="27432"/>
          </a:xfrm>
          <a:prstGeom prst="rect">
            <a:avLst/>
          </a:prstGeom>
          <a:solidFill>
            <a:srgbClr val="0F7C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640080" y="6336792"/>
            <a:ext cx="1368073" cy="237744"/>
          </a:xfrm>
          <a:prstGeom prst="rect">
            <a:avLst/>
          </a:prstGeom>
          <a:noFill/>
        </p:spPr>
        <p:txBody>
          <a:bodyPr wrap="square" lIns="18288" rIns="18288" anchor="t">
            <a:spAutoFit/>
          </a:bodyPr>
          <a:lstStyle/>
          <a:p>
            <a:pPr algn="l"/>
            <a:r>
              <a:rPr sz="850" b="0" i="0">
                <a:solidFill>
                  <a:srgbClr val="6B7280"/>
                </a:solidFill>
                <a:latin typeface="Segoe UI"/>
              </a:rPr>
              <a:t>Problem</a:t>
            </a:r>
          </a:p>
        </p:txBody>
      </p:sp>
      <p:sp>
        <p:nvSpPr>
          <p:cNvPr id="9" name="Rectangle 8"/>
          <p:cNvSpPr/>
          <p:nvPr/>
        </p:nvSpPr>
        <p:spPr>
          <a:xfrm>
            <a:off x="2081305" y="6601968"/>
            <a:ext cx="1368073" cy="27432"/>
          </a:xfrm>
          <a:prstGeom prst="rect">
            <a:avLst/>
          </a:prstGeom>
          <a:solidFill>
            <a:srgbClr val="0F7C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2081305" y="6336792"/>
            <a:ext cx="1368073" cy="237744"/>
          </a:xfrm>
          <a:prstGeom prst="rect">
            <a:avLst/>
          </a:prstGeom>
          <a:noFill/>
        </p:spPr>
        <p:txBody>
          <a:bodyPr wrap="square" lIns="18288" rIns="18288" anchor="t">
            <a:spAutoFit/>
          </a:bodyPr>
          <a:lstStyle/>
          <a:p>
            <a:pPr algn="l"/>
            <a:r>
              <a:rPr sz="850" b="0" i="0">
                <a:solidFill>
                  <a:srgbClr val="6B7280"/>
                </a:solidFill>
                <a:latin typeface="Segoe UI"/>
              </a:rPr>
              <a:t>Data</a:t>
            </a:r>
          </a:p>
        </p:txBody>
      </p:sp>
      <p:sp>
        <p:nvSpPr>
          <p:cNvPr id="11" name="Rectangle 10"/>
          <p:cNvSpPr/>
          <p:nvPr/>
        </p:nvSpPr>
        <p:spPr>
          <a:xfrm>
            <a:off x="3522530" y="6601968"/>
            <a:ext cx="1368073" cy="27432"/>
          </a:xfrm>
          <a:prstGeom prst="rect">
            <a:avLst/>
          </a:prstGeom>
          <a:solidFill>
            <a:srgbClr val="0F7C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3522530" y="6336792"/>
            <a:ext cx="1368073" cy="237744"/>
          </a:xfrm>
          <a:prstGeom prst="rect">
            <a:avLst/>
          </a:prstGeom>
          <a:noFill/>
        </p:spPr>
        <p:txBody>
          <a:bodyPr wrap="square" lIns="18288" rIns="18288" anchor="t">
            <a:spAutoFit/>
          </a:bodyPr>
          <a:lstStyle/>
          <a:p>
            <a:pPr algn="l"/>
            <a:r>
              <a:rPr sz="850" b="0" i="0">
                <a:solidFill>
                  <a:srgbClr val="6B7280"/>
                </a:solidFill>
                <a:latin typeface="Segoe UI"/>
              </a:rPr>
              <a:t>Method</a:t>
            </a:r>
          </a:p>
        </p:txBody>
      </p:sp>
      <p:sp>
        <p:nvSpPr>
          <p:cNvPr id="13" name="Rectangle 12"/>
          <p:cNvSpPr/>
          <p:nvPr/>
        </p:nvSpPr>
        <p:spPr>
          <a:xfrm>
            <a:off x="4963755" y="6601968"/>
            <a:ext cx="1368073" cy="27432"/>
          </a:xfrm>
          <a:prstGeom prst="rect">
            <a:avLst/>
          </a:prstGeom>
          <a:solidFill>
            <a:srgbClr val="0F7C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963755" y="6336792"/>
            <a:ext cx="1368073" cy="237744"/>
          </a:xfrm>
          <a:prstGeom prst="rect">
            <a:avLst/>
          </a:prstGeom>
          <a:noFill/>
        </p:spPr>
        <p:txBody>
          <a:bodyPr wrap="square" lIns="18288" rIns="18288" anchor="t">
            <a:spAutoFit/>
          </a:bodyPr>
          <a:lstStyle/>
          <a:p>
            <a:pPr algn="l"/>
            <a:r>
              <a:rPr sz="850" b="0" i="0">
                <a:solidFill>
                  <a:srgbClr val="6B7280"/>
                </a:solidFill>
                <a:latin typeface="Segoe UI"/>
              </a:rPr>
              <a:t>Results</a:t>
            </a:r>
          </a:p>
        </p:txBody>
      </p:sp>
      <p:sp>
        <p:nvSpPr>
          <p:cNvPr id="15" name="Rectangle 14"/>
          <p:cNvSpPr/>
          <p:nvPr/>
        </p:nvSpPr>
        <p:spPr>
          <a:xfrm>
            <a:off x="6404980" y="6601968"/>
            <a:ext cx="1368073" cy="27432"/>
          </a:xfrm>
          <a:prstGeom prst="rect">
            <a:avLst/>
          </a:prstGeom>
          <a:solidFill>
            <a:srgbClr val="0F7C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6404980" y="6336792"/>
            <a:ext cx="1368073" cy="237744"/>
          </a:xfrm>
          <a:prstGeom prst="rect">
            <a:avLst/>
          </a:prstGeom>
          <a:noFill/>
        </p:spPr>
        <p:txBody>
          <a:bodyPr wrap="square" lIns="18288" rIns="18288" anchor="t">
            <a:spAutoFit/>
          </a:bodyPr>
          <a:lstStyle/>
          <a:p>
            <a:pPr algn="l"/>
            <a:r>
              <a:rPr sz="850" b="0" i="0">
                <a:solidFill>
                  <a:srgbClr val="6B7280"/>
                </a:solidFill>
                <a:latin typeface="Segoe UI"/>
              </a:rPr>
              <a:t>Analysis</a:t>
            </a:r>
          </a:p>
        </p:txBody>
      </p:sp>
      <p:sp>
        <p:nvSpPr>
          <p:cNvPr id="17" name="Rectangle 16"/>
          <p:cNvSpPr/>
          <p:nvPr/>
        </p:nvSpPr>
        <p:spPr>
          <a:xfrm>
            <a:off x="7846205" y="6601968"/>
            <a:ext cx="1368073" cy="27432"/>
          </a:xfrm>
          <a:prstGeom prst="rect">
            <a:avLst/>
          </a:prstGeom>
          <a:solidFill>
            <a:srgbClr val="0F7C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846205" y="6336792"/>
            <a:ext cx="1368073" cy="237744"/>
          </a:xfrm>
          <a:prstGeom prst="rect">
            <a:avLst/>
          </a:prstGeom>
          <a:noFill/>
        </p:spPr>
        <p:txBody>
          <a:bodyPr wrap="square" lIns="18288" rIns="18288" anchor="t">
            <a:spAutoFit/>
          </a:bodyPr>
          <a:lstStyle/>
          <a:p>
            <a:pPr algn="l"/>
            <a:r>
              <a:rPr sz="850" b="0" i="0">
                <a:solidFill>
                  <a:srgbClr val="6B7280"/>
                </a:solidFill>
                <a:latin typeface="Segoe UI"/>
              </a:rPr>
              <a:t>Honesty</a:t>
            </a:r>
          </a:p>
        </p:txBody>
      </p:sp>
      <p:sp>
        <p:nvSpPr>
          <p:cNvPr id="19" name="Rectangle 18"/>
          <p:cNvSpPr/>
          <p:nvPr/>
        </p:nvSpPr>
        <p:spPr>
          <a:xfrm>
            <a:off x="9287430" y="6601968"/>
            <a:ext cx="1368073" cy="45720"/>
          </a:xfrm>
          <a:prstGeom prst="rect">
            <a:avLst/>
          </a:prstGeom>
          <a:solidFill>
            <a:srgbClr val="E09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9287430" y="6336792"/>
            <a:ext cx="1368073" cy="237744"/>
          </a:xfrm>
          <a:prstGeom prst="rect">
            <a:avLst/>
          </a:prstGeom>
          <a:noFill/>
        </p:spPr>
        <p:txBody>
          <a:bodyPr wrap="square" lIns="18288" rIns="18288" anchor="t">
            <a:spAutoFit/>
          </a:bodyPr>
          <a:lstStyle/>
          <a:p>
            <a:pPr algn="l"/>
            <a:r>
              <a:rPr sz="850" b="1" i="0">
                <a:solidFill>
                  <a:srgbClr val="14213D"/>
                </a:solidFill>
                <a:latin typeface="Segoe UI"/>
              </a:rPr>
              <a:t>Conclusion</a:t>
            </a:r>
          </a:p>
        </p:txBody>
      </p:sp>
      <p:sp>
        <p:nvSpPr>
          <p:cNvPr id="21" name="TextBox 20"/>
          <p:cNvSpPr txBox="1"/>
          <p:nvPr/>
        </p:nvSpPr>
        <p:spPr>
          <a:xfrm>
            <a:off x="10820095" y="6373368"/>
            <a:ext cx="731520" cy="274320"/>
          </a:xfrm>
          <a:prstGeom prst="rect">
            <a:avLst/>
          </a:prstGeom>
          <a:noFill/>
        </p:spPr>
        <p:txBody>
          <a:bodyPr wrap="square" lIns="18288" rIns="18288" anchor="t">
            <a:spAutoFit/>
          </a:bodyPr>
          <a:lstStyle/>
          <a:p>
            <a:pPr algn="r"/>
            <a:r>
              <a:rPr sz="1100" b="1" i="0">
                <a:solidFill>
                  <a:srgbClr val="0F7C74"/>
                </a:solidFill>
                <a:latin typeface="Segoe UI Semibold"/>
              </a:rPr>
              <a:t>14</a:t>
            </a:r>
          </a:p>
        </p:txBody>
      </p:sp>
      <p:sp>
        <p:nvSpPr>
          <p:cNvPr id="22" name="Rounded Rectangle 21"/>
          <p:cNvSpPr/>
          <p:nvPr/>
        </p:nvSpPr>
        <p:spPr>
          <a:xfrm>
            <a:off x="640080" y="1645920"/>
            <a:ext cx="5355183" cy="1682495"/>
          </a:xfrm>
          <a:prstGeom prst="roundRect">
            <a:avLst>
              <a:gd name="adj" fmla="val 6521"/>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Rectangle 22"/>
          <p:cNvSpPr/>
          <p:nvPr/>
        </p:nvSpPr>
        <p:spPr>
          <a:xfrm>
            <a:off x="914400" y="1920240"/>
            <a:ext cx="384048" cy="45720"/>
          </a:xfrm>
          <a:prstGeom prst="rect">
            <a:avLst/>
          </a:prstGeom>
          <a:solidFill>
            <a:srgbClr val="0F7C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896112" y="1993392"/>
            <a:ext cx="914400" cy="457200"/>
          </a:xfrm>
          <a:prstGeom prst="rect">
            <a:avLst/>
          </a:prstGeom>
          <a:noFill/>
        </p:spPr>
        <p:txBody>
          <a:bodyPr wrap="square" lIns="18288" rIns="18288" anchor="t">
            <a:spAutoFit/>
          </a:bodyPr>
          <a:lstStyle/>
          <a:p>
            <a:pPr algn="l"/>
            <a:r>
              <a:rPr sz="1500" b="1" i="0">
                <a:solidFill>
                  <a:srgbClr val="0F7C74"/>
                </a:solidFill>
                <a:latin typeface="Segoe UI Semibold"/>
              </a:rPr>
              <a:t>01</a:t>
            </a:r>
          </a:p>
        </p:txBody>
      </p:sp>
      <p:sp>
        <p:nvSpPr>
          <p:cNvPr id="25" name="TextBox 24"/>
          <p:cNvSpPr txBox="1"/>
          <p:nvPr/>
        </p:nvSpPr>
        <p:spPr>
          <a:xfrm>
            <a:off x="896112" y="2395728"/>
            <a:ext cx="4843119" cy="813815"/>
          </a:xfrm>
          <a:prstGeom prst="rect">
            <a:avLst/>
          </a:prstGeom>
          <a:noFill/>
        </p:spPr>
        <p:txBody>
          <a:bodyPr wrap="square" anchor="t">
            <a:spAutoFit/>
          </a:bodyPr>
          <a:lstStyle/>
          <a:p>
            <a:r>
              <a:rPr sz="1900" b="1" i="0">
                <a:solidFill>
                  <a:srgbClr val="0F7C74"/>
                </a:solidFill>
                <a:latin typeface="Segoe UI"/>
              </a:rPr>
              <a:t>Train the whole network</a:t>
            </a:r>
            <a:r>
              <a:rPr sz="1900" b="0" i="0">
                <a:solidFill>
                  <a:srgbClr val="14213D"/>
                </a:solidFill>
                <a:latin typeface="Segoe UI"/>
              </a:rPr>
              <a:t> — frozen features do not transfer (42 %)</a:t>
            </a:r>
          </a:p>
        </p:txBody>
      </p:sp>
      <p:sp>
        <p:nvSpPr>
          <p:cNvPr id="26" name="Rounded Rectangle 25"/>
          <p:cNvSpPr/>
          <p:nvPr/>
        </p:nvSpPr>
        <p:spPr>
          <a:xfrm>
            <a:off x="6196431" y="1645920"/>
            <a:ext cx="5355183" cy="1682495"/>
          </a:xfrm>
          <a:prstGeom prst="roundRect">
            <a:avLst>
              <a:gd name="adj" fmla="val 6521"/>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Rectangle 26"/>
          <p:cNvSpPr/>
          <p:nvPr/>
        </p:nvSpPr>
        <p:spPr>
          <a:xfrm>
            <a:off x="6470751" y="1920240"/>
            <a:ext cx="384048" cy="45720"/>
          </a:xfrm>
          <a:prstGeom prst="rect">
            <a:avLst/>
          </a:prstGeom>
          <a:solidFill>
            <a:srgbClr val="0F7C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6452463" y="1993392"/>
            <a:ext cx="914400" cy="457200"/>
          </a:xfrm>
          <a:prstGeom prst="rect">
            <a:avLst/>
          </a:prstGeom>
          <a:noFill/>
        </p:spPr>
        <p:txBody>
          <a:bodyPr wrap="square" lIns="18288" rIns="18288" anchor="t">
            <a:spAutoFit/>
          </a:bodyPr>
          <a:lstStyle/>
          <a:p>
            <a:pPr algn="l"/>
            <a:r>
              <a:rPr sz="1500" b="1" i="0">
                <a:solidFill>
                  <a:srgbClr val="0F7C74"/>
                </a:solidFill>
                <a:latin typeface="Segoe UI Semibold"/>
              </a:rPr>
              <a:t>02</a:t>
            </a:r>
          </a:p>
        </p:txBody>
      </p:sp>
      <p:sp>
        <p:nvSpPr>
          <p:cNvPr id="29" name="TextBox 28"/>
          <p:cNvSpPr txBox="1"/>
          <p:nvPr/>
        </p:nvSpPr>
        <p:spPr>
          <a:xfrm>
            <a:off x="6452463" y="2395728"/>
            <a:ext cx="4843119" cy="813815"/>
          </a:xfrm>
          <a:prstGeom prst="rect">
            <a:avLst/>
          </a:prstGeom>
          <a:noFill/>
        </p:spPr>
        <p:txBody>
          <a:bodyPr wrap="square" anchor="t">
            <a:spAutoFit/>
          </a:bodyPr>
          <a:lstStyle/>
          <a:p>
            <a:r>
              <a:rPr sz="1900" b="1" i="0">
                <a:solidFill>
                  <a:srgbClr val="0F7C74"/>
                </a:solidFill>
                <a:latin typeface="Segoe UI"/>
              </a:rPr>
              <a:t>Transformers excel on script</a:t>
            </a:r>
            <a:r>
              <a:rPr sz="1900" b="0" i="0">
                <a:solidFill>
                  <a:srgbClr val="14213D"/>
                </a:solidFill>
                <a:latin typeface="Segoe UI"/>
              </a:rPr>
              <a:t> — ViT matches 96.1 % &amp; lifts upside-down to 26.8 %</a:t>
            </a:r>
          </a:p>
        </p:txBody>
      </p:sp>
      <p:sp>
        <p:nvSpPr>
          <p:cNvPr id="30" name="Rounded Rectangle 29"/>
          <p:cNvSpPr/>
          <p:nvPr/>
        </p:nvSpPr>
        <p:spPr>
          <a:xfrm>
            <a:off x="640080" y="3529584"/>
            <a:ext cx="5355183" cy="1682495"/>
          </a:xfrm>
          <a:prstGeom prst="roundRect">
            <a:avLst>
              <a:gd name="adj" fmla="val 6521"/>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Rectangle 30"/>
          <p:cNvSpPr/>
          <p:nvPr/>
        </p:nvSpPr>
        <p:spPr>
          <a:xfrm>
            <a:off x="914400" y="3803904"/>
            <a:ext cx="384048" cy="45720"/>
          </a:xfrm>
          <a:prstGeom prst="rect">
            <a:avLst/>
          </a:prstGeom>
          <a:solidFill>
            <a:srgbClr val="0F7C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896112" y="3877056"/>
            <a:ext cx="914400" cy="457200"/>
          </a:xfrm>
          <a:prstGeom prst="rect">
            <a:avLst/>
          </a:prstGeom>
          <a:noFill/>
        </p:spPr>
        <p:txBody>
          <a:bodyPr wrap="square" lIns="18288" rIns="18288" anchor="t">
            <a:spAutoFit/>
          </a:bodyPr>
          <a:lstStyle/>
          <a:p>
            <a:pPr algn="l"/>
            <a:r>
              <a:rPr sz="1500" b="1" i="0">
                <a:solidFill>
                  <a:srgbClr val="0F7C74"/>
                </a:solidFill>
                <a:latin typeface="Segoe UI Semibold"/>
              </a:rPr>
              <a:t>03</a:t>
            </a:r>
          </a:p>
        </p:txBody>
      </p:sp>
      <p:sp>
        <p:nvSpPr>
          <p:cNvPr id="33" name="TextBox 32"/>
          <p:cNvSpPr txBox="1"/>
          <p:nvPr/>
        </p:nvSpPr>
        <p:spPr>
          <a:xfrm>
            <a:off x="896112" y="4279392"/>
            <a:ext cx="4843119" cy="813815"/>
          </a:xfrm>
          <a:prstGeom prst="rect">
            <a:avLst/>
          </a:prstGeom>
          <a:noFill/>
        </p:spPr>
        <p:txBody>
          <a:bodyPr wrap="square" anchor="t">
            <a:spAutoFit/>
          </a:bodyPr>
          <a:lstStyle/>
          <a:p>
            <a:r>
              <a:rPr sz="1900" b="1" i="0">
                <a:solidFill>
                  <a:srgbClr val="0F7C74"/>
                </a:solidFill>
                <a:latin typeface="Segoe UI"/>
              </a:rPr>
              <a:t>Capacity matters</a:t>
            </a:r>
            <a:r>
              <a:rPr sz="1900" b="0" i="0">
                <a:solidFill>
                  <a:srgbClr val="14213D"/>
                </a:solidFill>
                <a:latin typeface="Segoe UI"/>
              </a:rPr>
              <a:t> — 0.4 M parameters is not enough; 11 M to 86 M is</a:t>
            </a:r>
          </a:p>
        </p:txBody>
      </p:sp>
      <p:sp>
        <p:nvSpPr>
          <p:cNvPr id="34" name="Rounded Rectangle 33"/>
          <p:cNvSpPr/>
          <p:nvPr/>
        </p:nvSpPr>
        <p:spPr>
          <a:xfrm>
            <a:off x="6196431" y="3529584"/>
            <a:ext cx="5355183" cy="1682495"/>
          </a:xfrm>
          <a:prstGeom prst="roundRect">
            <a:avLst>
              <a:gd name="adj" fmla="val 6521"/>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Rectangle 34"/>
          <p:cNvSpPr/>
          <p:nvPr/>
        </p:nvSpPr>
        <p:spPr>
          <a:xfrm>
            <a:off x="6470751" y="3803904"/>
            <a:ext cx="384048" cy="45720"/>
          </a:xfrm>
          <a:prstGeom prst="rect">
            <a:avLst/>
          </a:prstGeom>
          <a:solidFill>
            <a:srgbClr val="0F7C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TextBox 35"/>
          <p:cNvSpPr txBox="1"/>
          <p:nvPr/>
        </p:nvSpPr>
        <p:spPr>
          <a:xfrm>
            <a:off x="6452463" y="3877056"/>
            <a:ext cx="914400" cy="457200"/>
          </a:xfrm>
          <a:prstGeom prst="rect">
            <a:avLst/>
          </a:prstGeom>
          <a:noFill/>
        </p:spPr>
        <p:txBody>
          <a:bodyPr wrap="square" lIns="18288" rIns="18288" anchor="t">
            <a:spAutoFit/>
          </a:bodyPr>
          <a:lstStyle/>
          <a:p>
            <a:pPr algn="l"/>
            <a:r>
              <a:rPr sz="1500" b="1" i="0">
                <a:solidFill>
                  <a:srgbClr val="0F7C74"/>
                </a:solidFill>
                <a:latin typeface="Segoe UI Semibold"/>
              </a:rPr>
              <a:t>04</a:t>
            </a:r>
          </a:p>
        </p:txBody>
      </p:sp>
      <p:sp>
        <p:nvSpPr>
          <p:cNvPr id="37" name="TextBox 36"/>
          <p:cNvSpPr txBox="1"/>
          <p:nvPr/>
        </p:nvSpPr>
        <p:spPr>
          <a:xfrm>
            <a:off x="6452463" y="4279392"/>
            <a:ext cx="4843119" cy="813815"/>
          </a:xfrm>
          <a:prstGeom prst="rect">
            <a:avLst/>
          </a:prstGeom>
          <a:noFill/>
        </p:spPr>
        <p:txBody>
          <a:bodyPr wrap="square" anchor="t">
            <a:spAutoFit/>
          </a:bodyPr>
          <a:lstStyle/>
          <a:p>
            <a:r>
              <a:rPr sz="1900" b="0" i="0">
                <a:solidFill>
                  <a:srgbClr val="14213D"/>
                </a:solidFill>
                <a:latin typeface="Segoe UI"/>
              </a:rPr>
              <a:t>For CNNs, biggest gain came from </a:t>
            </a:r>
            <a:r>
              <a:rPr sz="1900" b="1" i="0">
                <a:solidFill>
                  <a:srgbClr val="0F7C74"/>
                </a:solidFill>
                <a:latin typeface="Segoe UI"/>
              </a:rPr>
              <a:t>tuning the learning rate</a:t>
            </a:r>
          </a:p>
        </p:txBody>
      </p:sp>
      <p:sp>
        <p:nvSpPr>
          <p:cNvPr id="38" name="Rounded Rectangle 37"/>
          <p:cNvSpPr/>
          <p:nvPr/>
        </p:nvSpPr>
        <p:spPr>
          <a:xfrm>
            <a:off x="640080" y="5440680"/>
            <a:ext cx="10911535" cy="640080"/>
          </a:xfrm>
          <a:prstGeom prst="roundRect">
            <a:avLst>
              <a:gd name="adj" fmla="val 17142"/>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Box 38"/>
          <p:cNvSpPr txBox="1"/>
          <p:nvPr/>
        </p:nvSpPr>
        <p:spPr>
          <a:xfrm>
            <a:off x="914400" y="5440680"/>
            <a:ext cx="10362895" cy="640080"/>
          </a:xfrm>
          <a:prstGeom prst="rect">
            <a:avLst/>
          </a:prstGeom>
          <a:noFill/>
        </p:spPr>
        <p:txBody>
          <a:bodyPr wrap="square" anchor="ctr">
            <a:spAutoFit/>
          </a:bodyPr>
          <a:lstStyle/>
          <a:p>
            <a:pPr algn="ctr"/>
            <a:r>
              <a:rPr sz="1500" b="1" i="0">
                <a:solidFill>
                  <a:srgbClr val="E09A1A"/>
                </a:solidFill>
                <a:latin typeface="Segoe UI"/>
              </a:rPr>
              <a:t>Next:</a:t>
            </a:r>
            <a:r>
              <a:rPr sz="1500" b="0" i="0">
                <a:solidFill>
                  <a:srgbClr val="FFFFFF"/>
                </a:solidFill>
                <a:latin typeface="Segoe UI"/>
              </a:rPr>
              <a:t>  re-split by source photo  ·  photograph the five smallest provinces  ·  benchmark Swin Transformer &amp; edge quantization</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3" name="Picture 2" descr="kit_logo.png"/>
          <p:cNvPicPr>
            <a:picLocks noChangeAspect="1"/>
          </p:cNvPicPr>
          <p:nvPr/>
        </p:nvPicPr>
        <p:blipFill>
          <a:blip r:embed="rId3"/>
          <a:stretch>
            <a:fillRect/>
          </a:stretch>
        </p:blipFill>
        <p:spPr>
          <a:xfrm>
            <a:off x="9174175" y="2057400"/>
            <a:ext cx="2194560" cy="2194560"/>
          </a:xfrm>
          <a:prstGeom prst="rect">
            <a:avLst/>
          </a:prstGeom>
        </p:spPr>
      </p:pic>
      <p:sp>
        <p:nvSpPr>
          <p:cNvPr id="4" name="Rounded Rectangle 3"/>
          <p:cNvSpPr/>
          <p:nvPr/>
        </p:nvSpPr>
        <p:spPr>
          <a:xfrm>
            <a:off x="822960" y="2011680"/>
            <a:ext cx="2039982" cy="292608"/>
          </a:xfrm>
          <a:prstGeom prst="roundRect">
            <a:avLst>
              <a:gd name="adj" fmla="val 50000"/>
            </a:avLst>
          </a:prstGeom>
          <a:solidFill>
            <a:srgbClr val="E2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822960" y="2011680"/>
            <a:ext cx="2039982" cy="292608"/>
          </a:xfrm>
          <a:prstGeom prst="rect">
            <a:avLst/>
          </a:prstGeom>
          <a:noFill/>
        </p:spPr>
        <p:txBody>
          <a:bodyPr wrap="square" lIns="18288" rIns="18288" anchor="ctr">
            <a:spAutoFit/>
          </a:bodyPr>
          <a:lstStyle/>
          <a:p>
            <a:pPr algn="ctr"/>
            <a:r>
              <a:rPr sz="1000" b="1" i="0" spc="120">
                <a:solidFill>
                  <a:srgbClr val="0F7C74"/>
                </a:solidFill>
                <a:latin typeface="Segoe UI"/>
              </a:rPr>
              <a:t>QUESTIONS WELCOME</a:t>
            </a:r>
          </a:p>
        </p:txBody>
      </p:sp>
      <p:sp>
        <p:nvSpPr>
          <p:cNvPr id="6" name="TextBox 5"/>
          <p:cNvSpPr txBox="1"/>
          <p:nvPr/>
        </p:nvSpPr>
        <p:spPr>
          <a:xfrm>
            <a:off x="786384" y="2423160"/>
            <a:ext cx="10058400" cy="1005840"/>
          </a:xfrm>
          <a:prstGeom prst="rect">
            <a:avLst/>
          </a:prstGeom>
          <a:noFill/>
        </p:spPr>
        <p:txBody>
          <a:bodyPr wrap="square" lIns="18288" rIns="18288" anchor="t">
            <a:spAutoFit/>
          </a:bodyPr>
          <a:lstStyle/>
          <a:p>
            <a:pPr algn="l"/>
            <a:r>
              <a:rPr sz="5400" b="0" i="0">
                <a:solidFill>
                  <a:srgbClr val="14213D"/>
                </a:solidFill>
                <a:latin typeface="Segoe UI Semibold"/>
              </a:rPr>
              <a:t>Thank you</a:t>
            </a:r>
          </a:p>
        </p:txBody>
      </p:sp>
      <p:sp>
        <p:nvSpPr>
          <p:cNvPr id="7" name="Rectangle 6"/>
          <p:cNvSpPr/>
          <p:nvPr/>
        </p:nvSpPr>
        <p:spPr>
          <a:xfrm>
            <a:off x="822960" y="3611880"/>
            <a:ext cx="548640" cy="45720"/>
          </a:xfrm>
          <a:prstGeom prst="rect">
            <a:avLst/>
          </a:prstGeom>
          <a:solidFill>
            <a:srgbClr val="0F7C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822960" y="3840480"/>
            <a:ext cx="10058400" cy="457200"/>
          </a:xfrm>
          <a:prstGeom prst="rect">
            <a:avLst/>
          </a:prstGeom>
          <a:noFill/>
        </p:spPr>
        <p:txBody>
          <a:bodyPr wrap="square" lIns="18288" rIns="18288" anchor="t">
            <a:spAutoFit/>
          </a:bodyPr>
          <a:lstStyle/>
          <a:p>
            <a:pPr algn="l"/>
            <a:r>
              <a:rPr sz="2000" b="0" i="0">
                <a:solidFill>
                  <a:srgbClr val="6B7280"/>
                </a:solidFill>
                <a:latin typeface="Segoe UI"/>
              </a:rPr>
              <a:t>Every number came from a script in the repository.</a:t>
            </a:r>
          </a:p>
        </p:txBody>
      </p:sp>
      <p:sp>
        <p:nvSpPr>
          <p:cNvPr id="9" name="TextBox 8"/>
          <p:cNvSpPr txBox="1"/>
          <p:nvPr/>
        </p:nvSpPr>
        <p:spPr>
          <a:xfrm>
            <a:off x="822960" y="4389120"/>
            <a:ext cx="10058400" cy="365760"/>
          </a:xfrm>
          <a:prstGeom prst="rect">
            <a:avLst/>
          </a:prstGeom>
          <a:noFill/>
        </p:spPr>
        <p:txBody>
          <a:bodyPr wrap="square" lIns="18288" rIns="18288" anchor="t">
            <a:spAutoFit/>
          </a:bodyPr>
          <a:lstStyle/>
          <a:p>
            <a:pPr algn="l"/>
            <a:r>
              <a:rPr sz="1500" b="1" i="0">
                <a:solidFill>
                  <a:srgbClr val="0F7C74"/>
                </a:solidFill>
                <a:latin typeface="Segoe UI"/>
              </a:rPr>
              <a:t>github.com/SoSereysokbotra</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3" name="Picture 2" descr="kit_logo.png"/>
          <p:cNvPicPr>
            <a:picLocks noChangeAspect="1"/>
          </p:cNvPicPr>
          <p:nvPr/>
        </p:nvPicPr>
        <p:blipFill>
          <a:blip r:embed="rId2"/>
          <a:stretch>
            <a:fillRect/>
          </a:stretch>
        </p:blipFill>
        <p:spPr>
          <a:xfrm>
            <a:off x="9357055" y="2240280"/>
            <a:ext cx="2011680" cy="2011680"/>
          </a:xfrm>
          <a:prstGeom prst="rect">
            <a:avLst/>
          </a:prstGeom>
        </p:spPr>
      </p:pic>
      <p:sp>
        <p:nvSpPr>
          <p:cNvPr id="4" name="Rounded Rectangle 3"/>
          <p:cNvSpPr/>
          <p:nvPr/>
        </p:nvSpPr>
        <p:spPr>
          <a:xfrm>
            <a:off x="822960" y="2514600"/>
            <a:ext cx="1177834" cy="292608"/>
          </a:xfrm>
          <a:prstGeom prst="roundRect">
            <a:avLst>
              <a:gd name="adj" fmla="val 50000"/>
            </a:avLst>
          </a:prstGeom>
          <a:solidFill>
            <a:srgbClr val="E2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822960" y="2514600"/>
            <a:ext cx="1177834" cy="292608"/>
          </a:xfrm>
          <a:prstGeom prst="rect">
            <a:avLst/>
          </a:prstGeom>
          <a:noFill/>
        </p:spPr>
        <p:txBody>
          <a:bodyPr wrap="square" lIns="18288" rIns="18288" anchor="ctr">
            <a:spAutoFit/>
          </a:bodyPr>
          <a:lstStyle/>
          <a:p>
            <a:pPr algn="ctr"/>
            <a:r>
              <a:rPr sz="1000" b="1" i="0" spc="120">
                <a:solidFill>
                  <a:srgbClr val="0F7C74"/>
                </a:solidFill>
                <a:latin typeface="Segoe UI"/>
              </a:rPr>
              <a:t>APPENDIX</a:t>
            </a:r>
          </a:p>
        </p:txBody>
      </p:sp>
      <p:sp>
        <p:nvSpPr>
          <p:cNvPr id="6" name="TextBox 5"/>
          <p:cNvSpPr txBox="1"/>
          <p:nvPr/>
        </p:nvSpPr>
        <p:spPr>
          <a:xfrm>
            <a:off x="786384" y="2926080"/>
            <a:ext cx="10058400" cy="822960"/>
          </a:xfrm>
          <a:prstGeom prst="rect">
            <a:avLst/>
          </a:prstGeom>
          <a:noFill/>
        </p:spPr>
        <p:txBody>
          <a:bodyPr wrap="square" lIns="18288" rIns="18288" anchor="t">
            <a:spAutoFit/>
          </a:bodyPr>
          <a:lstStyle/>
          <a:p>
            <a:pPr algn="l"/>
            <a:r>
              <a:rPr sz="4000" b="0" i="0">
                <a:solidFill>
                  <a:srgbClr val="14213D"/>
                </a:solidFill>
                <a:latin typeface="Segoe UI Semibold"/>
              </a:rPr>
              <a:t>Supporting material</a:t>
            </a:r>
          </a:p>
        </p:txBody>
      </p:sp>
      <p:sp>
        <p:nvSpPr>
          <p:cNvPr id="7" name="Rectangle 6"/>
          <p:cNvSpPr/>
          <p:nvPr/>
        </p:nvSpPr>
        <p:spPr>
          <a:xfrm>
            <a:off x="822960" y="3840480"/>
            <a:ext cx="548640" cy="45720"/>
          </a:xfrm>
          <a:prstGeom prst="rect">
            <a:avLst/>
          </a:prstGeom>
          <a:solidFill>
            <a:srgbClr val="0F7C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822960" y="4069080"/>
            <a:ext cx="9144000" cy="731520"/>
          </a:xfrm>
          <a:prstGeom prst="rect">
            <a:avLst/>
          </a:prstGeom>
          <a:noFill/>
        </p:spPr>
        <p:txBody>
          <a:bodyPr wrap="square" lIns="18288" rIns="18288" anchor="t">
            <a:spAutoFit/>
          </a:bodyPr>
          <a:lstStyle/>
          <a:p>
            <a:pPr algn="l"/>
            <a:r>
              <a:rPr sz="1400" b="0" i="0">
                <a:solidFill>
                  <a:srgbClr val="6B7280"/>
                </a:solidFill>
                <a:latin typeface="Segoe UI"/>
              </a:rPr>
              <a:t>full results  ·  statistics  ·  tuning grid  ·  the gate system  ·  confusion  ·  per-class  ·  measurement  ·  code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ounded Rectangle 2"/>
          <p:cNvSpPr/>
          <p:nvPr/>
        </p:nvSpPr>
        <p:spPr>
          <a:xfrm>
            <a:off x="640080" y="384048"/>
            <a:ext cx="1920240" cy="292608"/>
          </a:xfrm>
          <a:prstGeom prst="roundRect">
            <a:avLst>
              <a:gd name="adj" fmla="val 50000"/>
            </a:avLst>
          </a:prstGeom>
          <a:solidFill>
            <a:srgbClr val="E2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640080" y="384048"/>
            <a:ext cx="1920240" cy="292608"/>
          </a:xfrm>
          <a:prstGeom prst="rect">
            <a:avLst/>
          </a:prstGeom>
          <a:noFill/>
        </p:spPr>
        <p:txBody>
          <a:bodyPr wrap="square" lIns="18288" rIns="18288" anchor="ctr">
            <a:spAutoFit/>
          </a:bodyPr>
          <a:lstStyle/>
          <a:p>
            <a:pPr algn="ctr"/>
            <a:r>
              <a:rPr sz="1050" b="1" i="0" spc="120">
                <a:solidFill>
                  <a:srgbClr val="0F7C74"/>
                </a:solidFill>
                <a:latin typeface="Segoe UI"/>
              </a:rPr>
              <a:t>APPENDIX  ·  A1</a:t>
            </a:r>
          </a:p>
        </p:txBody>
      </p:sp>
      <p:pic>
        <p:nvPicPr>
          <p:cNvPr id="5" name="Picture 4" descr="kit_logo.png"/>
          <p:cNvPicPr>
            <a:picLocks noChangeAspect="1"/>
          </p:cNvPicPr>
          <p:nvPr/>
        </p:nvPicPr>
        <p:blipFill>
          <a:blip r:embed="rId2"/>
          <a:stretch>
            <a:fillRect/>
          </a:stretch>
        </p:blipFill>
        <p:spPr>
          <a:xfrm>
            <a:off x="10929823" y="320040"/>
            <a:ext cx="621792" cy="621792"/>
          </a:xfrm>
          <a:prstGeom prst="rect">
            <a:avLst/>
          </a:prstGeom>
        </p:spPr>
      </p:pic>
      <p:sp>
        <p:nvSpPr>
          <p:cNvPr id="6" name="TextBox 5"/>
          <p:cNvSpPr txBox="1"/>
          <p:nvPr/>
        </p:nvSpPr>
        <p:spPr>
          <a:xfrm>
            <a:off x="621792" y="731520"/>
            <a:ext cx="9997135" cy="685800"/>
          </a:xfrm>
          <a:prstGeom prst="rect">
            <a:avLst/>
          </a:prstGeom>
          <a:noFill/>
        </p:spPr>
        <p:txBody>
          <a:bodyPr wrap="square" lIns="18288" rIns="18288" anchor="ctr">
            <a:spAutoFit/>
          </a:bodyPr>
          <a:lstStyle/>
          <a:p>
            <a:pPr algn="l"/>
            <a:r>
              <a:rPr sz="3000" b="0" i="0">
                <a:solidFill>
                  <a:srgbClr val="14213D"/>
                </a:solidFill>
                <a:latin typeface="Segoe UI Semibold"/>
              </a:rPr>
              <a:t>Full results — every column</a:t>
            </a:r>
          </a:p>
        </p:txBody>
      </p:sp>
      <p:sp>
        <p:nvSpPr>
          <p:cNvPr id="7" name="Rectangle 6"/>
          <p:cNvSpPr/>
          <p:nvPr/>
        </p:nvSpPr>
        <p:spPr>
          <a:xfrm>
            <a:off x="640080" y="6601968"/>
            <a:ext cx="10088575"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640080" y="6336792"/>
            <a:ext cx="5486400" cy="237744"/>
          </a:xfrm>
          <a:prstGeom prst="rect">
            <a:avLst/>
          </a:prstGeom>
          <a:noFill/>
        </p:spPr>
        <p:txBody>
          <a:bodyPr wrap="square" lIns="18288" rIns="18288" anchor="t">
            <a:spAutoFit/>
          </a:bodyPr>
          <a:lstStyle/>
          <a:p>
            <a:pPr algn="l"/>
            <a:r>
              <a:rPr sz="850" b="0" i="0">
                <a:solidFill>
                  <a:srgbClr val="6B7280"/>
                </a:solidFill>
                <a:latin typeface="Segoe UI"/>
              </a:rPr>
              <a:t>Appendix  ·  So Sereysokbotra</a:t>
            </a:r>
          </a:p>
        </p:txBody>
      </p:sp>
      <p:sp>
        <p:nvSpPr>
          <p:cNvPr id="9" name="TextBox 8"/>
          <p:cNvSpPr txBox="1"/>
          <p:nvPr/>
        </p:nvSpPr>
        <p:spPr>
          <a:xfrm>
            <a:off x="10820095" y="6373368"/>
            <a:ext cx="731520" cy="274320"/>
          </a:xfrm>
          <a:prstGeom prst="rect">
            <a:avLst/>
          </a:prstGeom>
          <a:noFill/>
        </p:spPr>
        <p:txBody>
          <a:bodyPr wrap="square" lIns="18288" rIns="18288" anchor="t">
            <a:spAutoFit/>
          </a:bodyPr>
          <a:lstStyle/>
          <a:p>
            <a:pPr algn="r"/>
            <a:r>
              <a:rPr sz="1100" b="1" i="0">
                <a:solidFill>
                  <a:srgbClr val="0F7C74"/>
                </a:solidFill>
                <a:latin typeface="Segoe UI Semibold"/>
              </a:rPr>
              <a:t>A1</a:t>
            </a:r>
          </a:p>
        </p:txBody>
      </p:sp>
      <p:graphicFrame>
        <p:nvGraphicFramePr>
          <p:cNvPr id="10" name="Table 9"/>
          <p:cNvGraphicFramePr>
            <a:graphicFrameLocks noGrp="1"/>
          </p:cNvGraphicFramePr>
          <p:nvPr/>
        </p:nvGraphicFramePr>
        <p:xfrm>
          <a:off x="640080" y="1600200"/>
          <a:ext cx="10911535" cy="2468880"/>
        </p:xfrm>
        <a:graphic>
          <a:graphicData uri="http://schemas.openxmlformats.org/drawingml/2006/table">
            <a:tbl>
              <a:tblPr>
                <a:tableStyleId>{5C22544A-7EE6-4342-B048-85BDC9FD1C3A}</a:tableStyleId>
              </a:tblPr>
              <a:tblGrid>
                <a:gridCol w="566928">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gridCol w="1600200">
                  <a:extLst>
                    <a:ext uri="{9D8B030D-6E8A-4147-A177-3AD203B41FA5}">
                      <a16:colId xmlns:a16="http://schemas.microsoft.com/office/drawing/2014/main" val="20004"/>
                    </a:ext>
                  </a:extLst>
                </a:gridCol>
                <a:gridCol w="1188720">
                  <a:extLst>
                    <a:ext uri="{9D8B030D-6E8A-4147-A177-3AD203B41FA5}">
                      <a16:colId xmlns:a16="http://schemas.microsoft.com/office/drawing/2014/main" val="20005"/>
                    </a:ext>
                  </a:extLst>
                </a:gridCol>
                <a:gridCol w="1737360">
                  <a:extLst>
                    <a:ext uri="{9D8B030D-6E8A-4147-A177-3AD203B41FA5}">
                      <a16:colId xmlns:a16="http://schemas.microsoft.com/office/drawing/2014/main" val="20006"/>
                    </a:ext>
                  </a:extLst>
                </a:gridCol>
                <a:gridCol w="1200607">
                  <a:extLst>
                    <a:ext uri="{9D8B030D-6E8A-4147-A177-3AD203B41FA5}">
                      <a16:colId xmlns:a16="http://schemas.microsoft.com/office/drawing/2014/main" val="20007"/>
                    </a:ext>
                  </a:extLst>
                </a:gridCol>
              </a:tblGrid>
              <a:tr h="411480">
                <a:tc>
                  <a:txBody>
                    <a:bodyPr/>
                    <a:lstStyle/>
                    <a:p>
                      <a:endParaRPr/>
                    </a:p>
                  </a:txBody>
                  <a:tcPr marL="127000" marR="127000" marT="25400" marB="25400" anchor="ctr">
                    <a:solidFill>
                      <a:srgbClr val="14213D"/>
                    </a:solidFill>
                  </a:tcPr>
                </a:tc>
                <a:tc>
                  <a:txBody>
                    <a:bodyPr/>
                    <a:lstStyle/>
                    <a:p>
                      <a:r>
                        <a:rPr sz="971" b="1" i="0" spc="80">
                          <a:solidFill>
                            <a:srgbClr val="FFFFFF"/>
                          </a:solidFill>
                          <a:latin typeface="Segoe UI"/>
                        </a:rPr>
                        <a:t>APPROACH</a:t>
                      </a:r>
                    </a:p>
                  </a:txBody>
                  <a:tcPr marL="127000" marR="127000" marT="25400" marB="25400" anchor="ctr">
                    <a:solidFill>
                      <a:srgbClr val="14213D"/>
                    </a:solidFill>
                  </a:tcPr>
                </a:tc>
                <a:tc>
                  <a:txBody>
                    <a:bodyPr/>
                    <a:lstStyle/>
                    <a:p>
                      <a:r>
                        <a:rPr sz="971" b="1" i="0" spc="80">
                          <a:solidFill>
                            <a:srgbClr val="FFFFFF"/>
                          </a:solidFill>
                          <a:latin typeface="Segoe UI"/>
                        </a:rPr>
                        <a:t>VAL</a:t>
                      </a:r>
                    </a:p>
                  </a:txBody>
                  <a:tcPr marL="127000" marR="127000" marT="25400" marB="25400" anchor="ctr">
                    <a:solidFill>
                      <a:srgbClr val="14213D"/>
                    </a:solidFill>
                  </a:tcPr>
                </a:tc>
                <a:tc>
                  <a:txBody>
                    <a:bodyPr/>
                    <a:lstStyle/>
                    <a:p>
                      <a:r>
                        <a:rPr sz="971" b="1" i="0" spc="80">
                          <a:solidFill>
                            <a:srgbClr val="FFFFFF"/>
                          </a:solidFill>
                          <a:latin typeface="Segoe UI"/>
                        </a:rPr>
                        <a:t>TEST</a:t>
                      </a:r>
                    </a:p>
                  </a:txBody>
                  <a:tcPr marL="127000" marR="127000" marT="25400" marB="25400" anchor="ctr">
                    <a:solidFill>
                      <a:srgbClr val="14213D"/>
                    </a:solidFill>
                  </a:tcPr>
                </a:tc>
                <a:tc>
                  <a:txBody>
                    <a:bodyPr/>
                    <a:lstStyle/>
                    <a:p>
                      <a:r>
                        <a:rPr sz="971" b="1" i="0" spc="80">
                          <a:solidFill>
                            <a:srgbClr val="FFFFFF"/>
                          </a:solidFill>
                          <a:latin typeface="Segoe UI"/>
                        </a:rPr>
                        <a:t>CLEAN N=491</a:t>
                      </a:r>
                    </a:p>
                  </a:txBody>
                  <a:tcPr marL="127000" marR="127000" marT="25400" marB="25400" anchor="ctr">
                    <a:solidFill>
                      <a:srgbClr val="14213D"/>
                    </a:solidFill>
                  </a:tcPr>
                </a:tc>
                <a:tc>
                  <a:txBody>
                    <a:bodyPr/>
                    <a:lstStyle/>
                    <a:p>
                      <a:r>
                        <a:rPr sz="971" b="1" i="0" spc="80">
                          <a:solidFill>
                            <a:srgbClr val="FFFFFF"/>
                          </a:solidFill>
                          <a:latin typeface="Segoe UI"/>
                        </a:rPr>
                        <a:t>MACRO-F1</a:t>
                      </a:r>
                    </a:p>
                  </a:txBody>
                  <a:tcPr marL="127000" marR="127000" marT="25400" marB="25400" anchor="ctr">
                    <a:solidFill>
                      <a:srgbClr val="14213D"/>
                    </a:solidFill>
                  </a:tcPr>
                </a:tc>
                <a:tc>
                  <a:txBody>
                    <a:bodyPr/>
                    <a:lstStyle/>
                    <a:p>
                      <a:r>
                        <a:rPr sz="971" b="1" i="0" spc="80">
                          <a:solidFill>
                            <a:srgbClr val="FFFFFF"/>
                          </a:solidFill>
                          <a:latin typeface="Segoe UI"/>
                        </a:rPr>
                        <a:t>TRAINABLE</a:t>
                      </a:r>
                    </a:p>
                  </a:txBody>
                  <a:tcPr marL="127000" marR="127000" marT="25400" marB="25400" anchor="ctr">
                    <a:solidFill>
                      <a:srgbClr val="14213D"/>
                    </a:solidFill>
                  </a:tcPr>
                </a:tc>
                <a:tc>
                  <a:txBody>
                    <a:bodyPr/>
                    <a:lstStyle/>
                    <a:p>
                      <a:r>
                        <a:rPr sz="971" b="1" i="0" spc="80">
                          <a:solidFill>
                            <a:srgbClr val="FFFFFF"/>
                          </a:solidFill>
                          <a:latin typeface="Segoe UI"/>
                        </a:rPr>
                        <a:t>TIME</a:t>
                      </a:r>
                    </a:p>
                  </a:txBody>
                  <a:tcPr marL="127000" marR="127000" marT="25400" marB="25400" anchor="ctr">
                    <a:solidFill>
                      <a:srgbClr val="14213D"/>
                    </a:solidFill>
                  </a:tcPr>
                </a:tc>
                <a:extLst>
                  <a:ext uri="{0D108BD9-81ED-4DB2-BD59-A6C34878D82A}">
                    <a16:rowId xmlns:a16="http://schemas.microsoft.com/office/drawing/2014/main" val="10000"/>
                  </a:ext>
                </a:extLst>
              </a:tr>
              <a:tr h="411480">
                <a:tc>
                  <a:txBody>
                    <a:bodyPr/>
                    <a:lstStyle/>
                    <a:p>
                      <a:r>
                        <a:rPr sz="1350" b="1" i="0">
                          <a:solidFill>
                            <a:srgbClr val="14213D"/>
                          </a:solidFill>
                          <a:latin typeface="Segoe UI Semibold"/>
                        </a:rPr>
                        <a:t>A</a:t>
                      </a:r>
                    </a:p>
                  </a:txBody>
                  <a:tcPr marL="127000" marR="127000" marT="25400" marB="25400" anchor="ctr">
                    <a:solidFill>
                      <a:srgbClr val="FFFFFF"/>
                    </a:solidFill>
                  </a:tcPr>
                </a:tc>
                <a:tc>
                  <a:txBody>
                    <a:bodyPr/>
                    <a:lstStyle/>
                    <a:p>
                      <a:r>
                        <a:rPr sz="1350" b="0" i="0">
                          <a:solidFill>
                            <a:srgbClr val="14213D"/>
                          </a:solidFill>
                          <a:latin typeface="Segoe UI"/>
                        </a:rPr>
                        <a:t>ResNet18 scratch</a:t>
                      </a:r>
                    </a:p>
                  </a:txBody>
                  <a:tcPr marL="127000" marR="127000" marT="25400" marB="25400" anchor="ctr">
                    <a:solidFill>
                      <a:srgbClr val="FFFFFF"/>
                    </a:solidFill>
                  </a:tcPr>
                </a:tc>
                <a:tc>
                  <a:txBody>
                    <a:bodyPr/>
                    <a:lstStyle/>
                    <a:p>
                      <a:r>
                        <a:rPr sz="1350" b="0" i="0">
                          <a:solidFill>
                            <a:srgbClr val="14213D"/>
                          </a:solidFill>
                          <a:latin typeface="Segoe UI"/>
                        </a:rPr>
                        <a:t>93.8 %</a:t>
                      </a:r>
                    </a:p>
                  </a:txBody>
                  <a:tcPr marL="127000" marR="127000" marT="25400" marB="25400" anchor="ctr">
                    <a:solidFill>
                      <a:srgbClr val="FFFFFF"/>
                    </a:solidFill>
                  </a:tcPr>
                </a:tc>
                <a:tc>
                  <a:txBody>
                    <a:bodyPr/>
                    <a:lstStyle/>
                    <a:p>
                      <a:r>
                        <a:rPr sz="1350" b="1" i="0">
                          <a:solidFill>
                            <a:srgbClr val="0F7C74"/>
                          </a:solidFill>
                          <a:latin typeface="Segoe UI Semibold"/>
                        </a:rPr>
                        <a:t>93.3 %</a:t>
                      </a:r>
                    </a:p>
                  </a:txBody>
                  <a:tcPr marL="127000" marR="127000" marT="25400" marB="25400" anchor="ctr">
                    <a:solidFill>
                      <a:srgbClr val="FFFFFF"/>
                    </a:solidFill>
                  </a:tcPr>
                </a:tc>
                <a:tc>
                  <a:txBody>
                    <a:bodyPr/>
                    <a:lstStyle/>
                    <a:p>
                      <a:r>
                        <a:rPr sz="1350" b="0" i="0">
                          <a:solidFill>
                            <a:srgbClr val="14213D"/>
                          </a:solidFill>
                          <a:latin typeface="Segoe UI"/>
                        </a:rPr>
                        <a:t>94.7 %</a:t>
                      </a:r>
                    </a:p>
                  </a:txBody>
                  <a:tcPr marL="127000" marR="127000" marT="25400" marB="25400" anchor="ctr">
                    <a:solidFill>
                      <a:srgbClr val="FFFFFF"/>
                    </a:solidFill>
                  </a:tcPr>
                </a:tc>
                <a:tc>
                  <a:txBody>
                    <a:bodyPr/>
                    <a:lstStyle/>
                    <a:p>
                      <a:r>
                        <a:rPr sz="1350" b="0" i="0">
                          <a:solidFill>
                            <a:srgbClr val="14213D"/>
                          </a:solidFill>
                          <a:latin typeface="Segoe UI"/>
                        </a:rPr>
                        <a:t>92.9 %</a:t>
                      </a:r>
                    </a:p>
                  </a:txBody>
                  <a:tcPr marL="127000" marR="127000" marT="25400" marB="25400" anchor="ctr">
                    <a:solidFill>
                      <a:srgbClr val="FFFFFF"/>
                    </a:solidFill>
                  </a:tcPr>
                </a:tc>
                <a:tc>
                  <a:txBody>
                    <a:bodyPr/>
                    <a:lstStyle/>
                    <a:p>
                      <a:r>
                        <a:rPr sz="1350" b="0" i="0">
                          <a:solidFill>
                            <a:srgbClr val="14213D"/>
                          </a:solidFill>
                          <a:latin typeface="Segoe UI"/>
                        </a:rPr>
                        <a:t>11 189 850</a:t>
                      </a:r>
                    </a:p>
                  </a:txBody>
                  <a:tcPr marL="127000" marR="127000" marT="25400" marB="25400" anchor="ctr">
                    <a:solidFill>
                      <a:srgbClr val="FFFFFF"/>
                    </a:solidFill>
                  </a:tcPr>
                </a:tc>
                <a:tc>
                  <a:txBody>
                    <a:bodyPr/>
                    <a:lstStyle/>
                    <a:p>
                      <a:r>
                        <a:rPr sz="1350" b="0" i="0">
                          <a:solidFill>
                            <a:srgbClr val="14213D"/>
                          </a:solidFill>
                          <a:latin typeface="Segoe UI"/>
                        </a:rPr>
                        <a:t>6.1 min</a:t>
                      </a:r>
                    </a:p>
                  </a:txBody>
                  <a:tcPr marL="127000" marR="127000" marT="25400" marB="25400" anchor="ctr">
                    <a:solidFill>
                      <a:srgbClr val="FFFFFF"/>
                    </a:solidFill>
                  </a:tcPr>
                </a:tc>
                <a:extLst>
                  <a:ext uri="{0D108BD9-81ED-4DB2-BD59-A6C34878D82A}">
                    <a16:rowId xmlns:a16="http://schemas.microsoft.com/office/drawing/2014/main" val="10001"/>
                  </a:ext>
                </a:extLst>
              </a:tr>
              <a:tr h="411480">
                <a:tc>
                  <a:txBody>
                    <a:bodyPr/>
                    <a:lstStyle/>
                    <a:p>
                      <a:r>
                        <a:rPr sz="1350" b="1" i="0">
                          <a:solidFill>
                            <a:srgbClr val="14213D"/>
                          </a:solidFill>
                          <a:latin typeface="Segoe UI Semibold"/>
                        </a:rPr>
                        <a:t>B</a:t>
                      </a:r>
                    </a:p>
                  </a:txBody>
                  <a:tcPr marL="127000" marR="127000" marT="25400" marB="25400" anchor="ctr">
                    <a:solidFill>
                      <a:srgbClr val="F8FAFC"/>
                    </a:solidFill>
                  </a:tcPr>
                </a:tc>
                <a:tc>
                  <a:txBody>
                    <a:bodyPr/>
                    <a:lstStyle/>
                    <a:p>
                      <a:r>
                        <a:rPr sz="1350" b="0" i="0">
                          <a:solidFill>
                            <a:srgbClr val="14213D"/>
                          </a:solidFill>
                          <a:latin typeface="Segoe UI"/>
                        </a:rPr>
                        <a:t>ResNet18 frozen</a:t>
                      </a:r>
                    </a:p>
                  </a:txBody>
                  <a:tcPr marL="127000" marR="127000" marT="25400" marB="25400" anchor="ctr">
                    <a:solidFill>
                      <a:srgbClr val="F8FAFC"/>
                    </a:solidFill>
                  </a:tcPr>
                </a:tc>
                <a:tc>
                  <a:txBody>
                    <a:bodyPr/>
                    <a:lstStyle/>
                    <a:p>
                      <a:r>
                        <a:rPr sz="1350" b="0" i="0">
                          <a:solidFill>
                            <a:srgbClr val="14213D"/>
                          </a:solidFill>
                          <a:latin typeface="Segoe UI"/>
                        </a:rPr>
                        <a:t>40.1 %</a:t>
                      </a:r>
                    </a:p>
                  </a:txBody>
                  <a:tcPr marL="127000" marR="127000" marT="25400" marB="25400" anchor="ctr">
                    <a:solidFill>
                      <a:srgbClr val="F8FAFC"/>
                    </a:solidFill>
                  </a:tcPr>
                </a:tc>
                <a:tc>
                  <a:txBody>
                    <a:bodyPr/>
                    <a:lstStyle/>
                    <a:p>
                      <a:r>
                        <a:rPr sz="1350" b="1" i="0">
                          <a:solidFill>
                            <a:srgbClr val="0F7C74"/>
                          </a:solidFill>
                          <a:latin typeface="Segoe UI Semibold"/>
                        </a:rPr>
                        <a:t>42.0 %</a:t>
                      </a:r>
                    </a:p>
                  </a:txBody>
                  <a:tcPr marL="127000" marR="127000" marT="25400" marB="25400" anchor="ctr">
                    <a:solidFill>
                      <a:srgbClr val="F8FAFC"/>
                    </a:solidFill>
                  </a:tcPr>
                </a:tc>
                <a:tc>
                  <a:txBody>
                    <a:bodyPr/>
                    <a:lstStyle/>
                    <a:p>
                      <a:r>
                        <a:rPr sz="1350" b="0" i="0">
                          <a:solidFill>
                            <a:srgbClr val="14213D"/>
                          </a:solidFill>
                          <a:latin typeface="Segoe UI"/>
                        </a:rPr>
                        <a:t>43.2 %</a:t>
                      </a:r>
                    </a:p>
                  </a:txBody>
                  <a:tcPr marL="127000" marR="127000" marT="25400" marB="25400" anchor="ctr">
                    <a:solidFill>
                      <a:srgbClr val="F8FAFC"/>
                    </a:solidFill>
                  </a:tcPr>
                </a:tc>
                <a:tc>
                  <a:txBody>
                    <a:bodyPr/>
                    <a:lstStyle/>
                    <a:p>
                      <a:r>
                        <a:rPr sz="1350" b="0" i="0">
                          <a:solidFill>
                            <a:srgbClr val="14213D"/>
                          </a:solidFill>
                          <a:latin typeface="Segoe UI"/>
                        </a:rPr>
                        <a:t>37.9 %</a:t>
                      </a:r>
                    </a:p>
                  </a:txBody>
                  <a:tcPr marL="127000" marR="127000" marT="25400" marB="25400" anchor="ctr">
                    <a:solidFill>
                      <a:srgbClr val="F8FAFC"/>
                    </a:solidFill>
                  </a:tcPr>
                </a:tc>
                <a:tc>
                  <a:txBody>
                    <a:bodyPr/>
                    <a:lstStyle/>
                    <a:p>
                      <a:r>
                        <a:rPr sz="1350" b="0" i="0">
                          <a:solidFill>
                            <a:srgbClr val="14213D"/>
                          </a:solidFill>
                          <a:latin typeface="Segoe UI"/>
                        </a:rPr>
                        <a:t>13 338</a:t>
                      </a:r>
                    </a:p>
                  </a:txBody>
                  <a:tcPr marL="127000" marR="127000" marT="25400" marB="25400" anchor="ctr">
                    <a:solidFill>
                      <a:srgbClr val="F8FAFC"/>
                    </a:solidFill>
                  </a:tcPr>
                </a:tc>
                <a:tc>
                  <a:txBody>
                    <a:bodyPr/>
                    <a:lstStyle/>
                    <a:p>
                      <a:r>
                        <a:rPr sz="1350" b="0" i="0">
                          <a:solidFill>
                            <a:srgbClr val="14213D"/>
                          </a:solidFill>
                          <a:latin typeface="Segoe UI"/>
                        </a:rPr>
                        <a:t>5.3 min</a:t>
                      </a:r>
                    </a:p>
                  </a:txBody>
                  <a:tcPr marL="127000" marR="127000" marT="25400" marB="25400" anchor="ctr">
                    <a:solidFill>
                      <a:srgbClr val="F8FAFC"/>
                    </a:solidFill>
                  </a:tcPr>
                </a:tc>
                <a:extLst>
                  <a:ext uri="{0D108BD9-81ED-4DB2-BD59-A6C34878D82A}">
                    <a16:rowId xmlns:a16="http://schemas.microsoft.com/office/drawing/2014/main" val="10002"/>
                  </a:ext>
                </a:extLst>
              </a:tr>
              <a:tr h="411480">
                <a:tc>
                  <a:txBody>
                    <a:bodyPr/>
                    <a:lstStyle/>
                    <a:p>
                      <a:r>
                        <a:rPr sz="1350" b="1" i="0">
                          <a:solidFill>
                            <a:srgbClr val="14213D"/>
                          </a:solidFill>
                          <a:latin typeface="Segoe UI Semibold"/>
                        </a:rPr>
                        <a:t>C</a:t>
                      </a:r>
                    </a:p>
                  </a:txBody>
                  <a:tcPr marL="127000" marR="127000" marT="25400" marB="25400" anchor="ctr">
                    <a:solidFill>
                      <a:srgbClr val="FFFFFF"/>
                    </a:solidFill>
                  </a:tcPr>
                </a:tc>
                <a:tc>
                  <a:txBody>
                    <a:bodyPr/>
                    <a:lstStyle/>
                    <a:p>
                      <a:r>
                        <a:rPr sz="1350" b="0" i="0">
                          <a:solidFill>
                            <a:srgbClr val="14213D"/>
                          </a:solidFill>
                          <a:latin typeface="Segoe UI"/>
                        </a:rPr>
                        <a:t>ResNet18 fine-tune</a:t>
                      </a:r>
                    </a:p>
                  </a:txBody>
                  <a:tcPr marL="127000" marR="127000" marT="25400" marB="25400" anchor="ctr">
                    <a:solidFill>
                      <a:srgbClr val="FFFFFF"/>
                    </a:solidFill>
                  </a:tcPr>
                </a:tc>
                <a:tc>
                  <a:txBody>
                    <a:bodyPr/>
                    <a:lstStyle/>
                    <a:p>
                      <a:r>
                        <a:rPr sz="1350" b="0" i="0">
                          <a:solidFill>
                            <a:srgbClr val="14213D"/>
                          </a:solidFill>
                          <a:latin typeface="Segoe UI"/>
                        </a:rPr>
                        <a:t>92.6 %</a:t>
                      </a:r>
                    </a:p>
                  </a:txBody>
                  <a:tcPr marL="127000" marR="127000" marT="25400" marB="25400" anchor="ctr">
                    <a:solidFill>
                      <a:srgbClr val="FFFFFF"/>
                    </a:solidFill>
                  </a:tcPr>
                </a:tc>
                <a:tc>
                  <a:txBody>
                    <a:bodyPr/>
                    <a:lstStyle/>
                    <a:p>
                      <a:r>
                        <a:rPr sz="1350" b="1" i="0">
                          <a:solidFill>
                            <a:srgbClr val="0F7C74"/>
                          </a:solidFill>
                          <a:latin typeface="Segoe UI Semibold"/>
                        </a:rPr>
                        <a:t>94.0 %</a:t>
                      </a:r>
                    </a:p>
                  </a:txBody>
                  <a:tcPr marL="127000" marR="127000" marT="25400" marB="25400" anchor="ctr">
                    <a:solidFill>
                      <a:srgbClr val="FFFFFF"/>
                    </a:solidFill>
                  </a:tcPr>
                </a:tc>
                <a:tc>
                  <a:txBody>
                    <a:bodyPr/>
                    <a:lstStyle/>
                    <a:p>
                      <a:r>
                        <a:rPr sz="1350" b="0" i="0">
                          <a:solidFill>
                            <a:srgbClr val="14213D"/>
                          </a:solidFill>
                          <a:latin typeface="Segoe UI"/>
                        </a:rPr>
                        <a:t>95.3 %</a:t>
                      </a:r>
                    </a:p>
                  </a:txBody>
                  <a:tcPr marL="127000" marR="127000" marT="25400" marB="25400" anchor="ctr">
                    <a:solidFill>
                      <a:srgbClr val="FFFFFF"/>
                    </a:solidFill>
                  </a:tcPr>
                </a:tc>
                <a:tc>
                  <a:txBody>
                    <a:bodyPr/>
                    <a:lstStyle/>
                    <a:p>
                      <a:r>
                        <a:rPr sz="1350" b="0" i="0">
                          <a:solidFill>
                            <a:srgbClr val="14213D"/>
                          </a:solidFill>
                          <a:latin typeface="Segoe UI"/>
                        </a:rPr>
                        <a:t>92.4 %</a:t>
                      </a:r>
                    </a:p>
                  </a:txBody>
                  <a:tcPr marL="127000" marR="127000" marT="25400" marB="25400" anchor="ctr">
                    <a:solidFill>
                      <a:srgbClr val="FFFFFF"/>
                    </a:solidFill>
                  </a:tcPr>
                </a:tc>
                <a:tc>
                  <a:txBody>
                    <a:bodyPr/>
                    <a:lstStyle/>
                    <a:p>
                      <a:r>
                        <a:rPr sz="1350" b="0" i="0">
                          <a:solidFill>
                            <a:srgbClr val="14213D"/>
                          </a:solidFill>
                          <a:latin typeface="Segoe UI"/>
                        </a:rPr>
                        <a:t>11 189 850</a:t>
                      </a:r>
                    </a:p>
                  </a:txBody>
                  <a:tcPr marL="127000" marR="127000" marT="25400" marB="25400" anchor="ctr">
                    <a:solidFill>
                      <a:srgbClr val="FFFFFF"/>
                    </a:solidFill>
                  </a:tcPr>
                </a:tc>
                <a:tc>
                  <a:txBody>
                    <a:bodyPr/>
                    <a:lstStyle/>
                    <a:p>
                      <a:r>
                        <a:rPr sz="1350" b="0" i="0">
                          <a:solidFill>
                            <a:srgbClr val="14213D"/>
                          </a:solidFill>
                          <a:latin typeface="Segoe UI"/>
                        </a:rPr>
                        <a:t>5.9 min</a:t>
                      </a:r>
                    </a:p>
                  </a:txBody>
                  <a:tcPr marL="127000" marR="127000" marT="25400" marB="25400" anchor="ctr">
                    <a:solidFill>
                      <a:srgbClr val="FFFFFF"/>
                    </a:solidFill>
                  </a:tcPr>
                </a:tc>
                <a:extLst>
                  <a:ext uri="{0D108BD9-81ED-4DB2-BD59-A6C34878D82A}">
                    <a16:rowId xmlns:a16="http://schemas.microsoft.com/office/drawing/2014/main" val="10003"/>
                  </a:ext>
                </a:extLst>
              </a:tr>
              <a:tr h="411480">
                <a:tc>
                  <a:txBody>
                    <a:bodyPr/>
                    <a:lstStyle/>
                    <a:p>
                      <a:r>
                        <a:rPr sz="1350" b="1" i="0">
                          <a:solidFill>
                            <a:srgbClr val="14213D"/>
                          </a:solidFill>
                          <a:latin typeface="Segoe UI Semibold"/>
                        </a:rPr>
                        <a:t>D</a:t>
                      </a:r>
                    </a:p>
                  </a:txBody>
                  <a:tcPr marL="127000" marR="127000" marT="25400" marB="25400" anchor="ctr">
                    <a:solidFill>
                      <a:srgbClr val="F8FAFC"/>
                    </a:solidFill>
                  </a:tcPr>
                </a:tc>
                <a:tc>
                  <a:txBody>
                    <a:bodyPr/>
                    <a:lstStyle/>
                    <a:p>
                      <a:r>
                        <a:rPr sz="1350" b="0" i="0">
                          <a:solidFill>
                            <a:srgbClr val="14213D"/>
                          </a:solidFill>
                          <a:latin typeface="Segoe UI"/>
                        </a:rPr>
                        <a:t>small CNN</a:t>
                      </a:r>
                    </a:p>
                  </a:txBody>
                  <a:tcPr marL="127000" marR="127000" marT="25400" marB="25400" anchor="ctr">
                    <a:solidFill>
                      <a:srgbClr val="F8FAFC"/>
                    </a:solidFill>
                  </a:tcPr>
                </a:tc>
                <a:tc>
                  <a:txBody>
                    <a:bodyPr/>
                    <a:lstStyle/>
                    <a:p>
                      <a:r>
                        <a:rPr sz="1350" b="0" i="0">
                          <a:solidFill>
                            <a:srgbClr val="14213D"/>
                          </a:solidFill>
                          <a:latin typeface="Segoe UI"/>
                        </a:rPr>
                        <a:t>48.4 %</a:t>
                      </a:r>
                    </a:p>
                  </a:txBody>
                  <a:tcPr marL="127000" marR="127000" marT="25400" marB="25400" anchor="ctr">
                    <a:solidFill>
                      <a:srgbClr val="F8FAFC"/>
                    </a:solidFill>
                  </a:tcPr>
                </a:tc>
                <a:tc>
                  <a:txBody>
                    <a:bodyPr/>
                    <a:lstStyle/>
                    <a:p>
                      <a:r>
                        <a:rPr sz="1350" b="1" i="0">
                          <a:solidFill>
                            <a:srgbClr val="0F7C74"/>
                          </a:solidFill>
                          <a:latin typeface="Segoe UI Semibold"/>
                        </a:rPr>
                        <a:t>46.6 %</a:t>
                      </a:r>
                    </a:p>
                  </a:txBody>
                  <a:tcPr marL="127000" marR="127000" marT="25400" marB="25400" anchor="ctr">
                    <a:solidFill>
                      <a:srgbClr val="F8FAFC"/>
                    </a:solidFill>
                  </a:tcPr>
                </a:tc>
                <a:tc>
                  <a:txBody>
                    <a:bodyPr/>
                    <a:lstStyle/>
                    <a:p>
                      <a:r>
                        <a:rPr sz="1350" b="0" i="0">
                          <a:solidFill>
                            <a:srgbClr val="14213D"/>
                          </a:solidFill>
                          <a:latin typeface="Segoe UI"/>
                        </a:rPr>
                        <a:t>47.7 %</a:t>
                      </a:r>
                    </a:p>
                  </a:txBody>
                  <a:tcPr marL="127000" marR="127000" marT="25400" marB="25400" anchor="ctr">
                    <a:solidFill>
                      <a:srgbClr val="F8FAFC"/>
                    </a:solidFill>
                  </a:tcPr>
                </a:tc>
                <a:tc>
                  <a:txBody>
                    <a:bodyPr/>
                    <a:lstStyle/>
                    <a:p>
                      <a:r>
                        <a:rPr sz="1350" b="0" i="0">
                          <a:solidFill>
                            <a:srgbClr val="14213D"/>
                          </a:solidFill>
                          <a:latin typeface="Segoe UI"/>
                        </a:rPr>
                        <a:t>40.7 %</a:t>
                      </a:r>
                    </a:p>
                  </a:txBody>
                  <a:tcPr marL="127000" marR="127000" marT="25400" marB="25400" anchor="ctr">
                    <a:solidFill>
                      <a:srgbClr val="F8FAFC"/>
                    </a:solidFill>
                  </a:tcPr>
                </a:tc>
                <a:tc>
                  <a:txBody>
                    <a:bodyPr/>
                    <a:lstStyle/>
                    <a:p>
                      <a:r>
                        <a:rPr sz="1350" b="0" i="0">
                          <a:solidFill>
                            <a:srgbClr val="14213D"/>
                          </a:solidFill>
                          <a:latin typeface="Segoe UI"/>
                        </a:rPr>
                        <a:t>396 058</a:t>
                      </a:r>
                    </a:p>
                  </a:txBody>
                  <a:tcPr marL="127000" marR="127000" marT="25400" marB="25400" anchor="ctr">
                    <a:solidFill>
                      <a:srgbClr val="F8FAFC"/>
                    </a:solidFill>
                  </a:tcPr>
                </a:tc>
                <a:tc>
                  <a:txBody>
                    <a:bodyPr/>
                    <a:lstStyle/>
                    <a:p>
                      <a:r>
                        <a:rPr sz="1350" b="0" i="0">
                          <a:solidFill>
                            <a:srgbClr val="14213D"/>
                          </a:solidFill>
                          <a:latin typeface="Segoe UI"/>
                        </a:rPr>
                        <a:t>5.3 min</a:t>
                      </a:r>
                    </a:p>
                  </a:txBody>
                  <a:tcPr marL="127000" marR="127000" marT="25400" marB="25400" anchor="ctr">
                    <a:solidFill>
                      <a:srgbClr val="F8FAFC"/>
                    </a:solidFill>
                  </a:tcPr>
                </a:tc>
                <a:extLst>
                  <a:ext uri="{0D108BD9-81ED-4DB2-BD59-A6C34878D82A}">
                    <a16:rowId xmlns:a16="http://schemas.microsoft.com/office/drawing/2014/main" val="10004"/>
                  </a:ext>
                </a:extLst>
              </a:tr>
              <a:tr h="411480">
                <a:tc>
                  <a:txBody>
                    <a:bodyPr/>
                    <a:lstStyle/>
                    <a:p>
                      <a:r>
                        <a:rPr sz="1350" b="1" i="0">
                          <a:solidFill>
                            <a:srgbClr val="14213D"/>
                          </a:solidFill>
                          <a:latin typeface="Segoe UI Semibold"/>
                        </a:rPr>
                        <a:t>E</a:t>
                      </a:r>
                    </a:p>
                  </a:txBody>
                  <a:tcPr marL="127000" marR="127000" marT="25400" marB="25400" anchor="ctr">
                    <a:solidFill>
                      <a:srgbClr val="FFFFFF"/>
                    </a:solidFill>
                  </a:tcPr>
                </a:tc>
                <a:tc>
                  <a:txBody>
                    <a:bodyPr/>
                    <a:lstStyle/>
                    <a:p>
                      <a:r>
                        <a:rPr sz="1350" b="0" i="0">
                          <a:solidFill>
                            <a:srgbClr val="14213D"/>
                          </a:solidFill>
                          <a:latin typeface="Segoe UI"/>
                        </a:rPr>
                        <a:t>ViT-B/16 fine-tune</a:t>
                      </a:r>
                    </a:p>
                  </a:txBody>
                  <a:tcPr marL="127000" marR="127000" marT="25400" marB="25400" anchor="ctr">
                    <a:solidFill>
                      <a:srgbClr val="FFFFFF"/>
                    </a:solidFill>
                  </a:tcPr>
                </a:tc>
                <a:tc>
                  <a:txBody>
                    <a:bodyPr/>
                    <a:lstStyle/>
                    <a:p>
                      <a:r>
                        <a:rPr sz="1350" b="0" i="0">
                          <a:solidFill>
                            <a:srgbClr val="14213D"/>
                          </a:solidFill>
                          <a:latin typeface="Segoe UI"/>
                        </a:rPr>
                        <a:t>96.2 %</a:t>
                      </a:r>
                    </a:p>
                  </a:txBody>
                  <a:tcPr marL="127000" marR="127000" marT="25400" marB="25400" anchor="ctr">
                    <a:solidFill>
                      <a:srgbClr val="FFFFFF"/>
                    </a:solidFill>
                  </a:tcPr>
                </a:tc>
                <a:tc>
                  <a:txBody>
                    <a:bodyPr/>
                    <a:lstStyle/>
                    <a:p>
                      <a:r>
                        <a:rPr sz="1350" b="1" i="0">
                          <a:solidFill>
                            <a:srgbClr val="0F7C74"/>
                          </a:solidFill>
                          <a:latin typeface="Segoe UI Semibold"/>
                        </a:rPr>
                        <a:t>96.1 %</a:t>
                      </a:r>
                    </a:p>
                  </a:txBody>
                  <a:tcPr marL="127000" marR="127000" marT="25400" marB="25400" anchor="ctr">
                    <a:solidFill>
                      <a:srgbClr val="FFFFFF"/>
                    </a:solidFill>
                  </a:tcPr>
                </a:tc>
                <a:tc>
                  <a:txBody>
                    <a:bodyPr/>
                    <a:lstStyle/>
                    <a:p>
                      <a:r>
                        <a:rPr sz="1350" b="0" i="0">
                          <a:solidFill>
                            <a:srgbClr val="14213D"/>
                          </a:solidFill>
                          <a:latin typeface="Segoe UI"/>
                        </a:rPr>
                        <a:t>96.5 %</a:t>
                      </a:r>
                    </a:p>
                  </a:txBody>
                  <a:tcPr marL="127000" marR="127000" marT="25400" marB="25400" anchor="ctr">
                    <a:solidFill>
                      <a:srgbClr val="FFFFFF"/>
                    </a:solidFill>
                  </a:tcPr>
                </a:tc>
                <a:tc>
                  <a:txBody>
                    <a:bodyPr/>
                    <a:lstStyle/>
                    <a:p>
                      <a:r>
                        <a:rPr sz="1350" b="0" i="0">
                          <a:solidFill>
                            <a:srgbClr val="14213D"/>
                          </a:solidFill>
                          <a:latin typeface="Segoe UI"/>
                        </a:rPr>
                        <a:t>95.8 %</a:t>
                      </a:r>
                    </a:p>
                  </a:txBody>
                  <a:tcPr marL="127000" marR="127000" marT="25400" marB="25400" anchor="ctr">
                    <a:solidFill>
                      <a:srgbClr val="FFFFFF"/>
                    </a:solidFill>
                  </a:tcPr>
                </a:tc>
                <a:tc>
                  <a:txBody>
                    <a:bodyPr/>
                    <a:lstStyle/>
                    <a:p>
                      <a:r>
                        <a:rPr sz="1350" b="0" i="0">
                          <a:solidFill>
                            <a:srgbClr val="14213D"/>
                          </a:solidFill>
                          <a:latin typeface="Segoe UI"/>
                        </a:rPr>
                        <a:t>85 818 650</a:t>
                      </a:r>
                    </a:p>
                  </a:txBody>
                  <a:tcPr marL="127000" marR="127000" marT="25400" marB="25400" anchor="ctr">
                    <a:solidFill>
                      <a:srgbClr val="FFFFFF"/>
                    </a:solidFill>
                  </a:tcPr>
                </a:tc>
                <a:tc>
                  <a:txBody>
                    <a:bodyPr/>
                    <a:lstStyle/>
                    <a:p>
                      <a:r>
                        <a:rPr sz="1350" b="0" i="0">
                          <a:solidFill>
                            <a:srgbClr val="14213D"/>
                          </a:solidFill>
                          <a:latin typeface="Segoe UI"/>
                        </a:rPr>
                        <a:t>8.0 min</a:t>
                      </a:r>
                    </a:p>
                  </a:txBody>
                  <a:tcPr marL="127000" marR="127000" marT="25400" marB="25400" anchor="ctr">
                    <a:solidFill>
                      <a:srgbClr val="FFFFFF"/>
                    </a:solidFill>
                  </a:tcPr>
                </a:tc>
                <a:extLst>
                  <a:ext uri="{0D108BD9-81ED-4DB2-BD59-A6C34878D82A}">
                    <a16:rowId xmlns:a16="http://schemas.microsoft.com/office/drawing/2014/main" val="10005"/>
                  </a:ext>
                </a:extLst>
              </a:tr>
            </a:tbl>
          </a:graphicData>
        </a:graphic>
      </p:graphicFrame>
      <p:sp>
        <p:nvSpPr>
          <p:cNvPr id="11" name="Rounded Rectangle 10"/>
          <p:cNvSpPr/>
          <p:nvPr/>
        </p:nvSpPr>
        <p:spPr>
          <a:xfrm>
            <a:off x="640080" y="4343400"/>
            <a:ext cx="10911535" cy="521207"/>
          </a:xfrm>
          <a:prstGeom prst="roundRect">
            <a:avLst>
              <a:gd name="adj" fmla="val 21052"/>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Oval 11"/>
          <p:cNvSpPr/>
          <p:nvPr/>
        </p:nvSpPr>
        <p:spPr>
          <a:xfrm>
            <a:off x="841247" y="4434840"/>
            <a:ext cx="338327" cy="338327"/>
          </a:xfrm>
          <a:prstGeom prst="ellipse">
            <a:avLst/>
          </a:prstGeom>
          <a:solidFill>
            <a:srgbClr val="E2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41247" y="4434840"/>
            <a:ext cx="338327" cy="338327"/>
          </a:xfrm>
          <a:prstGeom prst="rect">
            <a:avLst/>
          </a:prstGeom>
          <a:noFill/>
        </p:spPr>
        <p:txBody>
          <a:bodyPr wrap="square" lIns="18288" rIns="18288" anchor="ctr">
            <a:spAutoFit/>
          </a:bodyPr>
          <a:lstStyle/>
          <a:p>
            <a:pPr algn="ctr"/>
            <a:r>
              <a:rPr sz="1200" b="1" i="0">
                <a:solidFill>
                  <a:srgbClr val="0F7C74"/>
                </a:solidFill>
                <a:latin typeface="Segoe UI Semibold"/>
              </a:rPr>
              <a:t>1</a:t>
            </a:r>
          </a:p>
        </p:txBody>
      </p:sp>
      <p:sp>
        <p:nvSpPr>
          <p:cNvPr id="14" name="TextBox 13"/>
          <p:cNvSpPr txBox="1"/>
          <p:nvPr/>
        </p:nvSpPr>
        <p:spPr>
          <a:xfrm>
            <a:off x="1380743" y="4343400"/>
            <a:ext cx="9987991" cy="521207"/>
          </a:xfrm>
          <a:prstGeom prst="rect">
            <a:avLst/>
          </a:prstGeom>
          <a:noFill/>
        </p:spPr>
        <p:txBody>
          <a:bodyPr wrap="square" anchor="ctr">
            <a:spAutoFit/>
          </a:bodyPr>
          <a:lstStyle/>
          <a:p>
            <a:r>
              <a:rPr sz="1400" b="0" i="0">
                <a:solidFill>
                  <a:srgbClr val="14213D"/>
                </a:solidFill>
                <a:latin typeface="Segoe UI"/>
              </a:rPr>
              <a:t>Model chosen on </a:t>
            </a:r>
            <a:r>
              <a:rPr sz="1400" b="1" i="0">
                <a:solidFill>
                  <a:srgbClr val="0F7C74"/>
                </a:solidFill>
                <a:latin typeface="Segoe UI"/>
              </a:rPr>
              <a:t>val</a:t>
            </a:r>
            <a:r>
              <a:rPr sz="1400" b="0" i="0">
                <a:solidFill>
                  <a:srgbClr val="14213D"/>
                </a:solidFill>
                <a:latin typeface="Segoe UI"/>
              </a:rPr>
              <a:t>; test read </a:t>
            </a:r>
            <a:r>
              <a:rPr sz="1400" b="1" i="0">
                <a:solidFill>
                  <a:srgbClr val="0F7C74"/>
                </a:solidFill>
                <a:latin typeface="Segoe UI"/>
              </a:rPr>
              <a:t>once</a:t>
            </a:r>
            <a:r>
              <a:rPr sz="1400" b="0" i="0">
                <a:solidFill>
                  <a:srgbClr val="14213D"/>
                </a:solidFill>
                <a:latin typeface="Segoe UI"/>
              </a:rPr>
              <a:t> per run</a:t>
            </a:r>
          </a:p>
        </p:txBody>
      </p:sp>
      <p:sp>
        <p:nvSpPr>
          <p:cNvPr id="15" name="Rounded Rectangle 14"/>
          <p:cNvSpPr/>
          <p:nvPr/>
        </p:nvSpPr>
        <p:spPr>
          <a:xfrm>
            <a:off x="640080" y="4974336"/>
            <a:ext cx="10911535" cy="521207"/>
          </a:xfrm>
          <a:prstGeom prst="roundRect">
            <a:avLst>
              <a:gd name="adj" fmla="val 21052"/>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841247" y="5065775"/>
            <a:ext cx="338327" cy="338327"/>
          </a:xfrm>
          <a:prstGeom prst="ellipse">
            <a:avLst/>
          </a:prstGeom>
          <a:solidFill>
            <a:srgbClr val="E2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841247" y="5065775"/>
            <a:ext cx="338327" cy="338327"/>
          </a:xfrm>
          <a:prstGeom prst="rect">
            <a:avLst/>
          </a:prstGeom>
          <a:noFill/>
        </p:spPr>
        <p:txBody>
          <a:bodyPr wrap="square" lIns="18288" rIns="18288" anchor="ctr">
            <a:spAutoFit/>
          </a:bodyPr>
          <a:lstStyle/>
          <a:p>
            <a:pPr algn="ctr"/>
            <a:r>
              <a:rPr sz="1200" b="1" i="0">
                <a:solidFill>
                  <a:srgbClr val="0F7C74"/>
                </a:solidFill>
                <a:latin typeface="Segoe UI Semibold"/>
              </a:rPr>
              <a:t>2</a:t>
            </a:r>
          </a:p>
        </p:txBody>
      </p:sp>
      <p:sp>
        <p:nvSpPr>
          <p:cNvPr id="18" name="TextBox 17"/>
          <p:cNvSpPr txBox="1"/>
          <p:nvPr/>
        </p:nvSpPr>
        <p:spPr>
          <a:xfrm>
            <a:off x="1380743" y="4974336"/>
            <a:ext cx="9987991" cy="521207"/>
          </a:xfrm>
          <a:prstGeom prst="rect">
            <a:avLst/>
          </a:prstGeom>
          <a:noFill/>
        </p:spPr>
        <p:txBody>
          <a:bodyPr wrap="square" anchor="ctr">
            <a:spAutoFit/>
          </a:bodyPr>
          <a:lstStyle/>
          <a:p>
            <a:r>
              <a:rPr sz="1400" b="0" i="0">
                <a:solidFill>
                  <a:srgbClr val="14213D"/>
                </a:solidFill>
                <a:latin typeface="Segoe UI"/>
              </a:rPr>
              <a:t>Clean subset = the 491 crops with no shared source photo — accuracy is </a:t>
            </a:r>
            <a:r>
              <a:rPr sz="1400" b="0" i="1">
                <a:solidFill>
                  <a:srgbClr val="14213D"/>
                </a:solidFill>
                <a:latin typeface="Segoe UI"/>
              </a:rPr>
              <a:t>higher</a:t>
            </a:r>
            <a:r>
              <a:rPr sz="1400" b="0" i="0">
                <a:solidFill>
                  <a:srgbClr val="14213D"/>
                </a:solidFill>
                <a:latin typeface="Segoe UI"/>
              </a:rPr>
              <a:t>, so the leak did not inflate anything</a:t>
            </a:r>
          </a:p>
        </p:txBody>
      </p:sp>
      <p:sp>
        <p:nvSpPr>
          <p:cNvPr id="19" name="Rounded Rectangle 18"/>
          <p:cNvSpPr/>
          <p:nvPr/>
        </p:nvSpPr>
        <p:spPr>
          <a:xfrm>
            <a:off x="640080" y="5605272"/>
            <a:ext cx="10911535" cy="521207"/>
          </a:xfrm>
          <a:prstGeom prst="roundRect">
            <a:avLst>
              <a:gd name="adj" fmla="val 21052"/>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val 19"/>
          <p:cNvSpPr/>
          <p:nvPr/>
        </p:nvSpPr>
        <p:spPr>
          <a:xfrm>
            <a:off x="841247" y="5696712"/>
            <a:ext cx="338327" cy="338327"/>
          </a:xfrm>
          <a:prstGeom prst="ellipse">
            <a:avLst/>
          </a:prstGeom>
          <a:solidFill>
            <a:srgbClr val="E2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841247" y="5696712"/>
            <a:ext cx="338327" cy="338327"/>
          </a:xfrm>
          <a:prstGeom prst="rect">
            <a:avLst/>
          </a:prstGeom>
          <a:noFill/>
        </p:spPr>
        <p:txBody>
          <a:bodyPr wrap="square" lIns="18288" rIns="18288" anchor="ctr">
            <a:spAutoFit/>
          </a:bodyPr>
          <a:lstStyle/>
          <a:p>
            <a:pPr algn="ctr"/>
            <a:r>
              <a:rPr sz="1200" b="1" i="0">
                <a:solidFill>
                  <a:srgbClr val="0F7C74"/>
                </a:solidFill>
                <a:latin typeface="Segoe UI Semibold"/>
              </a:rPr>
              <a:t>3</a:t>
            </a:r>
          </a:p>
        </p:txBody>
      </p:sp>
      <p:sp>
        <p:nvSpPr>
          <p:cNvPr id="22" name="TextBox 21"/>
          <p:cNvSpPr txBox="1"/>
          <p:nvPr/>
        </p:nvSpPr>
        <p:spPr>
          <a:xfrm>
            <a:off x="1380743" y="5605272"/>
            <a:ext cx="9987991" cy="521207"/>
          </a:xfrm>
          <a:prstGeom prst="rect">
            <a:avLst/>
          </a:prstGeom>
          <a:noFill/>
        </p:spPr>
        <p:txBody>
          <a:bodyPr wrap="square" anchor="ctr">
            <a:spAutoFit/>
          </a:bodyPr>
          <a:lstStyle/>
          <a:p>
            <a:r>
              <a:rPr sz="1400" b="0" i="0">
                <a:solidFill>
                  <a:srgbClr val="14213D"/>
                </a:solidFill>
                <a:latin typeface="Segoe UI"/>
              </a:rPr>
              <a:t>All runs: 40 epochs, batch 32, seed 42, Colab T4</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ounded Rectangle 2"/>
          <p:cNvSpPr/>
          <p:nvPr/>
        </p:nvSpPr>
        <p:spPr>
          <a:xfrm>
            <a:off x="640080" y="384048"/>
            <a:ext cx="1920240" cy="292608"/>
          </a:xfrm>
          <a:prstGeom prst="roundRect">
            <a:avLst>
              <a:gd name="adj" fmla="val 50000"/>
            </a:avLst>
          </a:prstGeom>
          <a:solidFill>
            <a:srgbClr val="E2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640080" y="384048"/>
            <a:ext cx="1920240" cy="292608"/>
          </a:xfrm>
          <a:prstGeom prst="rect">
            <a:avLst/>
          </a:prstGeom>
          <a:noFill/>
        </p:spPr>
        <p:txBody>
          <a:bodyPr wrap="square" lIns="18288" rIns="18288" anchor="ctr">
            <a:spAutoFit/>
          </a:bodyPr>
          <a:lstStyle/>
          <a:p>
            <a:pPr algn="ctr"/>
            <a:r>
              <a:rPr sz="1050" b="1" i="0" spc="120">
                <a:solidFill>
                  <a:srgbClr val="0F7C74"/>
                </a:solidFill>
                <a:latin typeface="Segoe UI"/>
              </a:rPr>
              <a:t>APPENDIX  ·  A2</a:t>
            </a:r>
          </a:p>
        </p:txBody>
      </p:sp>
      <p:pic>
        <p:nvPicPr>
          <p:cNvPr id="5" name="Picture 4" descr="kit_logo.png"/>
          <p:cNvPicPr>
            <a:picLocks noChangeAspect="1"/>
          </p:cNvPicPr>
          <p:nvPr/>
        </p:nvPicPr>
        <p:blipFill>
          <a:blip r:embed="rId2"/>
          <a:stretch>
            <a:fillRect/>
          </a:stretch>
        </p:blipFill>
        <p:spPr>
          <a:xfrm>
            <a:off x="10929823" y="320040"/>
            <a:ext cx="621792" cy="621792"/>
          </a:xfrm>
          <a:prstGeom prst="rect">
            <a:avLst/>
          </a:prstGeom>
        </p:spPr>
      </p:pic>
      <p:sp>
        <p:nvSpPr>
          <p:cNvPr id="6" name="TextBox 5"/>
          <p:cNvSpPr txBox="1"/>
          <p:nvPr/>
        </p:nvSpPr>
        <p:spPr>
          <a:xfrm>
            <a:off x="621792" y="731520"/>
            <a:ext cx="9997135" cy="685800"/>
          </a:xfrm>
          <a:prstGeom prst="rect">
            <a:avLst/>
          </a:prstGeom>
          <a:noFill/>
        </p:spPr>
        <p:txBody>
          <a:bodyPr wrap="square" lIns="18288" rIns="18288" anchor="ctr">
            <a:spAutoFit/>
          </a:bodyPr>
          <a:lstStyle/>
          <a:p>
            <a:pPr algn="l"/>
            <a:r>
              <a:rPr sz="3000" b="0" i="0">
                <a:solidFill>
                  <a:srgbClr val="14213D"/>
                </a:solidFill>
                <a:latin typeface="Segoe UI Semibold"/>
              </a:rPr>
              <a:t>Is the A–C difference real?</a:t>
            </a:r>
          </a:p>
        </p:txBody>
      </p:sp>
      <p:sp>
        <p:nvSpPr>
          <p:cNvPr id="7" name="Rectangle 6"/>
          <p:cNvSpPr/>
          <p:nvPr/>
        </p:nvSpPr>
        <p:spPr>
          <a:xfrm>
            <a:off x="640080" y="6601968"/>
            <a:ext cx="10088575"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640080" y="6336792"/>
            <a:ext cx="5486400" cy="237744"/>
          </a:xfrm>
          <a:prstGeom prst="rect">
            <a:avLst/>
          </a:prstGeom>
          <a:noFill/>
        </p:spPr>
        <p:txBody>
          <a:bodyPr wrap="square" lIns="18288" rIns="18288" anchor="t">
            <a:spAutoFit/>
          </a:bodyPr>
          <a:lstStyle/>
          <a:p>
            <a:pPr algn="l"/>
            <a:r>
              <a:rPr sz="850" b="0" i="0">
                <a:solidFill>
                  <a:srgbClr val="6B7280"/>
                </a:solidFill>
                <a:latin typeface="Segoe UI"/>
              </a:rPr>
              <a:t>Appendix  ·  So Sereysokbotra</a:t>
            </a:r>
          </a:p>
        </p:txBody>
      </p:sp>
      <p:sp>
        <p:nvSpPr>
          <p:cNvPr id="9" name="TextBox 8"/>
          <p:cNvSpPr txBox="1"/>
          <p:nvPr/>
        </p:nvSpPr>
        <p:spPr>
          <a:xfrm>
            <a:off x="10820095" y="6373368"/>
            <a:ext cx="731520" cy="274320"/>
          </a:xfrm>
          <a:prstGeom prst="rect">
            <a:avLst/>
          </a:prstGeom>
          <a:noFill/>
        </p:spPr>
        <p:txBody>
          <a:bodyPr wrap="square" lIns="18288" rIns="18288" anchor="t">
            <a:spAutoFit/>
          </a:bodyPr>
          <a:lstStyle/>
          <a:p>
            <a:pPr algn="r"/>
            <a:r>
              <a:rPr sz="1100" b="1" i="0">
                <a:solidFill>
                  <a:srgbClr val="0F7C74"/>
                </a:solidFill>
                <a:latin typeface="Segoe UI Semibold"/>
              </a:rPr>
              <a:t>A2</a:t>
            </a:r>
          </a:p>
        </p:txBody>
      </p:sp>
      <p:sp>
        <p:nvSpPr>
          <p:cNvPr id="10" name="TextBox 9"/>
          <p:cNvSpPr txBox="1"/>
          <p:nvPr/>
        </p:nvSpPr>
        <p:spPr>
          <a:xfrm>
            <a:off x="640080" y="1572768"/>
            <a:ext cx="5486400" cy="457200"/>
          </a:xfrm>
          <a:prstGeom prst="rect">
            <a:avLst/>
          </a:prstGeom>
          <a:noFill/>
        </p:spPr>
        <p:txBody>
          <a:bodyPr wrap="square">
            <a:spAutoFit/>
          </a:bodyPr>
          <a:lstStyle/>
          <a:p>
            <a:pPr algn="l"/>
            <a:r>
              <a:rPr sz="1500" b="1" i="0">
                <a:solidFill>
                  <a:srgbClr val="0F7C74"/>
                </a:solidFill>
                <a:latin typeface="Segoe UI"/>
              </a:rPr>
              <a:t>McNemar exact test</a:t>
            </a:r>
            <a:r>
              <a:rPr sz="1500" b="0" i="0">
                <a:solidFill>
                  <a:srgbClr val="14213D"/>
                </a:solidFill>
                <a:latin typeface="Segoe UI"/>
              </a:rPr>
              <a:t>, paired on the same 567 crops</a:t>
            </a:r>
          </a:p>
        </p:txBody>
      </p:sp>
      <p:graphicFrame>
        <p:nvGraphicFramePr>
          <p:cNvPr id="11" name="Table 10"/>
          <p:cNvGraphicFramePr>
            <a:graphicFrameLocks noGrp="1"/>
          </p:cNvGraphicFramePr>
          <p:nvPr/>
        </p:nvGraphicFramePr>
        <p:xfrm>
          <a:off x="640080" y="2011680"/>
          <a:ext cx="4754880" cy="1536192"/>
        </p:xfrm>
        <a:graphic>
          <a:graphicData uri="http://schemas.openxmlformats.org/drawingml/2006/table">
            <a:tbl>
              <a:tblPr>
                <a:tableStyleId>{5C22544A-7EE6-4342-B048-85BDC9FD1C3A}</a:tableStyleId>
              </a:tblPr>
              <a:tblGrid>
                <a:gridCol w="164592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tblGrid>
              <a:tr h="512064">
                <a:tc>
                  <a:txBody>
                    <a:bodyPr/>
                    <a:lstStyle/>
                    <a:p>
                      <a:endParaRPr/>
                    </a:p>
                  </a:txBody>
                  <a:tcPr marL="127000" marR="127000" marT="25400" marB="25400" anchor="ctr">
                    <a:solidFill>
                      <a:srgbClr val="14213D"/>
                    </a:solidFill>
                  </a:tcPr>
                </a:tc>
                <a:tc>
                  <a:txBody>
                    <a:bodyPr/>
                    <a:lstStyle/>
                    <a:p>
                      <a:r>
                        <a:rPr sz="1224" b="1" i="0" spc="80">
                          <a:solidFill>
                            <a:srgbClr val="FFFFFF"/>
                          </a:solidFill>
                          <a:latin typeface="Segoe UI"/>
                        </a:rPr>
                        <a:t>C RIGHT</a:t>
                      </a:r>
                    </a:p>
                  </a:txBody>
                  <a:tcPr marL="127000" marR="127000" marT="25400" marB="25400" anchor="ctr">
                    <a:solidFill>
                      <a:srgbClr val="14213D"/>
                    </a:solidFill>
                  </a:tcPr>
                </a:tc>
                <a:tc>
                  <a:txBody>
                    <a:bodyPr/>
                    <a:lstStyle/>
                    <a:p>
                      <a:r>
                        <a:rPr sz="1224" b="1" i="0" spc="80">
                          <a:solidFill>
                            <a:srgbClr val="FFFFFF"/>
                          </a:solidFill>
                          <a:latin typeface="Segoe UI"/>
                        </a:rPr>
                        <a:t>C WRONG</a:t>
                      </a:r>
                    </a:p>
                  </a:txBody>
                  <a:tcPr marL="127000" marR="127000" marT="25400" marB="25400" anchor="ctr">
                    <a:solidFill>
                      <a:srgbClr val="14213D"/>
                    </a:solidFill>
                  </a:tcPr>
                </a:tc>
                <a:extLst>
                  <a:ext uri="{0D108BD9-81ED-4DB2-BD59-A6C34878D82A}">
                    <a16:rowId xmlns:a16="http://schemas.microsoft.com/office/drawing/2014/main" val="10000"/>
                  </a:ext>
                </a:extLst>
              </a:tr>
              <a:tr h="512064">
                <a:tc>
                  <a:txBody>
                    <a:bodyPr/>
                    <a:lstStyle/>
                    <a:p>
                      <a:r>
                        <a:rPr sz="1700" b="1" i="0">
                          <a:solidFill>
                            <a:srgbClr val="14213D"/>
                          </a:solidFill>
                          <a:latin typeface="Segoe UI Semibold"/>
                        </a:rPr>
                        <a:t>A right</a:t>
                      </a:r>
                    </a:p>
                  </a:txBody>
                  <a:tcPr marL="127000" marR="127000" marT="25400" marB="25400" anchor="ctr">
                    <a:solidFill>
                      <a:srgbClr val="FFFFFF"/>
                    </a:solidFill>
                  </a:tcPr>
                </a:tc>
                <a:tc>
                  <a:txBody>
                    <a:bodyPr/>
                    <a:lstStyle/>
                    <a:p>
                      <a:r>
                        <a:rPr sz="1700" b="0" i="0">
                          <a:solidFill>
                            <a:srgbClr val="14213D"/>
                          </a:solidFill>
                          <a:latin typeface="Segoe UI"/>
                        </a:rPr>
                        <a:t>512</a:t>
                      </a:r>
                    </a:p>
                  </a:txBody>
                  <a:tcPr marL="127000" marR="127000" marT="25400" marB="25400" anchor="ctr">
                    <a:solidFill>
                      <a:srgbClr val="FFFFFF"/>
                    </a:solidFill>
                  </a:tcPr>
                </a:tc>
                <a:tc>
                  <a:txBody>
                    <a:bodyPr/>
                    <a:lstStyle/>
                    <a:p>
                      <a:r>
                        <a:rPr sz="1700" b="0" i="0">
                          <a:solidFill>
                            <a:srgbClr val="14213D"/>
                          </a:solidFill>
                          <a:latin typeface="Segoe UI"/>
                        </a:rPr>
                        <a:t>17</a:t>
                      </a:r>
                    </a:p>
                  </a:txBody>
                  <a:tcPr marL="127000" marR="127000" marT="25400" marB="25400" anchor="ctr">
                    <a:solidFill>
                      <a:srgbClr val="FFFFFF"/>
                    </a:solidFill>
                  </a:tcPr>
                </a:tc>
                <a:extLst>
                  <a:ext uri="{0D108BD9-81ED-4DB2-BD59-A6C34878D82A}">
                    <a16:rowId xmlns:a16="http://schemas.microsoft.com/office/drawing/2014/main" val="10001"/>
                  </a:ext>
                </a:extLst>
              </a:tr>
              <a:tr h="512064">
                <a:tc>
                  <a:txBody>
                    <a:bodyPr/>
                    <a:lstStyle/>
                    <a:p>
                      <a:r>
                        <a:rPr sz="1700" b="1" i="0">
                          <a:solidFill>
                            <a:srgbClr val="14213D"/>
                          </a:solidFill>
                          <a:latin typeface="Segoe UI Semibold"/>
                        </a:rPr>
                        <a:t>A wrong</a:t>
                      </a:r>
                    </a:p>
                  </a:txBody>
                  <a:tcPr marL="127000" marR="127000" marT="25400" marB="25400" anchor="ctr">
                    <a:solidFill>
                      <a:srgbClr val="F8FAFC"/>
                    </a:solidFill>
                  </a:tcPr>
                </a:tc>
                <a:tc>
                  <a:txBody>
                    <a:bodyPr/>
                    <a:lstStyle/>
                    <a:p>
                      <a:r>
                        <a:rPr sz="1700" b="0" i="0">
                          <a:solidFill>
                            <a:srgbClr val="14213D"/>
                          </a:solidFill>
                          <a:latin typeface="Segoe UI"/>
                        </a:rPr>
                        <a:t>21</a:t>
                      </a:r>
                    </a:p>
                  </a:txBody>
                  <a:tcPr marL="127000" marR="127000" marT="25400" marB="25400" anchor="ctr">
                    <a:solidFill>
                      <a:srgbClr val="F8FAFC"/>
                    </a:solidFill>
                  </a:tcPr>
                </a:tc>
                <a:tc>
                  <a:txBody>
                    <a:bodyPr/>
                    <a:lstStyle/>
                    <a:p>
                      <a:r>
                        <a:rPr sz="1700" b="0" i="0">
                          <a:solidFill>
                            <a:srgbClr val="14213D"/>
                          </a:solidFill>
                          <a:latin typeface="Segoe UI"/>
                        </a:rPr>
                        <a:t>17</a:t>
                      </a:r>
                    </a:p>
                  </a:txBody>
                  <a:tcPr marL="127000" marR="127000" marT="25400" marB="25400" anchor="ctr">
                    <a:solidFill>
                      <a:srgbClr val="F8FAFC"/>
                    </a:solidFill>
                  </a:tcPr>
                </a:tc>
                <a:extLst>
                  <a:ext uri="{0D108BD9-81ED-4DB2-BD59-A6C34878D82A}">
                    <a16:rowId xmlns:a16="http://schemas.microsoft.com/office/drawing/2014/main" val="10002"/>
                  </a:ext>
                </a:extLst>
              </a:tr>
            </a:tbl>
          </a:graphicData>
        </a:graphic>
      </p:graphicFrame>
      <p:sp>
        <p:nvSpPr>
          <p:cNvPr id="12" name="Rounded Rectangle 11"/>
          <p:cNvSpPr/>
          <p:nvPr/>
        </p:nvSpPr>
        <p:spPr>
          <a:xfrm>
            <a:off x="640080" y="3840480"/>
            <a:ext cx="4754880" cy="682752"/>
          </a:xfrm>
          <a:prstGeom prst="roundRect">
            <a:avLst>
              <a:gd name="adj" fmla="val 16071"/>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Oval 12"/>
          <p:cNvSpPr/>
          <p:nvPr/>
        </p:nvSpPr>
        <p:spPr>
          <a:xfrm>
            <a:off x="841247" y="3971544"/>
            <a:ext cx="420624" cy="420624"/>
          </a:xfrm>
          <a:prstGeom prst="ellipse">
            <a:avLst/>
          </a:prstGeom>
          <a:solidFill>
            <a:srgbClr val="E2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841247" y="3971544"/>
            <a:ext cx="420624" cy="420624"/>
          </a:xfrm>
          <a:prstGeom prst="rect">
            <a:avLst/>
          </a:prstGeom>
          <a:noFill/>
        </p:spPr>
        <p:txBody>
          <a:bodyPr wrap="square" lIns="18288" rIns="18288" anchor="ctr">
            <a:spAutoFit/>
          </a:bodyPr>
          <a:lstStyle/>
          <a:p>
            <a:pPr algn="ctr"/>
            <a:r>
              <a:rPr sz="1300" b="1" i="0">
                <a:solidFill>
                  <a:srgbClr val="0F7C74"/>
                </a:solidFill>
                <a:latin typeface="Segoe UI Semibold"/>
              </a:rPr>
              <a:t>1</a:t>
            </a:r>
          </a:p>
        </p:txBody>
      </p:sp>
      <p:sp>
        <p:nvSpPr>
          <p:cNvPr id="15" name="TextBox 14"/>
          <p:cNvSpPr txBox="1"/>
          <p:nvPr/>
        </p:nvSpPr>
        <p:spPr>
          <a:xfrm>
            <a:off x="1463039" y="3840480"/>
            <a:ext cx="3749040" cy="682752"/>
          </a:xfrm>
          <a:prstGeom prst="rect">
            <a:avLst/>
          </a:prstGeom>
          <a:noFill/>
        </p:spPr>
        <p:txBody>
          <a:bodyPr wrap="square" anchor="ctr">
            <a:spAutoFit/>
          </a:bodyPr>
          <a:lstStyle/>
          <a:p>
            <a:r>
              <a:rPr sz="1500" b="0" i="0">
                <a:solidFill>
                  <a:srgbClr val="14213D"/>
                </a:solidFill>
                <a:latin typeface="Segoe UI"/>
              </a:rPr>
              <a:t>38 discordant pairs → </a:t>
            </a:r>
            <a:r>
              <a:rPr sz="1500" b="1" i="0">
                <a:solidFill>
                  <a:srgbClr val="0F7C74"/>
                </a:solidFill>
                <a:latin typeface="Segoe UI"/>
              </a:rPr>
              <a:t>p = 0.627</a:t>
            </a:r>
          </a:p>
        </p:txBody>
      </p:sp>
      <p:sp>
        <p:nvSpPr>
          <p:cNvPr id="16" name="Rounded Rectangle 15"/>
          <p:cNvSpPr/>
          <p:nvPr/>
        </p:nvSpPr>
        <p:spPr>
          <a:xfrm>
            <a:off x="640080" y="4642104"/>
            <a:ext cx="4754880" cy="682752"/>
          </a:xfrm>
          <a:prstGeom prst="roundRect">
            <a:avLst>
              <a:gd name="adj" fmla="val 16071"/>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Oval 16"/>
          <p:cNvSpPr/>
          <p:nvPr/>
        </p:nvSpPr>
        <p:spPr>
          <a:xfrm>
            <a:off x="841247" y="4773168"/>
            <a:ext cx="420624" cy="420624"/>
          </a:xfrm>
          <a:prstGeom prst="ellipse">
            <a:avLst/>
          </a:prstGeom>
          <a:solidFill>
            <a:srgbClr val="E2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841247" y="4773168"/>
            <a:ext cx="420624" cy="420624"/>
          </a:xfrm>
          <a:prstGeom prst="rect">
            <a:avLst/>
          </a:prstGeom>
          <a:noFill/>
        </p:spPr>
        <p:txBody>
          <a:bodyPr wrap="square" lIns="18288" rIns="18288" anchor="ctr">
            <a:spAutoFit/>
          </a:bodyPr>
          <a:lstStyle/>
          <a:p>
            <a:pPr algn="ctr"/>
            <a:r>
              <a:rPr sz="1300" b="1" i="0">
                <a:solidFill>
                  <a:srgbClr val="0F7C74"/>
                </a:solidFill>
                <a:latin typeface="Segoe UI Semibold"/>
              </a:rPr>
              <a:t>2</a:t>
            </a:r>
          </a:p>
        </p:txBody>
      </p:sp>
      <p:sp>
        <p:nvSpPr>
          <p:cNvPr id="19" name="TextBox 18"/>
          <p:cNvSpPr txBox="1"/>
          <p:nvPr/>
        </p:nvSpPr>
        <p:spPr>
          <a:xfrm>
            <a:off x="1463039" y="4642104"/>
            <a:ext cx="3749040" cy="682752"/>
          </a:xfrm>
          <a:prstGeom prst="rect">
            <a:avLst/>
          </a:prstGeom>
          <a:noFill/>
        </p:spPr>
        <p:txBody>
          <a:bodyPr wrap="square" anchor="ctr">
            <a:spAutoFit/>
          </a:bodyPr>
          <a:lstStyle/>
          <a:p>
            <a:r>
              <a:rPr sz="1500" b="1" i="0">
                <a:solidFill>
                  <a:srgbClr val="0F7C74"/>
                </a:solidFill>
                <a:latin typeface="Segoe UI"/>
              </a:rPr>
              <a:t>Not significant</a:t>
            </a:r>
            <a:r>
              <a:rPr sz="1500" b="0" i="0">
                <a:solidFill>
                  <a:srgbClr val="14213D"/>
                </a:solidFill>
                <a:latin typeface="Segoe UI"/>
              </a:rPr>
              <a:t> — A and C are a tie</a:t>
            </a:r>
          </a:p>
        </p:txBody>
      </p:sp>
      <p:sp>
        <p:nvSpPr>
          <p:cNvPr id="20" name="Rounded Rectangle 19"/>
          <p:cNvSpPr/>
          <p:nvPr/>
        </p:nvSpPr>
        <p:spPr>
          <a:xfrm>
            <a:off x="640080" y="5443728"/>
            <a:ext cx="4754880" cy="682752"/>
          </a:xfrm>
          <a:prstGeom prst="roundRect">
            <a:avLst>
              <a:gd name="adj" fmla="val 16071"/>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Oval 20"/>
          <p:cNvSpPr/>
          <p:nvPr/>
        </p:nvSpPr>
        <p:spPr>
          <a:xfrm>
            <a:off x="841247" y="5574792"/>
            <a:ext cx="420624" cy="420624"/>
          </a:xfrm>
          <a:prstGeom prst="ellipse">
            <a:avLst/>
          </a:prstGeom>
          <a:solidFill>
            <a:srgbClr val="E2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841247" y="5574792"/>
            <a:ext cx="420624" cy="420624"/>
          </a:xfrm>
          <a:prstGeom prst="rect">
            <a:avLst/>
          </a:prstGeom>
          <a:noFill/>
        </p:spPr>
        <p:txBody>
          <a:bodyPr wrap="square" lIns="18288" rIns="18288" anchor="ctr">
            <a:spAutoFit/>
          </a:bodyPr>
          <a:lstStyle/>
          <a:p>
            <a:pPr algn="ctr"/>
            <a:r>
              <a:rPr sz="1300" b="1" i="0">
                <a:solidFill>
                  <a:srgbClr val="0F7C74"/>
                </a:solidFill>
                <a:latin typeface="Segoe UI Semibold"/>
              </a:rPr>
              <a:t>3</a:t>
            </a:r>
          </a:p>
        </p:txBody>
      </p:sp>
      <p:sp>
        <p:nvSpPr>
          <p:cNvPr id="23" name="TextBox 22"/>
          <p:cNvSpPr txBox="1"/>
          <p:nvPr/>
        </p:nvSpPr>
        <p:spPr>
          <a:xfrm>
            <a:off x="1463039" y="5443728"/>
            <a:ext cx="3749040" cy="682752"/>
          </a:xfrm>
          <a:prstGeom prst="rect">
            <a:avLst/>
          </a:prstGeom>
          <a:noFill/>
        </p:spPr>
        <p:txBody>
          <a:bodyPr wrap="square" anchor="ctr">
            <a:spAutoFit/>
          </a:bodyPr>
          <a:lstStyle/>
          <a:p>
            <a:r>
              <a:rPr sz="1500" b="0" i="0">
                <a:solidFill>
                  <a:srgbClr val="14213D"/>
                </a:solidFill>
                <a:latin typeface="Segoe UI"/>
              </a:rPr>
              <a:t>I do not claim a winner between them</a:t>
            </a:r>
          </a:p>
        </p:txBody>
      </p:sp>
      <p:sp>
        <p:nvSpPr>
          <p:cNvPr id="24" name="TextBox 23"/>
          <p:cNvSpPr txBox="1"/>
          <p:nvPr/>
        </p:nvSpPr>
        <p:spPr>
          <a:xfrm>
            <a:off x="5852160" y="1572768"/>
            <a:ext cx="5669280" cy="457200"/>
          </a:xfrm>
          <a:prstGeom prst="rect">
            <a:avLst/>
          </a:prstGeom>
          <a:noFill/>
        </p:spPr>
        <p:txBody>
          <a:bodyPr wrap="square">
            <a:spAutoFit/>
          </a:bodyPr>
          <a:lstStyle/>
          <a:p>
            <a:pPr algn="l"/>
            <a:r>
              <a:rPr sz="1500" b="1" i="0">
                <a:solidFill>
                  <a:srgbClr val="0F7C74"/>
                </a:solidFill>
                <a:latin typeface="Segoe UI"/>
              </a:rPr>
              <a:t>95 % Wilson confidence intervals</a:t>
            </a:r>
            <a:r>
              <a:rPr sz="1500" b="0" i="0">
                <a:solidFill>
                  <a:srgbClr val="14213D"/>
                </a:solidFill>
                <a:latin typeface="Segoe UI"/>
              </a:rPr>
              <a:t> (n = 567)</a:t>
            </a:r>
          </a:p>
        </p:txBody>
      </p:sp>
      <p:graphicFrame>
        <p:nvGraphicFramePr>
          <p:cNvPr id="25" name="Table 24"/>
          <p:cNvGraphicFramePr>
            <a:graphicFrameLocks noGrp="1"/>
          </p:cNvGraphicFramePr>
          <p:nvPr/>
        </p:nvGraphicFramePr>
        <p:xfrm>
          <a:off x="5852160" y="1920240"/>
          <a:ext cx="5696712" cy="2414016"/>
        </p:xfrm>
        <a:graphic>
          <a:graphicData uri="http://schemas.openxmlformats.org/drawingml/2006/table">
            <a:tbl>
              <a:tblPr>
                <a:tableStyleId>{5C22544A-7EE6-4342-B048-85BDC9FD1C3A}</a:tableStyleId>
              </a:tblPr>
              <a:tblGrid>
                <a:gridCol w="137160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947672">
                  <a:extLst>
                    <a:ext uri="{9D8B030D-6E8A-4147-A177-3AD203B41FA5}">
                      <a16:colId xmlns:a16="http://schemas.microsoft.com/office/drawing/2014/main" val="20002"/>
                    </a:ext>
                  </a:extLst>
                </a:gridCol>
                <a:gridCol w="1097280">
                  <a:extLst>
                    <a:ext uri="{9D8B030D-6E8A-4147-A177-3AD203B41FA5}">
                      <a16:colId xmlns:a16="http://schemas.microsoft.com/office/drawing/2014/main" val="20003"/>
                    </a:ext>
                  </a:extLst>
                </a:gridCol>
              </a:tblGrid>
              <a:tr h="402336">
                <a:tc>
                  <a:txBody>
                    <a:bodyPr/>
                    <a:lstStyle/>
                    <a:p>
                      <a:r>
                        <a:rPr sz="1008" b="1" i="0" spc="80">
                          <a:solidFill>
                            <a:srgbClr val="FFFFFF"/>
                          </a:solidFill>
                          <a:latin typeface="Segoe UI"/>
                        </a:rPr>
                        <a:t>APPROACH</a:t>
                      </a:r>
                    </a:p>
                  </a:txBody>
                  <a:tcPr marL="127000" marR="127000" marT="25400" marB="25400" anchor="ctr">
                    <a:solidFill>
                      <a:srgbClr val="14213D"/>
                    </a:solidFill>
                  </a:tcPr>
                </a:tc>
                <a:tc>
                  <a:txBody>
                    <a:bodyPr/>
                    <a:lstStyle/>
                    <a:p>
                      <a:r>
                        <a:rPr sz="1008" b="1" i="0" spc="80">
                          <a:solidFill>
                            <a:srgbClr val="FFFFFF"/>
                          </a:solidFill>
                          <a:latin typeface="Segoe UI"/>
                        </a:rPr>
                        <a:t>TEST</a:t>
                      </a:r>
                    </a:p>
                  </a:txBody>
                  <a:tcPr marL="127000" marR="127000" marT="25400" marB="25400" anchor="ctr">
                    <a:solidFill>
                      <a:srgbClr val="14213D"/>
                    </a:solidFill>
                  </a:tcPr>
                </a:tc>
                <a:tc>
                  <a:txBody>
                    <a:bodyPr/>
                    <a:lstStyle/>
                    <a:p>
                      <a:r>
                        <a:rPr sz="1008" b="1" i="0" spc="80">
                          <a:solidFill>
                            <a:srgbClr val="FFFFFF"/>
                          </a:solidFill>
                          <a:latin typeface="Segoe UI"/>
                        </a:rPr>
                        <a:t>95 % CI</a:t>
                      </a:r>
                    </a:p>
                  </a:txBody>
                  <a:tcPr marL="127000" marR="127000" marT="25400" marB="25400" anchor="ctr">
                    <a:solidFill>
                      <a:srgbClr val="14213D"/>
                    </a:solidFill>
                  </a:tcPr>
                </a:tc>
                <a:tc>
                  <a:txBody>
                    <a:bodyPr/>
                    <a:lstStyle/>
                    <a:p>
                      <a:r>
                        <a:rPr sz="1008" b="1" i="0" spc="80">
                          <a:solidFill>
                            <a:srgbClr val="FFFFFF"/>
                          </a:solidFill>
                          <a:latin typeface="Segoe UI"/>
                        </a:rPr>
                        <a:t>WIDTH</a:t>
                      </a:r>
                    </a:p>
                  </a:txBody>
                  <a:tcPr marL="127000" marR="127000" marT="25400" marB="25400" anchor="ctr">
                    <a:solidFill>
                      <a:srgbClr val="14213D"/>
                    </a:solidFill>
                  </a:tcPr>
                </a:tc>
                <a:extLst>
                  <a:ext uri="{0D108BD9-81ED-4DB2-BD59-A6C34878D82A}">
                    <a16:rowId xmlns:a16="http://schemas.microsoft.com/office/drawing/2014/main" val="10000"/>
                  </a:ext>
                </a:extLst>
              </a:tr>
              <a:tr h="402336">
                <a:tc>
                  <a:txBody>
                    <a:bodyPr/>
                    <a:lstStyle/>
                    <a:p>
                      <a:r>
                        <a:rPr sz="1400" b="1" i="0">
                          <a:solidFill>
                            <a:srgbClr val="14213D"/>
                          </a:solidFill>
                          <a:latin typeface="Segoe UI Semibold"/>
                        </a:rPr>
                        <a:t>A</a:t>
                      </a:r>
                    </a:p>
                  </a:txBody>
                  <a:tcPr marL="127000" marR="127000" marT="25400" marB="25400" anchor="ctr">
                    <a:solidFill>
                      <a:srgbClr val="FFFFFF"/>
                    </a:solidFill>
                  </a:tcPr>
                </a:tc>
                <a:tc>
                  <a:txBody>
                    <a:bodyPr/>
                    <a:lstStyle/>
                    <a:p>
                      <a:r>
                        <a:rPr sz="1400" b="0" i="0">
                          <a:solidFill>
                            <a:srgbClr val="14213D"/>
                          </a:solidFill>
                          <a:latin typeface="Segoe UI"/>
                        </a:rPr>
                        <a:t>93.3 %</a:t>
                      </a:r>
                    </a:p>
                  </a:txBody>
                  <a:tcPr marL="127000" marR="127000" marT="25400" marB="25400" anchor="ctr">
                    <a:solidFill>
                      <a:srgbClr val="FFFFFF"/>
                    </a:solidFill>
                  </a:tcPr>
                </a:tc>
                <a:tc>
                  <a:txBody>
                    <a:bodyPr/>
                    <a:lstStyle/>
                    <a:p>
                      <a:r>
                        <a:rPr sz="1400" b="0" i="0">
                          <a:solidFill>
                            <a:srgbClr val="14213D"/>
                          </a:solidFill>
                          <a:latin typeface="Segoe UI"/>
                        </a:rPr>
                        <a:t>90.9 – 95.1</a:t>
                      </a:r>
                    </a:p>
                  </a:txBody>
                  <a:tcPr marL="127000" marR="127000" marT="25400" marB="25400" anchor="ctr">
                    <a:solidFill>
                      <a:srgbClr val="FFFFFF"/>
                    </a:solidFill>
                  </a:tcPr>
                </a:tc>
                <a:tc>
                  <a:txBody>
                    <a:bodyPr/>
                    <a:lstStyle/>
                    <a:p>
                      <a:r>
                        <a:rPr sz="1400" b="0" i="0">
                          <a:solidFill>
                            <a:srgbClr val="14213D"/>
                          </a:solidFill>
                          <a:latin typeface="Segoe UI"/>
                        </a:rPr>
                        <a:t>4.1 pts</a:t>
                      </a:r>
                    </a:p>
                  </a:txBody>
                  <a:tcPr marL="127000" marR="127000" marT="25400" marB="25400" anchor="ctr">
                    <a:solidFill>
                      <a:srgbClr val="FFFFFF"/>
                    </a:solidFill>
                  </a:tcPr>
                </a:tc>
                <a:extLst>
                  <a:ext uri="{0D108BD9-81ED-4DB2-BD59-A6C34878D82A}">
                    <a16:rowId xmlns:a16="http://schemas.microsoft.com/office/drawing/2014/main" val="10001"/>
                  </a:ext>
                </a:extLst>
              </a:tr>
              <a:tr h="402336">
                <a:tc>
                  <a:txBody>
                    <a:bodyPr/>
                    <a:lstStyle/>
                    <a:p>
                      <a:r>
                        <a:rPr sz="1400" b="1" i="0">
                          <a:solidFill>
                            <a:srgbClr val="14213D"/>
                          </a:solidFill>
                          <a:latin typeface="Segoe UI Semibold"/>
                        </a:rPr>
                        <a:t>B</a:t>
                      </a:r>
                    </a:p>
                  </a:txBody>
                  <a:tcPr marL="127000" marR="127000" marT="25400" marB="25400" anchor="ctr">
                    <a:solidFill>
                      <a:srgbClr val="F8FAFC"/>
                    </a:solidFill>
                  </a:tcPr>
                </a:tc>
                <a:tc>
                  <a:txBody>
                    <a:bodyPr/>
                    <a:lstStyle/>
                    <a:p>
                      <a:r>
                        <a:rPr sz="1400" b="0" i="0">
                          <a:solidFill>
                            <a:srgbClr val="14213D"/>
                          </a:solidFill>
                          <a:latin typeface="Segoe UI"/>
                        </a:rPr>
                        <a:t>42.0 %</a:t>
                      </a:r>
                    </a:p>
                  </a:txBody>
                  <a:tcPr marL="127000" marR="127000" marT="25400" marB="25400" anchor="ctr">
                    <a:solidFill>
                      <a:srgbClr val="F8FAFC"/>
                    </a:solidFill>
                  </a:tcPr>
                </a:tc>
                <a:tc>
                  <a:txBody>
                    <a:bodyPr/>
                    <a:lstStyle/>
                    <a:p>
                      <a:r>
                        <a:rPr sz="1400" b="0" i="0">
                          <a:solidFill>
                            <a:srgbClr val="14213D"/>
                          </a:solidFill>
                          <a:latin typeface="Segoe UI"/>
                        </a:rPr>
                        <a:t>38.0 – 46.1</a:t>
                      </a:r>
                    </a:p>
                  </a:txBody>
                  <a:tcPr marL="127000" marR="127000" marT="25400" marB="25400" anchor="ctr">
                    <a:solidFill>
                      <a:srgbClr val="F8FAFC"/>
                    </a:solidFill>
                  </a:tcPr>
                </a:tc>
                <a:tc>
                  <a:txBody>
                    <a:bodyPr/>
                    <a:lstStyle/>
                    <a:p>
                      <a:r>
                        <a:rPr sz="1400" b="0" i="0">
                          <a:solidFill>
                            <a:srgbClr val="14213D"/>
                          </a:solidFill>
                          <a:latin typeface="Segoe UI"/>
                        </a:rPr>
                        <a:t>8.1 pts</a:t>
                      </a:r>
                    </a:p>
                  </a:txBody>
                  <a:tcPr marL="127000" marR="127000" marT="25400" marB="25400" anchor="ctr">
                    <a:solidFill>
                      <a:srgbClr val="F8FAFC"/>
                    </a:solidFill>
                  </a:tcPr>
                </a:tc>
                <a:extLst>
                  <a:ext uri="{0D108BD9-81ED-4DB2-BD59-A6C34878D82A}">
                    <a16:rowId xmlns:a16="http://schemas.microsoft.com/office/drawing/2014/main" val="10002"/>
                  </a:ext>
                </a:extLst>
              </a:tr>
              <a:tr h="402336">
                <a:tc>
                  <a:txBody>
                    <a:bodyPr/>
                    <a:lstStyle/>
                    <a:p>
                      <a:r>
                        <a:rPr sz="1400" b="1" i="0">
                          <a:solidFill>
                            <a:srgbClr val="14213D"/>
                          </a:solidFill>
                          <a:latin typeface="Segoe UI Semibold"/>
                        </a:rPr>
                        <a:t>C</a:t>
                      </a:r>
                    </a:p>
                  </a:txBody>
                  <a:tcPr marL="127000" marR="127000" marT="25400" marB="25400" anchor="ctr">
                    <a:solidFill>
                      <a:srgbClr val="FFFFFF"/>
                    </a:solidFill>
                  </a:tcPr>
                </a:tc>
                <a:tc>
                  <a:txBody>
                    <a:bodyPr/>
                    <a:lstStyle/>
                    <a:p>
                      <a:r>
                        <a:rPr sz="1400" b="0" i="0">
                          <a:solidFill>
                            <a:srgbClr val="14213D"/>
                          </a:solidFill>
                          <a:latin typeface="Segoe UI"/>
                        </a:rPr>
                        <a:t>94.0 %</a:t>
                      </a:r>
                    </a:p>
                  </a:txBody>
                  <a:tcPr marL="127000" marR="127000" marT="25400" marB="25400" anchor="ctr">
                    <a:solidFill>
                      <a:srgbClr val="FFFFFF"/>
                    </a:solidFill>
                  </a:tcPr>
                </a:tc>
                <a:tc>
                  <a:txBody>
                    <a:bodyPr/>
                    <a:lstStyle/>
                    <a:p>
                      <a:r>
                        <a:rPr sz="1400" b="0" i="0">
                          <a:solidFill>
                            <a:srgbClr val="14213D"/>
                          </a:solidFill>
                          <a:latin typeface="Segoe UI"/>
                        </a:rPr>
                        <a:t>91.7 – 95.7</a:t>
                      </a:r>
                    </a:p>
                  </a:txBody>
                  <a:tcPr marL="127000" marR="127000" marT="25400" marB="25400" anchor="ctr">
                    <a:solidFill>
                      <a:srgbClr val="FFFFFF"/>
                    </a:solidFill>
                  </a:tcPr>
                </a:tc>
                <a:tc>
                  <a:txBody>
                    <a:bodyPr/>
                    <a:lstStyle/>
                    <a:p>
                      <a:r>
                        <a:rPr sz="1400" b="0" i="0">
                          <a:solidFill>
                            <a:srgbClr val="14213D"/>
                          </a:solidFill>
                          <a:latin typeface="Segoe UI"/>
                        </a:rPr>
                        <a:t>3.9 pts</a:t>
                      </a:r>
                    </a:p>
                  </a:txBody>
                  <a:tcPr marL="127000" marR="127000" marT="25400" marB="25400" anchor="ctr">
                    <a:solidFill>
                      <a:srgbClr val="FFFFFF"/>
                    </a:solidFill>
                  </a:tcPr>
                </a:tc>
                <a:extLst>
                  <a:ext uri="{0D108BD9-81ED-4DB2-BD59-A6C34878D82A}">
                    <a16:rowId xmlns:a16="http://schemas.microsoft.com/office/drawing/2014/main" val="10003"/>
                  </a:ext>
                </a:extLst>
              </a:tr>
              <a:tr h="402336">
                <a:tc>
                  <a:txBody>
                    <a:bodyPr/>
                    <a:lstStyle/>
                    <a:p>
                      <a:r>
                        <a:rPr sz="1400" b="1" i="0">
                          <a:solidFill>
                            <a:srgbClr val="14213D"/>
                          </a:solidFill>
                          <a:latin typeface="Segoe UI Semibold"/>
                        </a:rPr>
                        <a:t>D</a:t>
                      </a:r>
                    </a:p>
                  </a:txBody>
                  <a:tcPr marL="127000" marR="127000" marT="25400" marB="25400" anchor="ctr">
                    <a:solidFill>
                      <a:srgbClr val="F8FAFC"/>
                    </a:solidFill>
                  </a:tcPr>
                </a:tc>
                <a:tc>
                  <a:txBody>
                    <a:bodyPr/>
                    <a:lstStyle/>
                    <a:p>
                      <a:r>
                        <a:rPr sz="1400" b="0" i="0">
                          <a:solidFill>
                            <a:srgbClr val="14213D"/>
                          </a:solidFill>
                          <a:latin typeface="Segoe UI"/>
                        </a:rPr>
                        <a:t>46.6 %</a:t>
                      </a:r>
                    </a:p>
                  </a:txBody>
                  <a:tcPr marL="127000" marR="127000" marT="25400" marB="25400" anchor="ctr">
                    <a:solidFill>
                      <a:srgbClr val="F8FAFC"/>
                    </a:solidFill>
                  </a:tcPr>
                </a:tc>
                <a:tc>
                  <a:txBody>
                    <a:bodyPr/>
                    <a:lstStyle/>
                    <a:p>
                      <a:r>
                        <a:rPr sz="1400" b="0" i="0">
                          <a:solidFill>
                            <a:srgbClr val="14213D"/>
                          </a:solidFill>
                          <a:latin typeface="Segoe UI"/>
                        </a:rPr>
                        <a:t>42.5 – 50.7</a:t>
                      </a:r>
                    </a:p>
                  </a:txBody>
                  <a:tcPr marL="127000" marR="127000" marT="25400" marB="25400" anchor="ctr">
                    <a:solidFill>
                      <a:srgbClr val="F8FAFC"/>
                    </a:solidFill>
                  </a:tcPr>
                </a:tc>
                <a:tc>
                  <a:txBody>
                    <a:bodyPr/>
                    <a:lstStyle/>
                    <a:p>
                      <a:r>
                        <a:rPr sz="1400" b="0" i="0">
                          <a:solidFill>
                            <a:srgbClr val="14213D"/>
                          </a:solidFill>
                          <a:latin typeface="Segoe UI"/>
                        </a:rPr>
                        <a:t>8.2 pts</a:t>
                      </a:r>
                    </a:p>
                  </a:txBody>
                  <a:tcPr marL="127000" marR="127000" marT="25400" marB="25400" anchor="ctr">
                    <a:solidFill>
                      <a:srgbClr val="F8FAFC"/>
                    </a:solidFill>
                  </a:tcPr>
                </a:tc>
                <a:extLst>
                  <a:ext uri="{0D108BD9-81ED-4DB2-BD59-A6C34878D82A}">
                    <a16:rowId xmlns:a16="http://schemas.microsoft.com/office/drawing/2014/main" val="10004"/>
                  </a:ext>
                </a:extLst>
              </a:tr>
              <a:tr h="402336">
                <a:tc>
                  <a:txBody>
                    <a:bodyPr/>
                    <a:lstStyle/>
                    <a:p>
                      <a:r>
                        <a:rPr sz="1400" b="1" i="0">
                          <a:solidFill>
                            <a:srgbClr val="14213D"/>
                          </a:solidFill>
                          <a:latin typeface="Segoe UI Semibold"/>
                        </a:rPr>
                        <a:t>E</a:t>
                      </a:r>
                    </a:p>
                  </a:txBody>
                  <a:tcPr marL="127000" marR="127000" marT="25400" marB="25400" anchor="ctr">
                    <a:solidFill>
                      <a:srgbClr val="FFFFFF"/>
                    </a:solidFill>
                  </a:tcPr>
                </a:tc>
                <a:tc>
                  <a:txBody>
                    <a:bodyPr/>
                    <a:lstStyle/>
                    <a:p>
                      <a:r>
                        <a:rPr sz="1400" b="0" i="0">
                          <a:solidFill>
                            <a:srgbClr val="14213D"/>
                          </a:solidFill>
                          <a:latin typeface="Segoe UI"/>
                        </a:rPr>
                        <a:t>96.1 %</a:t>
                      </a:r>
                    </a:p>
                  </a:txBody>
                  <a:tcPr marL="127000" marR="127000" marT="25400" marB="25400" anchor="ctr">
                    <a:solidFill>
                      <a:srgbClr val="FFFFFF"/>
                    </a:solidFill>
                  </a:tcPr>
                </a:tc>
                <a:tc>
                  <a:txBody>
                    <a:bodyPr/>
                    <a:lstStyle/>
                    <a:p>
                      <a:r>
                        <a:rPr sz="1400" b="0" i="0">
                          <a:solidFill>
                            <a:srgbClr val="14213D"/>
                          </a:solidFill>
                          <a:latin typeface="Segoe UI"/>
                        </a:rPr>
                        <a:t>94.2 – 97.4</a:t>
                      </a:r>
                    </a:p>
                  </a:txBody>
                  <a:tcPr marL="127000" marR="127000" marT="25400" marB="25400" anchor="ctr">
                    <a:solidFill>
                      <a:srgbClr val="FFFFFF"/>
                    </a:solidFill>
                  </a:tcPr>
                </a:tc>
                <a:tc>
                  <a:txBody>
                    <a:bodyPr/>
                    <a:lstStyle/>
                    <a:p>
                      <a:r>
                        <a:rPr sz="1400" b="0" i="0">
                          <a:solidFill>
                            <a:srgbClr val="14213D"/>
                          </a:solidFill>
                          <a:latin typeface="Segoe UI"/>
                        </a:rPr>
                        <a:t>3.2 pts</a:t>
                      </a:r>
                    </a:p>
                  </a:txBody>
                  <a:tcPr marL="127000" marR="127000" marT="25400" marB="25400" anchor="ctr">
                    <a:solidFill>
                      <a:srgbClr val="FFFFFF"/>
                    </a:solidFill>
                  </a:tcPr>
                </a:tc>
                <a:extLst>
                  <a:ext uri="{0D108BD9-81ED-4DB2-BD59-A6C34878D82A}">
                    <a16:rowId xmlns:a16="http://schemas.microsoft.com/office/drawing/2014/main" val="10005"/>
                  </a:ext>
                </a:extLst>
              </a:tr>
            </a:tbl>
          </a:graphicData>
        </a:graphic>
      </p:graphicFrame>
      <p:sp>
        <p:nvSpPr>
          <p:cNvPr id="26" name="Rounded Rectangle 25"/>
          <p:cNvSpPr/>
          <p:nvPr/>
        </p:nvSpPr>
        <p:spPr>
          <a:xfrm>
            <a:off x="5852160" y="4663440"/>
            <a:ext cx="5699455" cy="914400"/>
          </a:xfrm>
          <a:prstGeom prst="roundRect">
            <a:avLst>
              <a:gd name="adj" fmla="val 1200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6126480" y="4663440"/>
            <a:ext cx="5150815" cy="914400"/>
          </a:xfrm>
          <a:prstGeom prst="rect">
            <a:avLst/>
          </a:prstGeom>
          <a:noFill/>
        </p:spPr>
        <p:txBody>
          <a:bodyPr wrap="square" anchor="ctr">
            <a:spAutoFit/>
          </a:bodyPr>
          <a:lstStyle/>
          <a:p>
            <a:pPr algn="ctr"/>
            <a:r>
              <a:rPr sz="1350" b="0" i="0">
                <a:solidFill>
                  <a:srgbClr val="FFFFFF"/>
                </a:solidFill>
                <a:latin typeface="Segoe UI"/>
              </a:rPr>
              <a:t>A, C and E overlap in high confidence — which is why </a:t>
            </a:r>
            <a:r>
              <a:rPr sz="1350" b="1" i="0">
                <a:solidFill>
                  <a:srgbClr val="E09A1A"/>
                </a:solidFill>
                <a:latin typeface="Segoe UI"/>
              </a:rPr>
              <a:t>567 images cannot separate top models.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ounded Rectangle 2"/>
          <p:cNvSpPr/>
          <p:nvPr/>
        </p:nvSpPr>
        <p:spPr>
          <a:xfrm>
            <a:off x="640080" y="384048"/>
            <a:ext cx="1920240" cy="292608"/>
          </a:xfrm>
          <a:prstGeom prst="roundRect">
            <a:avLst>
              <a:gd name="adj" fmla="val 50000"/>
            </a:avLst>
          </a:prstGeom>
          <a:solidFill>
            <a:srgbClr val="E2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640080" y="384048"/>
            <a:ext cx="1920240" cy="292608"/>
          </a:xfrm>
          <a:prstGeom prst="rect">
            <a:avLst/>
          </a:prstGeom>
          <a:noFill/>
        </p:spPr>
        <p:txBody>
          <a:bodyPr wrap="square" lIns="18288" rIns="18288" anchor="ctr">
            <a:spAutoFit/>
          </a:bodyPr>
          <a:lstStyle/>
          <a:p>
            <a:pPr algn="ctr"/>
            <a:r>
              <a:rPr sz="1050" b="1" i="0" spc="120">
                <a:solidFill>
                  <a:srgbClr val="0F7C74"/>
                </a:solidFill>
                <a:latin typeface="Segoe UI"/>
              </a:rPr>
              <a:t>APPENDIX  ·  A3</a:t>
            </a:r>
          </a:p>
        </p:txBody>
      </p:sp>
      <p:pic>
        <p:nvPicPr>
          <p:cNvPr id="5" name="Picture 4" descr="kit_logo.png"/>
          <p:cNvPicPr>
            <a:picLocks noChangeAspect="1"/>
          </p:cNvPicPr>
          <p:nvPr/>
        </p:nvPicPr>
        <p:blipFill>
          <a:blip r:embed="rId2"/>
          <a:stretch>
            <a:fillRect/>
          </a:stretch>
        </p:blipFill>
        <p:spPr>
          <a:xfrm>
            <a:off x="10929823" y="320040"/>
            <a:ext cx="621792" cy="621792"/>
          </a:xfrm>
          <a:prstGeom prst="rect">
            <a:avLst/>
          </a:prstGeom>
        </p:spPr>
      </p:pic>
      <p:sp>
        <p:nvSpPr>
          <p:cNvPr id="6" name="TextBox 5"/>
          <p:cNvSpPr txBox="1"/>
          <p:nvPr/>
        </p:nvSpPr>
        <p:spPr>
          <a:xfrm>
            <a:off x="621792" y="731520"/>
            <a:ext cx="9997135" cy="685800"/>
          </a:xfrm>
          <a:prstGeom prst="rect">
            <a:avLst/>
          </a:prstGeom>
          <a:noFill/>
        </p:spPr>
        <p:txBody>
          <a:bodyPr wrap="square" lIns="18288" rIns="18288" anchor="ctr">
            <a:spAutoFit/>
          </a:bodyPr>
          <a:lstStyle/>
          <a:p>
            <a:pPr algn="l"/>
            <a:r>
              <a:rPr sz="3000" b="0" i="0">
                <a:solidFill>
                  <a:srgbClr val="14213D"/>
                </a:solidFill>
                <a:latin typeface="Segoe UI Semibold"/>
              </a:rPr>
              <a:t>Full tuning grid — all six runs</a:t>
            </a:r>
          </a:p>
        </p:txBody>
      </p:sp>
      <p:sp>
        <p:nvSpPr>
          <p:cNvPr id="7" name="Rectangle 6"/>
          <p:cNvSpPr/>
          <p:nvPr/>
        </p:nvSpPr>
        <p:spPr>
          <a:xfrm>
            <a:off x="640080" y="6601968"/>
            <a:ext cx="10088575"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640080" y="6336792"/>
            <a:ext cx="5486400" cy="237744"/>
          </a:xfrm>
          <a:prstGeom prst="rect">
            <a:avLst/>
          </a:prstGeom>
          <a:noFill/>
        </p:spPr>
        <p:txBody>
          <a:bodyPr wrap="square" lIns="18288" rIns="18288" anchor="t">
            <a:spAutoFit/>
          </a:bodyPr>
          <a:lstStyle/>
          <a:p>
            <a:pPr algn="l"/>
            <a:r>
              <a:rPr sz="850" b="0" i="0">
                <a:solidFill>
                  <a:srgbClr val="6B7280"/>
                </a:solidFill>
                <a:latin typeface="Segoe UI"/>
              </a:rPr>
              <a:t>Appendix  ·  So Sereysokbotra</a:t>
            </a:r>
          </a:p>
        </p:txBody>
      </p:sp>
      <p:sp>
        <p:nvSpPr>
          <p:cNvPr id="9" name="TextBox 8"/>
          <p:cNvSpPr txBox="1"/>
          <p:nvPr/>
        </p:nvSpPr>
        <p:spPr>
          <a:xfrm>
            <a:off x="10820095" y="6373368"/>
            <a:ext cx="731520" cy="274320"/>
          </a:xfrm>
          <a:prstGeom prst="rect">
            <a:avLst/>
          </a:prstGeom>
          <a:noFill/>
        </p:spPr>
        <p:txBody>
          <a:bodyPr wrap="square" lIns="18288" rIns="18288" anchor="t">
            <a:spAutoFit/>
          </a:bodyPr>
          <a:lstStyle/>
          <a:p>
            <a:pPr algn="r"/>
            <a:r>
              <a:rPr sz="1100" b="1" i="0">
                <a:solidFill>
                  <a:srgbClr val="0F7C74"/>
                </a:solidFill>
                <a:latin typeface="Segoe UI Semibold"/>
              </a:rPr>
              <a:t>A3</a:t>
            </a:r>
          </a:p>
        </p:txBody>
      </p:sp>
      <p:graphicFrame>
        <p:nvGraphicFramePr>
          <p:cNvPr id="10" name="Table 9"/>
          <p:cNvGraphicFramePr>
            <a:graphicFrameLocks noGrp="1"/>
          </p:cNvGraphicFramePr>
          <p:nvPr/>
        </p:nvGraphicFramePr>
        <p:xfrm>
          <a:off x="640080" y="1645920"/>
          <a:ext cx="10911535" cy="3072384"/>
        </p:xfrm>
        <a:graphic>
          <a:graphicData uri="http://schemas.openxmlformats.org/drawingml/2006/table">
            <a:tbl>
              <a:tblPr>
                <a:tableStyleId>{5C22544A-7EE6-4342-B048-85BDC9FD1C3A}</a:tableStyleId>
              </a:tblPr>
              <a:tblGrid>
                <a:gridCol w="137160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gridCol w="3017520">
                  <a:extLst>
                    <a:ext uri="{9D8B030D-6E8A-4147-A177-3AD203B41FA5}">
                      <a16:colId xmlns:a16="http://schemas.microsoft.com/office/drawing/2014/main" val="20003"/>
                    </a:ext>
                  </a:extLst>
                </a:gridCol>
                <a:gridCol w="1554480">
                  <a:extLst>
                    <a:ext uri="{9D8B030D-6E8A-4147-A177-3AD203B41FA5}">
                      <a16:colId xmlns:a16="http://schemas.microsoft.com/office/drawing/2014/main" val="20004"/>
                    </a:ext>
                  </a:extLst>
                </a:gridCol>
                <a:gridCol w="1493215">
                  <a:extLst>
                    <a:ext uri="{9D8B030D-6E8A-4147-A177-3AD203B41FA5}">
                      <a16:colId xmlns:a16="http://schemas.microsoft.com/office/drawing/2014/main" val="20005"/>
                    </a:ext>
                  </a:extLst>
                </a:gridCol>
              </a:tblGrid>
              <a:tr h="438912">
                <a:tc>
                  <a:txBody>
                    <a:bodyPr/>
                    <a:lstStyle/>
                    <a:p>
                      <a:r>
                        <a:rPr sz="1080" b="1" i="0" spc="80">
                          <a:solidFill>
                            <a:srgbClr val="FFFFFF"/>
                          </a:solidFill>
                          <a:latin typeface="Segoe UI"/>
                        </a:rPr>
                        <a:t>LR</a:t>
                      </a:r>
                    </a:p>
                  </a:txBody>
                  <a:tcPr marL="127000" marR="127000" marT="25400" marB="25400" anchor="ctr">
                    <a:solidFill>
                      <a:srgbClr val="14213D"/>
                    </a:solidFill>
                  </a:tcPr>
                </a:tc>
                <a:tc>
                  <a:txBody>
                    <a:bodyPr/>
                    <a:lstStyle/>
                    <a:p>
                      <a:r>
                        <a:rPr sz="1080" b="1" i="0" spc="80">
                          <a:solidFill>
                            <a:srgbClr val="FFFFFF"/>
                          </a:solidFill>
                          <a:latin typeface="Segoe UI"/>
                        </a:rPr>
                        <a:t>WEIGHT DECAY</a:t>
                      </a:r>
                    </a:p>
                  </a:txBody>
                  <a:tcPr marL="127000" marR="127000" marT="25400" marB="25400" anchor="ctr">
                    <a:solidFill>
                      <a:srgbClr val="14213D"/>
                    </a:solidFill>
                  </a:tcPr>
                </a:tc>
                <a:tc>
                  <a:txBody>
                    <a:bodyPr/>
                    <a:lstStyle/>
                    <a:p>
                      <a:r>
                        <a:rPr sz="1080" b="1" i="0" spc="80">
                          <a:solidFill>
                            <a:srgbClr val="FFFFFF"/>
                          </a:solidFill>
                          <a:latin typeface="Segoe UI"/>
                        </a:rPr>
                        <a:t>BEST EPOCH</a:t>
                      </a:r>
                    </a:p>
                  </a:txBody>
                  <a:tcPr marL="127000" marR="127000" marT="25400" marB="25400" anchor="ctr">
                    <a:solidFill>
                      <a:srgbClr val="14213D"/>
                    </a:solidFill>
                  </a:tcPr>
                </a:tc>
                <a:tc>
                  <a:txBody>
                    <a:bodyPr/>
                    <a:lstStyle/>
                    <a:p>
                      <a:r>
                        <a:rPr sz="1080" b="1" i="0" spc="80">
                          <a:solidFill>
                            <a:srgbClr val="FFFFFF"/>
                          </a:solidFill>
                          <a:latin typeface="Segoe UI"/>
                        </a:rPr>
                        <a:t>VALIDATION</a:t>
                      </a:r>
                    </a:p>
                  </a:txBody>
                  <a:tcPr marL="127000" marR="127000" marT="25400" marB="25400" anchor="ctr">
                    <a:solidFill>
                      <a:srgbClr val="14213D"/>
                    </a:solidFill>
                  </a:tcPr>
                </a:tc>
                <a:tc>
                  <a:txBody>
                    <a:bodyPr/>
                    <a:lstStyle/>
                    <a:p>
                      <a:r>
                        <a:rPr sz="1080" b="1" i="0" spc="80">
                          <a:solidFill>
                            <a:srgbClr val="FFFFFF"/>
                          </a:solidFill>
                          <a:latin typeface="Segoe UI"/>
                        </a:rPr>
                        <a:t>TEST</a:t>
                      </a:r>
                    </a:p>
                  </a:txBody>
                  <a:tcPr marL="127000" marR="127000" marT="25400" marB="25400" anchor="ctr">
                    <a:solidFill>
                      <a:srgbClr val="14213D"/>
                    </a:solidFill>
                  </a:tcPr>
                </a:tc>
                <a:tc>
                  <a:txBody>
                    <a:bodyPr/>
                    <a:lstStyle/>
                    <a:p>
                      <a:r>
                        <a:rPr sz="1080" b="1" i="0" spc="80">
                          <a:solidFill>
                            <a:srgbClr val="FFFFFF"/>
                          </a:solidFill>
                          <a:latin typeface="Segoe UI"/>
                        </a:rPr>
                        <a:t>MACRO-F1</a:t>
                      </a:r>
                    </a:p>
                  </a:txBody>
                  <a:tcPr marL="127000" marR="127000" marT="25400" marB="25400" anchor="ctr">
                    <a:solidFill>
                      <a:srgbClr val="14213D"/>
                    </a:solidFill>
                  </a:tcPr>
                </a:tc>
                <a:extLst>
                  <a:ext uri="{0D108BD9-81ED-4DB2-BD59-A6C34878D82A}">
                    <a16:rowId xmlns:a16="http://schemas.microsoft.com/office/drawing/2014/main" val="10000"/>
                  </a:ext>
                </a:extLst>
              </a:tr>
              <a:tr h="438912">
                <a:tc>
                  <a:txBody>
                    <a:bodyPr/>
                    <a:lstStyle/>
                    <a:p>
                      <a:r>
                        <a:rPr sz="1500" b="1" i="0">
                          <a:solidFill>
                            <a:srgbClr val="14213D"/>
                          </a:solidFill>
                          <a:latin typeface="Segoe UI Semibold"/>
                        </a:rPr>
                        <a:t>1e-3</a:t>
                      </a:r>
                    </a:p>
                  </a:txBody>
                  <a:tcPr marL="127000" marR="127000" marT="25400" marB="25400" anchor="ctr">
                    <a:solidFill>
                      <a:srgbClr val="FFFFFF"/>
                    </a:solidFill>
                  </a:tcPr>
                </a:tc>
                <a:tc>
                  <a:txBody>
                    <a:bodyPr/>
                    <a:lstStyle/>
                    <a:p>
                      <a:r>
                        <a:rPr sz="1500" b="1" i="0">
                          <a:solidFill>
                            <a:srgbClr val="14213D"/>
                          </a:solidFill>
                          <a:latin typeface="Segoe UI Semibold"/>
                        </a:rPr>
                        <a:t>0</a:t>
                      </a:r>
                    </a:p>
                  </a:txBody>
                  <a:tcPr marL="127000" marR="127000" marT="25400" marB="25400" anchor="ctr">
                    <a:solidFill>
                      <a:srgbClr val="FFFFFF"/>
                    </a:solidFill>
                  </a:tcPr>
                </a:tc>
                <a:tc>
                  <a:txBody>
                    <a:bodyPr/>
                    <a:lstStyle/>
                    <a:p>
                      <a:r>
                        <a:rPr sz="1500" b="0" i="0">
                          <a:solidFill>
                            <a:srgbClr val="14213D"/>
                          </a:solidFill>
                          <a:latin typeface="Segoe UI"/>
                        </a:rPr>
                        <a:t>33</a:t>
                      </a:r>
                    </a:p>
                  </a:txBody>
                  <a:tcPr marL="127000" marR="127000" marT="25400" marB="25400" anchor="ctr">
                    <a:solidFill>
                      <a:srgbClr val="FFFFFF"/>
                    </a:solidFill>
                  </a:tcPr>
                </a:tc>
                <a:tc>
                  <a:txBody>
                    <a:bodyPr/>
                    <a:lstStyle/>
                    <a:p>
                      <a:r>
                        <a:rPr sz="1500" b="1" i="0">
                          <a:solidFill>
                            <a:srgbClr val="14213D"/>
                          </a:solidFill>
                          <a:latin typeface="Segoe UI Semibold"/>
                        </a:rPr>
                        <a:t>96.60 %  ← selected</a:t>
                      </a:r>
                    </a:p>
                  </a:txBody>
                  <a:tcPr marL="127000" marR="127000" marT="25400" marB="25400" anchor="ctr">
                    <a:solidFill>
                      <a:srgbClr val="FFFFFF"/>
                    </a:solidFill>
                  </a:tcPr>
                </a:tc>
                <a:tc>
                  <a:txBody>
                    <a:bodyPr/>
                    <a:lstStyle/>
                    <a:p>
                      <a:r>
                        <a:rPr sz="1500" b="0" i="0">
                          <a:solidFill>
                            <a:srgbClr val="14213D"/>
                          </a:solidFill>
                          <a:latin typeface="Segoe UI"/>
                        </a:rPr>
                        <a:t>96.47 %</a:t>
                      </a:r>
                    </a:p>
                  </a:txBody>
                  <a:tcPr marL="127000" marR="127000" marT="25400" marB="25400" anchor="ctr">
                    <a:solidFill>
                      <a:srgbClr val="FFFFFF"/>
                    </a:solidFill>
                  </a:tcPr>
                </a:tc>
                <a:tc>
                  <a:txBody>
                    <a:bodyPr/>
                    <a:lstStyle/>
                    <a:p>
                      <a:r>
                        <a:rPr sz="1500" b="0" i="0">
                          <a:solidFill>
                            <a:srgbClr val="14213D"/>
                          </a:solidFill>
                          <a:latin typeface="Segoe UI"/>
                        </a:rPr>
                        <a:t>96.04 %</a:t>
                      </a:r>
                    </a:p>
                  </a:txBody>
                  <a:tcPr marL="127000" marR="127000" marT="25400" marB="25400" anchor="ctr">
                    <a:solidFill>
                      <a:srgbClr val="FFFFFF"/>
                    </a:solidFill>
                  </a:tcPr>
                </a:tc>
                <a:extLst>
                  <a:ext uri="{0D108BD9-81ED-4DB2-BD59-A6C34878D82A}">
                    <a16:rowId xmlns:a16="http://schemas.microsoft.com/office/drawing/2014/main" val="10001"/>
                  </a:ext>
                </a:extLst>
              </a:tr>
              <a:tr h="438912">
                <a:tc>
                  <a:txBody>
                    <a:bodyPr/>
                    <a:lstStyle/>
                    <a:p>
                      <a:r>
                        <a:rPr sz="1500" b="0" i="0">
                          <a:solidFill>
                            <a:srgbClr val="14213D"/>
                          </a:solidFill>
                          <a:latin typeface="Segoe UI"/>
                        </a:rPr>
                        <a:t>1e-3</a:t>
                      </a:r>
                    </a:p>
                  </a:txBody>
                  <a:tcPr marL="127000" marR="127000" marT="25400" marB="25400" anchor="ctr">
                    <a:solidFill>
                      <a:srgbClr val="F8FAFC"/>
                    </a:solidFill>
                  </a:tcPr>
                </a:tc>
                <a:tc>
                  <a:txBody>
                    <a:bodyPr/>
                    <a:lstStyle/>
                    <a:p>
                      <a:r>
                        <a:rPr sz="1500" b="0" i="0">
                          <a:solidFill>
                            <a:srgbClr val="14213D"/>
                          </a:solidFill>
                          <a:latin typeface="Segoe UI"/>
                        </a:rPr>
                        <a:t>1e-4</a:t>
                      </a:r>
                    </a:p>
                  </a:txBody>
                  <a:tcPr marL="127000" marR="127000" marT="25400" marB="25400" anchor="ctr">
                    <a:solidFill>
                      <a:srgbClr val="F8FAFC"/>
                    </a:solidFill>
                  </a:tcPr>
                </a:tc>
                <a:tc>
                  <a:txBody>
                    <a:bodyPr/>
                    <a:lstStyle/>
                    <a:p>
                      <a:r>
                        <a:rPr sz="1500" b="0" i="0">
                          <a:solidFill>
                            <a:srgbClr val="14213D"/>
                          </a:solidFill>
                          <a:latin typeface="Segoe UI"/>
                        </a:rPr>
                        <a:t>35</a:t>
                      </a:r>
                    </a:p>
                  </a:txBody>
                  <a:tcPr marL="127000" marR="127000" marT="25400" marB="25400" anchor="ctr">
                    <a:solidFill>
                      <a:srgbClr val="F8FAFC"/>
                    </a:solidFill>
                  </a:tcPr>
                </a:tc>
                <a:tc>
                  <a:txBody>
                    <a:bodyPr/>
                    <a:lstStyle/>
                    <a:p>
                      <a:r>
                        <a:rPr sz="1500" b="0" i="0">
                          <a:solidFill>
                            <a:srgbClr val="14213D"/>
                          </a:solidFill>
                          <a:latin typeface="Segoe UI"/>
                        </a:rPr>
                        <a:t>96.03 %</a:t>
                      </a:r>
                    </a:p>
                  </a:txBody>
                  <a:tcPr marL="127000" marR="127000" marT="25400" marB="25400" anchor="ctr">
                    <a:solidFill>
                      <a:srgbClr val="F8FAFC"/>
                    </a:solidFill>
                  </a:tcPr>
                </a:tc>
                <a:tc>
                  <a:txBody>
                    <a:bodyPr/>
                    <a:lstStyle/>
                    <a:p>
                      <a:r>
                        <a:rPr sz="1500" b="0" i="0">
                          <a:solidFill>
                            <a:srgbClr val="14213D"/>
                          </a:solidFill>
                          <a:latin typeface="Segoe UI"/>
                        </a:rPr>
                        <a:t>95.41 %</a:t>
                      </a:r>
                    </a:p>
                  </a:txBody>
                  <a:tcPr marL="127000" marR="127000" marT="25400" marB="25400" anchor="ctr">
                    <a:solidFill>
                      <a:srgbClr val="F8FAFC"/>
                    </a:solidFill>
                  </a:tcPr>
                </a:tc>
                <a:tc>
                  <a:txBody>
                    <a:bodyPr/>
                    <a:lstStyle/>
                    <a:p>
                      <a:r>
                        <a:rPr sz="1500" b="0" i="0">
                          <a:solidFill>
                            <a:srgbClr val="14213D"/>
                          </a:solidFill>
                          <a:latin typeface="Segoe UI"/>
                        </a:rPr>
                        <a:t>95.06 %</a:t>
                      </a:r>
                    </a:p>
                  </a:txBody>
                  <a:tcPr marL="127000" marR="127000" marT="25400" marB="25400" anchor="ctr">
                    <a:solidFill>
                      <a:srgbClr val="F8FAFC"/>
                    </a:solidFill>
                  </a:tcPr>
                </a:tc>
                <a:extLst>
                  <a:ext uri="{0D108BD9-81ED-4DB2-BD59-A6C34878D82A}">
                    <a16:rowId xmlns:a16="http://schemas.microsoft.com/office/drawing/2014/main" val="10002"/>
                  </a:ext>
                </a:extLst>
              </a:tr>
              <a:tr h="438912">
                <a:tc>
                  <a:txBody>
                    <a:bodyPr/>
                    <a:lstStyle/>
                    <a:p>
                      <a:r>
                        <a:rPr sz="1500" b="0" i="0">
                          <a:solidFill>
                            <a:srgbClr val="14213D"/>
                          </a:solidFill>
                          <a:latin typeface="Segoe UI"/>
                        </a:rPr>
                        <a:t>3e-4</a:t>
                      </a:r>
                    </a:p>
                  </a:txBody>
                  <a:tcPr marL="127000" marR="127000" marT="25400" marB="25400" anchor="ctr">
                    <a:solidFill>
                      <a:srgbClr val="FFFFFF"/>
                    </a:solidFill>
                  </a:tcPr>
                </a:tc>
                <a:tc>
                  <a:txBody>
                    <a:bodyPr/>
                    <a:lstStyle/>
                    <a:p>
                      <a:r>
                        <a:rPr sz="1500" b="0" i="0">
                          <a:solidFill>
                            <a:srgbClr val="14213D"/>
                          </a:solidFill>
                          <a:latin typeface="Segoe UI"/>
                        </a:rPr>
                        <a:t>0</a:t>
                      </a:r>
                    </a:p>
                  </a:txBody>
                  <a:tcPr marL="127000" marR="127000" marT="25400" marB="25400" anchor="ctr">
                    <a:solidFill>
                      <a:srgbClr val="FFFFFF"/>
                    </a:solidFill>
                  </a:tcPr>
                </a:tc>
                <a:tc>
                  <a:txBody>
                    <a:bodyPr/>
                    <a:lstStyle/>
                    <a:p>
                      <a:r>
                        <a:rPr sz="1500" b="0" i="0">
                          <a:solidFill>
                            <a:srgbClr val="14213D"/>
                          </a:solidFill>
                          <a:latin typeface="Segoe UI"/>
                        </a:rPr>
                        <a:t>15</a:t>
                      </a:r>
                    </a:p>
                  </a:txBody>
                  <a:tcPr marL="127000" marR="127000" marT="25400" marB="25400" anchor="ctr">
                    <a:solidFill>
                      <a:srgbClr val="FFFFFF"/>
                    </a:solidFill>
                  </a:tcPr>
                </a:tc>
                <a:tc>
                  <a:txBody>
                    <a:bodyPr/>
                    <a:lstStyle/>
                    <a:p>
                      <a:r>
                        <a:rPr sz="1500" b="0" i="0">
                          <a:solidFill>
                            <a:srgbClr val="14213D"/>
                          </a:solidFill>
                          <a:latin typeface="Segoe UI"/>
                        </a:rPr>
                        <a:t>95.27 %</a:t>
                      </a:r>
                    </a:p>
                  </a:txBody>
                  <a:tcPr marL="127000" marR="127000" marT="25400" marB="25400" anchor="ctr">
                    <a:solidFill>
                      <a:srgbClr val="FFFFFF"/>
                    </a:solidFill>
                  </a:tcPr>
                </a:tc>
                <a:tc>
                  <a:txBody>
                    <a:bodyPr/>
                    <a:lstStyle/>
                    <a:p>
                      <a:r>
                        <a:rPr sz="1500" b="1" i="0">
                          <a:solidFill>
                            <a:srgbClr val="14213D"/>
                          </a:solidFill>
                          <a:latin typeface="Segoe UI Semibold"/>
                        </a:rPr>
                        <a:t>97.00 %</a:t>
                      </a:r>
                    </a:p>
                  </a:txBody>
                  <a:tcPr marL="127000" marR="127000" marT="25400" marB="25400" anchor="ctr">
                    <a:solidFill>
                      <a:srgbClr val="FFFFFF"/>
                    </a:solidFill>
                  </a:tcPr>
                </a:tc>
                <a:tc>
                  <a:txBody>
                    <a:bodyPr/>
                    <a:lstStyle/>
                    <a:p>
                      <a:r>
                        <a:rPr sz="1500" b="0" i="0">
                          <a:solidFill>
                            <a:srgbClr val="14213D"/>
                          </a:solidFill>
                          <a:latin typeface="Segoe UI"/>
                        </a:rPr>
                        <a:t>96.55 %</a:t>
                      </a:r>
                    </a:p>
                  </a:txBody>
                  <a:tcPr marL="127000" marR="127000" marT="25400" marB="25400" anchor="ctr">
                    <a:solidFill>
                      <a:srgbClr val="FFFFFF"/>
                    </a:solidFill>
                  </a:tcPr>
                </a:tc>
                <a:extLst>
                  <a:ext uri="{0D108BD9-81ED-4DB2-BD59-A6C34878D82A}">
                    <a16:rowId xmlns:a16="http://schemas.microsoft.com/office/drawing/2014/main" val="10003"/>
                  </a:ext>
                </a:extLst>
              </a:tr>
              <a:tr h="438912">
                <a:tc>
                  <a:txBody>
                    <a:bodyPr/>
                    <a:lstStyle/>
                    <a:p>
                      <a:r>
                        <a:rPr sz="1500" b="0" i="0">
                          <a:solidFill>
                            <a:srgbClr val="14213D"/>
                          </a:solidFill>
                          <a:latin typeface="Segoe UI"/>
                        </a:rPr>
                        <a:t>3e-4</a:t>
                      </a:r>
                    </a:p>
                  </a:txBody>
                  <a:tcPr marL="127000" marR="127000" marT="25400" marB="25400" anchor="ctr">
                    <a:solidFill>
                      <a:srgbClr val="F8FAFC"/>
                    </a:solidFill>
                  </a:tcPr>
                </a:tc>
                <a:tc>
                  <a:txBody>
                    <a:bodyPr/>
                    <a:lstStyle/>
                    <a:p>
                      <a:r>
                        <a:rPr sz="1500" b="0" i="0">
                          <a:solidFill>
                            <a:srgbClr val="14213D"/>
                          </a:solidFill>
                          <a:latin typeface="Segoe UI"/>
                        </a:rPr>
                        <a:t>1e-4</a:t>
                      </a:r>
                    </a:p>
                  </a:txBody>
                  <a:tcPr marL="127000" marR="127000" marT="25400" marB="25400" anchor="ctr">
                    <a:solidFill>
                      <a:srgbClr val="F8FAFC"/>
                    </a:solidFill>
                  </a:tcPr>
                </a:tc>
                <a:tc>
                  <a:txBody>
                    <a:bodyPr/>
                    <a:lstStyle/>
                    <a:p>
                      <a:r>
                        <a:rPr sz="1500" b="0" i="0">
                          <a:solidFill>
                            <a:srgbClr val="14213D"/>
                          </a:solidFill>
                          <a:latin typeface="Segoe UI"/>
                        </a:rPr>
                        <a:t>27</a:t>
                      </a:r>
                    </a:p>
                  </a:txBody>
                  <a:tcPr marL="127000" marR="127000" marT="25400" marB="25400" anchor="ctr">
                    <a:solidFill>
                      <a:srgbClr val="F8FAFC"/>
                    </a:solidFill>
                  </a:tcPr>
                </a:tc>
                <a:tc>
                  <a:txBody>
                    <a:bodyPr/>
                    <a:lstStyle/>
                    <a:p>
                      <a:r>
                        <a:rPr sz="1500" b="0" i="0">
                          <a:solidFill>
                            <a:srgbClr val="14213D"/>
                          </a:solidFill>
                          <a:latin typeface="Segoe UI"/>
                        </a:rPr>
                        <a:t>94.90 %</a:t>
                      </a:r>
                    </a:p>
                  </a:txBody>
                  <a:tcPr marL="127000" marR="127000" marT="25400" marB="25400" anchor="ctr">
                    <a:solidFill>
                      <a:srgbClr val="F8FAFC"/>
                    </a:solidFill>
                  </a:tcPr>
                </a:tc>
                <a:tc>
                  <a:txBody>
                    <a:bodyPr/>
                    <a:lstStyle/>
                    <a:p>
                      <a:r>
                        <a:rPr sz="1500" b="0" i="0">
                          <a:solidFill>
                            <a:srgbClr val="14213D"/>
                          </a:solidFill>
                          <a:latin typeface="Segoe UI"/>
                        </a:rPr>
                        <a:t>95.94 %</a:t>
                      </a:r>
                    </a:p>
                  </a:txBody>
                  <a:tcPr marL="127000" marR="127000" marT="25400" marB="25400" anchor="ctr">
                    <a:solidFill>
                      <a:srgbClr val="F8FAFC"/>
                    </a:solidFill>
                  </a:tcPr>
                </a:tc>
                <a:tc>
                  <a:txBody>
                    <a:bodyPr/>
                    <a:lstStyle/>
                    <a:p>
                      <a:r>
                        <a:rPr sz="1500" b="0" i="0">
                          <a:solidFill>
                            <a:srgbClr val="14213D"/>
                          </a:solidFill>
                          <a:latin typeface="Segoe UI"/>
                        </a:rPr>
                        <a:t>95.35 %</a:t>
                      </a:r>
                    </a:p>
                  </a:txBody>
                  <a:tcPr marL="127000" marR="127000" marT="25400" marB="25400" anchor="ctr">
                    <a:solidFill>
                      <a:srgbClr val="F8FAFC"/>
                    </a:solidFill>
                  </a:tcPr>
                </a:tc>
                <a:extLst>
                  <a:ext uri="{0D108BD9-81ED-4DB2-BD59-A6C34878D82A}">
                    <a16:rowId xmlns:a16="http://schemas.microsoft.com/office/drawing/2014/main" val="10004"/>
                  </a:ext>
                </a:extLst>
              </a:tr>
              <a:tr h="438912">
                <a:tc>
                  <a:txBody>
                    <a:bodyPr/>
                    <a:lstStyle/>
                    <a:p>
                      <a:r>
                        <a:rPr sz="1500" b="0" i="0">
                          <a:solidFill>
                            <a:srgbClr val="14213D"/>
                          </a:solidFill>
                          <a:latin typeface="Segoe UI"/>
                        </a:rPr>
                        <a:t>1e-4</a:t>
                      </a:r>
                    </a:p>
                  </a:txBody>
                  <a:tcPr marL="127000" marR="127000" marT="25400" marB="25400" anchor="ctr">
                    <a:solidFill>
                      <a:srgbClr val="FFFFFF"/>
                    </a:solidFill>
                  </a:tcPr>
                </a:tc>
                <a:tc>
                  <a:txBody>
                    <a:bodyPr/>
                    <a:lstStyle/>
                    <a:p>
                      <a:r>
                        <a:rPr sz="1500" b="0" i="0">
                          <a:solidFill>
                            <a:srgbClr val="14213D"/>
                          </a:solidFill>
                          <a:latin typeface="Segoe UI"/>
                        </a:rPr>
                        <a:t>1e-4</a:t>
                      </a:r>
                    </a:p>
                  </a:txBody>
                  <a:tcPr marL="127000" marR="127000" marT="25400" marB="25400" anchor="ctr">
                    <a:solidFill>
                      <a:srgbClr val="FFFFFF"/>
                    </a:solidFill>
                  </a:tcPr>
                </a:tc>
                <a:tc>
                  <a:txBody>
                    <a:bodyPr/>
                    <a:lstStyle/>
                    <a:p>
                      <a:r>
                        <a:rPr sz="1500" b="0" i="0">
                          <a:solidFill>
                            <a:srgbClr val="14213D"/>
                          </a:solidFill>
                          <a:latin typeface="Segoe UI"/>
                        </a:rPr>
                        <a:t>36</a:t>
                      </a:r>
                    </a:p>
                  </a:txBody>
                  <a:tcPr marL="127000" marR="127000" marT="25400" marB="25400" anchor="ctr">
                    <a:solidFill>
                      <a:srgbClr val="FFFFFF"/>
                    </a:solidFill>
                  </a:tcPr>
                </a:tc>
                <a:tc>
                  <a:txBody>
                    <a:bodyPr/>
                    <a:lstStyle/>
                    <a:p>
                      <a:r>
                        <a:rPr sz="1500" b="0" i="0">
                          <a:solidFill>
                            <a:srgbClr val="14213D"/>
                          </a:solidFill>
                          <a:latin typeface="Segoe UI"/>
                        </a:rPr>
                        <a:t>93.19 %</a:t>
                      </a:r>
                    </a:p>
                  </a:txBody>
                  <a:tcPr marL="127000" marR="127000" marT="25400" marB="25400" anchor="ctr">
                    <a:solidFill>
                      <a:srgbClr val="FFFFFF"/>
                    </a:solidFill>
                  </a:tcPr>
                </a:tc>
                <a:tc>
                  <a:txBody>
                    <a:bodyPr/>
                    <a:lstStyle/>
                    <a:p>
                      <a:r>
                        <a:rPr sz="1500" b="0" i="0">
                          <a:solidFill>
                            <a:srgbClr val="14213D"/>
                          </a:solidFill>
                          <a:latin typeface="Segoe UI"/>
                        </a:rPr>
                        <a:t>94.53 %</a:t>
                      </a:r>
                    </a:p>
                  </a:txBody>
                  <a:tcPr marL="127000" marR="127000" marT="25400" marB="25400" anchor="ctr">
                    <a:solidFill>
                      <a:srgbClr val="FFFFFF"/>
                    </a:solidFill>
                  </a:tcPr>
                </a:tc>
                <a:tc>
                  <a:txBody>
                    <a:bodyPr/>
                    <a:lstStyle/>
                    <a:p>
                      <a:r>
                        <a:rPr sz="1500" b="0" i="0">
                          <a:solidFill>
                            <a:srgbClr val="14213D"/>
                          </a:solidFill>
                          <a:latin typeface="Segoe UI"/>
                        </a:rPr>
                        <a:t>93.02 %</a:t>
                      </a:r>
                    </a:p>
                  </a:txBody>
                  <a:tcPr marL="127000" marR="127000" marT="25400" marB="25400" anchor="ctr">
                    <a:solidFill>
                      <a:srgbClr val="FFFFFF"/>
                    </a:solidFill>
                  </a:tcPr>
                </a:tc>
                <a:extLst>
                  <a:ext uri="{0D108BD9-81ED-4DB2-BD59-A6C34878D82A}">
                    <a16:rowId xmlns:a16="http://schemas.microsoft.com/office/drawing/2014/main" val="10005"/>
                  </a:ext>
                </a:extLst>
              </a:tr>
              <a:tr h="438912">
                <a:tc>
                  <a:txBody>
                    <a:bodyPr/>
                    <a:lstStyle/>
                    <a:p>
                      <a:r>
                        <a:rPr sz="1500" b="0" i="0">
                          <a:solidFill>
                            <a:srgbClr val="14213D"/>
                          </a:solidFill>
                          <a:latin typeface="Segoe UI"/>
                        </a:rPr>
                        <a:t>1e-4</a:t>
                      </a:r>
                    </a:p>
                  </a:txBody>
                  <a:tcPr marL="127000" marR="127000" marT="25400" marB="25400" anchor="ctr">
                    <a:solidFill>
                      <a:srgbClr val="F8FAFC"/>
                    </a:solidFill>
                  </a:tcPr>
                </a:tc>
                <a:tc>
                  <a:txBody>
                    <a:bodyPr/>
                    <a:lstStyle/>
                    <a:p>
                      <a:r>
                        <a:rPr sz="1500" b="0" i="0">
                          <a:solidFill>
                            <a:srgbClr val="14213D"/>
                          </a:solidFill>
                          <a:latin typeface="Segoe UI"/>
                        </a:rPr>
                        <a:t>0</a:t>
                      </a:r>
                    </a:p>
                  </a:txBody>
                  <a:tcPr marL="127000" marR="127000" marT="25400" marB="25400" anchor="ctr">
                    <a:solidFill>
                      <a:srgbClr val="F8FAFC"/>
                    </a:solidFill>
                  </a:tcPr>
                </a:tc>
                <a:tc>
                  <a:txBody>
                    <a:bodyPr/>
                    <a:lstStyle/>
                    <a:p>
                      <a:r>
                        <a:rPr sz="1500" b="0" i="0">
                          <a:solidFill>
                            <a:srgbClr val="14213D"/>
                          </a:solidFill>
                          <a:latin typeface="Segoe UI"/>
                        </a:rPr>
                        <a:t>31</a:t>
                      </a:r>
                    </a:p>
                  </a:txBody>
                  <a:tcPr marL="127000" marR="127000" marT="25400" marB="25400" anchor="ctr">
                    <a:solidFill>
                      <a:srgbClr val="F8FAFC"/>
                    </a:solidFill>
                  </a:tcPr>
                </a:tc>
                <a:tc>
                  <a:txBody>
                    <a:bodyPr/>
                    <a:lstStyle/>
                    <a:p>
                      <a:r>
                        <a:rPr sz="1500" b="0" i="0">
                          <a:solidFill>
                            <a:srgbClr val="14213D"/>
                          </a:solidFill>
                          <a:latin typeface="Segoe UI"/>
                        </a:rPr>
                        <a:t>92.63 %</a:t>
                      </a:r>
                    </a:p>
                  </a:txBody>
                  <a:tcPr marL="127000" marR="127000" marT="25400" marB="25400" anchor="ctr">
                    <a:solidFill>
                      <a:srgbClr val="F8FAFC"/>
                    </a:solidFill>
                  </a:tcPr>
                </a:tc>
                <a:tc>
                  <a:txBody>
                    <a:bodyPr/>
                    <a:lstStyle/>
                    <a:p>
                      <a:r>
                        <a:rPr sz="1500" b="0" i="0">
                          <a:solidFill>
                            <a:srgbClr val="14213D"/>
                          </a:solidFill>
                          <a:latin typeface="Segoe UI"/>
                        </a:rPr>
                        <a:t>94.00 %</a:t>
                      </a:r>
                    </a:p>
                  </a:txBody>
                  <a:tcPr marL="127000" marR="127000" marT="25400" marB="25400" anchor="ctr">
                    <a:solidFill>
                      <a:srgbClr val="F8FAFC"/>
                    </a:solidFill>
                  </a:tcPr>
                </a:tc>
                <a:tc>
                  <a:txBody>
                    <a:bodyPr/>
                    <a:lstStyle/>
                    <a:p>
                      <a:r>
                        <a:rPr sz="1500" b="0" i="0">
                          <a:solidFill>
                            <a:srgbClr val="14213D"/>
                          </a:solidFill>
                          <a:latin typeface="Segoe UI"/>
                        </a:rPr>
                        <a:t>92.44 %</a:t>
                      </a:r>
                    </a:p>
                  </a:txBody>
                  <a:tcPr marL="127000" marR="127000" marT="25400" marB="25400" anchor="ctr">
                    <a:solidFill>
                      <a:srgbClr val="F8FAFC"/>
                    </a:solidFill>
                  </a:tcPr>
                </a:tc>
                <a:extLst>
                  <a:ext uri="{0D108BD9-81ED-4DB2-BD59-A6C34878D82A}">
                    <a16:rowId xmlns:a16="http://schemas.microsoft.com/office/drawing/2014/main" val="10006"/>
                  </a:ext>
                </a:extLst>
              </a:tr>
            </a:tbl>
          </a:graphicData>
        </a:graphic>
      </p:graphicFrame>
      <p:sp>
        <p:nvSpPr>
          <p:cNvPr id="11" name="Rounded Rectangle 10"/>
          <p:cNvSpPr/>
          <p:nvPr/>
        </p:nvSpPr>
        <p:spPr>
          <a:xfrm>
            <a:off x="640080" y="4983480"/>
            <a:ext cx="10911535" cy="1143000"/>
          </a:xfrm>
          <a:prstGeom prst="roundRect">
            <a:avLst>
              <a:gd name="adj" fmla="val 9600"/>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Oval 11"/>
          <p:cNvSpPr/>
          <p:nvPr/>
        </p:nvSpPr>
        <p:spPr>
          <a:xfrm>
            <a:off x="841247" y="5344668"/>
            <a:ext cx="420624" cy="420624"/>
          </a:xfrm>
          <a:prstGeom prst="ellipse">
            <a:avLst/>
          </a:prstGeom>
          <a:solidFill>
            <a:srgbClr val="F8E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41247" y="5344668"/>
            <a:ext cx="420624" cy="420624"/>
          </a:xfrm>
          <a:prstGeom prst="rect">
            <a:avLst/>
          </a:prstGeom>
          <a:noFill/>
        </p:spPr>
        <p:txBody>
          <a:bodyPr wrap="square" lIns="18288" rIns="18288" anchor="ctr">
            <a:spAutoFit/>
          </a:bodyPr>
          <a:lstStyle/>
          <a:p>
            <a:pPr algn="ctr"/>
            <a:r>
              <a:rPr sz="1300" b="1" i="0">
                <a:solidFill>
                  <a:srgbClr val="C0392B"/>
                </a:solidFill>
                <a:latin typeface="Segoe UI Semibold"/>
              </a:rPr>
              <a:t>!</a:t>
            </a:r>
          </a:p>
        </p:txBody>
      </p:sp>
      <p:sp>
        <p:nvSpPr>
          <p:cNvPr id="14" name="TextBox 13"/>
          <p:cNvSpPr txBox="1"/>
          <p:nvPr/>
        </p:nvSpPr>
        <p:spPr>
          <a:xfrm>
            <a:off x="1463039" y="4983480"/>
            <a:ext cx="9905695" cy="1143000"/>
          </a:xfrm>
          <a:prstGeom prst="rect">
            <a:avLst/>
          </a:prstGeom>
          <a:noFill/>
        </p:spPr>
        <p:txBody>
          <a:bodyPr wrap="square" anchor="ctr">
            <a:spAutoFit/>
          </a:bodyPr>
          <a:lstStyle/>
          <a:p>
            <a:r>
              <a:rPr sz="1500" b="1" i="0">
                <a:solidFill>
                  <a:srgbClr val="C0392B"/>
                </a:solidFill>
                <a:latin typeface="Segoe UI"/>
              </a:rPr>
              <a:t>Yes — 3e-4 scores higher on test (97.0) than the model I selected.</a:t>
            </a:r>
            <a:r>
              <a:rPr sz="1500" b="0" i="0">
                <a:solidFill>
                  <a:srgbClr val="14213D"/>
                </a:solidFill>
                <a:latin typeface="Segoe UI"/>
              </a:rPr>
              <a:t> Selecting it </a:t>
            </a:r>
            <a:r>
              <a:rPr sz="1500" b="0" i="1">
                <a:solidFill>
                  <a:srgbClr val="14213D"/>
                </a:solidFill>
                <a:latin typeface="Segoe UI"/>
              </a:rPr>
              <a:t>because</a:t>
            </a:r>
            <a:r>
              <a:rPr sz="1500" b="0" i="0">
                <a:solidFill>
                  <a:srgbClr val="14213D"/>
                </a:solidFill>
                <a:latin typeface="Segoe UI"/>
              </a:rPr>
              <a:t> it won on test would be selecting on the test set — the exact mistake this project is about avoiding. Validation chooses; test is reported once.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ounded Rectangle 2"/>
          <p:cNvSpPr/>
          <p:nvPr/>
        </p:nvSpPr>
        <p:spPr>
          <a:xfrm>
            <a:off x="640080" y="384048"/>
            <a:ext cx="1920240" cy="292608"/>
          </a:xfrm>
          <a:prstGeom prst="roundRect">
            <a:avLst>
              <a:gd name="adj" fmla="val 50000"/>
            </a:avLst>
          </a:prstGeom>
          <a:solidFill>
            <a:srgbClr val="E2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640080" y="384048"/>
            <a:ext cx="1920240" cy="292608"/>
          </a:xfrm>
          <a:prstGeom prst="rect">
            <a:avLst/>
          </a:prstGeom>
          <a:noFill/>
        </p:spPr>
        <p:txBody>
          <a:bodyPr wrap="square" lIns="18288" rIns="18288" anchor="ctr">
            <a:spAutoFit/>
          </a:bodyPr>
          <a:lstStyle/>
          <a:p>
            <a:pPr algn="ctr"/>
            <a:r>
              <a:rPr sz="1050" b="1" i="0" spc="120">
                <a:solidFill>
                  <a:srgbClr val="0F7C74"/>
                </a:solidFill>
                <a:latin typeface="Segoe UI"/>
              </a:rPr>
              <a:t>APPENDIX  ·  A4</a:t>
            </a:r>
          </a:p>
        </p:txBody>
      </p:sp>
      <p:pic>
        <p:nvPicPr>
          <p:cNvPr id="5" name="Picture 4" descr="kit_logo.png"/>
          <p:cNvPicPr>
            <a:picLocks noChangeAspect="1"/>
          </p:cNvPicPr>
          <p:nvPr/>
        </p:nvPicPr>
        <p:blipFill>
          <a:blip r:embed="rId2"/>
          <a:stretch>
            <a:fillRect/>
          </a:stretch>
        </p:blipFill>
        <p:spPr>
          <a:xfrm>
            <a:off x="10929823" y="320040"/>
            <a:ext cx="621792" cy="621792"/>
          </a:xfrm>
          <a:prstGeom prst="rect">
            <a:avLst/>
          </a:prstGeom>
        </p:spPr>
      </p:pic>
      <p:sp>
        <p:nvSpPr>
          <p:cNvPr id="6" name="TextBox 5"/>
          <p:cNvSpPr txBox="1"/>
          <p:nvPr/>
        </p:nvSpPr>
        <p:spPr>
          <a:xfrm>
            <a:off x="621792" y="731520"/>
            <a:ext cx="9997135" cy="685800"/>
          </a:xfrm>
          <a:prstGeom prst="rect">
            <a:avLst/>
          </a:prstGeom>
          <a:noFill/>
        </p:spPr>
        <p:txBody>
          <a:bodyPr wrap="square" lIns="18288" rIns="18288" anchor="ctr">
            <a:spAutoFit/>
          </a:bodyPr>
          <a:lstStyle/>
          <a:p>
            <a:pPr algn="l"/>
            <a:r>
              <a:rPr sz="3000" b="0" i="0">
                <a:solidFill>
                  <a:srgbClr val="14213D"/>
                </a:solidFill>
                <a:latin typeface="Segoe UI Semibold"/>
              </a:rPr>
              <a:t>The ALPR system this model serves</a:t>
            </a:r>
          </a:p>
        </p:txBody>
      </p:sp>
      <p:sp>
        <p:nvSpPr>
          <p:cNvPr id="7" name="Rectangle 6"/>
          <p:cNvSpPr/>
          <p:nvPr/>
        </p:nvSpPr>
        <p:spPr>
          <a:xfrm>
            <a:off x="640080" y="6601968"/>
            <a:ext cx="10088575"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640080" y="6336792"/>
            <a:ext cx="5486400" cy="237744"/>
          </a:xfrm>
          <a:prstGeom prst="rect">
            <a:avLst/>
          </a:prstGeom>
          <a:noFill/>
        </p:spPr>
        <p:txBody>
          <a:bodyPr wrap="square" lIns="18288" rIns="18288" anchor="t">
            <a:spAutoFit/>
          </a:bodyPr>
          <a:lstStyle/>
          <a:p>
            <a:pPr algn="l"/>
            <a:r>
              <a:rPr sz="850" b="0" i="0">
                <a:solidFill>
                  <a:srgbClr val="6B7280"/>
                </a:solidFill>
                <a:latin typeface="Segoe UI"/>
              </a:rPr>
              <a:t>Appendix  ·  So Sereysokbotra</a:t>
            </a:r>
          </a:p>
        </p:txBody>
      </p:sp>
      <p:sp>
        <p:nvSpPr>
          <p:cNvPr id="9" name="TextBox 8"/>
          <p:cNvSpPr txBox="1"/>
          <p:nvPr/>
        </p:nvSpPr>
        <p:spPr>
          <a:xfrm>
            <a:off x="10820095" y="6373368"/>
            <a:ext cx="731520" cy="274320"/>
          </a:xfrm>
          <a:prstGeom prst="rect">
            <a:avLst/>
          </a:prstGeom>
          <a:noFill/>
        </p:spPr>
        <p:txBody>
          <a:bodyPr wrap="square" lIns="18288" rIns="18288" anchor="t">
            <a:spAutoFit/>
          </a:bodyPr>
          <a:lstStyle/>
          <a:p>
            <a:pPr algn="r"/>
            <a:r>
              <a:rPr sz="1100" b="1" i="0">
                <a:solidFill>
                  <a:srgbClr val="0F7C74"/>
                </a:solidFill>
                <a:latin typeface="Segoe UI Semibold"/>
              </a:rPr>
              <a:t>A4</a:t>
            </a:r>
          </a:p>
        </p:txBody>
      </p:sp>
      <p:sp>
        <p:nvSpPr>
          <p:cNvPr id="10" name="Rounded Rectangle 9"/>
          <p:cNvSpPr/>
          <p:nvPr/>
        </p:nvSpPr>
        <p:spPr>
          <a:xfrm>
            <a:off x="640080" y="1737360"/>
            <a:ext cx="1875068" cy="1325880"/>
          </a:xfrm>
          <a:prstGeom prst="roundRect">
            <a:avLst>
              <a:gd name="adj" fmla="val 8275"/>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713231" y="1737360"/>
            <a:ext cx="1728764" cy="1325880"/>
          </a:xfrm>
          <a:prstGeom prst="rect">
            <a:avLst/>
          </a:prstGeom>
          <a:noFill/>
        </p:spPr>
        <p:txBody>
          <a:bodyPr wrap="square" anchor="ctr">
            <a:spAutoFit/>
          </a:bodyPr>
          <a:lstStyle/>
          <a:p>
            <a:pPr algn="ctr"/>
            <a:r>
              <a:rPr sz="1400" b="1" i="0">
                <a:solidFill>
                  <a:srgbClr val="14213D"/>
                </a:solidFill>
                <a:latin typeface="Segoe UI Semibold"/>
              </a:rPr>
              <a:t>YOLOv10</a:t>
            </a:r>
          </a:p>
          <a:p>
            <a:pPr algn="ctr"/>
            <a:r>
              <a:rPr sz="1050" b="0" i="0">
                <a:solidFill>
                  <a:srgbClr val="6B7280"/>
                </a:solidFill>
                <a:latin typeface="Segoe UI"/>
              </a:rPr>
              <a:t>plate detector</a:t>
            </a:r>
          </a:p>
        </p:txBody>
      </p:sp>
      <p:sp>
        <p:nvSpPr>
          <p:cNvPr id="12" name="Chevron 11"/>
          <p:cNvSpPr/>
          <p:nvPr/>
        </p:nvSpPr>
        <p:spPr>
          <a:xfrm>
            <a:off x="2615732" y="2281428"/>
            <a:ext cx="182880" cy="237744"/>
          </a:xfrm>
          <a:prstGeom prst="chevron">
            <a:avLst/>
          </a:prstGeom>
          <a:solidFill>
            <a:srgbClr val="0F7C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Rounded Rectangle 12"/>
          <p:cNvSpPr/>
          <p:nvPr/>
        </p:nvSpPr>
        <p:spPr>
          <a:xfrm>
            <a:off x="2899196" y="1737360"/>
            <a:ext cx="1875068" cy="1325880"/>
          </a:xfrm>
          <a:prstGeom prst="roundRect">
            <a:avLst>
              <a:gd name="adj" fmla="val 8275"/>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2972348" y="1737360"/>
            <a:ext cx="1728764" cy="1325880"/>
          </a:xfrm>
          <a:prstGeom prst="rect">
            <a:avLst/>
          </a:prstGeom>
          <a:noFill/>
        </p:spPr>
        <p:txBody>
          <a:bodyPr wrap="square" anchor="ctr">
            <a:spAutoFit/>
          </a:bodyPr>
          <a:lstStyle/>
          <a:p>
            <a:pPr algn="ctr"/>
            <a:r>
              <a:rPr sz="1400" b="1" i="0">
                <a:solidFill>
                  <a:srgbClr val="E09A1A"/>
                </a:solidFill>
                <a:latin typeface="Segoe UI Semibold"/>
              </a:rPr>
              <a:t>ResNet18</a:t>
            </a:r>
          </a:p>
          <a:p>
            <a:pPr algn="ctr"/>
            <a:r>
              <a:rPr sz="1050" b="0" i="0">
                <a:solidFill>
                  <a:srgbClr val="E2E8F0"/>
                </a:solidFill>
                <a:latin typeface="Segoe UI"/>
              </a:rPr>
              <a:t>province — this study</a:t>
            </a:r>
          </a:p>
        </p:txBody>
      </p:sp>
      <p:sp>
        <p:nvSpPr>
          <p:cNvPr id="15" name="Chevron 14"/>
          <p:cNvSpPr/>
          <p:nvPr/>
        </p:nvSpPr>
        <p:spPr>
          <a:xfrm>
            <a:off x="4874849" y="2281428"/>
            <a:ext cx="182880" cy="237744"/>
          </a:xfrm>
          <a:prstGeom prst="chevron">
            <a:avLst/>
          </a:prstGeom>
          <a:solidFill>
            <a:srgbClr val="0F7C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ounded Rectangle 15"/>
          <p:cNvSpPr/>
          <p:nvPr/>
        </p:nvSpPr>
        <p:spPr>
          <a:xfrm>
            <a:off x="5158313" y="1737360"/>
            <a:ext cx="1875068" cy="1325880"/>
          </a:xfrm>
          <a:prstGeom prst="roundRect">
            <a:avLst>
              <a:gd name="adj" fmla="val 8275"/>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5231465" y="1737360"/>
            <a:ext cx="1728764" cy="1325880"/>
          </a:xfrm>
          <a:prstGeom prst="rect">
            <a:avLst/>
          </a:prstGeom>
          <a:noFill/>
        </p:spPr>
        <p:txBody>
          <a:bodyPr wrap="square" anchor="ctr">
            <a:spAutoFit/>
          </a:bodyPr>
          <a:lstStyle/>
          <a:p>
            <a:pPr algn="ctr"/>
            <a:r>
              <a:rPr sz="1400" b="1" i="0">
                <a:solidFill>
                  <a:srgbClr val="14213D"/>
                </a:solidFill>
                <a:latin typeface="Segoe UI Semibold"/>
              </a:rPr>
              <a:t>CRNN + CTC</a:t>
            </a:r>
          </a:p>
          <a:p>
            <a:pPr algn="ctr"/>
            <a:r>
              <a:rPr sz="1050" b="0" i="0">
                <a:solidFill>
                  <a:srgbClr val="6B7280"/>
                </a:solidFill>
                <a:latin typeface="Segoe UI"/>
              </a:rPr>
              <a:t>number reader</a:t>
            </a:r>
          </a:p>
        </p:txBody>
      </p:sp>
      <p:sp>
        <p:nvSpPr>
          <p:cNvPr id="18" name="Chevron 17"/>
          <p:cNvSpPr/>
          <p:nvPr/>
        </p:nvSpPr>
        <p:spPr>
          <a:xfrm>
            <a:off x="7133965" y="2281428"/>
            <a:ext cx="182880" cy="237744"/>
          </a:xfrm>
          <a:prstGeom prst="chevron">
            <a:avLst/>
          </a:prstGeom>
          <a:solidFill>
            <a:srgbClr val="0F7C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ounded Rectangle 18"/>
          <p:cNvSpPr/>
          <p:nvPr/>
        </p:nvSpPr>
        <p:spPr>
          <a:xfrm>
            <a:off x="7417429" y="1737360"/>
            <a:ext cx="1875068" cy="1325880"/>
          </a:xfrm>
          <a:prstGeom prst="roundRect">
            <a:avLst>
              <a:gd name="adj" fmla="val 8275"/>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7490581" y="1737360"/>
            <a:ext cx="1728764" cy="1325880"/>
          </a:xfrm>
          <a:prstGeom prst="rect">
            <a:avLst/>
          </a:prstGeom>
          <a:noFill/>
        </p:spPr>
        <p:txBody>
          <a:bodyPr wrap="square" anchor="ctr">
            <a:spAutoFit/>
          </a:bodyPr>
          <a:lstStyle/>
          <a:p>
            <a:pPr algn="ctr"/>
            <a:r>
              <a:rPr sz="1400" b="1" i="0">
                <a:solidFill>
                  <a:srgbClr val="14213D"/>
                </a:solidFill>
                <a:latin typeface="Segoe UI Semibold"/>
              </a:rPr>
              <a:t>compose</a:t>
            </a:r>
          </a:p>
          <a:p>
            <a:pPr algn="ctr"/>
            <a:r>
              <a:rPr sz="1050" b="0" i="0">
                <a:solidFill>
                  <a:srgbClr val="6B7280"/>
                </a:solidFill>
                <a:latin typeface="Segoe UI"/>
              </a:rPr>
              <a:t>province + number</a:t>
            </a:r>
          </a:p>
        </p:txBody>
      </p:sp>
      <p:sp>
        <p:nvSpPr>
          <p:cNvPr id="21" name="Chevron 20"/>
          <p:cNvSpPr/>
          <p:nvPr/>
        </p:nvSpPr>
        <p:spPr>
          <a:xfrm>
            <a:off x="9393082" y="2281428"/>
            <a:ext cx="182880" cy="237744"/>
          </a:xfrm>
          <a:prstGeom prst="chevron">
            <a:avLst/>
          </a:prstGeom>
          <a:solidFill>
            <a:srgbClr val="0F7C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Rounded Rectangle 21"/>
          <p:cNvSpPr/>
          <p:nvPr/>
        </p:nvSpPr>
        <p:spPr>
          <a:xfrm>
            <a:off x="9676546" y="1737360"/>
            <a:ext cx="1875068" cy="1325880"/>
          </a:xfrm>
          <a:prstGeom prst="roundRect">
            <a:avLst>
              <a:gd name="adj" fmla="val 8275"/>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9749698" y="1737360"/>
            <a:ext cx="1728764" cy="1325880"/>
          </a:xfrm>
          <a:prstGeom prst="rect">
            <a:avLst/>
          </a:prstGeom>
          <a:noFill/>
        </p:spPr>
        <p:txBody>
          <a:bodyPr wrap="square" anchor="ctr">
            <a:spAutoFit/>
          </a:bodyPr>
          <a:lstStyle/>
          <a:p>
            <a:pPr algn="ctr"/>
            <a:r>
              <a:rPr sz="1400" b="1" i="0">
                <a:solidFill>
                  <a:srgbClr val="14213D"/>
                </a:solidFill>
                <a:latin typeface="Segoe UI Semibold"/>
              </a:rPr>
              <a:t>gate</a:t>
            </a:r>
          </a:p>
          <a:p>
            <a:pPr algn="ctr"/>
            <a:r>
              <a:rPr sz="1050" b="0" i="0">
                <a:solidFill>
                  <a:srgbClr val="6B7280"/>
                </a:solidFill>
                <a:latin typeface="Segoe UI"/>
              </a:rPr>
              <a:t>SQLite whitelist, fail-safe</a:t>
            </a:r>
          </a:p>
        </p:txBody>
      </p:sp>
      <p:sp>
        <p:nvSpPr>
          <p:cNvPr id="24" name="TextBox 23"/>
          <p:cNvSpPr txBox="1"/>
          <p:nvPr/>
        </p:nvSpPr>
        <p:spPr>
          <a:xfrm>
            <a:off x="640080" y="3520440"/>
            <a:ext cx="10911535" cy="256032"/>
          </a:xfrm>
          <a:prstGeom prst="rect">
            <a:avLst/>
          </a:prstGeom>
          <a:noFill/>
        </p:spPr>
        <p:txBody>
          <a:bodyPr wrap="square" lIns="18288" rIns="18288" anchor="t">
            <a:spAutoFit/>
          </a:bodyPr>
          <a:lstStyle/>
          <a:p>
            <a:pPr algn="l"/>
            <a:r>
              <a:rPr sz="950" b="1" i="0" spc="140">
                <a:solidFill>
                  <a:srgbClr val="6B7280"/>
                </a:solidFill>
                <a:latin typeface="Segoe UI"/>
              </a:rPr>
              <a:t>END-TO-END ON REAL SCENES</a:t>
            </a:r>
          </a:p>
        </p:txBody>
      </p:sp>
      <p:sp>
        <p:nvSpPr>
          <p:cNvPr id="25" name="Rectangle 24"/>
          <p:cNvSpPr/>
          <p:nvPr/>
        </p:nvSpPr>
        <p:spPr>
          <a:xfrm>
            <a:off x="640080" y="3794760"/>
            <a:ext cx="10911535"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Rounded Rectangle 25"/>
          <p:cNvSpPr/>
          <p:nvPr/>
        </p:nvSpPr>
        <p:spPr>
          <a:xfrm>
            <a:off x="640080" y="3977639"/>
            <a:ext cx="2036003" cy="1188720"/>
          </a:xfrm>
          <a:prstGeom prst="roundRect">
            <a:avLst>
              <a:gd name="adj" fmla="val 9230"/>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Rectangle 26"/>
          <p:cNvSpPr/>
          <p:nvPr/>
        </p:nvSpPr>
        <p:spPr>
          <a:xfrm>
            <a:off x="640080" y="4178807"/>
            <a:ext cx="64008" cy="786384"/>
          </a:xfrm>
          <a:prstGeom prst="rect">
            <a:avLst/>
          </a:prstGeom>
          <a:solidFill>
            <a:srgbClr val="0F7C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896112" y="4050791"/>
            <a:ext cx="1670243" cy="1042416"/>
          </a:xfrm>
          <a:prstGeom prst="rect">
            <a:avLst/>
          </a:prstGeom>
          <a:noFill/>
        </p:spPr>
        <p:txBody>
          <a:bodyPr wrap="square" anchor="ctr">
            <a:spAutoFit/>
          </a:bodyPr>
          <a:lstStyle/>
          <a:p>
            <a:r>
              <a:rPr sz="2600" b="1" i="0">
                <a:solidFill>
                  <a:srgbClr val="0F7C74"/>
                </a:solidFill>
                <a:latin typeface="Segoe UI Semibold"/>
              </a:rPr>
              <a:t>143/149</a:t>
            </a:r>
          </a:p>
          <a:p>
            <a:r>
              <a:rPr sz="1000" b="0" i="0">
                <a:solidFill>
                  <a:srgbClr val="6B7280"/>
                </a:solidFill>
                <a:latin typeface="Segoe UI"/>
              </a:rPr>
              <a:t>plate detected</a:t>
            </a:r>
          </a:p>
        </p:txBody>
      </p:sp>
      <p:sp>
        <p:nvSpPr>
          <p:cNvPr id="29" name="Rounded Rectangle 28"/>
          <p:cNvSpPr/>
          <p:nvPr/>
        </p:nvSpPr>
        <p:spPr>
          <a:xfrm>
            <a:off x="2858963" y="3977639"/>
            <a:ext cx="2036003" cy="1188720"/>
          </a:xfrm>
          <a:prstGeom prst="roundRect">
            <a:avLst>
              <a:gd name="adj" fmla="val 9230"/>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Rectangle 29"/>
          <p:cNvSpPr/>
          <p:nvPr/>
        </p:nvSpPr>
        <p:spPr>
          <a:xfrm>
            <a:off x="2858963" y="4178807"/>
            <a:ext cx="64008" cy="786384"/>
          </a:xfrm>
          <a:prstGeom prst="rect">
            <a:avLst/>
          </a:prstGeom>
          <a:solidFill>
            <a:srgbClr val="0F7C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Box 30"/>
          <p:cNvSpPr txBox="1"/>
          <p:nvPr/>
        </p:nvSpPr>
        <p:spPr>
          <a:xfrm>
            <a:off x="3114995" y="4050791"/>
            <a:ext cx="1670243" cy="1042416"/>
          </a:xfrm>
          <a:prstGeom prst="rect">
            <a:avLst/>
          </a:prstGeom>
          <a:noFill/>
        </p:spPr>
        <p:txBody>
          <a:bodyPr wrap="square" anchor="ctr">
            <a:spAutoFit/>
          </a:bodyPr>
          <a:lstStyle/>
          <a:p>
            <a:r>
              <a:rPr sz="2600" b="1" i="0">
                <a:solidFill>
                  <a:srgbClr val="0F7C74"/>
                </a:solidFill>
                <a:latin typeface="Segoe UI Semibold"/>
              </a:rPr>
              <a:t>83.9 %</a:t>
            </a:r>
          </a:p>
          <a:p>
            <a:r>
              <a:rPr sz="1000" b="0" i="0">
                <a:solidFill>
                  <a:srgbClr val="6B7280"/>
                </a:solidFill>
                <a:latin typeface="Segoe UI"/>
              </a:rPr>
              <a:t>number correct</a:t>
            </a:r>
          </a:p>
        </p:txBody>
      </p:sp>
      <p:sp>
        <p:nvSpPr>
          <p:cNvPr id="32" name="Rounded Rectangle 31"/>
          <p:cNvSpPr/>
          <p:nvPr/>
        </p:nvSpPr>
        <p:spPr>
          <a:xfrm>
            <a:off x="5077846" y="3977639"/>
            <a:ext cx="2036003" cy="1188720"/>
          </a:xfrm>
          <a:prstGeom prst="roundRect">
            <a:avLst>
              <a:gd name="adj" fmla="val 9230"/>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Rectangle 32"/>
          <p:cNvSpPr/>
          <p:nvPr/>
        </p:nvSpPr>
        <p:spPr>
          <a:xfrm>
            <a:off x="5077846" y="4178807"/>
            <a:ext cx="64008" cy="786384"/>
          </a:xfrm>
          <a:prstGeom prst="rect">
            <a:avLst/>
          </a:prstGeom>
          <a:solidFill>
            <a:srgbClr val="0F7C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TextBox 33"/>
          <p:cNvSpPr txBox="1"/>
          <p:nvPr/>
        </p:nvSpPr>
        <p:spPr>
          <a:xfrm>
            <a:off x="5333878" y="4050791"/>
            <a:ext cx="1670243" cy="1042416"/>
          </a:xfrm>
          <a:prstGeom prst="rect">
            <a:avLst/>
          </a:prstGeom>
          <a:noFill/>
        </p:spPr>
        <p:txBody>
          <a:bodyPr wrap="square" anchor="ctr">
            <a:spAutoFit/>
          </a:bodyPr>
          <a:lstStyle/>
          <a:p>
            <a:r>
              <a:rPr sz="2600" b="1" i="0">
                <a:solidFill>
                  <a:srgbClr val="0F7C74"/>
                </a:solidFill>
                <a:latin typeface="Segoe UI Semibold"/>
              </a:rPr>
              <a:t>94.0 %</a:t>
            </a:r>
          </a:p>
          <a:p>
            <a:r>
              <a:rPr sz="1000" b="0" i="0">
                <a:solidFill>
                  <a:srgbClr val="6B7280"/>
                </a:solidFill>
                <a:latin typeface="Segoe UI"/>
              </a:rPr>
              <a:t>province correct</a:t>
            </a:r>
          </a:p>
        </p:txBody>
      </p:sp>
      <p:sp>
        <p:nvSpPr>
          <p:cNvPr id="35" name="Rounded Rectangle 34"/>
          <p:cNvSpPr/>
          <p:nvPr/>
        </p:nvSpPr>
        <p:spPr>
          <a:xfrm>
            <a:off x="7296729" y="3977639"/>
            <a:ext cx="2036003" cy="1188720"/>
          </a:xfrm>
          <a:prstGeom prst="roundRect">
            <a:avLst>
              <a:gd name="adj" fmla="val 9230"/>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Rectangle 35"/>
          <p:cNvSpPr/>
          <p:nvPr/>
        </p:nvSpPr>
        <p:spPr>
          <a:xfrm>
            <a:off x="7296729" y="4178807"/>
            <a:ext cx="64008" cy="786384"/>
          </a:xfrm>
          <a:prstGeom prst="rect">
            <a:avLst/>
          </a:prstGeom>
          <a:solidFill>
            <a:srgbClr val="2F8F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TextBox 36"/>
          <p:cNvSpPr txBox="1"/>
          <p:nvPr/>
        </p:nvSpPr>
        <p:spPr>
          <a:xfrm>
            <a:off x="7552761" y="4050791"/>
            <a:ext cx="1670243" cy="1042416"/>
          </a:xfrm>
          <a:prstGeom prst="rect">
            <a:avLst/>
          </a:prstGeom>
          <a:noFill/>
        </p:spPr>
        <p:txBody>
          <a:bodyPr wrap="square" anchor="ctr">
            <a:spAutoFit/>
          </a:bodyPr>
          <a:lstStyle/>
          <a:p>
            <a:r>
              <a:rPr sz="2600" b="1" i="0">
                <a:solidFill>
                  <a:srgbClr val="2F8F4E"/>
                </a:solidFill>
                <a:latin typeface="Segoe UI Semibold"/>
              </a:rPr>
              <a:t>0</a:t>
            </a:r>
          </a:p>
          <a:p>
            <a:r>
              <a:rPr sz="1000" b="0" i="0">
                <a:solidFill>
                  <a:srgbClr val="6B7280"/>
                </a:solidFill>
                <a:latin typeface="Segoe UI"/>
              </a:rPr>
              <a:t>false accepts</a:t>
            </a:r>
          </a:p>
        </p:txBody>
      </p:sp>
      <p:sp>
        <p:nvSpPr>
          <p:cNvPr id="38" name="Rounded Rectangle 37"/>
          <p:cNvSpPr/>
          <p:nvPr/>
        </p:nvSpPr>
        <p:spPr>
          <a:xfrm>
            <a:off x="9515612" y="3977639"/>
            <a:ext cx="2036003" cy="1188720"/>
          </a:xfrm>
          <a:prstGeom prst="roundRect">
            <a:avLst>
              <a:gd name="adj" fmla="val 9230"/>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Rectangle 38"/>
          <p:cNvSpPr/>
          <p:nvPr/>
        </p:nvSpPr>
        <p:spPr>
          <a:xfrm>
            <a:off x="9515612" y="4178807"/>
            <a:ext cx="64008" cy="786384"/>
          </a:xfrm>
          <a:prstGeom prst="rect">
            <a:avLst/>
          </a:prstGeom>
          <a:solidFill>
            <a:srgbClr val="0F7C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TextBox 39"/>
          <p:cNvSpPr txBox="1"/>
          <p:nvPr/>
        </p:nvSpPr>
        <p:spPr>
          <a:xfrm>
            <a:off x="9771644" y="4050791"/>
            <a:ext cx="1670243" cy="1042416"/>
          </a:xfrm>
          <a:prstGeom prst="rect">
            <a:avLst/>
          </a:prstGeom>
          <a:noFill/>
        </p:spPr>
        <p:txBody>
          <a:bodyPr wrap="square" anchor="ctr">
            <a:spAutoFit/>
          </a:bodyPr>
          <a:lstStyle/>
          <a:p>
            <a:r>
              <a:rPr sz="2600" b="1" i="0">
                <a:solidFill>
                  <a:srgbClr val="0F7C74"/>
                </a:solidFill>
                <a:latin typeface="Segoe UI Semibold"/>
              </a:rPr>
              <a:t>~50 ms</a:t>
            </a:r>
          </a:p>
          <a:p>
            <a:r>
              <a:rPr sz="1000" b="0" i="0">
                <a:solidFill>
                  <a:srgbClr val="6B7280"/>
                </a:solidFill>
                <a:latin typeface="Segoe UI"/>
              </a:rPr>
              <a:t>per frame</a:t>
            </a:r>
          </a:p>
        </p:txBody>
      </p:sp>
      <p:sp>
        <p:nvSpPr>
          <p:cNvPr id="41" name="TextBox 40"/>
          <p:cNvSpPr txBox="1"/>
          <p:nvPr/>
        </p:nvSpPr>
        <p:spPr>
          <a:xfrm>
            <a:off x="640080" y="5440680"/>
            <a:ext cx="10911535" cy="457200"/>
          </a:xfrm>
          <a:prstGeom prst="rect">
            <a:avLst/>
          </a:prstGeom>
          <a:noFill/>
        </p:spPr>
        <p:txBody>
          <a:bodyPr wrap="square">
            <a:spAutoFit/>
          </a:bodyPr>
          <a:lstStyle/>
          <a:p>
            <a:pPr algn="ctr"/>
            <a:r>
              <a:rPr sz="1300" b="0" i="0">
                <a:solidFill>
                  <a:srgbClr val="6B7280"/>
                </a:solidFill>
                <a:latin typeface="Segoe UI"/>
              </a:rPr>
              <a:t>149 labelled real scenes · RTX 3050 · whitelist of 137 near-miss plates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ounded Rectangle 2"/>
          <p:cNvSpPr/>
          <p:nvPr/>
        </p:nvSpPr>
        <p:spPr>
          <a:xfrm>
            <a:off x="640080" y="384048"/>
            <a:ext cx="1920240" cy="292608"/>
          </a:xfrm>
          <a:prstGeom prst="roundRect">
            <a:avLst>
              <a:gd name="adj" fmla="val 50000"/>
            </a:avLst>
          </a:prstGeom>
          <a:solidFill>
            <a:srgbClr val="E2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640080" y="384048"/>
            <a:ext cx="1920240" cy="292608"/>
          </a:xfrm>
          <a:prstGeom prst="rect">
            <a:avLst/>
          </a:prstGeom>
          <a:noFill/>
        </p:spPr>
        <p:txBody>
          <a:bodyPr wrap="square" lIns="18288" rIns="18288" anchor="ctr">
            <a:spAutoFit/>
          </a:bodyPr>
          <a:lstStyle/>
          <a:p>
            <a:pPr algn="ctr"/>
            <a:r>
              <a:rPr sz="1050" b="1" i="0" spc="120">
                <a:solidFill>
                  <a:srgbClr val="0F7C74"/>
                </a:solidFill>
                <a:latin typeface="Segoe UI"/>
              </a:rPr>
              <a:t>APPENDIX  ·  A5</a:t>
            </a:r>
          </a:p>
        </p:txBody>
      </p:sp>
      <p:pic>
        <p:nvPicPr>
          <p:cNvPr id="5" name="Picture 4" descr="kit_logo.png"/>
          <p:cNvPicPr>
            <a:picLocks noChangeAspect="1"/>
          </p:cNvPicPr>
          <p:nvPr/>
        </p:nvPicPr>
        <p:blipFill>
          <a:blip r:embed="rId2"/>
          <a:stretch>
            <a:fillRect/>
          </a:stretch>
        </p:blipFill>
        <p:spPr>
          <a:xfrm>
            <a:off x="10929823" y="320040"/>
            <a:ext cx="621792" cy="621792"/>
          </a:xfrm>
          <a:prstGeom prst="rect">
            <a:avLst/>
          </a:prstGeom>
        </p:spPr>
      </p:pic>
      <p:sp>
        <p:nvSpPr>
          <p:cNvPr id="6" name="TextBox 5"/>
          <p:cNvSpPr txBox="1"/>
          <p:nvPr/>
        </p:nvSpPr>
        <p:spPr>
          <a:xfrm>
            <a:off x="621792" y="731520"/>
            <a:ext cx="9997135" cy="685800"/>
          </a:xfrm>
          <a:prstGeom prst="rect">
            <a:avLst/>
          </a:prstGeom>
          <a:noFill/>
        </p:spPr>
        <p:txBody>
          <a:bodyPr wrap="square" lIns="18288" rIns="18288" anchor="ctr">
            <a:spAutoFit/>
          </a:bodyPr>
          <a:lstStyle/>
          <a:p>
            <a:pPr algn="l"/>
            <a:r>
              <a:rPr sz="3000" b="0" i="0">
                <a:solidFill>
                  <a:srgbClr val="14213D"/>
                </a:solidFill>
                <a:latin typeface="Segoe UI Semibold"/>
              </a:rPr>
              <a:t>Confusion matrix — approach C</a:t>
            </a:r>
          </a:p>
        </p:txBody>
      </p:sp>
      <p:sp>
        <p:nvSpPr>
          <p:cNvPr id="7" name="Rectangle 6"/>
          <p:cNvSpPr/>
          <p:nvPr/>
        </p:nvSpPr>
        <p:spPr>
          <a:xfrm>
            <a:off x="640080" y="6601968"/>
            <a:ext cx="10088575"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640080" y="6336792"/>
            <a:ext cx="5486400" cy="237744"/>
          </a:xfrm>
          <a:prstGeom prst="rect">
            <a:avLst/>
          </a:prstGeom>
          <a:noFill/>
        </p:spPr>
        <p:txBody>
          <a:bodyPr wrap="square" lIns="18288" rIns="18288" anchor="t">
            <a:spAutoFit/>
          </a:bodyPr>
          <a:lstStyle/>
          <a:p>
            <a:pPr algn="l"/>
            <a:r>
              <a:rPr sz="850" b="0" i="0">
                <a:solidFill>
                  <a:srgbClr val="6B7280"/>
                </a:solidFill>
                <a:latin typeface="Segoe UI"/>
              </a:rPr>
              <a:t>Appendix  ·  So Sereysokbotra</a:t>
            </a:r>
          </a:p>
        </p:txBody>
      </p:sp>
      <p:sp>
        <p:nvSpPr>
          <p:cNvPr id="9" name="TextBox 8"/>
          <p:cNvSpPr txBox="1"/>
          <p:nvPr/>
        </p:nvSpPr>
        <p:spPr>
          <a:xfrm>
            <a:off x="10820095" y="6373368"/>
            <a:ext cx="731520" cy="274320"/>
          </a:xfrm>
          <a:prstGeom prst="rect">
            <a:avLst/>
          </a:prstGeom>
          <a:noFill/>
        </p:spPr>
        <p:txBody>
          <a:bodyPr wrap="square" lIns="18288" rIns="18288" anchor="t">
            <a:spAutoFit/>
          </a:bodyPr>
          <a:lstStyle/>
          <a:p>
            <a:pPr algn="r"/>
            <a:r>
              <a:rPr sz="1100" b="1" i="0">
                <a:solidFill>
                  <a:srgbClr val="0F7C74"/>
                </a:solidFill>
                <a:latin typeface="Segoe UI Semibold"/>
              </a:rPr>
              <a:t>A5</a:t>
            </a:r>
          </a:p>
        </p:txBody>
      </p:sp>
      <p:sp>
        <p:nvSpPr>
          <p:cNvPr id="10" name="Rounded Rectangle 9"/>
          <p:cNvSpPr/>
          <p:nvPr/>
        </p:nvSpPr>
        <p:spPr>
          <a:xfrm>
            <a:off x="640080" y="1600200"/>
            <a:ext cx="10911535" cy="4572000"/>
          </a:xfrm>
          <a:prstGeom prst="roundRect">
            <a:avLst>
              <a:gd name="adj" fmla="val 2400"/>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1" name="Picture 10" descr="fig3_confusion_C_resnet18_finetune.png"/>
          <p:cNvPicPr>
            <a:picLocks noChangeAspect="1"/>
          </p:cNvPicPr>
          <p:nvPr/>
        </p:nvPicPr>
        <p:blipFill>
          <a:blip r:embed="rId3"/>
          <a:stretch>
            <a:fillRect/>
          </a:stretch>
        </p:blipFill>
        <p:spPr>
          <a:xfrm>
            <a:off x="3639480" y="1764792"/>
            <a:ext cx="4912734" cy="4242816"/>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ounded Rectangle 2"/>
          <p:cNvSpPr/>
          <p:nvPr/>
        </p:nvSpPr>
        <p:spPr>
          <a:xfrm>
            <a:off x="640080" y="384048"/>
            <a:ext cx="1920240" cy="292608"/>
          </a:xfrm>
          <a:prstGeom prst="roundRect">
            <a:avLst>
              <a:gd name="adj" fmla="val 50000"/>
            </a:avLst>
          </a:prstGeom>
          <a:solidFill>
            <a:srgbClr val="E2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640080" y="384048"/>
            <a:ext cx="1920240" cy="292608"/>
          </a:xfrm>
          <a:prstGeom prst="rect">
            <a:avLst/>
          </a:prstGeom>
          <a:noFill/>
        </p:spPr>
        <p:txBody>
          <a:bodyPr wrap="square" lIns="18288" rIns="18288" anchor="ctr">
            <a:spAutoFit/>
          </a:bodyPr>
          <a:lstStyle/>
          <a:p>
            <a:pPr algn="ctr"/>
            <a:r>
              <a:rPr sz="1050" b="1" i="0" spc="120">
                <a:solidFill>
                  <a:srgbClr val="0F7C74"/>
                </a:solidFill>
                <a:latin typeface="Segoe UI"/>
              </a:rPr>
              <a:t>APPENDIX  ·  A6</a:t>
            </a:r>
          </a:p>
        </p:txBody>
      </p:sp>
      <p:pic>
        <p:nvPicPr>
          <p:cNvPr id="5" name="Picture 4" descr="kit_logo.png"/>
          <p:cNvPicPr>
            <a:picLocks noChangeAspect="1"/>
          </p:cNvPicPr>
          <p:nvPr/>
        </p:nvPicPr>
        <p:blipFill>
          <a:blip r:embed="rId2"/>
          <a:stretch>
            <a:fillRect/>
          </a:stretch>
        </p:blipFill>
        <p:spPr>
          <a:xfrm>
            <a:off x="10929823" y="320040"/>
            <a:ext cx="621792" cy="621792"/>
          </a:xfrm>
          <a:prstGeom prst="rect">
            <a:avLst/>
          </a:prstGeom>
        </p:spPr>
      </p:pic>
      <p:sp>
        <p:nvSpPr>
          <p:cNvPr id="6" name="TextBox 5"/>
          <p:cNvSpPr txBox="1"/>
          <p:nvPr/>
        </p:nvSpPr>
        <p:spPr>
          <a:xfrm>
            <a:off x="621792" y="731520"/>
            <a:ext cx="9997135" cy="685800"/>
          </a:xfrm>
          <a:prstGeom prst="rect">
            <a:avLst/>
          </a:prstGeom>
          <a:noFill/>
        </p:spPr>
        <p:txBody>
          <a:bodyPr wrap="square" lIns="18288" rIns="18288" anchor="ctr">
            <a:spAutoFit/>
          </a:bodyPr>
          <a:lstStyle/>
          <a:p>
            <a:pPr algn="l"/>
            <a:r>
              <a:rPr sz="3000" b="0" i="0">
                <a:solidFill>
                  <a:srgbClr val="14213D"/>
                </a:solidFill>
                <a:latin typeface="Segoe UI Semibold"/>
              </a:rPr>
              <a:t>Per-class accuracy vs training-set size</a:t>
            </a:r>
          </a:p>
        </p:txBody>
      </p:sp>
      <p:sp>
        <p:nvSpPr>
          <p:cNvPr id="7" name="Rectangle 6"/>
          <p:cNvSpPr/>
          <p:nvPr/>
        </p:nvSpPr>
        <p:spPr>
          <a:xfrm>
            <a:off x="640080" y="6601968"/>
            <a:ext cx="10088575"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640080" y="6336792"/>
            <a:ext cx="5486400" cy="237744"/>
          </a:xfrm>
          <a:prstGeom prst="rect">
            <a:avLst/>
          </a:prstGeom>
          <a:noFill/>
        </p:spPr>
        <p:txBody>
          <a:bodyPr wrap="square" lIns="18288" rIns="18288" anchor="t">
            <a:spAutoFit/>
          </a:bodyPr>
          <a:lstStyle/>
          <a:p>
            <a:pPr algn="l"/>
            <a:r>
              <a:rPr sz="850" b="0" i="0">
                <a:solidFill>
                  <a:srgbClr val="6B7280"/>
                </a:solidFill>
                <a:latin typeface="Segoe UI"/>
              </a:rPr>
              <a:t>Appendix  ·  So Sereysokbotra</a:t>
            </a:r>
          </a:p>
        </p:txBody>
      </p:sp>
      <p:sp>
        <p:nvSpPr>
          <p:cNvPr id="9" name="TextBox 8"/>
          <p:cNvSpPr txBox="1"/>
          <p:nvPr/>
        </p:nvSpPr>
        <p:spPr>
          <a:xfrm>
            <a:off x="10820095" y="6373368"/>
            <a:ext cx="731520" cy="274320"/>
          </a:xfrm>
          <a:prstGeom prst="rect">
            <a:avLst/>
          </a:prstGeom>
          <a:noFill/>
        </p:spPr>
        <p:txBody>
          <a:bodyPr wrap="square" lIns="18288" rIns="18288" anchor="t">
            <a:spAutoFit/>
          </a:bodyPr>
          <a:lstStyle/>
          <a:p>
            <a:pPr algn="r"/>
            <a:r>
              <a:rPr sz="1100" b="1" i="0">
                <a:solidFill>
                  <a:srgbClr val="0F7C74"/>
                </a:solidFill>
                <a:latin typeface="Segoe UI Semibold"/>
              </a:rPr>
              <a:t>A6</a:t>
            </a:r>
          </a:p>
        </p:txBody>
      </p:sp>
      <p:sp>
        <p:nvSpPr>
          <p:cNvPr id="10" name="Rounded Rectangle 9"/>
          <p:cNvSpPr/>
          <p:nvPr/>
        </p:nvSpPr>
        <p:spPr>
          <a:xfrm>
            <a:off x="640080" y="1600200"/>
            <a:ext cx="10911535" cy="4572000"/>
          </a:xfrm>
          <a:prstGeom prst="roundRect">
            <a:avLst>
              <a:gd name="adj" fmla="val 2400"/>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1" name="Picture 10" descr="fig4_per_class_C_resnet18_finetune.png"/>
          <p:cNvPicPr>
            <a:picLocks noChangeAspect="1"/>
          </p:cNvPicPr>
          <p:nvPr/>
        </p:nvPicPr>
        <p:blipFill>
          <a:blip r:embed="rId3"/>
          <a:stretch>
            <a:fillRect/>
          </a:stretch>
        </p:blipFill>
        <p:spPr>
          <a:xfrm>
            <a:off x="804671" y="1769729"/>
            <a:ext cx="10582351" cy="423294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ounded Rectangle 2"/>
          <p:cNvSpPr/>
          <p:nvPr/>
        </p:nvSpPr>
        <p:spPr>
          <a:xfrm>
            <a:off x="640080" y="384048"/>
            <a:ext cx="1920240" cy="292608"/>
          </a:xfrm>
          <a:prstGeom prst="roundRect">
            <a:avLst>
              <a:gd name="adj" fmla="val 50000"/>
            </a:avLst>
          </a:prstGeom>
          <a:solidFill>
            <a:srgbClr val="E2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640080" y="384048"/>
            <a:ext cx="1920240" cy="292608"/>
          </a:xfrm>
          <a:prstGeom prst="rect">
            <a:avLst/>
          </a:prstGeom>
          <a:noFill/>
        </p:spPr>
        <p:txBody>
          <a:bodyPr wrap="square" lIns="18288" rIns="18288" anchor="ctr">
            <a:spAutoFit/>
          </a:bodyPr>
          <a:lstStyle/>
          <a:p>
            <a:pPr algn="ctr"/>
            <a:r>
              <a:rPr sz="1050" b="1" i="0" spc="120">
                <a:solidFill>
                  <a:srgbClr val="0F7C74"/>
                </a:solidFill>
                <a:latin typeface="Segoe UI"/>
              </a:rPr>
              <a:t>APPENDIX  ·  A7</a:t>
            </a:r>
          </a:p>
        </p:txBody>
      </p:sp>
      <p:pic>
        <p:nvPicPr>
          <p:cNvPr id="5" name="Picture 4" descr="kit_logo.png"/>
          <p:cNvPicPr>
            <a:picLocks noChangeAspect="1"/>
          </p:cNvPicPr>
          <p:nvPr/>
        </p:nvPicPr>
        <p:blipFill>
          <a:blip r:embed="rId2"/>
          <a:stretch>
            <a:fillRect/>
          </a:stretch>
        </p:blipFill>
        <p:spPr>
          <a:xfrm>
            <a:off x="10929823" y="320040"/>
            <a:ext cx="621792" cy="621792"/>
          </a:xfrm>
          <a:prstGeom prst="rect">
            <a:avLst/>
          </a:prstGeom>
        </p:spPr>
      </p:pic>
      <p:sp>
        <p:nvSpPr>
          <p:cNvPr id="6" name="TextBox 5"/>
          <p:cNvSpPr txBox="1"/>
          <p:nvPr/>
        </p:nvSpPr>
        <p:spPr>
          <a:xfrm>
            <a:off x="621792" y="731520"/>
            <a:ext cx="9997135" cy="685800"/>
          </a:xfrm>
          <a:prstGeom prst="rect">
            <a:avLst/>
          </a:prstGeom>
          <a:noFill/>
        </p:spPr>
        <p:txBody>
          <a:bodyPr wrap="square" lIns="18288" rIns="18288" anchor="ctr">
            <a:spAutoFit/>
          </a:bodyPr>
          <a:lstStyle/>
          <a:p>
            <a:pPr algn="l"/>
            <a:r>
              <a:rPr sz="3000" b="0" i="0">
                <a:solidFill>
                  <a:srgbClr val="14213D"/>
                </a:solidFill>
                <a:latin typeface="Segoe UI Semibold"/>
              </a:rPr>
              <a:t>Measurement discipline</a:t>
            </a:r>
          </a:p>
        </p:txBody>
      </p:sp>
      <p:sp>
        <p:nvSpPr>
          <p:cNvPr id="7" name="Rectangle 6"/>
          <p:cNvSpPr/>
          <p:nvPr/>
        </p:nvSpPr>
        <p:spPr>
          <a:xfrm>
            <a:off x="640080" y="6601968"/>
            <a:ext cx="10088575"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640080" y="6336792"/>
            <a:ext cx="5486400" cy="237744"/>
          </a:xfrm>
          <a:prstGeom prst="rect">
            <a:avLst/>
          </a:prstGeom>
          <a:noFill/>
        </p:spPr>
        <p:txBody>
          <a:bodyPr wrap="square" lIns="18288" rIns="18288" anchor="t">
            <a:spAutoFit/>
          </a:bodyPr>
          <a:lstStyle/>
          <a:p>
            <a:pPr algn="l"/>
            <a:r>
              <a:rPr sz="850" b="0" i="0">
                <a:solidFill>
                  <a:srgbClr val="6B7280"/>
                </a:solidFill>
                <a:latin typeface="Segoe UI"/>
              </a:rPr>
              <a:t>Appendix  ·  So Sereysokbotra</a:t>
            </a:r>
          </a:p>
        </p:txBody>
      </p:sp>
      <p:sp>
        <p:nvSpPr>
          <p:cNvPr id="9" name="TextBox 8"/>
          <p:cNvSpPr txBox="1"/>
          <p:nvPr/>
        </p:nvSpPr>
        <p:spPr>
          <a:xfrm>
            <a:off x="10820095" y="6373368"/>
            <a:ext cx="731520" cy="274320"/>
          </a:xfrm>
          <a:prstGeom prst="rect">
            <a:avLst/>
          </a:prstGeom>
          <a:noFill/>
        </p:spPr>
        <p:txBody>
          <a:bodyPr wrap="square" lIns="18288" rIns="18288" anchor="t">
            <a:spAutoFit/>
          </a:bodyPr>
          <a:lstStyle/>
          <a:p>
            <a:pPr algn="r"/>
            <a:r>
              <a:rPr sz="1100" b="1" i="0">
                <a:solidFill>
                  <a:srgbClr val="0F7C74"/>
                </a:solidFill>
                <a:latin typeface="Segoe UI Semibold"/>
              </a:rPr>
              <a:t>A7</a:t>
            </a:r>
          </a:p>
        </p:txBody>
      </p:sp>
      <p:sp>
        <p:nvSpPr>
          <p:cNvPr id="10" name="Rounded Rectangle 9"/>
          <p:cNvSpPr/>
          <p:nvPr/>
        </p:nvSpPr>
        <p:spPr>
          <a:xfrm>
            <a:off x="640080" y="1645920"/>
            <a:ext cx="5355183" cy="1819656"/>
          </a:xfrm>
          <a:prstGeom prst="roundRect">
            <a:avLst>
              <a:gd name="adj" fmla="val 6030"/>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Rectangle 10"/>
          <p:cNvSpPr/>
          <p:nvPr/>
        </p:nvSpPr>
        <p:spPr>
          <a:xfrm>
            <a:off x="914400" y="1920240"/>
            <a:ext cx="384048" cy="45720"/>
          </a:xfrm>
          <a:prstGeom prst="rect">
            <a:avLst/>
          </a:prstGeom>
          <a:solidFill>
            <a:srgbClr val="0F7C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96112" y="1993392"/>
            <a:ext cx="914400" cy="457200"/>
          </a:xfrm>
          <a:prstGeom prst="rect">
            <a:avLst/>
          </a:prstGeom>
          <a:noFill/>
        </p:spPr>
        <p:txBody>
          <a:bodyPr wrap="square" lIns="18288" rIns="18288" anchor="t">
            <a:spAutoFit/>
          </a:bodyPr>
          <a:lstStyle/>
          <a:p>
            <a:pPr algn="l"/>
            <a:r>
              <a:rPr sz="1500" b="1" i="0">
                <a:solidFill>
                  <a:srgbClr val="0F7C74"/>
                </a:solidFill>
                <a:latin typeface="Segoe UI Semibold"/>
              </a:rPr>
              <a:t>01</a:t>
            </a:r>
          </a:p>
        </p:txBody>
      </p:sp>
      <p:sp>
        <p:nvSpPr>
          <p:cNvPr id="13" name="TextBox 12"/>
          <p:cNvSpPr txBox="1"/>
          <p:nvPr/>
        </p:nvSpPr>
        <p:spPr>
          <a:xfrm>
            <a:off x="896112" y="2395728"/>
            <a:ext cx="4843119" cy="950976"/>
          </a:xfrm>
          <a:prstGeom prst="rect">
            <a:avLst/>
          </a:prstGeom>
          <a:noFill/>
        </p:spPr>
        <p:txBody>
          <a:bodyPr wrap="square" anchor="t">
            <a:spAutoFit/>
          </a:bodyPr>
          <a:lstStyle/>
          <a:p>
            <a:r>
              <a:rPr sz="1900" b="0" i="0">
                <a:solidFill>
                  <a:srgbClr val="14213D"/>
                </a:solidFill>
                <a:latin typeface="Segoe UI"/>
              </a:rPr>
              <a:t>CRNN test set: </a:t>
            </a:r>
            <a:r>
              <a:rPr sz="1900" b="1" i="0">
                <a:solidFill>
                  <a:srgbClr val="0F7C74"/>
                </a:solidFill>
                <a:latin typeface="Segoe UI"/>
              </a:rPr>
              <a:t>34.9 %</a:t>
            </a:r>
            <a:r>
              <a:rPr sz="1900" b="0" i="0">
                <a:solidFill>
                  <a:srgbClr val="14213D"/>
                </a:solidFill>
                <a:latin typeface="Segoe UI"/>
              </a:rPr>
              <a:t> plate-level leakage found</a:t>
            </a:r>
          </a:p>
        </p:txBody>
      </p:sp>
      <p:sp>
        <p:nvSpPr>
          <p:cNvPr id="14" name="Rounded Rectangle 13"/>
          <p:cNvSpPr/>
          <p:nvPr/>
        </p:nvSpPr>
        <p:spPr>
          <a:xfrm>
            <a:off x="6196431" y="1645920"/>
            <a:ext cx="5355183" cy="1819656"/>
          </a:xfrm>
          <a:prstGeom prst="roundRect">
            <a:avLst>
              <a:gd name="adj" fmla="val 6030"/>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6470751" y="1920240"/>
            <a:ext cx="384048" cy="45720"/>
          </a:xfrm>
          <a:prstGeom prst="rect">
            <a:avLst/>
          </a:prstGeom>
          <a:solidFill>
            <a:srgbClr val="0F7C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6452463" y="1993392"/>
            <a:ext cx="914400" cy="457200"/>
          </a:xfrm>
          <a:prstGeom prst="rect">
            <a:avLst/>
          </a:prstGeom>
          <a:noFill/>
        </p:spPr>
        <p:txBody>
          <a:bodyPr wrap="square" lIns="18288" rIns="18288" anchor="t">
            <a:spAutoFit/>
          </a:bodyPr>
          <a:lstStyle/>
          <a:p>
            <a:pPr algn="l"/>
            <a:r>
              <a:rPr sz="1500" b="1" i="0">
                <a:solidFill>
                  <a:srgbClr val="0F7C74"/>
                </a:solidFill>
                <a:latin typeface="Segoe UI Semibold"/>
              </a:rPr>
              <a:t>02</a:t>
            </a:r>
          </a:p>
        </p:txBody>
      </p:sp>
      <p:sp>
        <p:nvSpPr>
          <p:cNvPr id="17" name="TextBox 16"/>
          <p:cNvSpPr txBox="1"/>
          <p:nvPr/>
        </p:nvSpPr>
        <p:spPr>
          <a:xfrm>
            <a:off x="6452463" y="2395728"/>
            <a:ext cx="4843119" cy="950976"/>
          </a:xfrm>
          <a:prstGeom prst="rect">
            <a:avLst/>
          </a:prstGeom>
          <a:noFill/>
        </p:spPr>
        <p:txBody>
          <a:bodyPr wrap="square" anchor="t">
            <a:spAutoFit/>
          </a:bodyPr>
          <a:lstStyle/>
          <a:p>
            <a:r>
              <a:rPr sz="1900" b="0" i="0">
                <a:solidFill>
                  <a:srgbClr val="14213D"/>
                </a:solidFill>
                <a:latin typeface="Segoe UI"/>
              </a:rPr>
              <a:t>Headline fell 69.1 → </a:t>
            </a:r>
            <a:r>
              <a:rPr sz="1900" b="1" i="0">
                <a:solidFill>
                  <a:srgbClr val="0F7C74"/>
                </a:solidFill>
                <a:latin typeface="Segoe UI"/>
              </a:rPr>
              <a:t>51.7 %</a:t>
            </a:r>
            <a:r>
              <a:rPr sz="1900" b="0" i="0">
                <a:solidFill>
                  <a:srgbClr val="14213D"/>
                </a:solidFill>
                <a:latin typeface="Segoe UI"/>
              </a:rPr>
              <a:t> — the lower number is reported</a:t>
            </a:r>
          </a:p>
        </p:txBody>
      </p:sp>
      <p:sp>
        <p:nvSpPr>
          <p:cNvPr id="18" name="Rounded Rectangle 17"/>
          <p:cNvSpPr/>
          <p:nvPr/>
        </p:nvSpPr>
        <p:spPr>
          <a:xfrm>
            <a:off x="640080" y="3666744"/>
            <a:ext cx="5355183" cy="1819656"/>
          </a:xfrm>
          <a:prstGeom prst="roundRect">
            <a:avLst>
              <a:gd name="adj" fmla="val 6030"/>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ectangle 18"/>
          <p:cNvSpPr/>
          <p:nvPr/>
        </p:nvSpPr>
        <p:spPr>
          <a:xfrm>
            <a:off x="914400" y="3941063"/>
            <a:ext cx="384048" cy="45720"/>
          </a:xfrm>
          <a:prstGeom prst="rect">
            <a:avLst/>
          </a:prstGeom>
          <a:solidFill>
            <a:srgbClr val="0F7C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896112" y="4014215"/>
            <a:ext cx="914400" cy="457200"/>
          </a:xfrm>
          <a:prstGeom prst="rect">
            <a:avLst/>
          </a:prstGeom>
          <a:noFill/>
        </p:spPr>
        <p:txBody>
          <a:bodyPr wrap="square" lIns="18288" rIns="18288" anchor="t">
            <a:spAutoFit/>
          </a:bodyPr>
          <a:lstStyle/>
          <a:p>
            <a:pPr algn="l"/>
            <a:r>
              <a:rPr sz="1500" b="1" i="0">
                <a:solidFill>
                  <a:srgbClr val="0F7C74"/>
                </a:solidFill>
                <a:latin typeface="Segoe UI Semibold"/>
              </a:rPr>
              <a:t>03</a:t>
            </a:r>
          </a:p>
        </p:txBody>
      </p:sp>
      <p:sp>
        <p:nvSpPr>
          <p:cNvPr id="21" name="TextBox 20"/>
          <p:cNvSpPr txBox="1"/>
          <p:nvPr/>
        </p:nvSpPr>
        <p:spPr>
          <a:xfrm>
            <a:off x="896112" y="4416552"/>
            <a:ext cx="4843119" cy="950976"/>
          </a:xfrm>
          <a:prstGeom prst="rect">
            <a:avLst/>
          </a:prstGeom>
          <a:noFill/>
        </p:spPr>
        <p:txBody>
          <a:bodyPr wrap="square" anchor="t">
            <a:spAutoFit/>
          </a:bodyPr>
          <a:lstStyle/>
          <a:p>
            <a:r>
              <a:rPr sz="1900" b="0" i="0">
                <a:solidFill>
                  <a:srgbClr val="14213D"/>
                </a:solidFill>
                <a:latin typeface="Segoe UI"/>
              </a:rPr>
              <a:t>Spatial Transformer proved to do </a:t>
            </a:r>
            <a:r>
              <a:rPr sz="1900" b="1" i="0">
                <a:solidFill>
                  <a:srgbClr val="0F7C74"/>
                </a:solidFill>
                <a:latin typeface="Segoe UI"/>
              </a:rPr>
              <a:t>nothing</a:t>
            </a:r>
            <a:r>
              <a:rPr sz="1900" b="0" i="0">
                <a:solidFill>
                  <a:srgbClr val="14213D"/>
                </a:solidFill>
                <a:latin typeface="Segoe UI"/>
              </a:rPr>
              <a:t> — negative result</a:t>
            </a:r>
          </a:p>
        </p:txBody>
      </p:sp>
      <p:sp>
        <p:nvSpPr>
          <p:cNvPr id="22" name="Rounded Rectangle 21"/>
          <p:cNvSpPr/>
          <p:nvPr/>
        </p:nvSpPr>
        <p:spPr>
          <a:xfrm>
            <a:off x="6196431" y="3666744"/>
            <a:ext cx="5355183" cy="1819656"/>
          </a:xfrm>
          <a:prstGeom prst="roundRect">
            <a:avLst>
              <a:gd name="adj" fmla="val 6030"/>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Rectangle 22"/>
          <p:cNvSpPr/>
          <p:nvPr/>
        </p:nvSpPr>
        <p:spPr>
          <a:xfrm>
            <a:off x="6470751" y="3941063"/>
            <a:ext cx="384048" cy="45720"/>
          </a:xfrm>
          <a:prstGeom prst="rect">
            <a:avLst/>
          </a:prstGeom>
          <a:solidFill>
            <a:srgbClr val="0F7C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6452463" y="4014215"/>
            <a:ext cx="914400" cy="457200"/>
          </a:xfrm>
          <a:prstGeom prst="rect">
            <a:avLst/>
          </a:prstGeom>
          <a:noFill/>
        </p:spPr>
        <p:txBody>
          <a:bodyPr wrap="square" lIns="18288" rIns="18288" anchor="t">
            <a:spAutoFit/>
          </a:bodyPr>
          <a:lstStyle/>
          <a:p>
            <a:pPr algn="l"/>
            <a:r>
              <a:rPr sz="1500" b="1" i="0">
                <a:solidFill>
                  <a:srgbClr val="0F7C74"/>
                </a:solidFill>
                <a:latin typeface="Segoe UI Semibold"/>
              </a:rPr>
              <a:t>04</a:t>
            </a:r>
          </a:p>
        </p:txBody>
      </p:sp>
      <p:sp>
        <p:nvSpPr>
          <p:cNvPr id="25" name="TextBox 24"/>
          <p:cNvSpPr txBox="1"/>
          <p:nvPr/>
        </p:nvSpPr>
        <p:spPr>
          <a:xfrm>
            <a:off x="6452463" y="4416552"/>
            <a:ext cx="4843119" cy="950976"/>
          </a:xfrm>
          <a:prstGeom prst="rect">
            <a:avLst/>
          </a:prstGeom>
          <a:noFill/>
        </p:spPr>
        <p:txBody>
          <a:bodyPr wrap="square" anchor="t">
            <a:spAutoFit/>
          </a:bodyPr>
          <a:lstStyle/>
          <a:p>
            <a:r>
              <a:rPr sz="1748" b="0" i="0">
                <a:solidFill>
                  <a:srgbClr val="14213D"/>
                </a:solidFill>
                <a:latin typeface="Consolas"/>
              </a:rPr>
              <a:t>experiment_log.csv</a:t>
            </a:r>
            <a:r>
              <a:rPr sz="1900" b="0" i="0">
                <a:solidFill>
                  <a:srgbClr val="14213D"/>
                </a:solidFill>
                <a:latin typeface="Segoe UI"/>
              </a:rPr>
              <a:t> — every measurement tagged with its commit</a:t>
            </a:r>
          </a:p>
        </p:txBody>
      </p:sp>
      <p:sp>
        <p:nvSpPr>
          <p:cNvPr id="26" name="TextBox 25"/>
          <p:cNvSpPr txBox="1"/>
          <p:nvPr/>
        </p:nvSpPr>
        <p:spPr>
          <a:xfrm>
            <a:off x="640080" y="5669280"/>
            <a:ext cx="10911535" cy="457200"/>
          </a:xfrm>
          <a:prstGeom prst="rect">
            <a:avLst/>
          </a:prstGeom>
          <a:noFill/>
        </p:spPr>
        <p:txBody>
          <a:bodyPr wrap="square">
            <a:spAutoFit/>
          </a:bodyPr>
          <a:lstStyle/>
          <a:p>
            <a:pPr algn="l"/>
            <a:r>
              <a:rPr sz="1400" b="0" i="0">
                <a:solidFill>
                  <a:srgbClr val="6B7280"/>
                </a:solidFill>
                <a:latin typeface="Segoe UI"/>
              </a:rPr>
              <a:t>Laroca et al. (IJCNN 2023) report 19–68 % duplicates in standard LPR benchmarks.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ounded Rectangle 2"/>
          <p:cNvSpPr/>
          <p:nvPr/>
        </p:nvSpPr>
        <p:spPr>
          <a:xfrm>
            <a:off x="640080" y="384048"/>
            <a:ext cx="1920240" cy="292608"/>
          </a:xfrm>
          <a:prstGeom prst="roundRect">
            <a:avLst>
              <a:gd name="adj" fmla="val 50000"/>
            </a:avLst>
          </a:prstGeom>
          <a:solidFill>
            <a:srgbClr val="E2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640080" y="384048"/>
            <a:ext cx="1920240" cy="292608"/>
          </a:xfrm>
          <a:prstGeom prst="rect">
            <a:avLst/>
          </a:prstGeom>
          <a:noFill/>
        </p:spPr>
        <p:txBody>
          <a:bodyPr wrap="square" lIns="18288" rIns="18288" anchor="ctr">
            <a:spAutoFit/>
          </a:bodyPr>
          <a:lstStyle/>
          <a:p>
            <a:pPr algn="ctr"/>
            <a:r>
              <a:rPr sz="1050" b="1" i="0" spc="120">
                <a:solidFill>
                  <a:srgbClr val="0F7C74"/>
                </a:solidFill>
                <a:latin typeface="Segoe UI"/>
              </a:rPr>
              <a:t>APPENDIX  ·  A8</a:t>
            </a:r>
          </a:p>
        </p:txBody>
      </p:sp>
      <p:pic>
        <p:nvPicPr>
          <p:cNvPr id="5" name="Picture 4" descr="kit_logo.png"/>
          <p:cNvPicPr>
            <a:picLocks noChangeAspect="1"/>
          </p:cNvPicPr>
          <p:nvPr/>
        </p:nvPicPr>
        <p:blipFill>
          <a:blip r:embed="rId2"/>
          <a:stretch>
            <a:fillRect/>
          </a:stretch>
        </p:blipFill>
        <p:spPr>
          <a:xfrm>
            <a:off x="10929823" y="320040"/>
            <a:ext cx="621792" cy="621792"/>
          </a:xfrm>
          <a:prstGeom prst="rect">
            <a:avLst/>
          </a:prstGeom>
        </p:spPr>
      </p:pic>
      <p:sp>
        <p:nvSpPr>
          <p:cNvPr id="6" name="TextBox 5"/>
          <p:cNvSpPr txBox="1"/>
          <p:nvPr/>
        </p:nvSpPr>
        <p:spPr>
          <a:xfrm>
            <a:off x="621792" y="731520"/>
            <a:ext cx="9997135" cy="685800"/>
          </a:xfrm>
          <a:prstGeom prst="rect">
            <a:avLst/>
          </a:prstGeom>
          <a:noFill/>
        </p:spPr>
        <p:txBody>
          <a:bodyPr wrap="square" lIns="18288" rIns="18288" anchor="ctr">
            <a:spAutoFit/>
          </a:bodyPr>
          <a:lstStyle/>
          <a:p>
            <a:pPr algn="l"/>
            <a:r>
              <a:rPr sz="3000" b="0" i="0">
                <a:solidFill>
                  <a:srgbClr val="14213D"/>
                </a:solidFill>
                <a:latin typeface="Segoe UI Semibold"/>
              </a:rPr>
              <a:t>The code behind B and D</a:t>
            </a:r>
          </a:p>
        </p:txBody>
      </p:sp>
      <p:sp>
        <p:nvSpPr>
          <p:cNvPr id="7" name="Rectangle 6"/>
          <p:cNvSpPr/>
          <p:nvPr/>
        </p:nvSpPr>
        <p:spPr>
          <a:xfrm>
            <a:off x="640080" y="6601968"/>
            <a:ext cx="10088575"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640080" y="6336792"/>
            <a:ext cx="5486400" cy="237744"/>
          </a:xfrm>
          <a:prstGeom prst="rect">
            <a:avLst/>
          </a:prstGeom>
          <a:noFill/>
        </p:spPr>
        <p:txBody>
          <a:bodyPr wrap="square" lIns="18288" rIns="18288" anchor="t">
            <a:spAutoFit/>
          </a:bodyPr>
          <a:lstStyle/>
          <a:p>
            <a:pPr algn="l"/>
            <a:r>
              <a:rPr sz="850" b="0" i="0">
                <a:solidFill>
                  <a:srgbClr val="6B7280"/>
                </a:solidFill>
                <a:latin typeface="Segoe UI"/>
              </a:rPr>
              <a:t>Appendix  ·  So Sereysokbotra</a:t>
            </a:r>
          </a:p>
        </p:txBody>
      </p:sp>
      <p:sp>
        <p:nvSpPr>
          <p:cNvPr id="9" name="TextBox 8"/>
          <p:cNvSpPr txBox="1"/>
          <p:nvPr/>
        </p:nvSpPr>
        <p:spPr>
          <a:xfrm>
            <a:off x="10820095" y="6373368"/>
            <a:ext cx="731520" cy="274320"/>
          </a:xfrm>
          <a:prstGeom prst="rect">
            <a:avLst/>
          </a:prstGeom>
          <a:noFill/>
        </p:spPr>
        <p:txBody>
          <a:bodyPr wrap="square" lIns="18288" rIns="18288" anchor="t">
            <a:spAutoFit/>
          </a:bodyPr>
          <a:lstStyle/>
          <a:p>
            <a:pPr algn="r"/>
            <a:r>
              <a:rPr sz="1100" b="1" i="0">
                <a:solidFill>
                  <a:srgbClr val="0F7C74"/>
                </a:solidFill>
                <a:latin typeface="Segoe UI Semibold"/>
              </a:rPr>
              <a:t>A8</a:t>
            </a:r>
          </a:p>
        </p:txBody>
      </p:sp>
      <p:sp>
        <p:nvSpPr>
          <p:cNvPr id="10" name="TextBox 9"/>
          <p:cNvSpPr txBox="1"/>
          <p:nvPr/>
        </p:nvSpPr>
        <p:spPr>
          <a:xfrm>
            <a:off x="640080" y="1536192"/>
            <a:ext cx="5318607" cy="457200"/>
          </a:xfrm>
          <a:prstGeom prst="rect">
            <a:avLst/>
          </a:prstGeom>
          <a:noFill/>
        </p:spPr>
        <p:txBody>
          <a:bodyPr wrap="square">
            <a:spAutoFit/>
          </a:bodyPr>
          <a:lstStyle/>
          <a:p>
            <a:pPr algn="l"/>
            <a:r>
              <a:rPr sz="1400" b="1" i="0">
                <a:solidFill>
                  <a:srgbClr val="0F7C74"/>
                </a:solidFill>
                <a:latin typeface="Segoe UI"/>
              </a:rPr>
              <a:t>Feature extraction (B)</a:t>
            </a:r>
            <a:r>
              <a:rPr sz="1400" b="0" i="0">
                <a:solidFill>
                  <a:srgbClr val="14213D"/>
                </a:solidFill>
                <a:latin typeface="Segoe UI"/>
              </a:rPr>
              <a:t> — only the head trains</a:t>
            </a:r>
          </a:p>
        </p:txBody>
      </p:sp>
      <p:sp>
        <p:nvSpPr>
          <p:cNvPr id="11" name="Rounded Rectangle 10"/>
          <p:cNvSpPr/>
          <p:nvPr/>
        </p:nvSpPr>
        <p:spPr>
          <a:xfrm>
            <a:off x="640080" y="1920240"/>
            <a:ext cx="5318607" cy="2697480"/>
          </a:xfrm>
          <a:prstGeom prst="roundRect">
            <a:avLst>
              <a:gd name="adj" fmla="val 3389"/>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Oval 11"/>
          <p:cNvSpPr/>
          <p:nvPr/>
        </p:nvSpPr>
        <p:spPr>
          <a:xfrm>
            <a:off x="822959" y="2066544"/>
            <a:ext cx="100584" cy="10058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Oval 12"/>
          <p:cNvSpPr/>
          <p:nvPr/>
        </p:nvSpPr>
        <p:spPr>
          <a:xfrm>
            <a:off x="1005839" y="2066544"/>
            <a:ext cx="100584" cy="100584"/>
          </a:xfrm>
          <a:prstGeom prst="ellipse">
            <a:avLst/>
          </a:prstGeom>
          <a:solidFill>
            <a:srgbClr val="E09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1188719" y="2066544"/>
            <a:ext cx="100584" cy="100584"/>
          </a:xfrm>
          <a:prstGeom prst="ellipse">
            <a:avLst/>
          </a:prstGeom>
          <a:solidFill>
            <a:srgbClr val="2F8F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822959" y="2267712"/>
            <a:ext cx="4952847" cy="2240280"/>
          </a:xfrm>
          <a:prstGeom prst="rect">
            <a:avLst/>
          </a:prstGeom>
          <a:noFill/>
        </p:spPr>
        <p:txBody>
          <a:bodyPr wrap="none">
            <a:spAutoFit/>
          </a:bodyPr>
          <a:lstStyle/>
          <a:p>
            <a:pPr>
              <a:spcAft>
                <a:spcPts val="100"/>
              </a:spcAft>
            </a:pPr>
            <a:r>
              <a:rPr sz="1150" b="0" i="0">
                <a:solidFill>
                  <a:srgbClr val="E6EAF2"/>
                </a:solidFill>
                <a:latin typeface="Consolas"/>
              </a:rPr>
              <a:t>for name, prm in model.named_parameters():</a:t>
            </a:r>
          </a:p>
          <a:p>
            <a:pPr>
              <a:spcAft>
                <a:spcPts val="100"/>
              </a:spcAft>
            </a:pPr>
            <a:r>
              <a:rPr sz="1150" b="0" i="0">
                <a:solidFill>
                  <a:srgbClr val="E6EAF2"/>
                </a:solidFill>
                <a:latin typeface="Consolas"/>
              </a:rPr>
              <a:t>    if not name.startswith('fc.'):</a:t>
            </a:r>
          </a:p>
          <a:p>
            <a:pPr>
              <a:spcAft>
                <a:spcPts val="100"/>
              </a:spcAft>
            </a:pPr>
            <a:r>
              <a:rPr sz="1150" b="0" i="0">
                <a:solidFill>
                  <a:srgbClr val="E6EAF2"/>
                </a:solidFill>
                <a:latin typeface="Consolas"/>
              </a:rPr>
              <a:t>        prm.requires_grad = False      </a:t>
            </a:r>
            <a:r>
              <a:rPr sz="1150" b="0" i="0">
                <a:solidFill>
                  <a:srgbClr val="7FB8B1"/>
                </a:solidFill>
                <a:latin typeface="Consolas"/>
              </a:rPr>
              <a:t># 11 176 512 frozen</a:t>
            </a:r>
          </a:p>
          <a:p>
            <a:pPr>
              <a:spcAft>
                <a:spcPts val="100"/>
              </a:spcAft>
            </a:pPr>
            <a:r>
              <a:rPr sz="1150" b="0" i="0">
                <a:solidFill>
                  <a:srgbClr val="E6EAF2"/>
                </a:solidFill>
                <a:latin typeface="Consolas"/>
              </a:rPr>
              <a:t>    else:</a:t>
            </a:r>
          </a:p>
          <a:p>
            <a:pPr>
              <a:spcAft>
                <a:spcPts val="100"/>
              </a:spcAft>
            </a:pPr>
            <a:r>
              <a:rPr sz="1150" b="0" i="0">
                <a:solidFill>
                  <a:srgbClr val="E6EAF2"/>
                </a:solidFill>
                <a:latin typeface="Consolas"/>
              </a:rPr>
              <a:t>        trainable += prm.numel()       </a:t>
            </a:r>
            <a:r>
              <a:rPr sz="1150" b="0" i="0">
                <a:solidFill>
                  <a:srgbClr val="7FB8B1"/>
                </a:solidFill>
                <a:latin typeface="Consolas"/>
              </a:rPr>
              <a:t># 13 338 trainable</a:t>
            </a:r>
          </a:p>
          <a:p>
            <a:pPr>
              <a:spcAft>
                <a:spcPts val="100"/>
              </a:spcAft>
            </a:pPr>
            <a:endParaRPr sz="1150" b="0" i="0">
              <a:solidFill>
                <a:srgbClr val="7FB8B1"/>
              </a:solidFill>
              <a:latin typeface="Consolas"/>
            </a:endParaRPr>
          </a:p>
          <a:p>
            <a:pPr>
              <a:spcAft>
                <a:spcPts val="100"/>
              </a:spcAft>
            </a:pPr>
            <a:r>
              <a:rPr sz="1150" b="0" i="0">
                <a:solidFill>
                  <a:srgbClr val="E6EAF2"/>
                </a:solidFill>
                <a:latin typeface="Consolas"/>
              </a:rPr>
              <a:t>optimizer = Adam(</a:t>
            </a:r>
          </a:p>
          <a:p>
            <a:pPr>
              <a:spcAft>
                <a:spcPts val="100"/>
              </a:spcAft>
            </a:pPr>
            <a:r>
              <a:rPr sz="1150" b="0" i="0">
                <a:solidFill>
                  <a:srgbClr val="E6EAF2"/>
                </a:solidFill>
                <a:latin typeface="Consolas"/>
              </a:rPr>
              <a:t>    [p for p in model.parameters() if p.requires_grad],</a:t>
            </a:r>
          </a:p>
          <a:p>
            <a:pPr>
              <a:spcAft>
                <a:spcPts val="100"/>
              </a:spcAft>
            </a:pPr>
            <a:r>
              <a:rPr sz="1150" b="0" i="0">
                <a:solidFill>
                  <a:srgbClr val="E6EAF2"/>
                </a:solidFill>
                <a:latin typeface="Consolas"/>
              </a:rPr>
              <a:t>    lr=args.lr, weight_decay=args.weight_decay)</a:t>
            </a:r>
          </a:p>
        </p:txBody>
      </p:sp>
      <p:sp>
        <p:nvSpPr>
          <p:cNvPr id="16" name="TextBox 15"/>
          <p:cNvSpPr txBox="1"/>
          <p:nvPr/>
        </p:nvSpPr>
        <p:spPr>
          <a:xfrm>
            <a:off x="6233007" y="1536192"/>
            <a:ext cx="5318607" cy="457200"/>
          </a:xfrm>
          <a:prstGeom prst="rect">
            <a:avLst/>
          </a:prstGeom>
          <a:noFill/>
        </p:spPr>
        <p:txBody>
          <a:bodyPr wrap="square">
            <a:spAutoFit/>
          </a:bodyPr>
          <a:lstStyle/>
          <a:p>
            <a:pPr algn="l"/>
            <a:r>
              <a:rPr sz="1400" b="1" i="0">
                <a:solidFill>
                  <a:srgbClr val="0F7C74"/>
                </a:solidFill>
                <a:latin typeface="Segoe UI"/>
              </a:rPr>
              <a:t>SmallCNN (D)</a:t>
            </a:r>
            <a:r>
              <a:rPr sz="1400" b="0" i="0">
                <a:solidFill>
                  <a:srgbClr val="14213D"/>
                </a:solidFill>
                <a:latin typeface="Segoe UI"/>
              </a:rPr>
              <a:t> — 4 blocks, 128→64→32→16→8, then GAP</a:t>
            </a:r>
          </a:p>
        </p:txBody>
      </p:sp>
      <p:sp>
        <p:nvSpPr>
          <p:cNvPr id="17" name="Rounded Rectangle 16"/>
          <p:cNvSpPr/>
          <p:nvPr/>
        </p:nvSpPr>
        <p:spPr>
          <a:xfrm>
            <a:off x="6233007" y="1920240"/>
            <a:ext cx="5318607" cy="2697480"/>
          </a:xfrm>
          <a:prstGeom prst="roundRect">
            <a:avLst>
              <a:gd name="adj" fmla="val 3389"/>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Oval 17"/>
          <p:cNvSpPr/>
          <p:nvPr/>
        </p:nvSpPr>
        <p:spPr>
          <a:xfrm>
            <a:off x="6415887" y="2066544"/>
            <a:ext cx="100584" cy="10058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6598767" y="2066544"/>
            <a:ext cx="100584" cy="100584"/>
          </a:xfrm>
          <a:prstGeom prst="ellipse">
            <a:avLst/>
          </a:prstGeom>
          <a:solidFill>
            <a:srgbClr val="E09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val 19"/>
          <p:cNvSpPr/>
          <p:nvPr/>
        </p:nvSpPr>
        <p:spPr>
          <a:xfrm>
            <a:off x="6781647" y="2066544"/>
            <a:ext cx="100584" cy="100584"/>
          </a:xfrm>
          <a:prstGeom prst="ellipse">
            <a:avLst/>
          </a:prstGeom>
          <a:solidFill>
            <a:srgbClr val="2F8F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6415887" y="2267712"/>
            <a:ext cx="4952847" cy="2240280"/>
          </a:xfrm>
          <a:prstGeom prst="rect">
            <a:avLst/>
          </a:prstGeom>
          <a:noFill/>
        </p:spPr>
        <p:txBody>
          <a:bodyPr wrap="none">
            <a:spAutoFit/>
          </a:bodyPr>
          <a:lstStyle/>
          <a:p>
            <a:pPr>
              <a:spcAft>
                <a:spcPts val="100"/>
              </a:spcAft>
            </a:pPr>
            <a:r>
              <a:rPr sz="1150" b="0" i="0">
                <a:solidFill>
                  <a:srgbClr val="E6EAF2"/>
                </a:solidFill>
                <a:latin typeface="Consolas"/>
              </a:rPr>
              <a:t>def block(cin, cout):</a:t>
            </a:r>
          </a:p>
          <a:p>
            <a:pPr>
              <a:spcAft>
                <a:spcPts val="100"/>
              </a:spcAft>
            </a:pPr>
            <a:r>
              <a:rPr sz="1150" b="0" i="0">
                <a:solidFill>
                  <a:srgbClr val="E6EAF2"/>
                </a:solidFill>
                <a:latin typeface="Consolas"/>
              </a:rPr>
              <a:t>    return nn.Sequential(</a:t>
            </a:r>
          </a:p>
          <a:p>
            <a:pPr>
              <a:spcAft>
                <a:spcPts val="100"/>
              </a:spcAft>
            </a:pPr>
            <a:r>
              <a:rPr sz="1150" b="0" i="0">
                <a:solidFill>
                  <a:srgbClr val="E6EAF2"/>
                </a:solidFill>
                <a:latin typeface="Consolas"/>
              </a:rPr>
              <a:t>        nn.Conv2d(cin, cout, 3, padding=1),</a:t>
            </a:r>
          </a:p>
          <a:p>
            <a:pPr>
              <a:spcAft>
                <a:spcPts val="100"/>
              </a:spcAft>
            </a:pPr>
            <a:r>
              <a:rPr sz="1150" b="0" i="0">
                <a:solidFill>
                  <a:srgbClr val="E6EAF2"/>
                </a:solidFill>
                <a:latin typeface="Consolas"/>
              </a:rPr>
              <a:t>        nn.BatchNorm2d(cout), nn.ReLU(True),</a:t>
            </a:r>
          </a:p>
          <a:p>
            <a:pPr>
              <a:spcAft>
                <a:spcPts val="100"/>
              </a:spcAft>
            </a:pPr>
            <a:r>
              <a:rPr sz="1150" b="0" i="0">
                <a:solidFill>
                  <a:srgbClr val="E6EAF2"/>
                </a:solidFill>
                <a:latin typeface="Consolas"/>
              </a:rPr>
              <a:t>        nn.MaxPool2d(2))</a:t>
            </a:r>
          </a:p>
          <a:p>
            <a:pPr>
              <a:spcAft>
                <a:spcPts val="100"/>
              </a:spcAft>
            </a:pPr>
            <a:endParaRPr sz="1150" b="0" i="0">
              <a:solidFill>
                <a:srgbClr val="E6EAF2"/>
              </a:solidFill>
              <a:latin typeface="Consolas"/>
            </a:endParaRPr>
          </a:p>
          <a:p>
            <a:pPr>
              <a:spcAft>
                <a:spcPts val="100"/>
              </a:spcAft>
            </a:pPr>
            <a:r>
              <a:rPr sz="1150" b="0" i="0">
                <a:solidFill>
                  <a:srgbClr val="E6EAF2"/>
                </a:solidFill>
                <a:latin typeface="Consolas"/>
              </a:rPr>
              <a:t>self.features = nn.Sequential(</a:t>
            </a:r>
          </a:p>
          <a:p>
            <a:pPr>
              <a:spcAft>
                <a:spcPts val="100"/>
              </a:spcAft>
            </a:pPr>
            <a:r>
              <a:rPr sz="1150" b="0" i="0">
                <a:solidFill>
                  <a:srgbClr val="E6EAF2"/>
                </a:solidFill>
                <a:latin typeface="Consolas"/>
              </a:rPr>
              <a:t>    block(3,32), block(32,64), block(64,128), block(128,256))</a:t>
            </a:r>
          </a:p>
          <a:p>
            <a:pPr>
              <a:spcAft>
                <a:spcPts val="100"/>
              </a:spcAft>
            </a:pPr>
            <a:r>
              <a:rPr sz="1150" b="0" i="0">
                <a:solidFill>
                  <a:srgbClr val="E6EAF2"/>
                </a:solidFill>
                <a:latin typeface="Consolas"/>
              </a:rPr>
              <a:t>self.pool = nn.AdaptiveAvgPool2d(1)   </a:t>
            </a:r>
            <a:r>
              <a:rPr sz="1150" b="0" i="0">
                <a:solidFill>
                  <a:srgbClr val="7FB8B1"/>
                </a:solidFill>
                <a:latin typeface="Consolas"/>
              </a:rPr>
              <a:t># 396 058 params total</a:t>
            </a:r>
          </a:p>
        </p:txBody>
      </p:sp>
      <p:sp>
        <p:nvSpPr>
          <p:cNvPr id="22" name="Rounded Rectangle 21"/>
          <p:cNvSpPr/>
          <p:nvPr/>
        </p:nvSpPr>
        <p:spPr>
          <a:xfrm>
            <a:off x="640080" y="4800600"/>
            <a:ext cx="10911535" cy="396240"/>
          </a:xfrm>
          <a:prstGeom prst="roundRect">
            <a:avLst>
              <a:gd name="adj" fmla="val 27692"/>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868680" y="4800600"/>
            <a:ext cx="10500055" cy="396240"/>
          </a:xfrm>
          <a:prstGeom prst="rect">
            <a:avLst/>
          </a:prstGeom>
          <a:noFill/>
        </p:spPr>
        <p:txBody>
          <a:bodyPr wrap="square" anchor="ctr">
            <a:spAutoFit/>
          </a:bodyPr>
          <a:lstStyle/>
          <a:p>
            <a:r>
              <a:rPr sz="1400" b="1" i="0">
                <a:solidFill>
                  <a:srgbClr val="0F7C74"/>
                </a:solidFill>
                <a:latin typeface="Segoe UI"/>
              </a:rPr>
              <a:t>Seed 42</a:t>
            </a:r>
            <a:r>
              <a:rPr sz="1400" b="0" i="0">
                <a:solidFill>
                  <a:srgbClr val="14213D"/>
                </a:solidFill>
                <a:latin typeface="Segoe UI"/>
              </a:rPr>
              <a:t> in Python, NumPy, PyTorch, cuDNN and the DataLoader</a:t>
            </a:r>
          </a:p>
        </p:txBody>
      </p:sp>
      <p:sp>
        <p:nvSpPr>
          <p:cNvPr id="24" name="Rounded Rectangle 23"/>
          <p:cNvSpPr/>
          <p:nvPr/>
        </p:nvSpPr>
        <p:spPr>
          <a:xfrm>
            <a:off x="640080" y="5288280"/>
            <a:ext cx="10911535" cy="396240"/>
          </a:xfrm>
          <a:prstGeom prst="roundRect">
            <a:avLst>
              <a:gd name="adj" fmla="val 27692"/>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868680" y="5288280"/>
            <a:ext cx="10500055" cy="396240"/>
          </a:xfrm>
          <a:prstGeom prst="rect">
            <a:avLst/>
          </a:prstGeom>
          <a:noFill/>
        </p:spPr>
        <p:txBody>
          <a:bodyPr wrap="square" anchor="ctr">
            <a:spAutoFit/>
          </a:bodyPr>
          <a:lstStyle/>
          <a:p>
            <a:r>
              <a:rPr sz="1288" b="0" i="0">
                <a:solidFill>
                  <a:srgbClr val="14213D"/>
                </a:solidFill>
                <a:latin typeface="Consolas"/>
              </a:rPr>
              <a:t>last.pth</a:t>
            </a:r>
            <a:r>
              <a:rPr sz="1400" b="0" i="0">
                <a:solidFill>
                  <a:srgbClr val="14213D"/>
                </a:solidFill>
                <a:latin typeface="Segoe UI"/>
              </a:rPr>
              <a:t> saved every epoch + </a:t>
            </a:r>
            <a:r>
              <a:rPr sz="1288" b="0" i="0">
                <a:solidFill>
                  <a:srgbClr val="14213D"/>
                </a:solidFill>
                <a:latin typeface="Consolas"/>
              </a:rPr>
              <a:t>--resume</a:t>
            </a:r>
            <a:r>
              <a:rPr sz="1400" b="0" i="0">
                <a:solidFill>
                  <a:srgbClr val="14213D"/>
                </a:solidFill>
                <a:latin typeface="Segoe UI"/>
              </a:rPr>
              <a:t> for Colab disconnects</a:t>
            </a:r>
          </a:p>
        </p:txBody>
      </p:sp>
      <p:sp>
        <p:nvSpPr>
          <p:cNvPr id="26" name="Rounded Rectangle 25"/>
          <p:cNvSpPr/>
          <p:nvPr/>
        </p:nvSpPr>
        <p:spPr>
          <a:xfrm>
            <a:off x="640080" y="5775960"/>
            <a:ext cx="10911535" cy="396240"/>
          </a:xfrm>
          <a:prstGeom prst="roundRect">
            <a:avLst>
              <a:gd name="adj" fmla="val 27692"/>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868680" y="5775960"/>
            <a:ext cx="10500055" cy="396240"/>
          </a:xfrm>
          <a:prstGeom prst="rect">
            <a:avLst/>
          </a:prstGeom>
          <a:noFill/>
        </p:spPr>
        <p:txBody>
          <a:bodyPr wrap="square" anchor="ctr">
            <a:spAutoFit/>
          </a:bodyPr>
          <a:lstStyle/>
          <a:p>
            <a:r>
              <a:rPr sz="1400" b="0" i="0">
                <a:solidFill>
                  <a:srgbClr val="14213D"/>
                </a:solidFill>
                <a:latin typeface="Segoe UI"/>
              </a:rPr>
              <a:t>The lr 1e-4 grid cell reproduced run C </a:t>
            </a:r>
            <a:r>
              <a:rPr sz="1400" b="1" i="0">
                <a:solidFill>
                  <a:srgbClr val="0F7C74"/>
                </a:solidFill>
                <a:latin typeface="Segoe UI"/>
              </a:rPr>
              <a:t>to the digit</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ounded Rectangle 2"/>
          <p:cNvSpPr/>
          <p:nvPr/>
        </p:nvSpPr>
        <p:spPr>
          <a:xfrm>
            <a:off x="640080" y="384048"/>
            <a:ext cx="1920240" cy="292608"/>
          </a:xfrm>
          <a:prstGeom prst="roundRect">
            <a:avLst>
              <a:gd name="adj" fmla="val 50000"/>
            </a:avLst>
          </a:prstGeom>
          <a:solidFill>
            <a:srgbClr val="E2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640080" y="384048"/>
            <a:ext cx="1920240" cy="292608"/>
          </a:xfrm>
          <a:prstGeom prst="rect">
            <a:avLst/>
          </a:prstGeom>
          <a:noFill/>
        </p:spPr>
        <p:txBody>
          <a:bodyPr wrap="square" lIns="18288" rIns="18288" anchor="ctr">
            <a:spAutoFit/>
          </a:bodyPr>
          <a:lstStyle/>
          <a:p>
            <a:pPr algn="ctr"/>
            <a:r>
              <a:rPr sz="1050" b="1" i="0" spc="120">
                <a:solidFill>
                  <a:srgbClr val="0F7C74"/>
                </a:solidFill>
                <a:latin typeface="Segoe UI"/>
              </a:rPr>
              <a:t>APPENDIX  ·  A9</a:t>
            </a:r>
          </a:p>
        </p:txBody>
      </p:sp>
      <p:pic>
        <p:nvPicPr>
          <p:cNvPr id="5" name="Picture 4" descr="kit_logo.png"/>
          <p:cNvPicPr>
            <a:picLocks noChangeAspect="1"/>
          </p:cNvPicPr>
          <p:nvPr/>
        </p:nvPicPr>
        <p:blipFill>
          <a:blip r:embed="rId2"/>
          <a:stretch>
            <a:fillRect/>
          </a:stretch>
        </p:blipFill>
        <p:spPr>
          <a:xfrm>
            <a:off x="10929823" y="320040"/>
            <a:ext cx="621792" cy="621792"/>
          </a:xfrm>
          <a:prstGeom prst="rect">
            <a:avLst/>
          </a:prstGeom>
        </p:spPr>
      </p:pic>
      <p:sp>
        <p:nvSpPr>
          <p:cNvPr id="6" name="TextBox 5"/>
          <p:cNvSpPr txBox="1"/>
          <p:nvPr/>
        </p:nvSpPr>
        <p:spPr>
          <a:xfrm>
            <a:off x="621792" y="731520"/>
            <a:ext cx="9997135" cy="685800"/>
          </a:xfrm>
          <a:prstGeom prst="rect">
            <a:avLst/>
          </a:prstGeom>
          <a:noFill/>
        </p:spPr>
        <p:txBody>
          <a:bodyPr wrap="square" lIns="18288" rIns="18288" anchor="ctr">
            <a:spAutoFit/>
          </a:bodyPr>
          <a:lstStyle/>
          <a:p>
            <a:pPr algn="l"/>
            <a:r>
              <a:rPr sz="3000" b="0" i="0">
                <a:solidFill>
                  <a:srgbClr val="14213D"/>
                </a:solidFill>
                <a:latin typeface="Segoe UI Semibold"/>
              </a:rPr>
              <a:t>Encoder, head — and why there is no decoder</a:t>
            </a:r>
          </a:p>
        </p:txBody>
      </p:sp>
      <p:sp>
        <p:nvSpPr>
          <p:cNvPr id="7" name="Rectangle 6"/>
          <p:cNvSpPr/>
          <p:nvPr/>
        </p:nvSpPr>
        <p:spPr>
          <a:xfrm>
            <a:off x="640080" y="6601968"/>
            <a:ext cx="10088575"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640080" y="6336792"/>
            <a:ext cx="5486400" cy="237744"/>
          </a:xfrm>
          <a:prstGeom prst="rect">
            <a:avLst/>
          </a:prstGeom>
          <a:noFill/>
        </p:spPr>
        <p:txBody>
          <a:bodyPr wrap="square" lIns="18288" rIns="18288" anchor="t">
            <a:spAutoFit/>
          </a:bodyPr>
          <a:lstStyle/>
          <a:p>
            <a:pPr algn="l"/>
            <a:r>
              <a:rPr sz="850" b="0" i="0">
                <a:solidFill>
                  <a:srgbClr val="6B7280"/>
                </a:solidFill>
                <a:latin typeface="Segoe UI"/>
              </a:rPr>
              <a:t>Appendix  ·  So Sereysokbotra</a:t>
            </a:r>
          </a:p>
        </p:txBody>
      </p:sp>
      <p:sp>
        <p:nvSpPr>
          <p:cNvPr id="9" name="TextBox 8"/>
          <p:cNvSpPr txBox="1"/>
          <p:nvPr/>
        </p:nvSpPr>
        <p:spPr>
          <a:xfrm>
            <a:off x="10820095" y="6373368"/>
            <a:ext cx="731520" cy="274320"/>
          </a:xfrm>
          <a:prstGeom prst="rect">
            <a:avLst/>
          </a:prstGeom>
          <a:noFill/>
        </p:spPr>
        <p:txBody>
          <a:bodyPr wrap="square" lIns="18288" rIns="18288" anchor="t">
            <a:spAutoFit/>
          </a:bodyPr>
          <a:lstStyle/>
          <a:p>
            <a:pPr algn="r"/>
            <a:r>
              <a:rPr sz="1100" b="1" i="0">
                <a:solidFill>
                  <a:srgbClr val="0F7C74"/>
                </a:solidFill>
                <a:latin typeface="Segoe UI Semibold"/>
              </a:rPr>
              <a:t>A9</a:t>
            </a:r>
          </a:p>
        </p:txBody>
      </p:sp>
      <p:sp>
        <p:nvSpPr>
          <p:cNvPr id="10" name="Rounded Rectangle 9"/>
          <p:cNvSpPr/>
          <p:nvPr/>
        </p:nvSpPr>
        <p:spPr>
          <a:xfrm>
            <a:off x="640080" y="1600200"/>
            <a:ext cx="1875068" cy="1005840"/>
          </a:xfrm>
          <a:prstGeom prst="roundRect">
            <a:avLst>
              <a:gd name="adj" fmla="val 10909"/>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713231" y="1600200"/>
            <a:ext cx="1728764" cy="1005840"/>
          </a:xfrm>
          <a:prstGeom prst="rect">
            <a:avLst/>
          </a:prstGeom>
          <a:noFill/>
        </p:spPr>
        <p:txBody>
          <a:bodyPr wrap="square" anchor="ctr">
            <a:spAutoFit/>
          </a:bodyPr>
          <a:lstStyle/>
          <a:p>
            <a:pPr algn="ctr"/>
            <a:r>
              <a:rPr sz="1400" b="1" i="0">
                <a:solidFill>
                  <a:srgbClr val="14213D"/>
                </a:solidFill>
                <a:latin typeface="Segoe UI Semibold"/>
              </a:rPr>
              <a:t>image</a:t>
            </a:r>
          </a:p>
          <a:p>
            <a:pPr algn="ctr"/>
            <a:r>
              <a:rPr sz="1050" b="0" i="0">
                <a:solidFill>
                  <a:srgbClr val="6B7280"/>
                </a:solidFill>
                <a:latin typeface="Segoe UI"/>
              </a:rPr>
              <a:t>128 x 128 x 3</a:t>
            </a:r>
          </a:p>
        </p:txBody>
      </p:sp>
      <p:sp>
        <p:nvSpPr>
          <p:cNvPr id="12" name="Chevron 11"/>
          <p:cNvSpPr/>
          <p:nvPr/>
        </p:nvSpPr>
        <p:spPr>
          <a:xfrm>
            <a:off x="2615732" y="1984248"/>
            <a:ext cx="182880" cy="237744"/>
          </a:xfrm>
          <a:prstGeom prst="chevron">
            <a:avLst/>
          </a:prstGeom>
          <a:solidFill>
            <a:srgbClr val="0F7C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Rounded Rectangle 12"/>
          <p:cNvSpPr/>
          <p:nvPr/>
        </p:nvSpPr>
        <p:spPr>
          <a:xfrm>
            <a:off x="2899196" y="1600200"/>
            <a:ext cx="1875068" cy="1005840"/>
          </a:xfrm>
          <a:prstGeom prst="roundRect">
            <a:avLst>
              <a:gd name="adj" fmla="val 10909"/>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2972348" y="1600200"/>
            <a:ext cx="1728764" cy="1005840"/>
          </a:xfrm>
          <a:prstGeom prst="rect">
            <a:avLst/>
          </a:prstGeom>
          <a:noFill/>
        </p:spPr>
        <p:txBody>
          <a:bodyPr wrap="square" anchor="ctr">
            <a:spAutoFit/>
          </a:bodyPr>
          <a:lstStyle/>
          <a:p>
            <a:pPr algn="ctr"/>
            <a:r>
              <a:rPr sz="1400" b="1" i="0">
                <a:solidFill>
                  <a:srgbClr val="E09A1A"/>
                </a:solidFill>
                <a:latin typeface="Segoe UI Semibold"/>
              </a:rPr>
              <a:t>ENCODER</a:t>
            </a:r>
          </a:p>
          <a:p>
            <a:pPr algn="ctr"/>
            <a:r>
              <a:rPr sz="1050" b="0" i="0">
                <a:solidFill>
                  <a:srgbClr val="E2E8F0"/>
                </a:solidFill>
                <a:latin typeface="Segoe UI"/>
              </a:rPr>
              <a:t>conv1 … layer4 + avgpool</a:t>
            </a:r>
          </a:p>
        </p:txBody>
      </p:sp>
      <p:sp>
        <p:nvSpPr>
          <p:cNvPr id="15" name="Chevron 14"/>
          <p:cNvSpPr/>
          <p:nvPr/>
        </p:nvSpPr>
        <p:spPr>
          <a:xfrm>
            <a:off x="4874849" y="1984248"/>
            <a:ext cx="182880" cy="237744"/>
          </a:xfrm>
          <a:prstGeom prst="chevron">
            <a:avLst/>
          </a:prstGeom>
          <a:solidFill>
            <a:srgbClr val="0F7C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ounded Rectangle 15"/>
          <p:cNvSpPr/>
          <p:nvPr/>
        </p:nvSpPr>
        <p:spPr>
          <a:xfrm>
            <a:off x="5158313" y="1600200"/>
            <a:ext cx="1875068" cy="1005840"/>
          </a:xfrm>
          <a:prstGeom prst="roundRect">
            <a:avLst>
              <a:gd name="adj" fmla="val 10909"/>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5231465" y="1600200"/>
            <a:ext cx="1728764" cy="1005840"/>
          </a:xfrm>
          <a:prstGeom prst="rect">
            <a:avLst/>
          </a:prstGeom>
          <a:noFill/>
        </p:spPr>
        <p:txBody>
          <a:bodyPr wrap="square" anchor="ctr">
            <a:spAutoFit/>
          </a:bodyPr>
          <a:lstStyle/>
          <a:p>
            <a:pPr algn="ctr"/>
            <a:r>
              <a:rPr sz="1400" b="1" i="0">
                <a:solidFill>
                  <a:srgbClr val="14213D"/>
                </a:solidFill>
                <a:latin typeface="Segoe UI Semibold"/>
              </a:rPr>
              <a:t>feature vector</a:t>
            </a:r>
          </a:p>
          <a:p>
            <a:pPr algn="ctr"/>
            <a:r>
              <a:rPr sz="1050" b="0" i="0">
                <a:solidFill>
                  <a:srgbClr val="6B7280"/>
                </a:solidFill>
                <a:latin typeface="Segoe UI"/>
              </a:rPr>
              <a:t>512-d  (256-d for D)</a:t>
            </a:r>
          </a:p>
        </p:txBody>
      </p:sp>
      <p:sp>
        <p:nvSpPr>
          <p:cNvPr id="18" name="Chevron 17"/>
          <p:cNvSpPr/>
          <p:nvPr/>
        </p:nvSpPr>
        <p:spPr>
          <a:xfrm>
            <a:off x="7133965" y="1984248"/>
            <a:ext cx="182880" cy="237744"/>
          </a:xfrm>
          <a:prstGeom prst="chevron">
            <a:avLst/>
          </a:prstGeom>
          <a:solidFill>
            <a:srgbClr val="0F7C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ounded Rectangle 18"/>
          <p:cNvSpPr/>
          <p:nvPr/>
        </p:nvSpPr>
        <p:spPr>
          <a:xfrm>
            <a:off x="7417429" y="1600200"/>
            <a:ext cx="1875068" cy="1005840"/>
          </a:xfrm>
          <a:prstGeom prst="roundRect">
            <a:avLst>
              <a:gd name="adj" fmla="val 10909"/>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7490581" y="1600200"/>
            <a:ext cx="1728764" cy="1005840"/>
          </a:xfrm>
          <a:prstGeom prst="rect">
            <a:avLst/>
          </a:prstGeom>
          <a:noFill/>
        </p:spPr>
        <p:txBody>
          <a:bodyPr wrap="square" anchor="ctr">
            <a:spAutoFit/>
          </a:bodyPr>
          <a:lstStyle/>
          <a:p>
            <a:pPr algn="ctr"/>
            <a:r>
              <a:rPr sz="1400" b="1" i="0">
                <a:solidFill>
                  <a:srgbClr val="E09A1A"/>
                </a:solidFill>
                <a:latin typeface="Segoe UI Semibold"/>
              </a:rPr>
              <a:t>HEAD</a:t>
            </a:r>
          </a:p>
          <a:p>
            <a:pPr algn="ctr"/>
            <a:r>
              <a:rPr sz="1050" b="0" i="0">
                <a:solidFill>
                  <a:srgbClr val="E2E8F0"/>
                </a:solidFill>
                <a:latin typeface="Segoe UI"/>
              </a:rPr>
              <a:t>Linear(512, 26)</a:t>
            </a:r>
          </a:p>
        </p:txBody>
      </p:sp>
      <p:sp>
        <p:nvSpPr>
          <p:cNvPr id="21" name="Chevron 20"/>
          <p:cNvSpPr/>
          <p:nvPr/>
        </p:nvSpPr>
        <p:spPr>
          <a:xfrm>
            <a:off x="9393082" y="1984248"/>
            <a:ext cx="182880" cy="237744"/>
          </a:xfrm>
          <a:prstGeom prst="chevron">
            <a:avLst/>
          </a:prstGeom>
          <a:solidFill>
            <a:srgbClr val="0F7C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Rounded Rectangle 21"/>
          <p:cNvSpPr/>
          <p:nvPr/>
        </p:nvSpPr>
        <p:spPr>
          <a:xfrm>
            <a:off x="9676546" y="1600200"/>
            <a:ext cx="1875068" cy="1005840"/>
          </a:xfrm>
          <a:prstGeom prst="roundRect">
            <a:avLst>
              <a:gd name="adj" fmla="val 10909"/>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9749698" y="1600200"/>
            <a:ext cx="1728764" cy="1005840"/>
          </a:xfrm>
          <a:prstGeom prst="rect">
            <a:avLst/>
          </a:prstGeom>
          <a:noFill/>
        </p:spPr>
        <p:txBody>
          <a:bodyPr wrap="square" anchor="ctr">
            <a:spAutoFit/>
          </a:bodyPr>
          <a:lstStyle/>
          <a:p>
            <a:pPr algn="ctr"/>
            <a:r>
              <a:rPr sz="1400" b="1" i="0">
                <a:solidFill>
                  <a:srgbClr val="14213D"/>
                </a:solidFill>
                <a:latin typeface="Segoe UI Semibold"/>
              </a:rPr>
              <a:t>26 scores</a:t>
            </a:r>
          </a:p>
          <a:p>
            <a:pPr algn="ctr"/>
            <a:r>
              <a:rPr sz="1050" b="0" i="0">
                <a:solidFill>
                  <a:srgbClr val="6B7280"/>
                </a:solidFill>
                <a:latin typeface="Segoe UI"/>
              </a:rPr>
              <a:t>softmax -&gt; one class</a:t>
            </a:r>
          </a:p>
        </p:txBody>
      </p:sp>
      <p:graphicFrame>
        <p:nvGraphicFramePr>
          <p:cNvPr id="24" name="Table 23"/>
          <p:cNvGraphicFramePr>
            <a:graphicFrameLocks noGrp="1"/>
          </p:cNvGraphicFramePr>
          <p:nvPr/>
        </p:nvGraphicFramePr>
        <p:xfrm>
          <a:off x="640080" y="2743200"/>
          <a:ext cx="10911535" cy="1645920"/>
        </p:xfrm>
        <a:graphic>
          <a:graphicData uri="http://schemas.openxmlformats.org/drawingml/2006/table">
            <a:tbl>
              <a:tblPr>
                <a:tableStyleId>{5C22544A-7EE6-4342-B048-85BDC9FD1C3A}</a:tableStyleId>
              </a:tblPr>
              <a:tblGrid>
                <a:gridCol w="164592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2651760">
                  <a:extLst>
                    <a:ext uri="{9D8B030D-6E8A-4147-A177-3AD203B41FA5}">
                      <a16:colId xmlns:a16="http://schemas.microsoft.com/office/drawing/2014/main" val="20003"/>
                    </a:ext>
                  </a:extLst>
                </a:gridCol>
                <a:gridCol w="1858975">
                  <a:extLst>
                    <a:ext uri="{9D8B030D-6E8A-4147-A177-3AD203B41FA5}">
                      <a16:colId xmlns:a16="http://schemas.microsoft.com/office/drawing/2014/main" val="20004"/>
                    </a:ext>
                  </a:extLst>
                </a:gridCol>
              </a:tblGrid>
              <a:tr h="411480">
                <a:tc>
                  <a:txBody>
                    <a:bodyPr/>
                    <a:lstStyle/>
                    <a:p>
                      <a:r>
                        <a:rPr sz="1008" b="1" i="0" spc="80">
                          <a:solidFill>
                            <a:srgbClr val="FFFFFF"/>
                          </a:solidFill>
                          <a:latin typeface="Segoe UI"/>
                        </a:rPr>
                        <a:t>APPROACH</a:t>
                      </a:r>
                    </a:p>
                  </a:txBody>
                  <a:tcPr marL="127000" marR="127000" marT="25400" marB="25400" anchor="ctr">
                    <a:solidFill>
                      <a:srgbClr val="14213D"/>
                    </a:solidFill>
                  </a:tcPr>
                </a:tc>
                <a:tc>
                  <a:txBody>
                    <a:bodyPr/>
                    <a:lstStyle/>
                    <a:p>
                      <a:r>
                        <a:rPr sz="1008" b="1" i="0" spc="80">
                          <a:solidFill>
                            <a:srgbClr val="FFFFFF"/>
                          </a:solidFill>
                          <a:latin typeface="Segoe UI"/>
                        </a:rPr>
                        <a:t>ENCODER</a:t>
                      </a:r>
                    </a:p>
                  </a:txBody>
                  <a:tcPr marL="127000" marR="127000" marT="25400" marB="25400" anchor="ctr">
                    <a:solidFill>
                      <a:srgbClr val="14213D"/>
                    </a:solidFill>
                  </a:tcPr>
                </a:tc>
                <a:tc>
                  <a:txBody>
                    <a:bodyPr/>
                    <a:lstStyle/>
                    <a:p>
                      <a:r>
                        <a:rPr sz="1008" b="1" i="0" spc="80">
                          <a:solidFill>
                            <a:srgbClr val="FFFFFF"/>
                          </a:solidFill>
                          <a:latin typeface="Segoe UI"/>
                        </a:rPr>
                        <a:t>FEATURE</a:t>
                      </a:r>
                    </a:p>
                  </a:txBody>
                  <a:tcPr marL="127000" marR="127000" marT="25400" marB="25400" anchor="ctr">
                    <a:solidFill>
                      <a:srgbClr val="14213D"/>
                    </a:solidFill>
                  </a:tcPr>
                </a:tc>
                <a:tc>
                  <a:txBody>
                    <a:bodyPr/>
                    <a:lstStyle/>
                    <a:p>
                      <a:r>
                        <a:rPr sz="1008" b="1" i="0" spc="80">
                          <a:solidFill>
                            <a:srgbClr val="FFFFFF"/>
                          </a:solidFill>
                          <a:latin typeface="Segoe UI"/>
                        </a:rPr>
                        <a:t>HEAD</a:t>
                      </a:r>
                    </a:p>
                  </a:txBody>
                  <a:tcPr marL="127000" marR="127000" marT="25400" marB="25400" anchor="ctr">
                    <a:solidFill>
                      <a:srgbClr val="14213D"/>
                    </a:solidFill>
                  </a:tcPr>
                </a:tc>
                <a:tc>
                  <a:txBody>
                    <a:bodyPr/>
                    <a:lstStyle/>
                    <a:p>
                      <a:r>
                        <a:rPr sz="1008" b="1" i="0" spc="80">
                          <a:solidFill>
                            <a:srgbClr val="FFFFFF"/>
                          </a:solidFill>
                          <a:latin typeface="Segoe UI"/>
                        </a:rPr>
                        <a:t>DECODER</a:t>
                      </a:r>
                    </a:p>
                  </a:txBody>
                  <a:tcPr marL="127000" marR="127000" marT="25400" marB="25400" anchor="ctr">
                    <a:solidFill>
                      <a:srgbClr val="14213D"/>
                    </a:solidFill>
                  </a:tcPr>
                </a:tc>
                <a:extLst>
                  <a:ext uri="{0D108BD9-81ED-4DB2-BD59-A6C34878D82A}">
                    <a16:rowId xmlns:a16="http://schemas.microsoft.com/office/drawing/2014/main" val="10000"/>
                  </a:ext>
                </a:extLst>
              </a:tr>
              <a:tr h="411480">
                <a:tc>
                  <a:txBody>
                    <a:bodyPr/>
                    <a:lstStyle/>
                    <a:p>
                      <a:r>
                        <a:rPr sz="1400" b="1" i="0">
                          <a:solidFill>
                            <a:srgbClr val="14213D"/>
                          </a:solidFill>
                          <a:latin typeface="Segoe UI Semibold"/>
                        </a:rPr>
                        <a:t>A / B / C</a:t>
                      </a:r>
                    </a:p>
                  </a:txBody>
                  <a:tcPr marL="127000" marR="127000" marT="25400" marB="25400" anchor="ctr">
                    <a:solidFill>
                      <a:srgbClr val="FFFFFF"/>
                    </a:solidFill>
                  </a:tcPr>
                </a:tc>
                <a:tc>
                  <a:txBody>
                    <a:bodyPr/>
                    <a:lstStyle/>
                    <a:p>
                      <a:r>
                        <a:rPr sz="1400" b="0" i="0">
                          <a:solidFill>
                            <a:srgbClr val="14213D"/>
                          </a:solidFill>
                          <a:latin typeface="Segoe UI"/>
                        </a:rPr>
                        <a:t>ResNet18 conv stack</a:t>
                      </a:r>
                    </a:p>
                  </a:txBody>
                  <a:tcPr marL="127000" marR="127000" marT="25400" marB="25400" anchor="ctr">
                    <a:solidFill>
                      <a:srgbClr val="FFFFFF"/>
                    </a:solidFill>
                  </a:tcPr>
                </a:tc>
                <a:tc>
                  <a:txBody>
                    <a:bodyPr/>
                    <a:lstStyle/>
                    <a:p>
                      <a:r>
                        <a:rPr sz="1400" b="0" i="0">
                          <a:solidFill>
                            <a:srgbClr val="14213D"/>
                          </a:solidFill>
                          <a:latin typeface="Segoe UI"/>
                        </a:rPr>
                        <a:t>512-d</a:t>
                      </a:r>
                    </a:p>
                  </a:txBody>
                  <a:tcPr marL="127000" marR="127000" marT="25400" marB="25400" anchor="ctr">
                    <a:solidFill>
                      <a:srgbClr val="FFFFFF"/>
                    </a:solidFill>
                  </a:tcPr>
                </a:tc>
                <a:tc>
                  <a:txBody>
                    <a:bodyPr/>
                    <a:lstStyle/>
                    <a:p>
                      <a:r>
                        <a:rPr sz="1400" b="0" i="0">
                          <a:solidFill>
                            <a:srgbClr val="14213D"/>
                          </a:solidFill>
                          <a:latin typeface="Segoe UI"/>
                        </a:rPr>
                        <a:t>Linear(512, 26)</a:t>
                      </a:r>
                    </a:p>
                  </a:txBody>
                  <a:tcPr marL="127000" marR="127000" marT="25400" marB="25400" anchor="ctr">
                    <a:solidFill>
                      <a:srgbClr val="FFFFFF"/>
                    </a:solidFill>
                  </a:tcPr>
                </a:tc>
                <a:tc>
                  <a:txBody>
                    <a:bodyPr/>
                    <a:lstStyle/>
                    <a:p>
                      <a:r>
                        <a:rPr sz="1400" b="1" i="0">
                          <a:solidFill>
                            <a:srgbClr val="0F7C74"/>
                          </a:solidFill>
                          <a:latin typeface="Segoe UI Semibold"/>
                        </a:rPr>
                        <a:t>none</a:t>
                      </a:r>
                    </a:p>
                  </a:txBody>
                  <a:tcPr marL="127000" marR="127000" marT="25400" marB="25400" anchor="ctr">
                    <a:solidFill>
                      <a:srgbClr val="FFFFFF"/>
                    </a:solidFill>
                  </a:tcPr>
                </a:tc>
                <a:extLst>
                  <a:ext uri="{0D108BD9-81ED-4DB2-BD59-A6C34878D82A}">
                    <a16:rowId xmlns:a16="http://schemas.microsoft.com/office/drawing/2014/main" val="10001"/>
                  </a:ext>
                </a:extLst>
              </a:tr>
              <a:tr h="411480">
                <a:tc>
                  <a:txBody>
                    <a:bodyPr/>
                    <a:lstStyle/>
                    <a:p>
                      <a:r>
                        <a:rPr sz="1400" b="1" i="0">
                          <a:solidFill>
                            <a:srgbClr val="14213D"/>
                          </a:solidFill>
                          <a:latin typeface="Segoe UI Semibold"/>
                        </a:rPr>
                        <a:t>D</a:t>
                      </a:r>
                    </a:p>
                  </a:txBody>
                  <a:tcPr marL="127000" marR="127000" marT="25400" marB="25400" anchor="ctr">
                    <a:solidFill>
                      <a:srgbClr val="F8FAFC"/>
                    </a:solidFill>
                  </a:tcPr>
                </a:tc>
                <a:tc>
                  <a:txBody>
                    <a:bodyPr/>
                    <a:lstStyle/>
                    <a:p>
                      <a:r>
                        <a:rPr sz="1400" b="0" i="0">
                          <a:solidFill>
                            <a:srgbClr val="14213D"/>
                          </a:solidFill>
                          <a:latin typeface="Segoe UI"/>
                        </a:rPr>
                        <a:t>4 conv blocks + GAP</a:t>
                      </a:r>
                    </a:p>
                  </a:txBody>
                  <a:tcPr marL="127000" marR="127000" marT="25400" marB="25400" anchor="ctr">
                    <a:solidFill>
                      <a:srgbClr val="F8FAFC"/>
                    </a:solidFill>
                  </a:tcPr>
                </a:tc>
                <a:tc>
                  <a:txBody>
                    <a:bodyPr/>
                    <a:lstStyle/>
                    <a:p>
                      <a:r>
                        <a:rPr sz="1400" b="0" i="0">
                          <a:solidFill>
                            <a:srgbClr val="14213D"/>
                          </a:solidFill>
                          <a:latin typeface="Segoe UI"/>
                        </a:rPr>
                        <a:t>256-d</a:t>
                      </a:r>
                    </a:p>
                  </a:txBody>
                  <a:tcPr marL="127000" marR="127000" marT="25400" marB="25400" anchor="ctr">
                    <a:solidFill>
                      <a:srgbClr val="F8FAFC"/>
                    </a:solidFill>
                  </a:tcPr>
                </a:tc>
                <a:tc>
                  <a:txBody>
                    <a:bodyPr/>
                    <a:lstStyle/>
                    <a:p>
                      <a:r>
                        <a:rPr sz="1400" b="0" i="0">
                          <a:solidFill>
                            <a:srgbClr val="14213D"/>
                          </a:solidFill>
                          <a:latin typeface="Segoe UI"/>
                        </a:rPr>
                        <a:t>Linear(256, 26)</a:t>
                      </a:r>
                    </a:p>
                  </a:txBody>
                  <a:tcPr marL="127000" marR="127000" marT="25400" marB="25400" anchor="ctr">
                    <a:solidFill>
                      <a:srgbClr val="F8FAFC"/>
                    </a:solidFill>
                  </a:tcPr>
                </a:tc>
                <a:tc>
                  <a:txBody>
                    <a:bodyPr/>
                    <a:lstStyle/>
                    <a:p>
                      <a:r>
                        <a:rPr sz="1400" b="1" i="0">
                          <a:solidFill>
                            <a:srgbClr val="0F7C74"/>
                          </a:solidFill>
                          <a:latin typeface="Segoe UI Semibold"/>
                        </a:rPr>
                        <a:t>none</a:t>
                      </a:r>
                    </a:p>
                  </a:txBody>
                  <a:tcPr marL="127000" marR="127000" marT="25400" marB="25400" anchor="ctr">
                    <a:solidFill>
                      <a:srgbClr val="F8FAFC"/>
                    </a:solidFill>
                  </a:tcPr>
                </a:tc>
                <a:extLst>
                  <a:ext uri="{0D108BD9-81ED-4DB2-BD59-A6C34878D82A}">
                    <a16:rowId xmlns:a16="http://schemas.microsoft.com/office/drawing/2014/main" val="10002"/>
                  </a:ext>
                </a:extLst>
              </a:tr>
              <a:tr h="411480">
                <a:tc>
                  <a:txBody>
                    <a:bodyPr/>
                    <a:lstStyle/>
                    <a:p>
                      <a:r>
                        <a:rPr sz="1400" b="1" i="0">
                          <a:solidFill>
                            <a:srgbClr val="14213D"/>
                          </a:solidFill>
                          <a:latin typeface="Segoe UI Semibold"/>
                        </a:rPr>
                        <a:t>E</a:t>
                      </a:r>
                    </a:p>
                  </a:txBody>
                  <a:tcPr marL="127000" marR="127000" marT="25400" marB="25400" anchor="ctr">
                    <a:solidFill>
                      <a:srgbClr val="FFFFFF"/>
                    </a:solidFill>
                  </a:tcPr>
                </a:tc>
                <a:tc>
                  <a:txBody>
                    <a:bodyPr/>
                    <a:lstStyle/>
                    <a:p>
                      <a:r>
                        <a:rPr sz="1400" b="0" i="0">
                          <a:solidFill>
                            <a:srgbClr val="14213D"/>
                          </a:solidFill>
                          <a:latin typeface="Segoe UI"/>
                        </a:rPr>
                        <a:t>PatchEmbed + 12 Transformer blocks</a:t>
                      </a:r>
                    </a:p>
                  </a:txBody>
                  <a:tcPr marL="127000" marR="127000" marT="25400" marB="25400" anchor="ctr">
                    <a:solidFill>
                      <a:srgbClr val="FFFFFF"/>
                    </a:solidFill>
                  </a:tcPr>
                </a:tc>
                <a:tc>
                  <a:txBody>
                    <a:bodyPr/>
                    <a:lstStyle/>
                    <a:p>
                      <a:r>
                        <a:rPr sz="1400" b="0" i="0">
                          <a:solidFill>
                            <a:srgbClr val="14213D"/>
                          </a:solidFill>
                          <a:latin typeface="Segoe UI"/>
                        </a:rPr>
                        <a:t>768-d (CLS)</a:t>
                      </a:r>
                    </a:p>
                  </a:txBody>
                  <a:tcPr marL="127000" marR="127000" marT="25400" marB="25400" anchor="ctr">
                    <a:solidFill>
                      <a:srgbClr val="FFFFFF"/>
                    </a:solidFill>
                  </a:tcPr>
                </a:tc>
                <a:tc>
                  <a:txBody>
                    <a:bodyPr/>
                    <a:lstStyle/>
                    <a:p>
                      <a:r>
                        <a:rPr sz="1400" b="0" i="0">
                          <a:solidFill>
                            <a:srgbClr val="14213D"/>
                          </a:solidFill>
                          <a:latin typeface="Segoe UI"/>
                        </a:rPr>
                        <a:t>Linear(768, 26)</a:t>
                      </a:r>
                    </a:p>
                  </a:txBody>
                  <a:tcPr marL="127000" marR="127000" marT="25400" marB="25400" anchor="ctr">
                    <a:solidFill>
                      <a:srgbClr val="FFFFFF"/>
                    </a:solidFill>
                  </a:tcPr>
                </a:tc>
                <a:tc>
                  <a:txBody>
                    <a:bodyPr/>
                    <a:lstStyle/>
                    <a:p>
                      <a:r>
                        <a:rPr sz="1400" b="1" i="0">
                          <a:solidFill>
                            <a:srgbClr val="0F7C74"/>
                          </a:solidFill>
                          <a:latin typeface="Segoe UI Semibold"/>
                        </a:rPr>
                        <a:t>none</a:t>
                      </a:r>
                    </a:p>
                  </a:txBody>
                  <a:tcPr marL="127000" marR="127000" marT="25400" marB="25400" anchor="ctr">
                    <a:solidFill>
                      <a:srgbClr val="FFFFFF"/>
                    </a:solidFill>
                  </a:tcPr>
                </a:tc>
                <a:extLst>
                  <a:ext uri="{0D108BD9-81ED-4DB2-BD59-A6C34878D82A}">
                    <a16:rowId xmlns:a16="http://schemas.microsoft.com/office/drawing/2014/main" val="10003"/>
                  </a:ext>
                </a:extLst>
              </a:tr>
            </a:tbl>
          </a:graphicData>
        </a:graphic>
      </p:graphicFrame>
      <p:sp>
        <p:nvSpPr>
          <p:cNvPr id="25" name="Rounded Rectangle 24"/>
          <p:cNvSpPr/>
          <p:nvPr/>
        </p:nvSpPr>
        <p:spPr>
          <a:xfrm>
            <a:off x="640080" y="4480560"/>
            <a:ext cx="5577840" cy="790956"/>
          </a:xfrm>
          <a:prstGeom prst="roundRect">
            <a:avLst>
              <a:gd name="adj" fmla="val 13872"/>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Oval 25"/>
          <p:cNvSpPr/>
          <p:nvPr/>
        </p:nvSpPr>
        <p:spPr>
          <a:xfrm>
            <a:off x="841247" y="4665726"/>
            <a:ext cx="420624" cy="420624"/>
          </a:xfrm>
          <a:prstGeom prst="ellipse">
            <a:avLst/>
          </a:prstGeom>
          <a:solidFill>
            <a:srgbClr val="E2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841247" y="4665726"/>
            <a:ext cx="420624" cy="420624"/>
          </a:xfrm>
          <a:prstGeom prst="rect">
            <a:avLst/>
          </a:prstGeom>
          <a:noFill/>
        </p:spPr>
        <p:txBody>
          <a:bodyPr wrap="square" lIns="18288" rIns="18288" anchor="ctr">
            <a:spAutoFit/>
          </a:bodyPr>
          <a:lstStyle/>
          <a:p>
            <a:pPr algn="ctr"/>
            <a:r>
              <a:rPr sz="1300" b="1" i="0">
                <a:solidFill>
                  <a:srgbClr val="0F7C74"/>
                </a:solidFill>
                <a:latin typeface="Segoe UI Semibold"/>
              </a:rPr>
              <a:t>1</a:t>
            </a:r>
          </a:p>
        </p:txBody>
      </p:sp>
      <p:sp>
        <p:nvSpPr>
          <p:cNvPr id="28" name="TextBox 27"/>
          <p:cNvSpPr txBox="1"/>
          <p:nvPr/>
        </p:nvSpPr>
        <p:spPr>
          <a:xfrm>
            <a:off x="1463039" y="4480560"/>
            <a:ext cx="4572000" cy="790956"/>
          </a:xfrm>
          <a:prstGeom prst="rect">
            <a:avLst/>
          </a:prstGeom>
          <a:noFill/>
        </p:spPr>
        <p:txBody>
          <a:bodyPr wrap="square" anchor="ctr">
            <a:spAutoFit/>
          </a:bodyPr>
          <a:lstStyle/>
          <a:p>
            <a:r>
              <a:rPr sz="1300" b="0" i="0">
                <a:solidFill>
                  <a:srgbClr val="14213D"/>
                </a:solidFill>
                <a:latin typeface="Segoe UI"/>
              </a:rPr>
              <a:t>A </a:t>
            </a:r>
            <a:r>
              <a:rPr sz="1300" b="1" i="0">
                <a:solidFill>
                  <a:srgbClr val="0F7C74"/>
                </a:solidFill>
                <a:latin typeface="Segoe UI"/>
              </a:rPr>
              <a:t>decoder generates a sequence</a:t>
            </a:r>
            <a:r>
              <a:rPr sz="1300" b="0" i="0">
                <a:solidFill>
                  <a:srgbClr val="14213D"/>
                </a:solidFill>
                <a:latin typeface="Segoe UI"/>
              </a:rPr>
              <a:t>, one step at a time, each step conditioned on the previous one</a:t>
            </a:r>
          </a:p>
        </p:txBody>
      </p:sp>
      <p:sp>
        <p:nvSpPr>
          <p:cNvPr id="29" name="Rounded Rectangle 28"/>
          <p:cNvSpPr/>
          <p:nvPr/>
        </p:nvSpPr>
        <p:spPr>
          <a:xfrm>
            <a:off x="640080" y="5381244"/>
            <a:ext cx="5577840" cy="790956"/>
          </a:xfrm>
          <a:prstGeom prst="roundRect">
            <a:avLst>
              <a:gd name="adj" fmla="val 13872"/>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Oval 29"/>
          <p:cNvSpPr/>
          <p:nvPr/>
        </p:nvSpPr>
        <p:spPr>
          <a:xfrm>
            <a:off x="841247" y="5566410"/>
            <a:ext cx="420624" cy="420624"/>
          </a:xfrm>
          <a:prstGeom prst="ellipse">
            <a:avLst/>
          </a:prstGeom>
          <a:solidFill>
            <a:srgbClr val="E2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Box 30"/>
          <p:cNvSpPr txBox="1"/>
          <p:nvPr/>
        </p:nvSpPr>
        <p:spPr>
          <a:xfrm>
            <a:off x="841247" y="5566410"/>
            <a:ext cx="420624" cy="420624"/>
          </a:xfrm>
          <a:prstGeom prst="rect">
            <a:avLst/>
          </a:prstGeom>
          <a:noFill/>
        </p:spPr>
        <p:txBody>
          <a:bodyPr wrap="square" lIns="18288" rIns="18288" anchor="ctr">
            <a:spAutoFit/>
          </a:bodyPr>
          <a:lstStyle/>
          <a:p>
            <a:pPr algn="ctr"/>
            <a:r>
              <a:rPr sz="1300" b="1" i="0">
                <a:solidFill>
                  <a:srgbClr val="0F7C74"/>
                </a:solidFill>
                <a:latin typeface="Segoe UI Semibold"/>
              </a:rPr>
              <a:t>2</a:t>
            </a:r>
          </a:p>
        </p:txBody>
      </p:sp>
      <p:sp>
        <p:nvSpPr>
          <p:cNvPr id="32" name="TextBox 31"/>
          <p:cNvSpPr txBox="1"/>
          <p:nvPr/>
        </p:nvSpPr>
        <p:spPr>
          <a:xfrm>
            <a:off x="1463039" y="5381244"/>
            <a:ext cx="4572000" cy="790956"/>
          </a:xfrm>
          <a:prstGeom prst="rect">
            <a:avLst/>
          </a:prstGeom>
          <a:noFill/>
        </p:spPr>
        <p:txBody>
          <a:bodyPr wrap="square" anchor="ctr">
            <a:spAutoFit/>
          </a:bodyPr>
          <a:lstStyle/>
          <a:p>
            <a:r>
              <a:rPr sz="1300" b="0" i="0">
                <a:solidFill>
                  <a:srgbClr val="14213D"/>
                </a:solidFill>
                <a:latin typeface="Segoe UI"/>
              </a:rPr>
              <a:t>My output is </a:t>
            </a:r>
            <a:r>
              <a:rPr sz="1300" b="1" i="0">
                <a:solidFill>
                  <a:srgbClr val="0F7C74"/>
                </a:solidFill>
                <a:latin typeface="Segoe UI"/>
              </a:rPr>
              <a:t>one label out of 26</a:t>
            </a:r>
            <a:r>
              <a:rPr sz="1300" b="0" i="0">
                <a:solidFill>
                  <a:srgbClr val="14213D"/>
                </a:solidFill>
                <a:latin typeface="Segoe UI"/>
              </a:rPr>
              <a:t> — there is nothing to generate, so a decoder would be architecturally meaningless</a:t>
            </a:r>
          </a:p>
        </p:txBody>
      </p:sp>
      <p:sp>
        <p:nvSpPr>
          <p:cNvPr id="33" name="Rounded Rectangle 32"/>
          <p:cNvSpPr/>
          <p:nvPr/>
        </p:nvSpPr>
        <p:spPr>
          <a:xfrm>
            <a:off x="6446520" y="4480560"/>
            <a:ext cx="5105095" cy="1691640"/>
          </a:xfrm>
          <a:prstGeom prst="roundRect">
            <a:avLst>
              <a:gd name="adj" fmla="val 6486"/>
            </a:avLst>
          </a:prstGeom>
          <a:solidFill>
            <a:srgbClr val="FFFFFF"/>
          </a:solidFill>
          <a:ln w="1079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Oval 33"/>
          <p:cNvSpPr/>
          <p:nvPr/>
        </p:nvSpPr>
        <p:spPr>
          <a:xfrm>
            <a:off x="6647688" y="5116068"/>
            <a:ext cx="420624" cy="420624"/>
          </a:xfrm>
          <a:prstGeom prst="ellipse">
            <a:avLst/>
          </a:prstGeom>
          <a:solidFill>
            <a:srgbClr val="F8E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6647688" y="5116068"/>
            <a:ext cx="420624" cy="420624"/>
          </a:xfrm>
          <a:prstGeom prst="rect">
            <a:avLst/>
          </a:prstGeom>
          <a:noFill/>
        </p:spPr>
        <p:txBody>
          <a:bodyPr wrap="square" lIns="18288" rIns="18288" anchor="ctr">
            <a:spAutoFit/>
          </a:bodyPr>
          <a:lstStyle/>
          <a:p>
            <a:pPr algn="ctr"/>
            <a:r>
              <a:rPr sz="1300" b="1" i="0">
                <a:solidFill>
                  <a:srgbClr val="C0392B"/>
                </a:solidFill>
                <a:latin typeface="Segoe UI Semibold"/>
              </a:rPr>
              <a:t>!</a:t>
            </a:r>
          </a:p>
        </p:txBody>
      </p:sp>
      <p:sp>
        <p:nvSpPr>
          <p:cNvPr id="36" name="TextBox 35"/>
          <p:cNvSpPr txBox="1"/>
          <p:nvPr/>
        </p:nvSpPr>
        <p:spPr>
          <a:xfrm>
            <a:off x="7269479" y="4480560"/>
            <a:ext cx="4099255" cy="1691640"/>
          </a:xfrm>
          <a:prstGeom prst="rect">
            <a:avLst/>
          </a:prstGeom>
          <a:noFill/>
        </p:spPr>
        <p:txBody>
          <a:bodyPr wrap="square" anchor="ctr">
            <a:spAutoFit/>
          </a:bodyPr>
          <a:lstStyle/>
          <a:p>
            <a:r>
              <a:rPr sz="1196" b="0" i="0">
                <a:solidFill>
                  <a:srgbClr val="14213D"/>
                </a:solidFill>
                <a:latin typeface="Consolas"/>
              </a:rPr>
              <a:t>CTCDecoder</a:t>
            </a:r>
            <a:r>
              <a:rPr sz="1300" b="0" i="0">
                <a:solidFill>
                  <a:srgbClr val="14213D"/>
                </a:solidFill>
                <a:latin typeface="Segoe UI"/>
              </a:rPr>
              <a:t> in the number reader is </a:t>
            </a:r>
            <a:r>
              <a:rPr sz="1300" b="1" i="0">
                <a:solidFill>
                  <a:srgbClr val="C0392B"/>
                </a:solidFill>
                <a:latin typeface="Segoe UI"/>
              </a:rPr>
              <a:t>not a neural decoder</a:t>
            </a:r>
            <a:r>
              <a:rPr sz="1300" b="0" i="0">
                <a:solidFill>
                  <a:srgbClr val="14213D"/>
                </a:solidFill>
                <a:latin typeface="Segoe UI"/>
              </a:rPr>
              <a:t> — it is a collapse rule: argmax per timestep, merge repeats, drop blanks. </a:t>
            </a:r>
            <a:r>
              <a:rPr sz="1300" b="1" i="0">
                <a:solidFill>
                  <a:srgbClr val="C0392B"/>
                </a:solidFill>
                <a:latin typeface="Segoe UI"/>
              </a:rPr>
              <a:t>No weights, never trained.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TotalTime>
  <Words>4435</Words>
  <Application>Microsoft Office PowerPoint</Application>
  <PresentationFormat>Widescreen</PresentationFormat>
  <Paragraphs>851</Paragraphs>
  <Slides>25</Slides>
  <Notes>15</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25</vt:i4>
      </vt:variant>
    </vt:vector>
  </HeadingPairs>
  <TitlesOfParts>
    <vt:vector size="31" baseType="lpstr">
      <vt:lpstr>Arial</vt:lpstr>
      <vt:lpstr>Calibri</vt:lpstr>
      <vt:lpstr>Consolas</vt:lpstr>
      <vt:lpstr>Segoe UI</vt:lpstr>
      <vt:lpstr>Segoe UI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so botra</cp:lastModifiedBy>
  <cp:revision>2</cp:revision>
  <dcterms:created xsi:type="dcterms:W3CDTF">2013-01-27T09:14:16Z</dcterms:created>
  <dcterms:modified xsi:type="dcterms:W3CDTF">2026-10-17T04:08:23Z</dcterms:modified>
  <cp:category/>
</cp:coreProperties>
</file>