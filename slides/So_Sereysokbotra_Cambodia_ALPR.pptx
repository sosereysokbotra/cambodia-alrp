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150" d="100"/>
          <a:sy n="150" d="100"/>
        </p:scale>
        <p:origin x="-312" y="-14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593527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Good morning. My name is So Sereysokbotra.</a:t>
            </a:r>
          </a:p>
          <a:p>
            <a:endParaRPr/>
          </a:p>
          <a:p>
            <a:r>
              <a:t>My project reads Cambodian licence plates. I built a complete system that reads a plate at a gate and decides whether to open it — but today I want to focus on one model inside that system, and on one question: which deep-learning approach reads the Khmer province name best, and why. I compared five deep-learning approaches along two dimensions.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point at the cards Across Cambodia, automated barriers, residential </a:t>
            </a:r>
            <a:r>
              <a:rPr dirty="0" err="1"/>
              <a:t>boreys</a:t>
            </a:r>
            <a:r>
              <a:rPr dirty="0"/>
              <a:t>, smart parking, and highway toll plazas need fast, hands-free vehicle entry.</a:t>
            </a:r>
          </a:p>
          <a:p>
            <a:endParaRPr dirty="0"/>
          </a:p>
          <a:p>
            <a:r>
              <a:rPr dirty="0"/>
              <a:t>Commercial ALPR systems fail here because of one critical fact: the plate number alone is not unique in Cambodia. The number `2A-0243` repeats in almost every one of the 26 provinces. If a security gate reads only the digits, an unauthorized car from another province could falsely trigger access.</a:t>
            </a:r>
          </a:p>
          <a:p>
            <a:endParaRPr dirty="0"/>
          </a:p>
          <a:p>
            <a:r>
              <a:rPr dirty="0"/>
              <a:t>Furthermore, off-the-shelf Western OCR engines cannot read the top line because Khmer script has complex stacked ligatures that break character-by-character segmentation.</a:t>
            </a:r>
          </a:p>
          <a:p>
            <a:endParaRPr dirty="0"/>
          </a:p>
          <a:p>
            <a:r>
              <a:rPr dirty="0"/>
              <a:t>point at the diagram So I treat the Khmer province line as a whole-image classification problem: a 128-by-128 crop in, one of 26 classes out. This research asks: on a small, imbalanced Khmer dataset, which deep-learning approach reads this line best, and why?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Here is how the complete end-to-end ALPR system is designed.</a:t>
            </a:r>
          </a:p>
          <a:p>
            <a:endParaRPr/>
          </a:p>
          <a:p>
            <a:r>
              <a:t>First, a road or gate camera captures the vehicle. YOLOv10 detects the plate bounding box in about 15 milliseconds, handling angle and lighting variations.</a:t>
            </a:r>
          </a:p>
          <a:p>
            <a:endParaRPr/>
          </a:p>
          <a:p>
            <a:r>
              <a:t>Next, the plate enters a dual recognition pipeline:</a:t>
            </a:r>
          </a:p>
          <a:p>
            <a:r>
              <a:t>- The top Khmer province line goes to our 26-class province classifier — the central focus of this research.</a:t>
            </a:r>
          </a:p>
          <a:p>
            <a:r>
              <a:t>- The bottom line of Latin characters and digits is read by a CRNN with CTC decoding.</a:t>
            </a:r>
          </a:p>
          <a:p>
            <a:r>
              <a:t>Running them in parallel keeps total recognition latency under 35 milliseconds.</a:t>
            </a:r>
          </a:p>
          <a:p>
            <a:endParaRPr/>
          </a:p>
          <a:p>
            <a:r>
              <a:t>Finally, the two outputs are composed into a canonical plate string like `Takeo 1L-4082` and matched against an SQLite whitelist with a strict confidence threshold. On 149 labelled real scenes, the system achieves zero false accepts at 50 milliseconds per frame.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data is Plate_v4, a public Roboflow dataset, CC-BY. I did not collect it myself. Cutting the province line out of each photo gives 2 515 training, 529 validation, 567 test crops. Every approach uses exactly this split.</a:t>
            </a:r>
          </a:p>
          <a:p>
            <a:endParaRPr/>
          </a:p>
          <a:p>
            <a:r>
              <a:t>And one thing I checked rather than assumed: the split was made per *crop*, and one photo can hold several cars — so 13.4 percent of test crops share a photo with training. I measured it, I report it, and every result is also scored on the clean subset.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point at the table Here is the complete distribution across all 26 classes.</a:t>
            </a:r>
          </a:p>
          <a:p>
            <a:endParaRPr/>
          </a:p>
          <a:p>
            <a:r>
              <a:t>The classes are badly imbalanced — "other" has 453 crops, but Mondul Kiri has only 18 — a 25-to-1 ratio. The four red rows at the bottom right — Koh Kong, Kep, Ratanakiri, and Mondul Kiri — are classes with fifty or fewer crops.</a:t>
            </a:r>
          </a:p>
          <a:p>
            <a:endParaRPr/>
          </a:p>
          <a:p>
            <a:r>
              <a:t>Because of this long tail, overall accuracy is not enough: we also track macro-F1, which gives equal weight to all 26 provinces so a model cannot score well by simply ignoring the rare ones.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Everything except the approach is held constant.</a:t>
            </a:r>
          </a:p>
          <a:p>
            <a:endParaRPr/>
          </a:p>
          <a:p>
            <a:r>
              <a:t>Same preprocessing, same augmentation, forty epochs, batch 32, Adam — identical for all four runs, so augmentation is never a hidden variable.</a:t>
            </a:r>
          </a:p>
          <a:p>
            <a:endParaRPr/>
          </a:p>
          <a:p>
            <a:r>
              <a:t>Seed 42 is fixed in Python, NumPy, PyTorch and the data loader, so a run reproduces exactly.</a:t>
            </a:r>
          </a:p>
          <a:p>
            <a:endParaRPr/>
          </a:p>
          <a:p>
            <a:r>
              <a:t>The model is selected on validation only; the test set is touched once per run.</a:t>
            </a:r>
          </a:p>
          <a:p>
            <a:endParaRPr/>
          </a:p>
          <a:p>
            <a:r>
              <a:t>Metrics: accuracy, and macro-F1 because of the imbalance — macro-F1 weights every province equally, so a model cannot look good by ignoring Mondul Kiri.</a:t>
            </a:r>
          </a:p>
          <a:p>
            <a:endParaRPr/>
          </a:p>
          <a:p>
            <a:r>
              <a:t>Training ran on a Colab T4, about six minutes per run.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 compared five approaches along two dimensions.</a:t>
            </a:r>
          </a:p>
          <a:p>
            <a:endParaRPr/>
          </a:p>
          <a:p>
            <a:r>
              <a:t>A is ResNet18 trained from scratch — random weights, every layer learns.</a:t>
            </a:r>
          </a:p>
          <a:p>
            <a:endParaRPr/>
          </a:p>
          <a:p>
            <a:r>
              <a:t>B is ResNet18 with ImageNet weights, but the backbone is frozen — only the final layer trains. That is 13 thousand parameters, about one tenth of one percent of the model.</a:t>
            </a:r>
          </a:p>
          <a:p>
            <a:endParaRPr/>
          </a:p>
          <a:p>
            <a:r>
              <a:t>C is ResNet18 with ImageNet weights and full fine-tuning — every layer learns, at a low learning rate.</a:t>
            </a:r>
          </a:p>
          <a:p>
            <a:endParaRPr/>
          </a:p>
          <a:p>
            <a:r>
              <a:t>D is a different *architecture*: a small four-block CNN with 400 thousand parameters, trained from scratch.</a:t>
            </a:r>
          </a:p>
          <a:p>
            <a:endParaRPr/>
          </a:p>
          <a:p>
            <a:r>
              <a:t>E is a transformer architecture: ViT-B/16 (Vision Transformer) with 86 million parameters, trained on 224-by-224 patches.</a:t>
            </a:r>
          </a:p>
          <a:p>
            <a:endParaRPr/>
          </a:p>
          <a:p>
            <a:r>
              <a:t>So: A versus C asks whether ImageNet weights help. B asks whether ImageNet *features alone* are enough. D asks whether we even need eleven million parameters. And E asks whether self-attention beats convolution for Khmer script.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Here are the results, on the same 567 test crops.</a:t>
            </a:r>
          </a:p>
          <a:p>
            <a:endParaRPr/>
          </a:p>
          <a:p>
            <a:r>
              <a:t>Fine-tuning — C — reaches 94.0 percent. From scratch — A — reaches 93.3. The frozen backbone — B — collapses to 42 percent. And the small CNN — D — reaches only 46.6.</a:t>
            </a:r>
          </a:p>
          <a:p>
            <a:endParaRPr/>
          </a:p>
          <a:p>
            <a:r>
              <a:t>E — the Vision Transformer — reaches 96.1 percent, matching the tuned ResNet18 right away, and achieving 26.8 percent on upside-down plates without any rotation training.</a:t>
            </a:r>
          </a:p>
          <a:p>
            <a:endParaRPr/>
          </a:p>
          <a:p>
            <a:r>
              <a:t>A and C are statistically tied: I ran McNemar's exact test on the same crops and got p = 0.63. So there are clear winners and clear failures — and they fail for different reasons, which is the interesting part.</a:t>
            </a:r>
          </a:p>
          <a:p>
            <a:endParaRPr/>
          </a:p>
          <a:p>
            <a:r>
              <a:t>On the clean subset — the 491 crops with no shared source photo — the ranking is identical and the accuracies are slightly *higher*. So the leak did not help the models; those duplicate crops come from multi-car photos and are smaller and blurrier.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point at the green curve This is C, fine-tuning. It reaches 85 percent validation accuracy by epoch five. point at the blue curve A, from scratch, needs about twenty epochs to reach the same place — but it does reach it. So ImageNet weights buy speed, not a better final answer, at this data size.</a:t>
            </a:r>
          </a:p>
          <a:p>
            <a:endParaRPr/>
          </a:p>
          <a:p>
            <a:r>
              <a:t>For A and C, training accuracy climbs to 97–99 percent while validation sits around 92. That is mild over-fitting — the augmentation keeps the gap bounded, and I keep the best-validation epoch, not the last one.</a:t>
            </a:r>
          </a:p>
          <a:p>
            <a:endParaRPr/>
          </a:p>
          <a:p>
            <a:r>
              <a:t>point at the orange and red curves B and D look completely different: training *and* validation both stay low — training accuracy under 60 percent — and both are still slowly rising at epoch 40. That is under-fitting, not over-fitting. These models cannot fit the data at 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Then I tuned approach C: three learning rates by two weight-decay values.</a:t>
            </a:r>
          </a:p>
          <a:p>
            <a:endParaRPr/>
          </a:p>
          <a:p>
            <a:r>
              <a:t>The textbook advice for fine-tuning is "use a low learning rate." In my grid, 1e-4 was the worst cell. Ten times higher — 1e-3 — gained four points of validation accuracy. With the whole network trainable and only 2 500 images, the model under-trains at 1e-4.</a:t>
            </a:r>
          </a:p>
          <a:p>
            <a:endParaRPr/>
          </a:p>
          <a:p>
            <a:r>
              <a:t>Weight decay was slightly worse in every column — the augmentation already regularises.</a:t>
            </a:r>
          </a:p>
          <a:p>
            <a:endParaRPr/>
          </a:p>
          <a:p>
            <a:r>
              <a:t>The selected model is lr 1e-3, no weight decay: 96.5 percent on test.</a:t>
            </a:r>
          </a:p>
          <a:p>
            <a:endParaRPr/>
          </a:p>
          <a:p>
            <a:r>
              <a:t>One honest note: the 3e-4 cell scores higher on *test* — 97.0 — but lower on validation. I select on validation, so 96.5 is what I report.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Model C makes 34 errors out of 567.</a:t>
            </a:r>
          </a:p>
          <a:p>
            <a:endParaRPr dirty="0"/>
          </a:p>
          <a:p>
            <a:r>
              <a:rPr dirty="0"/>
              <a:t>Eight of them — a quarter — are a single pair: Banteay Meanchey and </a:t>
            </a:r>
            <a:r>
              <a:rPr dirty="0" err="1"/>
              <a:t>Oudor</a:t>
            </a:r>
            <a:r>
              <a:rPr dirty="0"/>
              <a:t> Meanchey. On a plate both names are abbreviated — point at the card *</a:t>
            </a:r>
            <a:r>
              <a:rPr dirty="0" err="1"/>
              <a:t>bor</a:t>
            </a:r>
            <a:r>
              <a:rPr dirty="0"/>
              <a:t>*-dot-</a:t>
            </a:r>
            <a:r>
              <a:rPr dirty="0" err="1"/>
              <a:t>meanchey</a:t>
            </a:r>
            <a:r>
              <a:rPr dirty="0"/>
              <a:t> and *</a:t>
            </a:r>
            <a:r>
              <a:rPr dirty="0" err="1"/>
              <a:t>oo</a:t>
            </a:r>
            <a:r>
              <a:rPr dirty="0"/>
              <a:t>*-dot-</a:t>
            </a:r>
            <a:r>
              <a:rPr dirty="0" err="1"/>
              <a:t>meanchey</a:t>
            </a:r>
            <a:r>
              <a:rPr dirty="0"/>
              <a:t>. The entire decision rests on one small leading letter, and on a blurred plate that letter is gone.</a:t>
            </a:r>
          </a:p>
          <a:p>
            <a:endParaRPr dirty="0"/>
          </a:p>
          <a:p>
            <a:r>
              <a:rPr dirty="0"/>
              <a:t>The other frequent confusions are the same story — Battambang and </a:t>
            </a:r>
            <a:r>
              <a:rPr dirty="0" err="1"/>
              <a:t>Pursat</a:t>
            </a:r>
            <a:r>
              <a:rPr dirty="0"/>
              <a:t>, Kampong Chhnang and Kampong Thom — names that share a whole word.</a:t>
            </a:r>
          </a:p>
          <a:p>
            <a:endParaRPr dirty="0"/>
          </a:p>
          <a:p>
            <a:r>
              <a:rPr dirty="0"/>
              <a:t>point at the gallery Most remaining errors are crops a human cannot read either — motion blur, twenty-pixel text, JPEG blocks.</a:t>
            </a:r>
          </a:p>
          <a:p>
            <a:endParaRPr dirty="0"/>
          </a:p>
          <a:p>
            <a:r>
              <a:rPr dirty="0"/>
              <a:t>And class size matters less than I expected: the four smallest classes score 90 percent against 94.2 for the rest, and </a:t>
            </a:r>
            <a:r>
              <a:rPr dirty="0" err="1"/>
              <a:t>Mondul</a:t>
            </a:r>
            <a:r>
              <a:rPr dirty="0"/>
              <a:t> Kiri gets five out of five on 18 training crops. It is the visual similarity of the name, not the amount of data, that drives the errors.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Let me explain that ranking with the concepts from the course.</a:t>
            </a:r>
          </a:p>
          <a:p>
            <a:endParaRPr/>
          </a:p>
          <a:p>
            <a:r>
              <a:t>B collapses because of inductive bias and domain shift. ImageNet filters encode natural-image textures and object parts. Khmer letters are stroke shapes. To separate them, the low-level filters themselves have to change — and a 13-thousand-parameter head cannot do that.</a:t>
            </a:r>
          </a:p>
          <a:p>
            <a:endParaRPr/>
          </a:p>
          <a:p>
            <a:r>
              <a:t>A equals C because of data size. Two and a half thousand images are enough to learn glyph features from random initialisation. Pre-training is a good *starting point*, not new knowledge.</a:t>
            </a:r>
          </a:p>
          <a:p>
            <a:endParaRPr/>
          </a:p>
          <a:p>
            <a:r>
              <a:t>D fails because of capacity. Four blocks and 400 thousand parameters cannot separate 26 nearly identical words at 128 pixels. Depth and residual connections matter here.</a:t>
            </a:r>
          </a:p>
          <a:p>
            <a:endParaRPr/>
          </a:p>
          <a:p>
            <a:r>
              <a:t>E succeeds because of self-attention. Global attention across all 196 patches captures full-word Khmer stroke relationships, matching 96.1% and lifting upside-down reading to 26.8%.</a:t>
            </a:r>
          </a:p>
          <a:p>
            <a:endParaRPr/>
          </a:p>
          <a:p>
            <a:r>
              <a:t>And tuning gave the biggest single gain — plus 2.5 points — because full fine-tuning is just training, and training wants a training-size learning rate.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What this study cannot claim.</a:t>
            </a:r>
          </a:p>
          <a:p>
            <a:endParaRPr/>
          </a:p>
          <a:p>
            <a:r>
              <a:t>The data is public and scraped, not collected for this purpose. The test split carries the 13.4 percent near-duplicate rate I showed you. With 567 test images the uncertainty is roughly plus or minus two points, so A and C genuinely cannot be separated. I used one seed per configuration. And I compared two model families.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Four takeaways.</a:t>
            </a:r>
          </a:p>
          <a:p>
            <a:endParaRPr/>
          </a:p>
          <a:p>
            <a:r>
              <a:t>One: for Khmer glyphs, train the whole network — frozen ImageNet features do not transfer (42%).</a:t>
            </a:r>
          </a:p>
          <a:p>
            <a:r>
              <a:t>Two: Transformers excel on script — ViT-B/16 matches 96.1% and improves rotation robustness (26.8%).</a:t>
            </a:r>
          </a:p>
          <a:p>
            <a:r>
              <a:t>Three: capacity matters — 400 thousand parameters is not enough; eleven to 86 million is.</a:t>
            </a:r>
          </a:p>
          <a:p>
            <a:r>
              <a:t>Four: for CNNs, the biggest gain came from tuning the learning rate, not from the architecture.</a:t>
            </a:r>
          </a:p>
          <a:p>
            <a:endParaRPr/>
          </a:p>
          <a:p>
            <a:r>
              <a:t>Next, in priority order: re-split by source photo, photograph the five smallest provinces, and benchmark Swin Transformer and ConvNeXt.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Every number in this presentation comes from a script in the repository that you can run. My laptop is open.</a:t>
            </a:r>
          </a:p>
          <a:p>
            <a:endParaRPr/>
          </a:p>
          <a:p>
            <a:r>
              <a:t>Thank you — I am happy to take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kit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00055" y="347472"/>
            <a:ext cx="868680" cy="86868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822960" y="1143000"/>
            <a:ext cx="3860074" cy="292608"/>
          </a:xfrm>
          <a:prstGeom prst="roundRect">
            <a:avLst>
              <a:gd name="adj" fmla="val 50000"/>
            </a:avLst>
          </a:prstGeom>
          <a:solidFill>
            <a:srgbClr val="E2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143000"/>
            <a:ext cx="3860074" cy="292608"/>
          </a:xfrm>
          <a:prstGeom prst="rect">
            <a:avLst/>
          </a:prstGeom>
          <a:noFill/>
        </p:spPr>
        <p:txBody>
          <a:bodyPr wrap="square" lIns="18288" rIns="18288" anchor="ctr">
            <a:spAutoFit/>
          </a:bodyPr>
          <a:lstStyle/>
          <a:p>
            <a:pPr algn="ctr"/>
            <a:r>
              <a:rPr sz="1000" b="1" i="0" spc="120">
                <a:solidFill>
                  <a:srgbClr val="0F7C74"/>
                </a:solidFill>
                <a:latin typeface="Segoe UI"/>
              </a:rPr>
              <a:t>DEEP LEARNING · FINAL PROJECT ·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645920"/>
            <a:ext cx="6766560" cy="164592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4000" b="0" i="0">
                <a:solidFill>
                  <a:srgbClr val="14213D"/>
                </a:solidFill>
                <a:latin typeface="Segoe UI Semibold"/>
              </a:rPr>
              <a:t>Reading the Khmer province</a:t>
            </a:r>
          </a:p>
          <a:p>
            <a:pPr algn="l"/>
            <a:r>
              <a:rPr sz="4000" b="0" i="0">
                <a:solidFill>
                  <a:srgbClr val="14213D"/>
                </a:solidFill>
                <a:latin typeface="Segoe UI Semibold"/>
              </a:rPr>
              <a:t>on Cambodian licence plates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337560"/>
            <a:ext cx="6583680" cy="45720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2000" b="0" i="0">
                <a:solidFill>
                  <a:srgbClr val="6B7280"/>
                </a:solidFill>
                <a:latin typeface="Segoe UI"/>
              </a:rPr>
              <a:t>Five deep-learning approaches compared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4069080"/>
            <a:ext cx="1369422" cy="292608"/>
          </a:xfrm>
          <a:prstGeom prst="roundRect">
            <a:avLst>
              <a:gd name="adj" fmla="val 50000"/>
            </a:avLst>
          </a:prstGeom>
          <a:solidFill>
            <a:srgbClr val="E2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4069080"/>
            <a:ext cx="1369422" cy="292608"/>
          </a:xfrm>
          <a:prstGeom prst="rect">
            <a:avLst/>
          </a:prstGeom>
          <a:noFill/>
        </p:spPr>
        <p:txBody>
          <a:bodyPr wrap="square" lIns="18288" rIns="18288" anchor="ctr">
            <a:spAutoFit/>
          </a:bodyPr>
          <a:lstStyle/>
          <a:p>
            <a:pPr algn="ctr"/>
            <a:r>
              <a:rPr sz="1000" b="1" i="0" spc="120">
                <a:solidFill>
                  <a:srgbClr val="0F7C74"/>
                </a:solidFill>
                <a:latin typeface="Segoe UI"/>
              </a:rPr>
              <a:t>26 CLASSES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329542" y="4069080"/>
            <a:ext cx="1561011" cy="292608"/>
          </a:xfrm>
          <a:prstGeom prst="roundRect">
            <a:avLst>
              <a:gd name="adj" fmla="val 50000"/>
            </a:avLst>
          </a:prstGeom>
          <a:solidFill>
            <a:srgbClr val="E2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329542" y="4069080"/>
            <a:ext cx="1561011" cy="292608"/>
          </a:xfrm>
          <a:prstGeom prst="rect">
            <a:avLst/>
          </a:prstGeom>
          <a:noFill/>
        </p:spPr>
        <p:txBody>
          <a:bodyPr wrap="square" lIns="18288" rIns="18288" anchor="ctr">
            <a:spAutoFit/>
          </a:bodyPr>
          <a:lstStyle/>
          <a:p>
            <a:pPr algn="ctr"/>
            <a:r>
              <a:rPr sz="1000" b="1" i="0" spc="120">
                <a:solidFill>
                  <a:srgbClr val="0F7C74"/>
                </a:solidFill>
                <a:latin typeface="Segoe UI"/>
              </a:rPr>
              <a:t>5 APPROACHES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27714" y="4069080"/>
            <a:ext cx="1752600" cy="292608"/>
          </a:xfrm>
          <a:prstGeom prst="roundRect">
            <a:avLst>
              <a:gd name="adj" fmla="val 50000"/>
            </a:avLst>
          </a:prstGeom>
          <a:solidFill>
            <a:srgbClr val="E2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027714" y="4069080"/>
            <a:ext cx="1752600" cy="292608"/>
          </a:xfrm>
          <a:prstGeom prst="rect">
            <a:avLst/>
          </a:prstGeom>
          <a:noFill/>
        </p:spPr>
        <p:txBody>
          <a:bodyPr wrap="square" lIns="18288" rIns="18288" anchor="ctr">
            <a:spAutoFit/>
          </a:bodyPr>
          <a:lstStyle/>
          <a:p>
            <a:pPr algn="ctr"/>
            <a:r>
              <a:rPr sz="1000" b="1" i="0" spc="120">
                <a:solidFill>
                  <a:srgbClr val="0F7C74"/>
                </a:solidFill>
                <a:latin typeface="Segoe UI"/>
              </a:rPr>
              <a:t>567 TEST CROPS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4892040"/>
            <a:ext cx="548640" cy="45720"/>
          </a:xfrm>
          <a:prstGeom prst="rect">
            <a:avLst/>
          </a:prstGeom>
          <a:solidFill>
            <a:srgbClr val="0F7C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5074920"/>
            <a:ext cx="6400800" cy="36576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1800" b="1" i="0">
                <a:solidFill>
                  <a:srgbClr val="14213D"/>
                </a:solidFill>
                <a:latin typeface="Segoe UI Semibold"/>
              </a:rPr>
              <a:t>So Sereysokbotra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458968"/>
            <a:ext cx="6858000" cy="32004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1300" b="0" i="0">
                <a:solidFill>
                  <a:srgbClr val="6B7280"/>
                </a:solidFill>
                <a:latin typeface="Segoe UI"/>
              </a:rPr>
              <a:t>Lecturer: Mr. Soklong HIM  ·  Kirirom Institute of Technology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74559" y="1517904"/>
            <a:ext cx="3822191" cy="3822191"/>
          </a:xfrm>
          <a:prstGeom prst="roundRect">
            <a:avLst>
              <a:gd name="adj" fmla="val 3827"/>
            </a:avLst>
          </a:prstGeom>
          <a:solidFill>
            <a:srgbClr val="FFFFFF"/>
          </a:solidFill>
          <a:ln w="1079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8" name="Picture 17" descr="plate_sce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02575" y="1645920"/>
            <a:ext cx="3566160" cy="35661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1819656" cy="292608"/>
          </a:xfrm>
          <a:prstGeom prst="roundRect">
            <a:avLst>
              <a:gd name="adj" fmla="val 50000"/>
            </a:avLst>
          </a:prstGeom>
          <a:solidFill>
            <a:srgbClr val="E2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819656" cy="292608"/>
          </a:xfrm>
          <a:prstGeom prst="rect">
            <a:avLst/>
          </a:prstGeom>
          <a:noFill/>
        </p:spPr>
        <p:txBody>
          <a:bodyPr wrap="square" lIns="18288" rIns="18288" anchor="ctr">
            <a:spAutoFit/>
          </a:bodyPr>
          <a:lstStyle/>
          <a:p>
            <a:pPr algn="ctr"/>
            <a:r>
              <a:rPr sz="1050" b="1" i="0" spc="120">
                <a:solidFill>
                  <a:srgbClr val="0F7C74"/>
                </a:solidFill>
                <a:latin typeface="Segoe UI"/>
              </a:rPr>
              <a:t>01  ·  PROBLEM</a:t>
            </a:r>
          </a:p>
        </p:txBody>
      </p:sp>
      <p:pic>
        <p:nvPicPr>
          <p:cNvPr id="5" name="Picture 4" descr="kit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9823" y="320040"/>
            <a:ext cx="621792" cy="62179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21792" y="731520"/>
            <a:ext cx="9997135" cy="685800"/>
          </a:xfrm>
          <a:prstGeom prst="rect">
            <a:avLst/>
          </a:prstGeom>
          <a:noFill/>
        </p:spPr>
        <p:txBody>
          <a:bodyPr wrap="square" lIns="18288" rIns="18288" anchor="ctr">
            <a:spAutoFit/>
          </a:bodyPr>
          <a:lstStyle/>
          <a:p>
            <a:pPr algn="l"/>
            <a:r>
              <a:rPr sz="3000" b="0" i="0" dirty="0">
                <a:solidFill>
                  <a:srgbClr val="14213D"/>
                </a:solidFill>
                <a:latin typeface="Segoe UI Semibold"/>
              </a:rPr>
              <a:t>The real-world problem: why province matters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601968"/>
            <a:ext cx="1368073" cy="45720"/>
          </a:xfrm>
          <a:prstGeom prst="rect">
            <a:avLst/>
          </a:prstGeom>
          <a:solidFill>
            <a:srgbClr val="E09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6336792"/>
            <a:ext cx="1368073" cy="237744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850" b="1" i="0">
                <a:solidFill>
                  <a:srgbClr val="14213D"/>
                </a:solidFill>
                <a:latin typeface="Segoe UI"/>
              </a:rPr>
              <a:t>Problem</a:t>
            </a:r>
          </a:p>
        </p:txBody>
      </p:sp>
      <p:sp>
        <p:nvSpPr>
          <p:cNvPr id="9" name="Rectangle 8"/>
          <p:cNvSpPr/>
          <p:nvPr/>
        </p:nvSpPr>
        <p:spPr>
          <a:xfrm>
            <a:off x="2081305" y="6601968"/>
            <a:ext cx="1368073" cy="2743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081305" y="6336792"/>
            <a:ext cx="1368073" cy="237744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  <a:latin typeface="Segoe UI"/>
              </a:rPr>
              <a:t>Data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22530" y="6601968"/>
            <a:ext cx="1368073" cy="2743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522530" y="6336792"/>
            <a:ext cx="1368073" cy="237744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  <a:latin typeface="Segoe UI"/>
              </a:rPr>
              <a:t>Method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63755" y="6601968"/>
            <a:ext cx="1368073" cy="2743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63755" y="6336792"/>
            <a:ext cx="1368073" cy="237744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  <a:latin typeface="Segoe UI"/>
              </a:rPr>
              <a:t>Results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4980" y="6601968"/>
            <a:ext cx="1368073" cy="2743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4980" y="6336792"/>
            <a:ext cx="1368073" cy="237744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  <a:latin typeface="Segoe UI"/>
              </a:rPr>
              <a:t>Analysis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46205" y="6601968"/>
            <a:ext cx="1368073" cy="2743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846205" y="6336792"/>
            <a:ext cx="1368073" cy="237744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  <a:latin typeface="Segoe UI"/>
              </a:rPr>
              <a:t>Honesty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287430" y="6601968"/>
            <a:ext cx="1368073" cy="2743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287430" y="6336792"/>
            <a:ext cx="1368073" cy="237744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  <a:latin typeface="Segoe UI"/>
              </a:rPr>
              <a:t>Conclusion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20095" y="6373368"/>
            <a:ext cx="731520" cy="27432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r"/>
            <a:r>
              <a:rPr sz="1100" b="1" i="0">
                <a:solidFill>
                  <a:srgbClr val="0F7C74"/>
                </a:solidFill>
                <a:latin typeface="Segoe UI Semibold"/>
              </a:rPr>
              <a:t>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1600200"/>
            <a:ext cx="2590723" cy="1874519"/>
          </a:xfrm>
          <a:prstGeom prst="roundRect">
            <a:avLst>
              <a:gd name="adj" fmla="val 5853"/>
            </a:avLst>
          </a:prstGeom>
          <a:solidFill>
            <a:srgbClr val="FFFFFF"/>
          </a:solidFill>
          <a:ln w="1079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86384" y="1728216"/>
            <a:ext cx="2298115" cy="18288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900" b="1" i="0" spc="80">
                <a:solidFill>
                  <a:srgbClr val="0F7C74"/>
                </a:solidFill>
                <a:latin typeface="Segoe UI Semibold"/>
              </a:rPr>
              <a:t>01 · SMART ACCESS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6384" y="1911095"/>
            <a:ext cx="229811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0" i="0">
                <a:solidFill>
                  <a:srgbClr val="14213D"/>
                </a:solidFill>
                <a:latin typeface="Segoe UI"/>
              </a:rPr>
              <a:t>Automated Entry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86384" y="2258568"/>
            <a:ext cx="2298115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86384" y="2313432"/>
            <a:ext cx="2298115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 i="0">
                <a:solidFill>
                  <a:srgbClr val="6B7280"/>
                </a:solidFill>
                <a:latin typeface="Segoe UI"/>
              </a:rPr>
              <a:t>Boreys, parking &amp; highway tolls in Cambodia need fast, hands-free vehicle verification.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413683" y="1600200"/>
            <a:ext cx="2590723" cy="1874519"/>
          </a:xfrm>
          <a:prstGeom prst="roundRect">
            <a:avLst>
              <a:gd name="adj" fmla="val 5853"/>
            </a:avLst>
          </a:prstGeom>
          <a:solidFill>
            <a:srgbClr val="FFFFFF"/>
          </a:solidFill>
          <a:ln w="1079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559987" y="1728216"/>
            <a:ext cx="2298115" cy="18288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900" b="1" i="0" spc="80">
                <a:solidFill>
                  <a:srgbClr val="C0392B"/>
                </a:solidFill>
                <a:latin typeface="Segoe UI Semibold"/>
              </a:rPr>
              <a:t>02 · FATAL FLAW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59987" y="1911095"/>
            <a:ext cx="229811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0" i="0">
                <a:solidFill>
                  <a:srgbClr val="14213D"/>
                </a:solidFill>
                <a:latin typeface="Segoe UI"/>
              </a:rPr>
              <a:t>Duplicate Numbers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559987" y="2258568"/>
            <a:ext cx="2298115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559987" y="2313432"/>
            <a:ext cx="2298115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8" b="0" i="0">
                <a:solidFill>
                  <a:srgbClr val="6B7280"/>
                </a:solidFill>
                <a:latin typeface="Consolas"/>
              </a:rPr>
              <a:t>2A-0243</a:t>
            </a:r>
            <a:r>
              <a:rPr sz="1150" b="0" i="0">
                <a:solidFill>
                  <a:srgbClr val="6B7280"/>
                </a:solidFill>
                <a:latin typeface="Segoe UI"/>
              </a:rPr>
              <a:t> repeats across 26 provinces. Number alone causes false gate access!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87287" y="1600200"/>
            <a:ext cx="2590723" cy="1874519"/>
          </a:xfrm>
          <a:prstGeom prst="roundRect">
            <a:avLst>
              <a:gd name="adj" fmla="val 5853"/>
            </a:avLst>
          </a:prstGeom>
          <a:solidFill>
            <a:srgbClr val="FFFFFF"/>
          </a:solidFill>
          <a:ln w="1079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333591" y="1728216"/>
            <a:ext cx="2298115" cy="18288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900" b="1" i="0" spc="80">
                <a:solidFill>
                  <a:srgbClr val="E09A1A"/>
                </a:solidFill>
                <a:latin typeface="Segoe UI Semibold"/>
              </a:rPr>
              <a:t>03 · OCR LIMITATION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33591" y="1911095"/>
            <a:ext cx="229811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0" i="0">
                <a:solidFill>
                  <a:srgbClr val="14213D"/>
                </a:solidFill>
                <a:latin typeface="Segoe UI"/>
              </a:rPr>
              <a:t>Commercial OCR Fails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33591" y="2258568"/>
            <a:ext cx="2298115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333591" y="2313432"/>
            <a:ext cx="2298115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 i="0">
                <a:solidFill>
                  <a:srgbClr val="6B7280"/>
                </a:solidFill>
                <a:latin typeface="Segoe UI"/>
              </a:rPr>
              <a:t>Standard engines fail on Khmer script: complex stacked ligatures break character OCR.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960891" y="1600200"/>
            <a:ext cx="2590723" cy="1874519"/>
          </a:xfrm>
          <a:prstGeom prst="roundRect">
            <a:avLst>
              <a:gd name="adj" fmla="val 5853"/>
            </a:avLst>
          </a:prstGeom>
          <a:solidFill>
            <a:srgbClr val="FFFFFF"/>
          </a:solidFill>
          <a:ln w="1079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9107195" y="1728216"/>
            <a:ext cx="2298115" cy="18288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900" b="1" i="0" spc="80">
                <a:solidFill>
                  <a:srgbClr val="2F8F4E"/>
                </a:solidFill>
                <a:latin typeface="Segoe UI Semibold"/>
              </a:rPr>
              <a:t>04 · DEEP LEARNING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07195" y="1911095"/>
            <a:ext cx="229811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0" i="0">
                <a:solidFill>
                  <a:srgbClr val="14213D"/>
                </a:solidFill>
                <a:latin typeface="Segoe UI"/>
              </a:rPr>
              <a:t>Whole-Line Classifier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107195" y="2258568"/>
            <a:ext cx="2298115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9107195" y="2313432"/>
            <a:ext cx="2298115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 i="0">
                <a:solidFill>
                  <a:srgbClr val="6B7280"/>
                </a:solidFill>
                <a:latin typeface="Segoe UI"/>
              </a:rPr>
              <a:t>Treat the top line as an image: </a:t>
            </a:r>
            <a:r>
              <a:rPr sz="1150" b="1" i="0">
                <a:solidFill>
                  <a:srgbClr val="2F8F4E"/>
                </a:solidFill>
                <a:latin typeface="Segoe UI"/>
              </a:rPr>
              <a:t>128×128 crop → 1 of 26 classes</a:t>
            </a:r>
            <a:r>
              <a:rPr sz="1150" b="0" i="0">
                <a:solidFill>
                  <a:srgbClr val="6B7280"/>
                </a:solidFill>
                <a:latin typeface="Segoe UI"/>
              </a:rPr>
              <a:t> with deep networks.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40080" y="3639312"/>
            <a:ext cx="10911535" cy="2514600"/>
          </a:xfrm>
          <a:prstGeom prst="roundRect">
            <a:avLst>
              <a:gd name="adj" fmla="val 4363"/>
            </a:avLst>
          </a:prstGeom>
          <a:solidFill>
            <a:srgbClr val="FFFFFF"/>
          </a:solidFill>
          <a:ln w="1079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47" name="Picture 46" descr="pipeline_diagra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27251" y="3803904"/>
            <a:ext cx="6937192" cy="218541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1819656" cy="292608"/>
          </a:xfrm>
          <a:prstGeom prst="roundRect">
            <a:avLst>
              <a:gd name="adj" fmla="val 50000"/>
            </a:avLst>
          </a:prstGeom>
          <a:solidFill>
            <a:srgbClr val="E2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819656" cy="292608"/>
          </a:xfrm>
          <a:prstGeom prst="rect">
            <a:avLst/>
          </a:prstGeom>
          <a:noFill/>
        </p:spPr>
        <p:txBody>
          <a:bodyPr wrap="square" lIns="18288" rIns="18288" anchor="ctr">
            <a:spAutoFit/>
          </a:bodyPr>
          <a:lstStyle/>
          <a:p>
            <a:pPr algn="ctr"/>
            <a:r>
              <a:rPr sz="1050" b="1" i="0" spc="120">
                <a:solidFill>
                  <a:srgbClr val="0F7C74"/>
                </a:solidFill>
                <a:latin typeface="Segoe UI"/>
              </a:rPr>
              <a:t>01  ·  PROBLEM</a:t>
            </a:r>
          </a:p>
        </p:txBody>
      </p:sp>
      <p:pic>
        <p:nvPicPr>
          <p:cNvPr id="5" name="Picture 4" descr="kit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9823" y="320040"/>
            <a:ext cx="621792" cy="62179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21792" y="731520"/>
            <a:ext cx="9997135" cy="685800"/>
          </a:xfrm>
          <a:prstGeom prst="rect">
            <a:avLst/>
          </a:prstGeom>
          <a:noFill/>
        </p:spPr>
        <p:txBody>
          <a:bodyPr wrap="square" lIns="18288" rIns="18288" anchor="ctr">
            <a:spAutoFit/>
          </a:bodyPr>
          <a:lstStyle/>
          <a:p>
            <a:pPr algn="l"/>
            <a:r>
              <a:rPr sz="3000" b="0" i="0">
                <a:solidFill>
                  <a:srgbClr val="14213D"/>
                </a:solidFill>
                <a:latin typeface="Segoe UI Semibold"/>
              </a:rPr>
              <a:t>End-to-end ALPR system design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601968"/>
            <a:ext cx="1368073" cy="45720"/>
          </a:xfrm>
          <a:prstGeom prst="rect">
            <a:avLst/>
          </a:prstGeom>
          <a:solidFill>
            <a:srgbClr val="E09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6336792"/>
            <a:ext cx="1368073" cy="237744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850" b="1" i="0">
                <a:solidFill>
                  <a:srgbClr val="14213D"/>
                </a:solidFill>
                <a:latin typeface="Segoe UI"/>
              </a:rPr>
              <a:t>Problem</a:t>
            </a:r>
          </a:p>
        </p:txBody>
      </p:sp>
      <p:sp>
        <p:nvSpPr>
          <p:cNvPr id="9" name="Rectangle 8"/>
          <p:cNvSpPr/>
          <p:nvPr/>
        </p:nvSpPr>
        <p:spPr>
          <a:xfrm>
            <a:off x="2081305" y="6601968"/>
            <a:ext cx="1368073" cy="2743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081305" y="6336792"/>
            <a:ext cx="1368073" cy="237744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  <a:latin typeface="Segoe UI"/>
              </a:rPr>
              <a:t>Data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22530" y="6601968"/>
            <a:ext cx="1368073" cy="2743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522530" y="6336792"/>
            <a:ext cx="1368073" cy="237744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  <a:latin typeface="Segoe UI"/>
              </a:rPr>
              <a:t>Method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63755" y="6601968"/>
            <a:ext cx="1368073" cy="2743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63755" y="6336792"/>
            <a:ext cx="1368073" cy="237744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  <a:latin typeface="Segoe UI"/>
              </a:rPr>
              <a:t>Results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4980" y="6601968"/>
            <a:ext cx="1368073" cy="2743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4980" y="6336792"/>
            <a:ext cx="1368073" cy="237744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  <a:latin typeface="Segoe UI"/>
              </a:rPr>
              <a:t>Analysis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46205" y="6601968"/>
            <a:ext cx="1368073" cy="2743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846205" y="6336792"/>
            <a:ext cx="1368073" cy="237744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  <a:latin typeface="Segoe UI"/>
              </a:rPr>
              <a:t>Honesty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287430" y="6601968"/>
            <a:ext cx="1368073" cy="2743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287430" y="6336792"/>
            <a:ext cx="1368073" cy="237744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  <a:latin typeface="Segoe UI"/>
              </a:rPr>
              <a:t>Conclusion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20095" y="6373368"/>
            <a:ext cx="731520" cy="27432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r"/>
            <a:r>
              <a:rPr sz="1100" b="1" i="0">
                <a:solidFill>
                  <a:srgbClr val="0F7C74"/>
                </a:solidFill>
                <a:latin typeface="Segoe UI Semibold"/>
              </a:rPr>
              <a:t>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1645920"/>
            <a:ext cx="1691640" cy="388620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079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777240" y="1792224"/>
            <a:ext cx="1225731" cy="292608"/>
          </a:xfrm>
          <a:prstGeom prst="roundRect">
            <a:avLst>
              <a:gd name="adj" fmla="val 50000"/>
            </a:avLst>
          </a:prstGeom>
          <a:solidFill>
            <a:srgbClr val="E2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77240" y="1792224"/>
            <a:ext cx="1225731" cy="292608"/>
          </a:xfrm>
          <a:prstGeom prst="rect">
            <a:avLst/>
          </a:prstGeom>
          <a:noFill/>
        </p:spPr>
        <p:txBody>
          <a:bodyPr wrap="square" lIns="18288" rIns="18288" anchor="ctr">
            <a:spAutoFit/>
          </a:bodyPr>
          <a:lstStyle/>
          <a:p>
            <a:pPr algn="ctr"/>
            <a:r>
              <a:rPr sz="850" b="1" i="0" spc="120">
                <a:solidFill>
                  <a:srgbClr val="0F7C74"/>
                </a:solidFill>
                <a:latin typeface="Segoe UI"/>
              </a:rPr>
              <a:t>01 · INPUT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2121408"/>
            <a:ext cx="1417320" cy="292608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1350" b="1" i="0">
                <a:solidFill>
                  <a:srgbClr val="14213D"/>
                </a:solidFill>
                <a:latin typeface="Segoe UI Semibold"/>
              </a:rPr>
              <a:t>Camera Stream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2432304"/>
            <a:ext cx="1417320" cy="237744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Segoe UI"/>
              </a:rPr>
              <a:t>1080p Video Stream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240" y="2743200"/>
            <a:ext cx="141732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777240" y="2971800"/>
            <a:ext cx="1417320" cy="1691640"/>
          </a:xfrm>
          <a:prstGeom prst="roundRect">
            <a:avLst>
              <a:gd name="adj" fmla="val 6451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77240" y="3127248"/>
            <a:ext cx="141732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14213D"/>
                </a:solidFill>
                <a:latin typeface="Segoe UI Semibold"/>
              </a:rPr>
              <a:t>LIVE FEED</a:t>
            </a:r>
          </a:p>
          <a:p>
            <a:pPr algn="ctr"/>
            <a:r>
              <a:rPr sz="1000" b="0" i="0">
                <a:solidFill>
                  <a:srgbClr val="6B7280"/>
                </a:solidFill>
                <a:latin typeface="Segoe UI"/>
              </a:rPr>
              <a:t>30 FPS Video
Road &amp; Barrier
Gate Monitoring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77240" y="4937759"/>
            <a:ext cx="1417320" cy="402336"/>
          </a:xfrm>
          <a:prstGeom prst="roundRect">
            <a:avLst>
              <a:gd name="adj" fmla="val 50000"/>
            </a:avLst>
          </a:prstGeom>
          <a:solidFill>
            <a:srgbClr val="E2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77240" y="4937759"/>
            <a:ext cx="1417320" cy="402336"/>
          </a:xfrm>
          <a:prstGeom prst="rect">
            <a:avLst/>
          </a:prstGeom>
          <a:noFill/>
        </p:spPr>
        <p:txBody>
          <a:bodyPr wrap="square" lIns="18288" rIns="18288" anchor="ctr">
            <a:spAutoFit/>
          </a:bodyPr>
          <a:lstStyle/>
          <a:p>
            <a:pPr algn="ctr"/>
            <a:r>
              <a:rPr sz="1000" b="1" i="0">
                <a:solidFill>
                  <a:srgbClr val="0F7C74"/>
                </a:solidFill>
                <a:latin typeface="Segoe UI Semibold"/>
              </a:rPr>
              <a:t>Raw Vehicle Frame</a:t>
            </a:r>
          </a:p>
        </p:txBody>
      </p:sp>
      <p:sp>
        <p:nvSpPr>
          <p:cNvPr id="33" name="Chevron 32"/>
          <p:cNvSpPr/>
          <p:nvPr/>
        </p:nvSpPr>
        <p:spPr>
          <a:xfrm>
            <a:off x="2404872" y="3461003"/>
            <a:ext cx="164592" cy="256032"/>
          </a:xfrm>
          <a:prstGeom prst="chevron">
            <a:avLst/>
          </a:prstGeom>
          <a:solidFill>
            <a:srgbClr val="0F7C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2724912" y="1645920"/>
            <a:ext cx="1874519" cy="3886200"/>
          </a:xfrm>
          <a:prstGeom prst="roundRect">
            <a:avLst>
              <a:gd name="adj" fmla="val 5853"/>
            </a:avLst>
          </a:prstGeom>
          <a:solidFill>
            <a:srgbClr val="FFFFFF"/>
          </a:solidFill>
          <a:ln w="1079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2862072" y="1792224"/>
            <a:ext cx="1551432" cy="292608"/>
          </a:xfrm>
          <a:prstGeom prst="roundRect">
            <a:avLst>
              <a:gd name="adj" fmla="val 50000"/>
            </a:avLst>
          </a:prstGeom>
          <a:solidFill>
            <a:srgbClr val="E2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2862072" y="1792224"/>
            <a:ext cx="1551432" cy="292608"/>
          </a:xfrm>
          <a:prstGeom prst="rect">
            <a:avLst/>
          </a:prstGeom>
          <a:noFill/>
        </p:spPr>
        <p:txBody>
          <a:bodyPr wrap="square" lIns="18288" rIns="18288" anchor="ctr">
            <a:spAutoFit/>
          </a:bodyPr>
          <a:lstStyle/>
          <a:p>
            <a:pPr algn="ctr"/>
            <a:r>
              <a:rPr sz="850" b="1" i="0" spc="120">
                <a:solidFill>
                  <a:srgbClr val="0F7C74"/>
                </a:solidFill>
                <a:latin typeface="Segoe UI"/>
              </a:rPr>
              <a:t>02 · DETECTION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862072" y="2121408"/>
            <a:ext cx="1600199" cy="292608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1350" b="1" i="0">
                <a:solidFill>
                  <a:srgbClr val="14213D"/>
                </a:solidFill>
                <a:latin typeface="Segoe UI Semibold"/>
              </a:rPr>
              <a:t>YOLOv10 Detector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862072" y="2432304"/>
            <a:ext cx="1600199" cy="237744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Segoe UI"/>
              </a:rPr>
              <a:t>Anchor-free Plate BBox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862072" y="2743200"/>
            <a:ext cx="1600199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2862072" y="2971800"/>
            <a:ext cx="1600199" cy="1691640"/>
          </a:xfrm>
          <a:prstGeom prst="roundRect">
            <a:avLst>
              <a:gd name="adj" fmla="val 5714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2862072" y="3127248"/>
            <a:ext cx="1600199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14213D"/>
                </a:solidFill>
                <a:latin typeface="Segoe UI Semibold"/>
              </a:rPr>
              <a:t>LOCALIZATION</a:t>
            </a:r>
          </a:p>
          <a:p>
            <a:pPr algn="ctr"/>
            <a:r>
              <a:rPr sz="1000" b="0" i="0">
                <a:solidFill>
                  <a:srgbClr val="6B7280"/>
                </a:solidFill>
                <a:latin typeface="Segoe UI"/>
              </a:rPr>
              <a:t>Latency: ~15 ms
143/149 Recall
Tight Crop Box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862072" y="4937759"/>
            <a:ext cx="1600199" cy="402336"/>
          </a:xfrm>
          <a:prstGeom prst="roundRect">
            <a:avLst>
              <a:gd name="adj" fmla="val 50000"/>
            </a:avLst>
          </a:prstGeom>
          <a:solidFill>
            <a:srgbClr val="E2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2862072" y="4937759"/>
            <a:ext cx="1600199" cy="402336"/>
          </a:xfrm>
          <a:prstGeom prst="rect">
            <a:avLst/>
          </a:prstGeom>
          <a:noFill/>
        </p:spPr>
        <p:txBody>
          <a:bodyPr wrap="square" lIns="18288" rIns="18288" anchor="ctr">
            <a:spAutoFit/>
          </a:bodyPr>
          <a:lstStyle/>
          <a:p>
            <a:pPr algn="ctr"/>
            <a:r>
              <a:rPr sz="1000" b="1" i="0">
                <a:solidFill>
                  <a:srgbClr val="0F7C74"/>
                </a:solidFill>
                <a:latin typeface="Segoe UI Semibold"/>
              </a:rPr>
              <a:t>Cropped Plate BBox</a:t>
            </a:r>
          </a:p>
        </p:txBody>
      </p:sp>
      <p:sp>
        <p:nvSpPr>
          <p:cNvPr id="45" name="Chevron 44"/>
          <p:cNvSpPr/>
          <p:nvPr/>
        </p:nvSpPr>
        <p:spPr>
          <a:xfrm>
            <a:off x="4672583" y="2423160"/>
            <a:ext cx="164592" cy="256032"/>
          </a:xfrm>
          <a:prstGeom prst="chevron">
            <a:avLst/>
          </a:prstGeom>
          <a:solidFill>
            <a:srgbClr val="E09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6" name="Chevron 45"/>
          <p:cNvSpPr/>
          <p:nvPr/>
        </p:nvSpPr>
        <p:spPr>
          <a:xfrm>
            <a:off x="4672583" y="4480560"/>
            <a:ext cx="164592" cy="256032"/>
          </a:xfrm>
          <a:prstGeom prst="chevron">
            <a:avLst/>
          </a:prstGeom>
          <a:solidFill>
            <a:srgbClr val="0F7C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7" name="Rounded Rectangle 46"/>
          <p:cNvSpPr/>
          <p:nvPr/>
        </p:nvSpPr>
        <p:spPr>
          <a:xfrm>
            <a:off x="4983480" y="1645920"/>
            <a:ext cx="2880360" cy="1828800"/>
          </a:xfrm>
          <a:prstGeom prst="roundRect">
            <a:avLst>
              <a:gd name="adj" fmla="val 6000"/>
            </a:avLst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5120640" y="1773936"/>
            <a:ext cx="2447108" cy="292608"/>
          </a:xfrm>
          <a:prstGeom prst="roundRect">
            <a:avLst>
              <a:gd name="adj" fmla="val 50000"/>
            </a:avLst>
          </a:prstGeom>
          <a:solidFill>
            <a:srgbClr val="1F2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5120640" y="1808671"/>
            <a:ext cx="2447108" cy="223138"/>
          </a:xfrm>
          <a:prstGeom prst="rect">
            <a:avLst/>
          </a:prstGeom>
          <a:noFill/>
        </p:spPr>
        <p:txBody>
          <a:bodyPr wrap="square" lIns="18288" rIns="18288" anchor="ctr">
            <a:spAutoFit/>
          </a:bodyPr>
          <a:lstStyle/>
          <a:p>
            <a:pPr algn="ctr"/>
            <a:r>
              <a:rPr sz="850" b="1" i="0" spc="120" dirty="0">
                <a:solidFill>
                  <a:srgbClr val="E09A1A"/>
                </a:solidFill>
                <a:latin typeface="Segoe UI"/>
              </a:rPr>
              <a:t> THIS STUDY · 26 CLASSES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120640" y="2084832"/>
            <a:ext cx="2606040" cy="27432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Segoe UI Semibold"/>
              </a:rPr>
              <a:t>Khmer Province Classifier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120640" y="2377440"/>
            <a:ext cx="2606040" cy="219456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Segoe UI"/>
              </a:rPr>
              <a:t>ViT-B/16 &amp; ResNet18 (128x128)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120640" y="2651760"/>
            <a:ext cx="2606040" cy="13716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4" name="Rounded Rectangle 53"/>
          <p:cNvSpPr/>
          <p:nvPr/>
        </p:nvSpPr>
        <p:spPr>
          <a:xfrm>
            <a:off x="5120640" y="2834640"/>
            <a:ext cx="2606040" cy="438912"/>
          </a:xfrm>
          <a:prstGeom prst="roundRect">
            <a:avLst>
              <a:gd name="adj" fmla="val 50000"/>
            </a:avLst>
          </a:prstGeom>
          <a:solidFill>
            <a:srgbClr val="1F2F52"/>
          </a:solidFill>
          <a:ln w="12700">
            <a:solidFill>
              <a:srgbClr val="E09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5166360" y="2834640"/>
            <a:ext cx="251460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50" b="0" i="0">
                <a:solidFill>
                  <a:srgbClr val="CBD5E1"/>
                </a:solidFill>
                <a:latin typeface="Segoe UI"/>
              </a:rPr>
              <a:t>Province: </a:t>
            </a:r>
            <a:r>
              <a:rPr sz="1200" b="1" i="0">
                <a:solidFill>
                  <a:srgbClr val="E09A1A"/>
                </a:solidFill>
                <a:latin typeface="Segoe UI Semibold"/>
              </a:rPr>
              <a:t>"Takeo" </a:t>
            </a:r>
            <a:r>
              <a:rPr sz="1050" b="0" i="0">
                <a:solidFill>
                  <a:srgbClr val="CBD5E1"/>
                </a:solidFill>
                <a:latin typeface="Segoe UI"/>
              </a:rPr>
              <a:t>(96.1 %)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4983480" y="3703320"/>
            <a:ext cx="28803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79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8" name="Rounded Rectangle 57"/>
          <p:cNvSpPr/>
          <p:nvPr/>
        </p:nvSpPr>
        <p:spPr>
          <a:xfrm>
            <a:off x="5120640" y="3831335"/>
            <a:ext cx="2039982" cy="292608"/>
          </a:xfrm>
          <a:prstGeom prst="roundRect">
            <a:avLst>
              <a:gd name="adj" fmla="val 50000"/>
            </a:avLst>
          </a:prstGeom>
          <a:solidFill>
            <a:srgbClr val="E2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5120640" y="3831335"/>
            <a:ext cx="2039982" cy="292608"/>
          </a:xfrm>
          <a:prstGeom prst="rect">
            <a:avLst/>
          </a:prstGeom>
          <a:noFill/>
        </p:spPr>
        <p:txBody>
          <a:bodyPr wrap="square" lIns="18288" rIns="18288" anchor="ctr">
            <a:spAutoFit/>
          </a:bodyPr>
          <a:lstStyle/>
          <a:p>
            <a:pPr algn="ctr"/>
            <a:r>
              <a:rPr sz="850" b="1" i="0" spc="120">
                <a:solidFill>
                  <a:srgbClr val="0F7C74"/>
                </a:solidFill>
                <a:latin typeface="Segoe UI"/>
              </a:rPr>
              <a:t>03B · LATIN &amp; DIGITS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120640" y="4142231"/>
            <a:ext cx="2606040" cy="27432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1350" b="1" i="0">
                <a:solidFill>
                  <a:srgbClr val="14213D"/>
                </a:solidFill>
                <a:latin typeface="Segoe UI Semibold"/>
              </a:rPr>
              <a:t>CRNN + CTC Number Reader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120640" y="4434840"/>
            <a:ext cx="2606040" cy="219456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Segoe UI"/>
              </a:rPr>
              <a:t>CNN + BiLSTM + CTC Decoder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120640" y="4709160"/>
            <a:ext cx="260604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3" name="Rounded Rectangle 62"/>
          <p:cNvSpPr/>
          <p:nvPr/>
        </p:nvSpPr>
        <p:spPr>
          <a:xfrm>
            <a:off x="5120640" y="4892040"/>
            <a:ext cx="2606040" cy="438912"/>
          </a:xfrm>
          <a:prstGeom prst="roundRect">
            <a:avLst>
              <a:gd name="adj" fmla="val 50000"/>
            </a:avLst>
          </a:prstGeom>
          <a:solidFill>
            <a:srgbClr val="E2F1EF"/>
          </a:solidFill>
          <a:ln w="12700">
            <a:solidFill>
              <a:srgbClr val="0F7C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166360" y="4892040"/>
            <a:ext cx="251460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50" b="0" i="0">
                <a:solidFill>
                  <a:srgbClr val="14213D"/>
                </a:solidFill>
                <a:latin typeface="Segoe UI"/>
              </a:rPr>
              <a:t>Number: </a:t>
            </a:r>
            <a:r>
              <a:rPr sz="1200" b="1" i="0">
                <a:solidFill>
                  <a:srgbClr val="0F7C74"/>
                </a:solidFill>
                <a:latin typeface="Segoe UI Semibold"/>
              </a:rPr>
              <a:t>"1L-4082" </a:t>
            </a:r>
            <a:r>
              <a:rPr sz="1050" b="0" i="0">
                <a:solidFill>
                  <a:srgbClr val="6B7280"/>
                </a:solidFill>
                <a:latin typeface="Segoe UI"/>
              </a:rPr>
              <a:t>(83.9 %)</a:t>
            </a:r>
          </a:p>
        </p:txBody>
      </p:sp>
      <p:sp>
        <p:nvSpPr>
          <p:cNvPr id="65" name="Chevron 64"/>
          <p:cNvSpPr/>
          <p:nvPr/>
        </p:nvSpPr>
        <p:spPr>
          <a:xfrm>
            <a:off x="7936992" y="2423160"/>
            <a:ext cx="164592" cy="256032"/>
          </a:xfrm>
          <a:prstGeom prst="chevron">
            <a:avLst/>
          </a:prstGeom>
          <a:solidFill>
            <a:srgbClr val="E09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6" name="Chevron 65"/>
          <p:cNvSpPr/>
          <p:nvPr/>
        </p:nvSpPr>
        <p:spPr>
          <a:xfrm>
            <a:off x="7936992" y="4480560"/>
            <a:ext cx="164592" cy="256032"/>
          </a:xfrm>
          <a:prstGeom prst="chevron">
            <a:avLst/>
          </a:prstGeom>
          <a:solidFill>
            <a:srgbClr val="0F7C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7" name="Rounded Rectangle 66"/>
          <p:cNvSpPr/>
          <p:nvPr/>
        </p:nvSpPr>
        <p:spPr>
          <a:xfrm>
            <a:off x="8156448" y="1645920"/>
            <a:ext cx="1691640" cy="388620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079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9" name="Rounded Rectangle 68"/>
          <p:cNvSpPr/>
          <p:nvPr/>
        </p:nvSpPr>
        <p:spPr>
          <a:xfrm>
            <a:off x="8293608" y="1792224"/>
            <a:ext cx="1307156" cy="292608"/>
          </a:xfrm>
          <a:prstGeom prst="roundRect">
            <a:avLst>
              <a:gd name="adj" fmla="val 50000"/>
            </a:avLst>
          </a:prstGeom>
          <a:solidFill>
            <a:srgbClr val="E2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8293608" y="1792224"/>
            <a:ext cx="1307156" cy="292608"/>
          </a:xfrm>
          <a:prstGeom prst="rect">
            <a:avLst/>
          </a:prstGeom>
          <a:noFill/>
        </p:spPr>
        <p:txBody>
          <a:bodyPr wrap="square" lIns="18288" rIns="18288" anchor="ctr">
            <a:spAutoFit/>
          </a:bodyPr>
          <a:lstStyle/>
          <a:p>
            <a:pPr algn="ctr"/>
            <a:r>
              <a:rPr sz="850" b="1" i="0" spc="120">
                <a:solidFill>
                  <a:srgbClr val="0F7C74"/>
                </a:solidFill>
                <a:latin typeface="Segoe UI"/>
              </a:rPr>
              <a:t>04 · FUSION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266175" y="2103120"/>
            <a:ext cx="1472184" cy="310896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1350" b="1" i="0">
                <a:solidFill>
                  <a:srgbClr val="14213D"/>
                </a:solidFill>
                <a:latin typeface="Segoe UI Semibold"/>
              </a:rPr>
              <a:t>Plate Fusion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266175" y="2432304"/>
            <a:ext cx="1472184" cy="237744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950" b="0" i="0">
                <a:solidFill>
                  <a:srgbClr val="6B7280"/>
                </a:solidFill>
                <a:latin typeface="Segoe UI"/>
              </a:rPr>
              <a:t>Canonical Formatter</a:t>
            </a:r>
          </a:p>
        </p:txBody>
      </p:sp>
      <p:sp>
        <p:nvSpPr>
          <p:cNvPr id="73" name="Rectangle 72"/>
          <p:cNvSpPr/>
          <p:nvPr/>
        </p:nvSpPr>
        <p:spPr>
          <a:xfrm>
            <a:off x="8293608" y="2743200"/>
            <a:ext cx="141732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4" name="Rounded Rectangle 73"/>
          <p:cNvSpPr/>
          <p:nvPr/>
        </p:nvSpPr>
        <p:spPr>
          <a:xfrm>
            <a:off x="8293608" y="2971800"/>
            <a:ext cx="1417320" cy="1691640"/>
          </a:xfrm>
          <a:prstGeom prst="roundRect">
            <a:avLst>
              <a:gd name="adj" fmla="val 6451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8293608" y="3127248"/>
            <a:ext cx="141732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14213D"/>
                </a:solidFill>
                <a:latin typeface="Segoe UI Semibold"/>
              </a:rPr>
              <a:t>STRING FUSION</a:t>
            </a:r>
          </a:p>
          <a:p>
            <a:pPr algn="ctr"/>
            <a:r>
              <a:rPr sz="1000" b="0" i="0">
                <a:solidFill>
                  <a:srgbClr val="6B7280"/>
                </a:solidFill>
                <a:latin typeface="Segoe UI"/>
              </a:rPr>
              <a:t>Combine Lines
Syntax Check
Latency: &lt; 1 ms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8293608" y="4937759"/>
            <a:ext cx="1417320" cy="402336"/>
          </a:xfrm>
          <a:prstGeom prst="roundRect">
            <a:avLst>
              <a:gd name="adj" fmla="val 50000"/>
            </a:avLst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8293608" y="4937759"/>
            <a:ext cx="1417320" cy="402336"/>
          </a:xfrm>
          <a:prstGeom prst="rect">
            <a:avLst/>
          </a:prstGeom>
          <a:noFill/>
        </p:spPr>
        <p:txBody>
          <a:bodyPr wrap="square" lIns="18288" rIns="18288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onsolas"/>
              </a:rPr>
              <a:t>Takeo 1L-4082</a:t>
            </a:r>
          </a:p>
        </p:txBody>
      </p:sp>
      <p:sp>
        <p:nvSpPr>
          <p:cNvPr id="78" name="Chevron 77"/>
          <p:cNvSpPr/>
          <p:nvPr/>
        </p:nvSpPr>
        <p:spPr>
          <a:xfrm>
            <a:off x="9921240" y="3461003"/>
            <a:ext cx="164592" cy="256032"/>
          </a:xfrm>
          <a:prstGeom prst="chevron">
            <a:avLst/>
          </a:prstGeom>
          <a:solidFill>
            <a:srgbClr val="2F8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9" name="Rounded Rectangle 78"/>
          <p:cNvSpPr/>
          <p:nvPr/>
        </p:nvSpPr>
        <p:spPr>
          <a:xfrm>
            <a:off x="10140696" y="1645920"/>
            <a:ext cx="1408176" cy="3886200"/>
          </a:xfrm>
          <a:prstGeom prst="roundRect">
            <a:avLst>
              <a:gd name="adj" fmla="val 7792"/>
            </a:avLst>
          </a:prstGeom>
          <a:solidFill>
            <a:srgbClr val="FFFFFF"/>
          </a:solidFill>
          <a:ln w="1079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1" name="Rounded Rectangle 80"/>
          <p:cNvSpPr/>
          <p:nvPr/>
        </p:nvSpPr>
        <p:spPr>
          <a:xfrm>
            <a:off x="10250424" y="1792224"/>
            <a:ext cx="1307156" cy="292608"/>
          </a:xfrm>
          <a:prstGeom prst="roundRect">
            <a:avLst>
              <a:gd name="adj" fmla="val 50000"/>
            </a:avLst>
          </a:prstGeom>
          <a:solidFill>
            <a:srgbClr val="E6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10250424" y="1792224"/>
            <a:ext cx="1307156" cy="292608"/>
          </a:xfrm>
          <a:prstGeom prst="rect">
            <a:avLst/>
          </a:prstGeom>
          <a:noFill/>
        </p:spPr>
        <p:txBody>
          <a:bodyPr wrap="square" lIns="18288" rIns="18288" anchor="ctr">
            <a:spAutoFit/>
          </a:bodyPr>
          <a:lstStyle/>
          <a:p>
            <a:pPr algn="ctr"/>
            <a:r>
              <a:rPr sz="850" b="1" i="0" spc="120">
                <a:solidFill>
                  <a:srgbClr val="2F8F4E"/>
                </a:solidFill>
                <a:latin typeface="Segoe UI"/>
              </a:rPr>
              <a:t>05 · ACCESS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0250424" y="2121408"/>
            <a:ext cx="1188720" cy="292608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1350" b="1" i="0">
                <a:solidFill>
                  <a:srgbClr val="14213D"/>
                </a:solidFill>
                <a:latin typeface="Segoe UI Semibold"/>
              </a:rPr>
              <a:t>Security Gate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0250424" y="2432304"/>
            <a:ext cx="1188720" cy="237744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Segoe UI"/>
              </a:rPr>
              <a:t>SQLite Whitelist</a:t>
            </a:r>
          </a:p>
        </p:txBody>
      </p:sp>
      <p:sp>
        <p:nvSpPr>
          <p:cNvPr id="85" name="Rectangle 84"/>
          <p:cNvSpPr/>
          <p:nvPr/>
        </p:nvSpPr>
        <p:spPr>
          <a:xfrm>
            <a:off x="10250424" y="2743200"/>
            <a:ext cx="118872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6" name="Rounded Rectangle 85"/>
          <p:cNvSpPr/>
          <p:nvPr/>
        </p:nvSpPr>
        <p:spPr>
          <a:xfrm>
            <a:off x="10250424" y="2971800"/>
            <a:ext cx="1188720" cy="777240"/>
          </a:xfrm>
          <a:prstGeom prst="roundRect">
            <a:avLst>
              <a:gd name="adj" fmla="val 14117"/>
            </a:avLst>
          </a:prstGeom>
          <a:solidFill>
            <a:srgbClr val="E6F4EA"/>
          </a:solidFill>
          <a:ln w="12700">
            <a:solidFill>
              <a:srgbClr val="2F8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10250424" y="2971800"/>
            <a:ext cx="1188720" cy="777240"/>
          </a:xfrm>
          <a:prstGeom prst="rect">
            <a:avLst/>
          </a:prstGeom>
          <a:noFill/>
        </p:spPr>
        <p:txBody>
          <a:bodyPr wrap="square" lIns="18288" rIns="18288" anchor="ctr">
            <a:spAutoFit/>
          </a:bodyPr>
          <a:lstStyle/>
          <a:p>
            <a:pPr algn="ctr"/>
            <a:r>
              <a:rPr sz="1050" b="1" i="0">
                <a:solidFill>
                  <a:srgbClr val="2F8F4E"/>
                </a:solidFill>
                <a:latin typeface="Segoe UI Semibold"/>
              </a:rPr>
              <a:t>✔ ALLOW</a:t>
            </a:r>
          </a:p>
          <a:p>
            <a:pPr algn="ctr"/>
            <a:r>
              <a:rPr sz="1050" b="1" i="0">
                <a:solidFill>
                  <a:srgbClr val="2F8F4E"/>
                </a:solidFill>
                <a:latin typeface="Segoe UI Semibold"/>
              </a:rPr>
              <a:t>Gate Opens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10250424" y="3886200"/>
            <a:ext cx="1188720" cy="777240"/>
          </a:xfrm>
          <a:prstGeom prst="roundRect">
            <a:avLst>
              <a:gd name="adj" fmla="val 14117"/>
            </a:avLst>
          </a:prstGeom>
          <a:solidFill>
            <a:srgbClr val="F8E4E1"/>
          </a:solidFill>
          <a:ln w="1270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10250424" y="3886200"/>
            <a:ext cx="1188720" cy="777240"/>
          </a:xfrm>
          <a:prstGeom prst="rect">
            <a:avLst/>
          </a:prstGeom>
          <a:noFill/>
        </p:spPr>
        <p:txBody>
          <a:bodyPr wrap="square" lIns="18288" rIns="18288" anchor="ctr">
            <a:spAutoFit/>
          </a:bodyPr>
          <a:lstStyle/>
          <a:p>
            <a:pPr algn="ctr"/>
            <a:r>
              <a:rPr sz="1050" b="1" i="0">
                <a:solidFill>
                  <a:srgbClr val="C0392B"/>
                </a:solidFill>
                <a:latin typeface="Segoe UI Semibold"/>
              </a:rPr>
              <a:t>✖ DENY</a:t>
            </a:r>
          </a:p>
          <a:p>
            <a:pPr algn="ctr"/>
            <a:r>
              <a:rPr sz="1050" b="1" i="0">
                <a:solidFill>
                  <a:srgbClr val="C0392B"/>
                </a:solidFill>
                <a:latin typeface="Segoe UI Semibold"/>
              </a:rPr>
              <a:t>Remain Closed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10250424" y="4937759"/>
            <a:ext cx="1188720" cy="402336"/>
          </a:xfrm>
          <a:prstGeom prst="roundRect">
            <a:avLst>
              <a:gd name="adj" fmla="val 50000"/>
            </a:avLst>
          </a:prstGeom>
          <a:solidFill>
            <a:srgbClr val="E6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10250424" y="4937759"/>
            <a:ext cx="1188720" cy="402336"/>
          </a:xfrm>
          <a:prstGeom prst="rect">
            <a:avLst/>
          </a:prstGeom>
          <a:noFill/>
        </p:spPr>
        <p:txBody>
          <a:bodyPr wrap="square" lIns="18288" rIns="18288" anchor="ctr">
            <a:spAutoFit/>
          </a:bodyPr>
          <a:lstStyle/>
          <a:p>
            <a:pPr algn="ctr"/>
            <a:r>
              <a:rPr sz="950" b="1" i="0">
                <a:solidFill>
                  <a:srgbClr val="2F8F4E"/>
                </a:solidFill>
                <a:latin typeface="Segoe UI Semibold"/>
              </a:rPr>
              <a:t>0 False Accepts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1517904" cy="292608"/>
          </a:xfrm>
          <a:prstGeom prst="roundRect">
            <a:avLst>
              <a:gd name="adj" fmla="val 50000"/>
            </a:avLst>
          </a:prstGeom>
          <a:solidFill>
            <a:srgbClr val="E2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517904" cy="292608"/>
          </a:xfrm>
          <a:prstGeom prst="rect">
            <a:avLst/>
          </a:prstGeom>
          <a:noFill/>
        </p:spPr>
        <p:txBody>
          <a:bodyPr wrap="square" lIns="18288" rIns="18288" anchor="ctr">
            <a:spAutoFit/>
          </a:bodyPr>
          <a:lstStyle/>
          <a:p>
            <a:pPr algn="ctr"/>
            <a:r>
              <a:rPr sz="1050" b="1" i="0" spc="120">
                <a:solidFill>
                  <a:srgbClr val="0F7C74"/>
                </a:solidFill>
                <a:latin typeface="Segoe UI"/>
              </a:rPr>
              <a:t>02  ·  DATA</a:t>
            </a:r>
          </a:p>
        </p:txBody>
      </p:sp>
      <p:pic>
        <p:nvPicPr>
          <p:cNvPr id="5" name="Picture 4" descr="kit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9823" y="320040"/>
            <a:ext cx="621792" cy="62179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21792" y="731520"/>
            <a:ext cx="9997135" cy="685800"/>
          </a:xfrm>
          <a:prstGeom prst="rect">
            <a:avLst/>
          </a:prstGeom>
          <a:noFill/>
        </p:spPr>
        <p:txBody>
          <a:bodyPr wrap="square" lIns="18288" rIns="18288" anchor="ctr">
            <a:spAutoFit/>
          </a:bodyPr>
          <a:lstStyle/>
          <a:p>
            <a:pPr algn="l"/>
            <a:r>
              <a:rPr sz="3000" b="0" i="0">
                <a:solidFill>
                  <a:srgbClr val="14213D"/>
                </a:solidFill>
                <a:latin typeface="Segoe UI Semibold"/>
              </a:rPr>
              <a:t>Plate_v4 — Roboflow, CC BY 4.0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601968"/>
            <a:ext cx="1368073" cy="27432"/>
          </a:xfrm>
          <a:prstGeom prst="rect">
            <a:avLst/>
          </a:prstGeom>
          <a:solidFill>
            <a:srgbClr val="0F7C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6336792"/>
            <a:ext cx="1368073" cy="237744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  <a:latin typeface="Segoe UI"/>
              </a:rPr>
              <a:t>Problem</a:t>
            </a:r>
          </a:p>
        </p:txBody>
      </p:sp>
      <p:sp>
        <p:nvSpPr>
          <p:cNvPr id="9" name="Rectangle 8"/>
          <p:cNvSpPr/>
          <p:nvPr/>
        </p:nvSpPr>
        <p:spPr>
          <a:xfrm>
            <a:off x="2081305" y="6601968"/>
            <a:ext cx="1368073" cy="45720"/>
          </a:xfrm>
          <a:prstGeom prst="rect">
            <a:avLst/>
          </a:prstGeom>
          <a:solidFill>
            <a:srgbClr val="E09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081305" y="6336792"/>
            <a:ext cx="1368073" cy="237744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850" b="1" i="0">
                <a:solidFill>
                  <a:srgbClr val="14213D"/>
                </a:solidFill>
                <a:latin typeface="Segoe UI"/>
              </a:rPr>
              <a:t>Data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22530" y="6601968"/>
            <a:ext cx="1368073" cy="2743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522530" y="6336792"/>
            <a:ext cx="1368073" cy="237744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  <a:latin typeface="Segoe UI"/>
              </a:rPr>
              <a:t>Method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63755" y="6601968"/>
            <a:ext cx="1368073" cy="2743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63755" y="6336792"/>
            <a:ext cx="1368073" cy="237744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  <a:latin typeface="Segoe UI"/>
              </a:rPr>
              <a:t>Results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4980" y="6601968"/>
            <a:ext cx="1368073" cy="2743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4980" y="6336792"/>
            <a:ext cx="1368073" cy="237744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  <a:latin typeface="Segoe UI"/>
              </a:rPr>
              <a:t>Analysis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46205" y="6601968"/>
            <a:ext cx="1368073" cy="2743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846205" y="6336792"/>
            <a:ext cx="1368073" cy="237744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  <a:latin typeface="Segoe UI"/>
              </a:rPr>
              <a:t>Honesty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287430" y="6601968"/>
            <a:ext cx="1368073" cy="2743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287430" y="6336792"/>
            <a:ext cx="1368073" cy="237744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  <a:latin typeface="Segoe UI"/>
              </a:rPr>
              <a:t>Conclusion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20095" y="6373368"/>
            <a:ext cx="731520" cy="27432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r"/>
            <a:r>
              <a:rPr sz="1100" b="1" i="0">
                <a:solidFill>
                  <a:srgbClr val="0F7C74"/>
                </a:solidFill>
                <a:latin typeface="Segoe UI Semibold"/>
              </a:rPr>
              <a:t>4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1645920"/>
            <a:ext cx="2036003" cy="1051560"/>
          </a:xfrm>
          <a:prstGeom prst="roundRect">
            <a:avLst>
              <a:gd name="adj" fmla="val 10434"/>
            </a:avLst>
          </a:prstGeom>
          <a:solidFill>
            <a:srgbClr val="FFFFFF"/>
          </a:solidFill>
          <a:ln w="1079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40080" y="1847088"/>
            <a:ext cx="64008" cy="649224"/>
          </a:xfrm>
          <a:prstGeom prst="rect">
            <a:avLst/>
          </a:prstGeom>
          <a:solidFill>
            <a:srgbClr val="0F7C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96112" y="1719072"/>
            <a:ext cx="1670243" cy="90525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 i="0">
                <a:solidFill>
                  <a:srgbClr val="0F7C74"/>
                </a:solidFill>
                <a:latin typeface="Segoe UI Semibold"/>
              </a:rPr>
              <a:t>2 515</a:t>
            </a:r>
          </a:p>
          <a:p>
            <a:r>
              <a:rPr sz="1000" b="0" i="0">
                <a:solidFill>
                  <a:srgbClr val="6B7280"/>
                </a:solidFill>
                <a:latin typeface="Segoe UI"/>
              </a:rPr>
              <a:t>train crops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858963" y="1645920"/>
            <a:ext cx="2036003" cy="1051560"/>
          </a:xfrm>
          <a:prstGeom prst="roundRect">
            <a:avLst>
              <a:gd name="adj" fmla="val 10434"/>
            </a:avLst>
          </a:prstGeom>
          <a:solidFill>
            <a:srgbClr val="FFFFFF"/>
          </a:solidFill>
          <a:ln w="1079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2858963" y="1847088"/>
            <a:ext cx="64008" cy="649224"/>
          </a:xfrm>
          <a:prstGeom prst="rect">
            <a:avLst/>
          </a:prstGeom>
          <a:solidFill>
            <a:srgbClr val="0F7C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114995" y="1719072"/>
            <a:ext cx="1670243" cy="90525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 i="0">
                <a:solidFill>
                  <a:srgbClr val="0F7C74"/>
                </a:solidFill>
                <a:latin typeface="Segoe UI Semibold"/>
              </a:rPr>
              <a:t>529</a:t>
            </a:r>
          </a:p>
          <a:p>
            <a:r>
              <a:rPr sz="1000" b="0" i="0">
                <a:solidFill>
                  <a:srgbClr val="6B7280"/>
                </a:solidFill>
                <a:latin typeface="Segoe UI"/>
              </a:rPr>
              <a:t>validation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77846" y="1645920"/>
            <a:ext cx="2036003" cy="1051560"/>
          </a:xfrm>
          <a:prstGeom prst="roundRect">
            <a:avLst>
              <a:gd name="adj" fmla="val 10434"/>
            </a:avLst>
          </a:prstGeom>
          <a:solidFill>
            <a:srgbClr val="FFFFFF"/>
          </a:solidFill>
          <a:ln w="1079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5077846" y="1847088"/>
            <a:ext cx="64008" cy="649224"/>
          </a:xfrm>
          <a:prstGeom prst="rect">
            <a:avLst/>
          </a:prstGeom>
          <a:solidFill>
            <a:srgbClr val="0F7C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333878" y="1719072"/>
            <a:ext cx="1670243" cy="90525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 i="0">
                <a:solidFill>
                  <a:srgbClr val="0F7C74"/>
                </a:solidFill>
                <a:latin typeface="Segoe UI Semibold"/>
              </a:rPr>
              <a:t>567</a:t>
            </a:r>
          </a:p>
          <a:p>
            <a:r>
              <a:rPr sz="1000" b="0" i="0">
                <a:solidFill>
                  <a:srgbClr val="6B7280"/>
                </a:solidFill>
                <a:latin typeface="Segoe UI"/>
              </a:rPr>
              <a:t>test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296729" y="1645920"/>
            <a:ext cx="2036003" cy="1051560"/>
          </a:xfrm>
          <a:prstGeom prst="roundRect">
            <a:avLst>
              <a:gd name="adj" fmla="val 10434"/>
            </a:avLst>
          </a:prstGeom>
          <a:solidFill>
            <a:srgbClr val="FFFFFF"/>
          </a:solidFill>
          <a:ln w="1079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7296729" y="1847088"/>
            <a:ext cx="64008" cy="649224"/>
          </a:xfrm>
          <a:prstGeom prst="rect">
            <a:avLst/>
          </a:prstGeom>
          <a:solidFill>
            <a:srgbClr val="0F7C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552761" y="1719072"/>
            <a:ext cx="1670243" cy="90525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 i="0">
                <a:solidFill>
                  <a:srgbClr val="0F7C74"/>
                </a:solidFill>
                <a:latin typeface="Segoe UI Semibold"/>
              </a:rPr>
              <a:t>26</a:t>
            </a:r>
          </a:p>
          <a:p>
            <a:r>
              <a:rPr sz="1000" b="0" i="0">
                <a:solidFill>
                  <a:srgbClr val="6B7280"/>
                </a:solidFill>
                <a:latin typeface="Segoe UI"/>
              </a:rPr>
              <a:t>classes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515612" y="1645920"/>
            <a:ext cx="2036003" cy="1051560"/>
          </a:xfrm>
          <a:prstGeom prst="roundRect">
            <a:avLst>
              <a:gd name="adj" fmla="val 10434"/>
            </a:avLst>
          </a:prstGeom>
          <a:solidFill>
            <a:srgbClr val="FFFFFF"/>
          </a:solidFill>
          <a:ln w="1079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9515612" y="1847088"/>
            <a:ext cx="64008" cy="649224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771644" y="1719072"/>
            <a:ext cx="1670243" cy="90525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 i="0">
                <a:solidFill>
                  <a:srgbClr val="C0392B"/>
                </a:solidFill>
                <a:latin typeface="Segoe UI Semibold"/>
              </a:rPr>
              <a:t>13.4 %</a:t>
            </a:r>
          </a:p>
          <a:p>
            <a:r>
              <a:rPr sz="1000" b="0" i="0">
                <a:solidFill>
                  <a:srgbClr val="6B7280"/>
                </a:solidFill>
                <a:latin typeface="Segoe UI"/>
              </a:rPr>
              <a:t>test near-duplicates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" y="3004739"/>
            <a:ext cx="5318607" cy="1129284"/>
          </a:xfrm>
          <a:prstGeom prst="roundRect">
            <a:avLst>
              <a:gd name="adj" fmla="val 9716"/>
            </a:avLst>
          </a:prstGeom>
          <a:solidFill>
            <a:srgbClr val="FFFFFF"/>
          </a:solidFill>
          <a:ln w="1079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8" name="Oval 37"/>
          <p:cNvSpPr/>
          <p:nvPr/>
        </p:nvSpPr>
        <p:spPr>
          <a:xfrm>
            <a:off x="841247" y="3359069"/>
            <a:ext cx="420624" cy="420624"/>
          </a:xfrm>
          <a:prstGeom prst="ellipse">
            <a:avLst/>
          </a:prstGeom>
          <a:solidFill>
            <a:srgbClr val="E2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41247" y="3359069"/>
            <a:ext cx="420624" cy="420624"/>
          </a:xfrm>
          <a:prstGeom prst="rect">
            <a:avLst/>
          </a:prstGeom>
          <a:noFill/>
        </p:spPr>
        <p:txBody>
          <a:bodyPr wrap="square" lIns="18288" rIns="18288" anchor="ctr">
            <a:spAutoFit/>
          </a:bodyPr>
          <a:lstStyle/>
          <a:p>
            <a:pPr algn="ctr"/>
            <a:r>
              <a:rPr sz="1300" b="1" i="0">
                <a:solidFill>
                  <a:srgbClr val="0F7C74"/>
                </a:solidFill>
                <a:latin typeface="Segoe UI Semibold"/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63039" y="3004739"/>
            <a:ext cx="4312767" cy="11292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0F7C74"/>
                </a:solidFill>
                <a:latin typeface="Segoe UI"/>
              </a:rPr>
              <a:t>Public benchmark dataset</a:t>
            </a:r>
            <a:r>
              <a:rPr sz="1400" b="0" i="0">
                <a:solidFill>
                  <a:srgbClr val="14213D"/>
                </a:solidFill>
                <a:latin typeface="Segoe UI"/>
              </a:rPr>
              <a:t>
Roboflow Plate_v4 (CC BY 4.0): 3 611 vehicle crops across real Cambodian road conditions.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40080" y="4436267"/>
            <a:ext cx="5318607" cy="1129284"/>
          </a:xfrm>
          <a:prstGeom prst="roundRect">
            <a:avLst>
              <a:gd name="adj" fmla="val 9716"/>
            </a:avLst>
          </a:prstGeom>
          <a:solidFill>
            <a:srgbClr val="FFFFFF"/>
          </a:solidFill>
          <a:ln w="1079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2" name="Oval 41"/>
          <p:cNvSpPr/>
          <p:nvPr/>
        </p:nvSpPr>
        <p:spPr>
          <a:xfrm>
            <a:off x="841247" y="4790597"/>
            <a:ext cx="420624" cy="420624"/>
          </a:xfrm>
          <a:prstGeom prst="ellipse">
            <a:avLst/>
          </a:prstGeom>
          <a:solidFill>
            <a:srgbClr val="E2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41247" y="4790597"/>
            <a:ext cx="420624" cy="420624"/>
          </a:xfrm>
          <a:prstGeom prst="rect">
            <a:avLst/>
          </a:prstGeom>
          <a:noFill/>
        </p:spPr>
        <p:txBody>
          <a:bodyPr wrap="square" lIns="18288" rIns="18288" anchor="ctr">
            <a:spAutoFit/>
          </a:bodyPr>
          <a:lstStyle/>
          <a:p>
            <a:pPr algn="ctr"/>
            <a:r>
              <a:rPr sz="1300" b="1" i="0">
                <a:solidFill>
                  <a:srgbClr val="0F7C74"/>
                </a:solidFill>
                <a:latin typeface="Segoe UI Semibold"/>
              </a:rPr>
              <a:t>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63039" y="4436267"/>
            <a:ext cx="4312767" cy="11292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0F7C74"/>
                </a:solidFill>
                <a:latin typeface="Segoe UI"/>
              </a:rPr>
              <a:t>13.4 % near-duplicate leakage</a:t>
            </a:r>
            <a:r>
              <a:rPr sz="1400" b="0" i="0">
                <a:solidFill>
                  <a:srgbClr val="14213D"/>
                </a:solidFill>
                <a:latin typeface="Segoe UI"/>
              </a:rPr>
              <a:t>
76 of 567 test crops share source photos with training. All models also evaluated on clean n=491.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233007" y="3004739"/>
            <a:ext cx="5318607" cy="1129284"/>
          </a:xfrm>
          <a:prstGeom prst="roundRect">
            <a:avLst>
              <a:gd name="adj" fmla="val 9716"/>
            </a:avLst>
          </a:prstGeom>
          <a:solidFill>
            <a:srgbClr val="FFFFFF"/>
          </a:solidFill>
          <a:ln w="1079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6" name="Oval 45"/>
          <p:cNvSpPr/>
          <p:nvPr/>
        </p:nvSpPr>
        <p:spPr>
          <a:xfrm>
            <a:off x="6434175" y="3359069"/>
            <a:ext cx="420624" cy="420624"/>
          </a:xfrm>
          <a:prstGeom prst="ellipse">
            <a:avLst/>
          </a:prstGeom>
          <a:solidFill>
            <a:srgbClr val="E2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434175" y="3359069"/>
            <a:ext cx="420624" cy="420624"/>
          </a:xfrm>
          <a:prstGeom prst="rect">
            <a:avLst/>
          </a:prstGeom>
          <a:noFill/>
        </p:spPr>
        <p:txBody>
          <a:bodyPr wrap="square" lIns="18288" rIns="18288" anchor="ctr">
            <a:spAutoFit/>
          </a:bodyPr>
          <a:lstStyle/>
          <a:p>
            <a:pPr algn="ctr"/>
            <a:r>
              <a:rPr sz="1300" b="1" i="0">
                <a:solidFill>
                  <a:srgbClr val="0F7C74"/>
                </a:solidFill>
                <a:latin typeface="Segoe UI Semibold"/>
              </a:rPr>
              <a:t>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055967" y="3004739"/>
            <a:ext cx="4312767" cy="11292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0F7C74"/>
                </a:solidFill>
                <a:latin typeface="Segoe UI"/>
              </a:rPr>
              <a:t>Standardized crop inputs</a:t>
            </a:r>
            <a:r>
              <a:rPr sz="1400" b="0" i="0">
                <a:solidFill>
                  <a:srgbClr val="14213D"/>
                </a:solidFill>
                <a:latin typeface="Segoe UI"/>
              </a:rPr>
              <a:t>
128×128 (CNN) / 224×224 (ViT) patches focusing exclusively on the top Khmer province line.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233007" y="4436267"/>
            <a:ext cx="5318607" cy="1129284"/>
          </a:xfrm>
          <a:prstGeom prst="roundRect">
            <a:avLst>
              <a:gd name="adj" fmla="val 9716"/>
            </a:avLst>
          </a:prstGeom>
          <a:solidFill>
            <a:srgbClr val="FFFFFF"/>
          </a:solidFill>
          <a:ln w="1079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0" name="Oval 49"/>
          <p:cNvSpPr/>
          <p:nvPr/>
        </p:nvSpPr>
        <p:spPr>
          <a:xfrm>
            <a:off x="6434175" y="4790597"/>
            <a:ext cx="420624" cy="420624"/>
          </a:xfrm>
          <a:prstGeom prst="ellipse">
            <a:avLst/>
          </a:prstGeom>
          <a:solidFill>
            <a:srgbClr val="E2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434175" y="4790597"/>
            <a:ext cx="420624" cy="420624"/>
          </a:xfrm>
          <a:prstGeom prst="rect">
            <a:avLst/>
          </a:prstGeom>
          <a:noFill/>
        </p:spPr>
        <p:txBody>
          <a:bodyPr wrap="square" lIns="18288" rIns="18288" anchor="ctr">
            <a:spAutoFit/>
          </a:bodyPr>
          <a:lstStyle/>
          <a:p>
            <a:pPr algn="ctr"/>
            <a:r>
              <a:rPr sz="1300" b="1" i="0">
                <a:solidFill>
                  <a:srgbClr val="0F7C74"/>
                </a:solidFill>
                <a:latin typeface="Segoe UI Semibold"/>
              </a:rPr>
              <a:t>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055967" y="4436267"/>
            <a:ext cx="4312767" cy="11292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0F7C74"/>
                </a:solidFill>
                <a:latin typeface="Segoe UI"/>
              </a:rPr>
              <a:t>Severe class imbalance (25:1)</a:t>
            </a:r>
            <a:r>
              <a:rPr sz="1400" b="0" i="0">
                <a:solidFill>
                  <a:srgbClr val="14213D"/>
                </a:solidFill>
                <a:latin typeface="Segoe UI"/>
              </a:rPr>
              <a:t>
</a:t>
            </a:r>
            <a:r>
              <a:rPr sz="1400" b="0" i="1">
                <a:solidFill>
                  <a:srgbClr val="14213D"/>
                </a:solidFill>
                <a:latin typeface="Segoe UI"/>
              </a:rPr>
              <a:t>Other</a:t>
            </a:r>
            <a:r>
              <a:rPr sz="1400" b="0" i="0">
                <a:solidFill>
                  <a:srgbClr val="14213D"/>
                </a:solidFill>
                <a:latin typeface="Segoe UI"/>
              </a:rPr>
              <a:t> (453) vs. </a:t>
            </a:r>
            <a:r>
              <a:rPr sz="1400" b="0" i="1">
                <a:solidFill>
                  <a:srgbClr val="14213D"/>
                </a:solidFill>
                <a:latin typeface="Segoe UI"/>
              </a:rPr>
              <a:t>Mondul Kiri</a:t>
            </a:r>
            <a:r>
              <a:rPr sz="1400" b="0" i="0">
                <a:solidFill>
                  <a:srgbClr val="14213D"/>
                </a:solidFill>
                <a:latin typeface="Segoe UI"/>
              </a:rPr>
              <a:t> (18). 4 rare provinces have ≤ 50 crops, requiring </a:t>
            </a:r>
            <a:r>
              <a:rPr sz="1400" b="1" i="0">
                <a:solidFill>
                  <a:srgbClr val="0F7C74"/>
                </a:solidFill>
                <a:latin typeface="Segoe UI"/>
              </a:rPr>
              <a:t>macro-F1</a:t>
            </a:r>
            <a:r>
              <a:rPr sz="1400" b="0" i="0">
                <a:solidFill>
                  <a:srgbClr val="14213D"/>
                </a:solidFill>
                <a:latin typeface="Segoe UI"/>
              </a:rPr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1517904" cy="292608"/>
          </a:xfrm>
          <a:prstGeom prst="roundRect">
            <a:avLst>
              <a:gd name="adj" fmla="val 50000"/>
            </a:avLst>
          </a:prstGeom>
          <a:solidFill>
            <a:srgbClr val="E2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517904" cy="292608"/>
          </a:xfrm>
          <a:prstGeom prst="rect">
            <a:avLst/>
          </a:prstGeom>
          <a:noFill/>
        </p:spPr>
        <p:txBody>
          <a:bodyPr wrap="square" lIns="18288" rIns="18288" anchor="ctr">
            <a:spAutoFit/>
          </a:bodyPr>
          <a:lstStyle/>
          <a:p>
            <a:pPr algn="ctr"/>
            <a:r>
              <a:rPr sz="1050" b="1" i="0" spc="120">
                <a:solidFill>
                  <a:srgbClr val="0F7C74"/>
                </a:solidFill>
                <a:latin typeface="Segoe UI"/>
              </a:rPr>
              <a:t>02  ·  DATA</a:t>
            </a:r>
          </a:p>
        </p:txBody>
      </p:sp>
      <p:pic>
        <p:nvPicPr>
          <p:cNvPr id="5" name="Picture 4" descr="kit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9823" y="320040"/>
            <a:ext cx="621792" cy="62179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21792" y="731520"/>
            <a:ext cx="9997135" cy="685800"/>
          </a:xfrm>
          <a:prstGeom prst="rect">
            <a:avLst/>
          </a:prstGeom>
          <a:noFill/>
        </p:spPr>
        <p:txBody>
          <a:bodyPr wrap="square" lIns="18288" rIns="18288" anchor="ctr">
            <a:spAutoFit/>
          </a:bodyPr>
          <a:lstStyle/>
          <a:p>
            <a:pPr algn="l"/>
            <a:r>
              <a:rPr sz="3000" b="0" i="0">
                <a:solidFill>
                  <a:srgbClr val="14213D"/>
                </a:solidFill>
                <a:latin typeface="Segoe UI Semibold"/>
              </a:rPr>
              <a:t>Class distribution — 26 provinces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601968"/>
            <a:ext cx="1368073" cy="27432"/>
          </a:xfrm>
          <a:prstGeom prst="rect">
            <a:avLst/>
          </a:prstGeom>
          <a:solidFill>
            <a:srgbClr val="0F7C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6336792"/>
            <a:ext cx="1368073" cy="237744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  <a:latin typeface="Segoe UI"/>
              </a:rPr>
              <a:t>Problem</a:t>
            </a:r>
          </a:p>
        </p:txBody>
      </p:sp>
      <p:sp>
        <p:nvSpPr>
          <p:cNvPr id="9" name="Rectangle 8"/>
          <p:cNvSpPr/>
          <p:nvPr/>
        </p:nvSpPr>
        <p:spPr>
          <a:xfrm>
            <a:off x="2081305" y="6601968"/>
            <a:ext cx="1368073" cy="45720"/>
          </a:xfrm>
          <a:prstGeom prst="rect">
            <a:avLst/>
          </a:prstGeom>
          <a:solidFill>
            <a:srgbClr val="E09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081305" y="6336792"/>
            <a:ext cx="1368073" cy="237744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850" b="1" i="0">
                <a:solidFill>
                  <a:srgbClr val="14213D"/>
                </a:solidFill>
                <a:latin typeface="Segoe UI"/>
              </a:rPr>
              <a:t>Data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22530" y="6601968"/>
            <a:ext cx="1368073" cy="2743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522530" y="6336792"/>
            <a:ext cx="1368073" cy="237744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  <a:latin typeface="Segoe UI"/>
              </a:rPr>
              <a:t>Method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63755" y="6601968"/>
            <a:ext cx="1368073" cy="2743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63755" y="6336792"/>
            <a:ext cx="1368073" cy="237744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  <a:latin typeface="Segoe UI"/>
              </a:rPr>
              <a:t>Results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4980" y="6601968"/>
            <a:ext cx="1368073" cy="2743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4980" y="6336792"/>
            <a:ext cx="1368073" cy="237744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  <a:latin typeface="Segoe UI"/>
              </a:rPr>
              <a:t>Analysis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46205" y="6601968"/>
            <a:ext cx="1368073" cy="2743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846205" y="6336792"/>
            <a:ext cx="1368073" cy="237744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  <a:latin typeface="Segoe UI"/>
              </a:rPr>
              <a:t>Honesty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287430" y="6601968"/>
            <a:ext cx="1368073" cy="2743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287430" y="6336792"/>
            <a:ext cx="1368073" cy="237744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  <a:latin typeface="Segoe UI"/>
              </a:rPr>
              <a:t>Conclusion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20095" y="6373368"/>
            <a:ext cx="731520" cy="27432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r"/>
            <a:r>
              <a:rPr sz="1100" b="1" i="0">
                <a:solidFill>
                  <a:srgbClr val="0F7C74"/>
                </a:solidFill>
                <a:latin typeface="Segoe UI Semibold"/>
              </a:rPr>
              <a:t>5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640080" y="1600200"/>
          <a:ext cx="10899648" cy="394411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9809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809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78892">
                <a:tc>
                  <a:txBody>
                    <a:bodyPr/>
                    <a:lstStyle/>
                    <a:p>
                      <a:r>
                        <a:rPr sz="971" b="1" i="0" spc="80">
                          <a:solidFill>
                            <a:srgbClr val="FFFFFF"/>
                          </a:solidFill>
                          <a:latin typeface="Segoe UI"/>
                        </a:rPr>
                        <a:t>PROVINCE</a:t>
                      </a:r>
                    </a:p>
                  </a:txBody>
                  <a:tcPr marL="177800" marR="177800" marT="38100" marB="38100" anchor="ctr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71" b="1" i="0" spc="80">
                          <a:solidFill>
                            <a:srgbClr val="FFFFFF"/>
                          </a:solidFill>
                          <a:latin typeface="Segoe UI"/>
                        </a:rPr>
                        <a:t>TRAIN</a:t>
                      </a:r>
                    </a:p>
                  </a:txBody>
                  <a:tcPr marL="177800" marR="177800" marT="38100" marB="38100" anchor="ctr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71" b="1" i="0" spc="80">
                          <a:solidFill>
                            <a:srgbClr val="FFFFFF"/>
                          </a:solidFill>
                          <a:latin typeface="Segoe UI"/>
                        </a:rPr>
                        <a:t>TEST</a:t>
                      </a:r>
                    </a:p>
                  </a:txBody>
                  <a:tcPr marL="177800" marR="177800" marT="38100" marB="38100" anchor="ctr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1" b="1" i="0" spc="80">
                          <a:solidFill>
                            <a:srgbClr val="FFFFFF"/>
                          </a:solidFill>
                          <a:latin typeface="Segoe UI"/>
                        </a:rPr>
                        <a:t>PROVINCE</a:t>
                      </a:r>
                    </a:p>
                  </a:txBody>
                  <a:tcPr marL="177800" marR="177800" marT="38100" marB="38100" anchor="ctr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71" b="1" i="0" spc="80">
                          <a:solidFill>
                            <a:srgbClr val="FFFFFF"/>
                          </a:solidFill>
                          <a:latin typeface="Segoe UI"/>
                        </a:rPr>
                        <a:t>TRAIN</a:t>
                      </a:r>
                    </a:p>
                  </a:txBody>
                  <a:tcPr marL="177800" marR="177800" marT="38100" marB="38100" anchor="ctr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71" b="1" i="0" spc="80">
                          <a:solidFill>
                            <a:srgbClr val="FFFFFF"/>
                          </a:solidFill>
                          <a:latin typeface="Segoe UI"/>
                        </a:rPr>
                        <a:t>TEST</a:t>
                      </a:r>
                    </a:p>
                  </a:txBody>
                  <a:tcPr marL="177800" marR="177800" marT="38100" marB="38100" anchor="ctr">
                    <a:solidFill>
                      <a:srgbClr val="1421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8892"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14213D"/>
                          </a:solidFill>
                          <a:latin typeface="Segoe UI"/>
                        </a:rPr>
                        <a:t>Other</a:t>
                      </a:r>
                    </a:p>
                  </a:txBody>
                  <a:tcPr marL="177800" marR="1778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50" b="0" i="0">
                          <a:solidFill>
                            <a:srgbClr val="14213D"/>
                          </a:solidFill>
                          <a:latin typeface="Segoe UI"/>
                        </a:rPr>
                        <a:t>453</a:t>
                      </a:r>
                    </a:p>
                  </a:txBody>
                  <a:tcPr marL="177800" marR="1778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50" b="0" i="0">
                          <a:solidFill>
                            <a:srgbClr val="14213D"/>
                          </a:solidFill>
                          <a:latin typeface="Segoe UI"/>
                        </a:rPr>
                        <a:t>98</a:t>
                      </a:r>
                    </a:p>
                  </a:txBody>
                  <a:tcPr marL="177800" marR="1778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14213D"/>
                          </a:solidFill>
                          <a:latin typeface="Segoe UI"/>
                        </a:rPr>
                        <a:t>Kampong Chhnang</a:t>
                      </a:r>
                    </a:p>
                  </a:txBody>
                  <a:tcPr marL="177800" marR="1778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50" b="0" i="0">
                          <a:solidFill>
                            <a:srgbClr val="14213D"/>
                          </a:solidFill>
                          <a:latin typeface="Segoe UI"/>
                        </a:rPr>
                        <a:t>70</a:t>
                      </a:r>
                    </a:p>
                  </a:txBody>
                  <a:tcPr marL="177800" marR="1778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50" b="0" i="0">
                          <a:solidFill>
                            <a:srgbClr val="14213D"/>
                          </a:solidFill>
                          <a:latin typeface="Segoe UI"/>
                        </a:rPr>
                        <a:t>16</a:t>
                      </a:r>
                    </a:p>
                  </a:txBody>
                  <a:tcPr marL="177800" marR="1778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8892"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14213D"/>
                          </a:solidFill>
                          <a:latin typeface="Segoe UI"/>
                        </a:rPr>
                        <a:t>Phnom Penh</a:t>
                      </a:r>
                    </a:p>
                  </a:txBody>
                  <a:tcPr marL="177800" marR="177800" marT="38100" marB="381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50" b="0" i="0">
                          <a:solidFill>
                            <a:srgbClr val="14213D"/>
                          </a:solidFill>
                          <a:latin typeface="Segoe UI"/>
                        </a:rPr>
                        <a:t>254</a:t>
                      </a:r>
                    </a:p>
                  </a:txBody>
                  <a:tcPr marL="177800" marR="177800" marT="38100" marB="381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50" b="0" i="0">
                          <a:solidFill>
                            <a:srgbClr val="14213D"/>
                          </a:solidFill>
                          <a:latin typeface="Segoe UI"/>
                        </a:rPr>
                        <a:t>55</a:t>
                      </a:r>
                    </a:p>
                  </a:txBody>
                  <a:tcPr marL="177800" marR="177800" marT="38100" marB="381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14213D"/>
                          </a:solidFill>
                          <a:latin typeface="Segoe UI"/>
                        </a:rPr>
                        <a:t>Kampot</a:t>
                      </a:r>
                    </a:p>
                  </a:txBody>
                  <a:tcPr marL="177800" marR="177800" marT="38100" marB="381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50" b="0" i="0">
                          <a:solidFill>
                            <a:srgbClr val="14213D"/>
                          </a:solidFill>
                          <a:latin typeface="Segoe UI"/>
                        </a:rPr>
                        <a:t>70</a:t>
                      </a:r>
                    </a:p>
                  </a:txBody>
                  <a:tcPr marL="177800" marR="177800" marT="38100" marB="381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50" b="0" i="0">
                          <a:solidFill>
                            <a:srgbClr val="14213D"/>
                          </a:solidFill>
                          <a:latin typeface="Segoe UI"/>
                        </a:rPr>
                        <a:t>15</a:t>
                      </a:r>
                    </a:p>
                  </a:txBody>
                  <a:tcPr marL="177800" marR="177800" marT="38100" marB="38100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8892"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14213D"/>
                          </a:solidFill>
                          <a:latin typeface="Segoe UI"/>
                        </a:rPr>
                        <a:t>Preah Sihanouk</a:t>
                      </a:r>
                    </a:p>
                  </a:txBody>
                  <a:tcPr marL="177800" marR="1778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50" b="0" i="0">
                          <a:solidFill>
                            <a:srgbClr val="14213D"/>
                          </a:solidFill>
                          <a:latin typeface="Segoe UI"/>
                        </a:rPr>
                        <a:t>148</a:t>
                      </a:r>
                    </a:p>
                  </a:txBody>
                  <a:tcPr marL="177800" marR="1778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50" b="0" i="0">
                          <a:solidFill>
                            <a:srgbClr val="14213D"/>
                          </a:solidFill>
                          <a:latin typeface="Segoe UI"/>
                        </a:rPr>
                        <a:t>33</a:t>
                      </a:r>
                    </a:p>
                  </a:txBody>
                  <a:tcPr marL="177800" marR="1778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14213D"/>
                          </a:solidFill>
                          <a:latin typeface="Segoe UI"/>
                        </a:rPr>
                        <a:t>Pursat</a:t>
                      </a:r>
                    </a:p>
                  </a:txBody>
                  <a:tcPr marL="177800" marR="1778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50" b="0" i="0">
                          <a:solidFill>
                            <a:srgbClr val="14213D"/>
                          </a:solidFill>
                          <a:latin typeface="Segoe UI"/>
                        </a:rPr>
                        <a:t>67</a:t>
                      </a:r>
                    </a:p>
                  </a:txBody>
                  <a:tcPr marL="177800" marR="1778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50" b="0" i="0">
                          <a:solidFill>
                            <a:srgbClr val="14213D"/>
                          </a:solidFill>
                          <a:latin typeface="Segoe UI"/>
                        </a:rPr>
                        <a:t>16</a:t>
                      </a:r>
                    </a:p>
                  </a:txBody>
                  <a:tcPr marL="177800" marR="1778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8892"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14213D"/>
                          </a:solidFill>
                          <a:latin typeface="Segoe UI"/>
                        </a:rPr>
                        <a:t>Siem Reap</a:t>
                      </a:r>
                    </a:p>
                  </a:txBody>
                  <a:tcPr marL="177800" marR="177800" marT="38100" marB="381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50" b="0" i="0">
                          <a:solidFill>
                            <a:srgbClr val="14213D"/>
                          </a:solidFill>
                          <a:latin typeface="Segoe UI"/>
                        </a:rPr>
                        <a:t>147</a:t>
                      </a:r>
                    </a:p>
                  </a:txBody>
                  <a:tcPr marL="177800" marR="177800" marT="38100" marB="381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50" b="0" i="0">
                          <a:solidFill>
                            <a:srgbClr val="14213D"/>
                          </a:solidFill>
                          <a:latin typeface="Segoe UI"/>
                        </a:rPr>
                        <a:t>32</a:t>
                      </a:r>
                    </a:p>
                  </a:txBody>
                  <a:tcPr marL="177800" marR="177800" marT="38100" marB="381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14213D"/>
                          </a:solidFill>
                          <a:latin typeface="Segoe UI"/>
                        </a:rPr>
                        <a:t>Preah Vihear</a:t>
                      </a:r>
                    </a:p>
                  </a:txBody>
                  <a:tcPr marL="177800" marR="177800" marT="38100" marB="381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50" b="0" i="0">
                          <a:solidFill>
                            <a:srgbClr val="14213D"/>
                          </a:solidFill>
                          <a:latin typeface="Segoe UI"/>
                        </a:rPr>
                        <a:t>65</a:t>
                      </a:r>
                    </a:p>
                  </a:txBody>
                  <a:tcPr marL="177800" marR="177800" marT="38100" marB="381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50" b="0" i="0">
                          <a:solidFill>
                            <a:srgbClr val="14213D"/>
                          </a:solidFill>
                          <a:latin typeface="Segoe UI"/>
                        </a:rPr>
                        <a:t>15</a:t>
                      </a:r>
                    </a:p>
                  </a:txBody>
                  <a:tcPr marL="177800" marR="177800" marT="38100" marB="38100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8892"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14213D"/>
                          </a:solidFill>
                          <a:latin typeface="Segoe UI"/>
                        </a:rPr>
                        <a:t>Kampong Cham</a:t>
                      </a:r>
                    </a:p>
                  </a:txBody>
                  <a:tcPr marL="177800" marR="1778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50" b="0" i="0">
                          <a:solidFill>
                            <a:srgbClr val="14213D"/>
                          </a:solidFill>
                          <a:latin typeface="Segoe UI"/>
                        </a:rPr>
                        <a:t>110</a:t>
                      </a:r>
                    </a:p>
                  </a:txBody>
                  <a:tcPr marL="177800" marR="1778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50" b="0" i="0">
                          <a:solidFill>
                            <a:srgbClr val="14213D"/>
                          </a:solidFill>
                          <a:latin typeface="Segoe UI"/>
                        </a:rPr>
                        <a:t>25</a:t>
                      </a:r>
                    </a:p>
                  </a:txBody>
                  <a:tcPr marL="177800" marR="1778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14213D"/>
                          </a:solidFill>
                          <a:latin typeface="Segoe UI"/>
                        </a:rPr>
                        <a:t>Pailin</a:t>
                      </a:r>
                    </a:p>
                  </a:txBody>
                  <a:tcPr marL="177800" marR="1778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50" b="0" i="0">
                          <a:solidFill>
                            <a:srgbClr val="14213D"/>
                          </a:solidFill>
                          <a:latin typeface="Segoe UI"/>
                        </a:rPr>
                        <a:t>64</a:t>
                      </a:r>
                    </a:p>
                  </a:txBody>
                  <a:tcPr marL="177800" marR="1778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50" b="0" i="0">
                          <a:solidFill>
                            <a:srgbClr val="14213D"/>
                          </a:solidFill>
                          <a:latin typeface="Segoe UI"/>
                        </a:rPr>
                        <a:t>15</a:t>
                      </a:r>
                    </a:p>
                  </a:txBody>
                  <a:tcPr marL="177800" marR="1778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8892"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14213D"/>
                          </a:solidFill>
                          <a:latin typeface="Segoe UI"/>
                        </a:rPr>
                        <a:t>Prey Veng</a:t>
                      </a:r>
                    </a:p>
                  </a:txBody>
                  <a:tcPr marL="177800" marR="177800" marT="38100" marB="381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50" b="0" i="0">
                          <a:solidFill>
                            <a:srgbClr val="14213D"/>
                          </a:solidFill>
                          <a:latin typeface="Segoe UI"/>
                        </a:rPr>
                        <a:t>101</a:t>
                      </a:r>
                    </a:p>
                  </a:txBody>
                  <a:tcPr marL="177800" marR="177800" marT="38100" marB="381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50" b="0" i="0">
                          <a:solidFill>
                            <a:srgbClr val="14213D"/>
                          </a:solidFill>
                          <a:latin typeface="Segoe UI"/>
                        </a:rPr>
                        <a:t>23</a:t>
                      </a:r>
                    </a:p>
                  </a:txBody>
                  <a:tcPr marL="177800" marR="177800" marT="38100" marB="381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14213D"/>
                          </a:solidFill>
                          <a:latin typeface="Segoe UI"/>
                        </a:rPr>
                        <a:t>Kratie</a:t>
                      </a:r>
                    </a:p>
                  </a:txBody>
                  <a:tcPr marL="177800" marR="177800" marT="38100" marB="381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50" b="0" i="0">
                          <a:solidFill>
                            <a:srgbClr val="14213D"/>
                          </a:solidFill>
                          <a:latin typeface="Segoe UI"/>
                        </a:rPr>
                        <a:t>63</a:t>
                      </a:r>
                    </a:p>
                  </a:txBody>
                  <a:tcPr marL="177800" marR="177800" marT="38100" marB="381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50" b="0" i="0">
                          <a:solidFill>
                            <a:srgbClr val="14213D"/>
                          </a:solidFill>
                          <a:latin typeface="Segoe UI"/>
                        </a:rPr>
                        <a:t>15</a:t>
                      </a:r>
                    </a:p>
                  </a:txBody>
                  <a:tcPr marL="177800" marR="177800" marT="38100" marB="38100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8892"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14213D"/>
                          </a:solidFill>
                          <a:latin typeface="Segoe UI"/>
                        </a:rPr>
                        <a:t>Takeo</a:t>
                      </a:r>
                    </a:p>
                  </a:txBody>
                  <a:tcPr marL="177800" marR="1778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50" b="0" i="0">
                          <a:solidFill>
                            <a:srgbClr val="14213D"/>
                          </a:solidFill>
                          <a:latin typeface="Segoe UI"/>
                        </a:rPr>
                        <a:t>100</a:t>
                      </a:r>
                    </a:p>
                  </a:txBody>
                  <a:tcPr marL="177800" marR="1778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50" b="0" i="0">
                          <a:solidFill>
                            <a:srgbClr val="14213D"/>
                          </a:solidFill>
                          <a:latin typeface="Segoe UI"/>
                        </a:rPr>
                        <a:t>23</a:t>
                      </a:r>
                    </a:p>
                  </a:txBody>
                  <a:tcPr marL="177800" marR="1778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14213D"/>
                          </a:solidFill>
                          <a:latin typeface="Segoe UI"/>
                        </a:rPr>
                        <a:t>Kampong Thom</a:t>
                      </a:r>
                    </a:p>
                  </a:txBody>
                  <a:tcPr marL="177800" marR="1778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50" b="0" i="0">
                          <a:solidFill>
                            <a:srgbClr val="14213D"/>
                          </a:solidFill>
                          <a:latin typeface="Segoe UI"/>
                        </a:rPr>
                        <a:t>62</a:t>
                      </a:r>
                    </a:p>
                  </a:txBody>
                  <a:tcPr marL="177800" marR="1778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50" b="0" i="0">
                          <a:solidFill>
                            <a:srgbClr val="14213D"/>
                          </a:solidFill>
                          <a:latin typeface="Segoe UI"/>
                        </a:rPr>
                        <a:t>14</a:t>
                      </a:r>
                    </a:p>
                  </a:txBody>
                  <a:tcPr marL="177800" marR="1778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8892"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14213D"/>
                          </a:solidFill>
                          <a:latin typeface="Segoe UI"/>
                        </a:rPr>
                        <a:t>Kandal</a:t>
                      </a:r>
                    </a:p>
                  </a:txBody>
                  <a:tcPr marL="177800" marR="177800" marT="38100" marB="381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50" b="0" i="0">
                          <a:solidFill>
                            <a:srgbClr val="14213D"/>
                          </a:solidFill>
                          <a:latin typeface="Segoe UI"/>
                        </a:rPr>
                        <a:t>97</a:t>
                      </a:r>
                    </a:p>
                  </a:txBody>
                  <a:tcPr marL="177800" marR="177800" marT="38100" marB="381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50" b="0" i="0">
                          <a:solidFill>
                            <a:srgbClr val="14213D"/>
                          </a:solidFill>
                          <a:latin typeface="Segoe UI"/>
                        </a:rPr>
                        <a:t>22</a:t>
                      </a:r>
                    </a:p>
                  </a:txBody>
                  <a:tcPr marL="177800" marR="177800" marT="38100" marB="381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14213D"/>
                          </a:solidFill>
                          <a:latin typeface="Segoe UI"/>
                        </a:rPr>
                        <a:t>Tboung Khmum</a:t>
                      </a:r>
                    </a:p>
                  </a:txBody>
                  <a:tcPr marL="177800" marR="177800" marT="38100" marB="381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50" b="0" i="0">
                          <a:solidFill>
                            <a:srgbClr val="14213D"/>
                          </a:solidFill>
                          <a:latin typeface="Segoe UI"/>
                        </a:rPr>
                        <a:t>61</a:t>
                      </a:r>
                    </a:p>
                  </a:txBody>
                  <a:tcPr marL="177800" marR="177800" marT="38100" marB="381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50" b="0" i="0">
                          <a:solidFill>
                            <a:srgbClr val="14213D"/>
                          </a:solidFill>
                          <a:latin typeface="Segoe UI"/>
                        </a:rPr>
                        <a:t>14</a:t>
                      </a:r>
                    </a:p>
                  </a:txBody>
                  <a:tcPr marL="177800" marR="177800" marT="38100" marB="38100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8892"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14213D"/>
                          </a:solidFill>
                          <a:latin typeface="Segoe UI"/>
                        </a:rPr>
                        <a:t>Battambang</a:t>
                      </a:r>
                    </a:p>
                  </a:txBody>
                  <a:tcPr marL="177800" marR="1778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50" b="0" i="0">
                          <a:solidFill>
                            <a:srgbClr val="14213D"/>
                          </a:solidFill>
                          <a:latin typeface="Segoe UI"/>
                        </a:rPr>
                        <a:t>87</a:t>
                      </a:r>
                    </a:p>
                  </a:txBody>
                  <a:tcPr marL="177800" marR="1778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50" b="0" i="0">
                          <a:solidFill>
                            <a:srgbClr val="14213D"/>
                          </a:solidFill>
                          <a:latin typeface="Segoe UI"/>
                        </a:rPr>
                        <a:t>20</a:t>
                      </a:r>
                    </a:p>
                  </a:txBody>
                  <a:tcPr marL="177800" marR="1778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14213D"/>
                          </a:solidFill>
                          <a:latin typeface="Segoe UI"/>
                        </a:rPr>
                        <a:t>Stung Treng</a:t>
                      </a:r>
                    </a:p>
                  </a:txBody>
                  <a:tcPr marL="177800" marR="1778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50" b="0" i="0">
                          <a:solidFill>
                            <a:srgbClr val="14213D"/>
                          </a:solidFill>
                          <a:latin typeface="Segoe UI"/>
                        </a:rPr>
                        <a:t>52</a:t>
                      </a:r>
                    </a:p>
                  </a:txBody>
                  <a:tcPr marL="177800" marR="1778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50" b="0" i="0">
                          <a:solidFill>
                            <a:srgbClr val="14213D"/>
                          </a:solidFill>
                          <a:latin typeface="Segoe UI"/>
                        </a:rPr>
                        <a:t>12</a:t>
                      </a:r>
                    </a:p>
                  </a:txBody>
                  <a:tcPr marL="177800" marR="1778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8892"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14213D"/>
                          </a:solidFill>
                          <a:latin typeface="Segoe UI"/>
                        </a:rPr>
                        <a:t>Svay Rieng</a:t>
                      </a:r>
                    </a:p>
                  </a:txBody>
                  <a:tcPr marL="177800" marR="177800" marT="38100" marB="381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50" b="0" i="0">
                          <a:solidFill>
                            <a:srgbClr val="14213D"/>
                          </a:solidFill>
                          <a:latin typeface="Segoe UI"/>
                        </a:rPr>
                        <a:t>86</a:t>
                      </a:r>
                    </a:p>
                  </a:txBody>
                  <a:tcPr marL="177800" marR="177800" marT="38100" marB="381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50" b="0" i="0">
                          <a:solidFill>
                            <a:srgbClr val="14213D"/>
                          </a:solidFill>
                          <a:latin typeface="Segoe UI"/>
                        </a:rPr>
                        <a:t>20</a:t>
                      </a:r>
                    </a:p>
                  </a:txBody>
                  <a:tcPr marL="177800" marR="177800" marT="38100" marB="381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 i="0">
                          <a:solidFill>
                            <a:srgbClr val="C0392B"/>
                          </a:solidFill>
                          <a:latin typeface="Segoe UI Semibold"/>
                        </a:rPr>
                        <a:t>Koh Kong</a:t>
                      </a:r>
                    </a:p>
                  </a:txBody>
                  <a:tcPr marL="177800" marR="177800" marT="38100" marB="381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50" b="1" i="0">
                          <a:solidFill>
                            <a:srgbClr val="C0392B"/>
                          </a:solidFill>
                          <a:latin typeface="Segoe UI Semibold"/>
                        </a:rPr>
                        <a:t>47</a:t>
                      </a:r>
                    </a:p>
                  </a:txBody>
                  <a:tcPr marL="177800" marR="177800" marT="38100" marB="381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50" b="0" i="0">
                          <a:solidFill>
                            <a:srgbClr val="14213D"/>
                          </a:solidFill>
                          <a:latin typeface="Segoe UI"/>
                        </a:rPr>
                        <a:t>11</a:t>
                      </a:r>
                    </a:p>
                  </a:txBody>
                  <a:tcPr marL="177800" marR="177800" marT="38100" marB="38100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8892"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14213D"/>
                          </a:solidFill>
                          <a:latin typeface="Segoe UI"/>
                        </a:rPr>
                        <a:t>Banteay Meanchey</a:t>
                      </a:r>
                    </a:p>
                  </a:txBody>
                  <a:tcPr marL="177800" marR="1778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50" b="0" i="0">
                          <a:solidFill>
                            <a:srgbClr val="14213D"/>
                          </a:solidFill>
                          <a:latin typeface="Segoe UI"/>
                        </a:rPr>
                        <a:t>82</a:t>
                      </a:r>
                    </a:p>
                  </a:txBody>
                  <a:tcPr marL="177800" marR="1778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50" b="0" i="0">
                          <a:solidFill>
                            <a:srgbClr val="14213D"/>
                          </a:solidFill>
                          <a:latin typeface="Segoe UI"/>
                        </a:rPr>
                        <a:t>19</a:t>
                      </a:r>
                    </a:p>
                  </a:txBody>
                  <a:tcPr marL="177800" marR="1778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 i="0">
                          <a:solidFill>
                            <a:srgbClr val="C0392B"/>
                          </a:solidFill>
                          <a:latin typeface="Segoe UI Semibold"/>
                        </a:rPr>
                        <a:t>Kep</a:t>
                      </a:r>
                    </a:p>
                  </a:txBody>
                  <a:tcPr marL="177800" marR="1778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50" b="1" i="0">
                          <a:solidFill>
                            <a:srgbClr val="C0392B"/>
                          </a:solidFill>
                          <a:latin typeface="Segoe UI Semibold"/>
                        </a:rPr>
                        <a:t>42</a:t>
                      </a:r>
                    </a:p>
                  </a:txBody>
                  <a:tcPr marL="177800" marR="1778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50" b="0" i="0">
                          <a:solidFill>
                            <a:srgbClr val="14213D"/>
                          </a:solidFill>
                          <a:latin typeface="Segoe UI"/>
                        </a:rPr>
                        <a:t>9</a:t>
                      </a:r>
                    </a:p>
                  </a:txBody>
                  <a:tcPr marL="177800" marR="1778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78892"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14213D"/>
                          </a:solidFill>
                          <a:latin typeface="Segoe UI"/>
                        </a:rPr>
                        <a:t>Kampong Speu</a:t>
                      </a:r>
                    </a:p>
                  </a:txBody>
                  <a:tcPr marL="177800" marR="177800" marT="38100" marB="381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50" b="0" i="0">
                          <a:solidFill>
                            <a:srgbClr val="14213D"/>
                          </a:solidFill>
                          <a:latin typeface="Segoe UI"/>
                        </a:rPr>
                        <a:t>77</a:t>
                      </a:r>
                    </a:p>
                  </a:txBody>
                  <a:tcPr marL="177800" marR="177800" marT="38100" marB="381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50" b="0" i="0">
                          <a:solidFill>
                            <a:srgbClr val="14213D"/>
                          </a:solidFill>
                          <a:latin typeface="Segoe UI"/>
                        </a:rPr>
                        <a:t>18</a:t>
                      </a:r>
                    </a:p>
                  </a:txBody>
                  <a:tcPr marL="177800" marR="177800" marT="38100" marB="381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 i="0">
                          <a:solidFill>
                            <a:srgbClr val="C0392B"/>
                          </a:solidFill>
                          <a:latin typeface="Segoe UI Semibold"/>
                        </a:rPr>
                        <a:t>Ratanakiri</a:t>
                      </a:r>
                    </a:p>
                  </a:txBody>
                  <a:tcPr marL="177800" marR="177800" marT="38100" marB="381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50" b="1" i="0">
                          <a:solidFill>
                            <a:srgbClr val="C0392B"/>
                          </a:solidFill>
                          <a:latin typeface="Segoe UI Semibold"/>
                        </a:rPr>
                        <a:t>20</a:t>
                      </a:r>
                    </a:p>
                  </a:txBody>
                  <a:tcPr marL="177800" marR="177800" marT="38100" marB="381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50" b="0" i="0">
                          <a:solidFill>
                            <a:srgbClr val="14213D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 marL="177800" marR="177800" marT="38100" marB="38100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78892"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14213D"/>
                          </a:solidFill>
                          <a:latin typeface="Segoe UI"/>
                        </a:rPr>
                        <a:t>Oudor Meanchey</a:t>
                      </a:r>
                    </a:p>
                  </a:txBody>
                  <a:tcPr marL="177800" marR="1778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50" b="0" i="0">
                          <a:solidFill>
                            <a:srgbClr val="14213D"/>
                          </a:solidFill>
                          <a:latin typeface="Segoe UI"/>
                        </a:rPr>
                        <a:t>72</a:t>
                      </a:r>
                    </a:p>
                  </a:txBody>
                  <a:tcPr marL="177800" marR="1778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50" b="0" i="0">
                          <a:solidFill>
                            <a:srgbClr val="14213D"/>
                          </a:solidFill>
                          <a:latin typeface="Segoe UI"/>
                        </a:rPr>
                        <a:t>17</a:t>
                      </a:r>
                    </a:p>
                  </a:txBody>
                  <a:tcPr marL="177800" marR="1778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 i="0">
                          <a:solidFill>
                            <a:srgbClr val="C0392B"/>
                          </a:solidFill>
                          <a:latin typeface="Segoe UI Semibold"/>
                        </a:rPr>
                        <a:t>Mondul Kiri</a:t>
                      </a:r>
                    </a:p>
                  </a:txBody>
                  <a:tcPr marL="177800" marR="1778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50" b="1" i="0">
                          <a:solidFill>
                            <a:srgbClr val="C0392B"/>
                          </a:solidFill>
                          <a:latin typeface="Segoe UI Semibold"/>
                        </a:rPr>
                        <a:t>18</a:t>
                      </a:r>
                    </a:p>
                  </a:txBody>
                  <a:tcPr marL="177800" marR="1778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50" b="0" i="0" dirty="0">
                          <a:solidFill>
                            <a:srgbClr val="14213D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 marL="177800" marR="1778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1719072" cy="292608"/>
          </a:xfrm>
          <a:prstGeom prst="roundRect">
            <a:avLst>
              <a:gd name="adj" fmla="val 50000"/>
            </a:avLst>
          </a:prstGeom>
          <a:solidFill>
            <a:srgbClr val="E2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719072" cy="292608"/>
          </a:xfrm>
          <a:prstGeom prst="rect">
            <a:avLst/>
          </a:prstGeom>
          <a:noFill/>
        </p:spPr>
        <p:txBody>
          <a:bodyPr wrap="square" lIns="18288" rIns="18288" anchor="ctr">
            <a:spAutoFit/>
          </a:bodyPr>
          <a:lstStyle/>
          <a:p>
            <a:pPr algn="ctr"/>
            <a:r>
              <a:rPr sz="1050" b="1" i="0" spc="120">
                <a:solidFill>
                  <a:srgbClr val="0F7C74"/>
                </a:solidFill>
                <a:latin typeface="Segoe UI"/>
              </a:rPr>
              <a:t>03  ·  METHOD</a:t>
            </a:r>
          </a:p>
        </p:txBody>
      </p:sp>
      <p:pic>
        <p:nvPicPr>
          <p:cNvPr id="5" name="Picture 4" descr="kit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9823" y="320040"/>
            <a:ext cx="621792" cy="62179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21792" y="731520"/>
            <a:ext cx="9997135" cy="685800"/>
          </a:xfrm>
          <a:prstGeom prst="rect">
            <a:avLst/>
          </a:prstGeom>
          <a:noFill/>
        </p:spPr>
        <p:txBody>
          <a:bodyPr wrap="square" lIns="18288" rIns="18288" anchor="ctr">
            <a:spAutoFit/>
          </a:bodyPr>
          <a:lstStyle/>
          <a:p>
            <a:pPr algn="l"/>
            <a:r>
              <a:rPr sz="3000" b="0" i="0">
                <a:solidFill>
                  <a:srgbClr val="14213D"/>
                </a:solidFill>
                <a:latin typeface="Segoe UI Semibold"/>
              </a:rPr>
              <a:t>Identical setup for every approach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601968"/>
            <a:ext cx="1368073" cy="27432"/>
          </a:xfrm>
          <a:prstGeom prst="rect">
            <a:avLst/>
          </a:prstGeom>
          <a:solidFill>
            <a:srgbClr val="0F7C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6336792"/>
            <a:ext cx="1368073" cy="237744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  <a:latin typeface="Segoe UI"/>
              </a:rPr>
              <a:t>Problem</a:t>
            </a:r>
          </a:p>
        </p:txBody>
      </p:sp>
      <p:sp>
        <p:nvSpPr>
          <p:cNvPr id="9" name="Rectangle 8"/>
          <p:cNvSpPr/>
          <p:nvPr/>
        </p:nvSpPr>
        <p:spPr>
          <a:xfrm>
            <a:off x="2081305" y="6601968"/>
            <a:ext cx="1368073" cy="27432"/>
          </a:xfrm>
          <a:prstGeom prst="rect">
            <a:avLst/>
          </a:prstGeom>
          <a:solidFill>
            <a:srgbClr val="0F7C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081305" y="6336792"/>
            <a:ext cx="1368073" cy="237744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  <a:latin typeface="Segoe UI"/>
              </a:rPr>
              <a:t>Data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22530" y="6601968"/>
            <a:ext cx="1368073" cy="45720"/>
          </a:xfrm>
          <a:prstGeom prst="rect">
            <a:avLst/>
          </a:prstGeom>
          <a:solidFill>
            <a:srgbClr val="E09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522530" y="6336792"/>
            <a:ext cx="1368073" cy="237744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850" b="1" i="0">
                <a:solidFill>
                  <a:srgbClr val="14213D"/>
                </a:solidFill>
                <a:latin typeface="Segoe UI"/>
              </a:rPr>
              <a:t>Method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63755" y="6601968"/>
            <a:ext cx="1368073" cy="2743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63755" y="6336792"/>
            <a:ext cx="1368073" cy="237744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  <a:latin typeface="Segoe UI"/>
              </a:rPr>
              <a:t>Results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4980" y="6601968"/>
            <a:ext cx="1368073" cy="2743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4980" y="6336792"/>
            <a:ext cx="1368073" cy="237744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  <a:latin typeface="Segoe UI"/>
              </a:rPr>
              <a:t>Analysis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46205" y="6601968"/>
            <a:ext cx="1368073" cy="2743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846205" y="6336792"/>
            <a:ext cx="1368073" cy="237744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  <a:latin typeface="Segoe UI"/>
              </a:rPr>
              <a:t>Honesty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287430" y="6601968"/>
            <a:ext cx="1368073" cy="2743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287430" y="6336792"/>
            <a:ext cx="1368073" cy="237744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  <a:latin typeface="Segoe UI"/>
              </a:rPr>
              <a:t>Conclusion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20095" y="6373368"/>
            <a:ext cx="731520" cy="27432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r"/>
            <a:r>
              <a:rPr sz="1100" b="1" i="0">
                <a:solidFill>
                  <a:srgbClr val="0F7C74"/>
                </a:solidFill>
                <a:latin typeface="Segoe UI Semibold"/>
              </a:rP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1600200"/>
            <a:ext cx="5318607" cy="256032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950" b="1" i="0" spc="140">
                <a:solidFill>
                  <a:srgbClr val="6B7280"/>
                </a:solidFill>
                <a:latin typeface="Segoe UI"/>
              </a:rPr>
              <a:t>TRAINING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1874519"/>
            <a:ext cx="5318607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233007" y="1600200"/>
            <a:ext cx="5318607" cy="256032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950" b="1" i="0" spc="140">
                <a:solidFill>
                  <a:srgbClr val="6B7280"/>
                </a:solidFill>
                <a:latin typeface="Segoe UI"/>
              </a:rPr>
              <a:t>EVALUATION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33007" y="1874519"/>
            <a:ext cx="5318607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640080" y="2011680"/>
            <a:ext cx="5318607" cy="615695"/>
          </a:xfrm>
          <a:prstGeom prst="roundRect">
            <a:avLst>
              <a:gd name="adj" fmla="val 17821"/>
            </a:avLst>
          </a:prstGeom>
          <a:solidFill>
            <a:srgbClr val="FFFFFF"/>
          </a:solidFill>
          <a:ln w="1079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7" name="Oval 26"/>
          <p:cNvSpPr/>
          <p:nvPr/>
        </p:nvSpPr>
        <p:spPr>
          <a:xfrm>
            <a:off x="841247" y="2109216"/>
            <a:ext cx="420624" cy="420624"/>
          </a:xfrm>
          <a:prstGeom prst="ellipse">
            <a:avLst/>
          </a:prstGeom>
          <a:solidFill>
            <a:srgbClr val="E2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41247" y="2109216"/>
            <a:ext cx="420624" cy="420624"/>
          </a:xfrm>
          <a:prstGeom prst="rect">
            <a:avLst/>
          </a:prstGeom>
          <a:noFill/>
        </p:spPr>
        <p:txBody>
          <a:bodyPr wrap="square" lIns="18288" rIns="18288" anchor="ctr">
            <a:spAutoFit/>
          </a:bodyPr>
          <a:lstStyle/>
          <a:p>
            <a:pPr algn="ctr"/>
            <a:r>
              <a:rPr sz="1300" b="1" i="0">
                <a:solidFill>
                  <a:srgbClr val="0F7C74"/>
                </a:solidFill>
                <a:latin typeface="Segoe UI Semibold"/>
              </a:rPr>
              <a:t>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63039" y="2011680"/>
            <a:ext cx="4312767" cy="61569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0" i="0">
                <a:solidFill>
                  <a:srgbClr val="14213D"/>
                </a:solidFill>
                <a:latin typeface="Segoe UI"/>
              </a:rPr>
              <a:t>128×128 (CNN) / 224×224 (ViT)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2755392"/>
            <a:ext cx="5318607" cy="615695"/>
          </a:xfrm>
          <a:prstGeom prst="roundRect">
            <a:avLst>
              <a:gd name="adj" fmla="val 17821"/>
            </a:avLst>
          </a:prstGeom>
          <a:solidFill>
            <a:srgbClr val="FFFFFF"/>
          </a:solidFill>
          <a:ln w="1079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1" name="Oval 30"/>
          <p:cNvSpPr/>
          <p:nvPr/>
        </p:nvSpPr>
        <p:spPr>
          <a:xfrm>
            <a:off x="841247" y="2852928"/>
            <a:ext cx="420624" cy="420624"/>
          </a:xfrm>
          <a:prstGeom prst="ellipse">
            <a:avLst/>
          </a:prstGeom>
          <a:solidFill>
            <a:srgbClr val="E2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41247" y="2852928"/>
            <a:ext cx="420624" cy="420624"/>
          </a:xfrm>
          <a:prstGeom prst="rect">
            <a:avLst/>
          </a:prstGeom>
          <a:noFill/>
        </p:spPr>
        <p:txBody>
          <a:bodyPr wrap="square" lIns="18288" rIns="18288" anchor="ctr">
            <a:spAutoFit/>
          </a:bodyPr>
          <a:lstStyle/>
          <a:p>
            <a:pPr algn="ctr"/>
            <a:r>
              <a:rPr sz="1300" b="1" i="0">
                <a:solidFill>
                  <a:srgbClr val="0F7C74"/>
                </a:solidFill>
                <a:latin typeface="Segoe UI Semibold"/>
              </a:rPr>
              <a:t>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63039" y="2755392"/>
            <a:ext cx="4312767" cy="61569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0" i="0">
                <a:solidFill>
                  <a:srgbClr val="14213D"/>
                </a:solidFill>
                <a:latin typeface="Segoe UI"/>
              </a:rPr>
              <a:t>Crop / affine / colour-jitter augmentation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" y="3499104"/>
            <a:ext cx="5318607" cy="615695"/>
          </a:xfrm>
          <a:prstGeom prst="roundRect">
            <a:avLst>
              <a:gd name="adj" fmla="val 17821"/>
            </a:avLst>
          </a:prstGeom>
          <a:solidFill>
            <a:srgbClr val="FFFFFF"/>
          </a:solidFill>
          <a:ln w="1079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5" name="Oval 34"/>
          <p:cNvSpPr/>
          <p:nvPr/>
        </p:nvSpPr>
        <p:spPr>
          <a:xfrm>
            <a:off x="841247" y="3596640"/>
            <a:ext cx="420624" cy="420624"/>
          </a:xfrm>
          <a:prstGeom prst="ellipse">
            <a:avLst/>
          </a:prstGeom>
          <a:solidFill>
            <a:srgbClr val="E2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41247" y="3596640"/>
            <a:ext cx="420624" cy="420624"/>
          </a:xfrm>
          <a:prstGeom prst="rect">
            <a:avLst/>
          </a:prstGeom>
          <a:noFill/>
        </p:spPr>
        <p:txBody>
          <a:bodyPr wrap="square" lIns="18288" rIns="18288" anchor="ctr">
            <a:spAutoFit/>
          </a:bodyPr>
          <a:lstStyle/>
          <a:p>
            <a:pPr algn="ctr"/>
            <a:r>
              <a:rPr sz="1300" b="1" i="0">
                <a:solidFill>
                  <a:srgbClr val="0F7C74"/>
                </a:solidFill>
                <a:latin typeface="Segoe UI Semibold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463039" y="3499104"/>
            <a:ext cx="4312767" cy="61569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0" i="0">
                <a:solidFill>
                  <a:srgbClr val="14213D"/>
                </a:solidFill>
                <a:latin typeface="Segoe UI"/>
              </a:rPr>
              <a:t>40 epochs · batch 32 · Adam · StepLR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233007" y="2011680"/>
            <a:ext cx="5318607" cy="615695"/>
          </a:xfrm>
          <a:prstGeom prst="roundRect">
            <a:avLst>
              <a:gd name="adj" fmla="val 17821"/>
            </a:avLst>
          </a:prstGeom>
          <a:solidFill>
            <a:srgbClr val="FFFFFF"/>
          </a:solidFill>
          <a:ln w="1079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9" name="Oval 38"/>
          <p:cNvSpPr/>
          <p:nvPr/>
        </p:nvSpPr>
        <p:spPr>
          <a:xfrm>
            <a:off x="6434175" y="2109216"/>
            <a:ext cx="420624" cy="420624"/>
          </a:xfrm>
          <a:prstGeom prst="ellipse">
            <a:avLst/>
          </a:prstGeom>
          <a:solidFill>
            <a:srgbClr val="E2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434175" y="2109216"/>
            <a:ext cx="420624" cy="420624"/>
          </a:xfrm>
          <a:prstGeom prst="rect">
            <a:avLst/>
          </a:prstGeom>
          <a:noFill/>
        </p:spPr>
        <p:txBody>
          <a:bodyPr wrap="square" lIns="18288" rIns="18288" anchor="ctr">
            <a:spAutoFit/>
          </a:bodyPr>
          <a:lstStyle/>
          <a:p>
            <a:pPr algn="ctr"/>
            <a:r>
              <a:rPr sz="1300" b="1" i="0">
                <a:solidFill>
                  <a:srgbClr val="0F7C74"/>
                </a:solidFill>
                <a:latin typeface="Segoe UI Semibold"/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55967" y="2011680"/>
            <a:ext cx="4312767" cy="61569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0" i="0">
                <a:solidFill>
                  <a:srgbClr val="14213D"/>
                </a:solidFill>
                <a:latin typeface="Segoe UI"/>
              </a:rPr>
              <a:t>Model selected on </a:t>
            </a:r>
            <a:r>
              <a:rPr sz="1600" b="1" i="0">
                <a:solidFill>
                  <a:srgbClr val="0F7C74"/>
                </a:solidFill>
                <a:latin typeface="Segoe UI"/>
              </a:rPr>
              <a:t>validation</a:t>
            </a:r>
            <a:r>
              <a:rPr sz="1600" b="0" i="0">
                <a:solidFill>
                  <a:srgbClr val="14213D"/>
                </a:solidFill>
                <a:latin typeface="Segoe UI"/>
              </a:rPr>
              <a:t> only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233007" y="2755392"/>
            <a:ext cx="5318607" cy="615695"/>
          </a:xfrm>
          <a:prstGeom prst="roundRect">
            <a:avLst>
              <a:gd name="adj" fmla="val 17821"/>
            </a:avLst>
          </a:prstGeom>
          <a:solidFill>
            <a:srgbClr val="FFFFFF"/>
          </a:solidFill>
          <a:ln w="1079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3" name="Oval 42"/>
          <p:cNvSpPr/>
          <p:nvPr/>
        </p:nvSpPr>
        <p:spPr>
          <a:xfrm>
            <a:off x="6434175" y="2852928"/>
            <a:ext cx="420624" cy="420624"/>
          </a:xfrm>
          <a:prstGeom prst="ellipse">
            <a:avLst/>
          </a:prstGeom>
          <a:solidFill>
            <a:srgbClr val="E2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434175" y="2852928"/>
            <a:ext cx="420624" cy="420624"/>
          </a:xfrm>
          <a:prstGeom prst="rect">
            <a:avLst/>
          </a:prstGeom>
          <a:noFill/>
        </p:spPr>
        <p:txBody>
          <a:bodyPr wrap="square" lIns="18288" rIns="18288" anchor="ctr">
            <a:spAutoFit/>
          </a:bodyPr>
          <a:lstStyle/>
          <a:p>
            <a:pPr algn="ctr"/>
            <a:r>
              <a:rPr sz="1300" b="1" i="0">
                <a:solidFill>
                  <a:srgbClr val="0F7C74"/>
                </a:solidFill>
                <a:latin typeface="Segoe UI Semibold"/>
              </a:rPr>
              <a:t>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055967" y="2755392"/>
            <a:ext cx="4312767" cy="61569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0" i="0">
                <a:solidFill>
                  <a:srgbClr val="14213D"/>
                </a:solidFill>
                <a:latin typeface="Segoe UI"/>
              </a:rPr>
              <a:t>Test set touched </a:t>
            </a:r>
            <a:r>
              <a:rPr sz="1600" b="1" i="0">
                <a:solidFill>
                  <a:srgbClr val="0F7C74"/>
                </a:solidFill>
                <a:latin typeface="Segoe UI"/>
              </a:rPr>
              <a:t>once</a:t>
            </a:r>
            <a:r>
              <a:rPr sz="1600" b="0" i="0">
                <a:solidFill>
                  <a:srgbClr val="14213D"/>
                </a:solidFill>
                <a:latin typeface="Segoe UI"/>
              </a:rPr>
              <a:t> per run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233007" y="3499104"/>
            <a:ext cx="5318607" cy="615695"/>
          </a:xfrm>
          <a:prstGeom prst="roundRect">
            <a:avLst>
              <a:gd name="adj" fmla="val 17821"/>
            </a:avLst>
          </a:prstGeom>
          <a:solidFill>
            <a:srgbClr val="FFFFFF"/>
          </a:solidFill>
          <a:ln w="1079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7" name="Oval 46"/>
          <p:cNvSpPr/>
          <p:nvPr/>
        </p:nvSpPr>
        <p:spPr>
          <a:xfrm>
            <a:off x="6434175" y="3596640"/>
            <a:ext cx="420624" cy="420624"/>
          </a:xfrm>
          <a:prstGeom prst="ellipse">
            <a:avLst/>
          </a:prstGeom>
          <a:solidFill>
            <a:srgbClr val="E2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434175" y="3596640"/>
            <a:ext cx="420624" cy="420624"/>
          </a:xfrm>
          <a:prstGeom prst="rect">
            <a:avLst/>
          </a:prstGeom>
          <a:noFill/>
        </p:spPr>
        <p:txBody>
          <a:bodyPr wrap="square" lIns="18288" rIns="18288" anchor="ctr">
            <a:spAutoFit/>
          </a:bodyPr>
          <a:lstStyle/>
          <a:p>
            <a:pPr algn="ctr"/>
            <a:r>
              <a:rPr sz="1300" b="1" i="0">
                <a:solidFill>
                  <a:srgbClr val="0F7C74"/>
                </a:solidFill>
                <a:latin typeface="Segoe UI Semibold"/>
              </a:rPr>
              <a:t>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055967" y="3499104"/>
            <a:ext cx="4312767" cy="61569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0" i="0">
                <a:solidFill>
                  <a:srgbClr val="14213D"/>
                </a:solidFill>
                <a:latin typeface="Segoe UI"/>
              </a:rPr>
              <a:t>Accuracy + </a:t>
            </a:r>
            <a:r>
              <a:rPr sz="1600" b="1" i="0">
                <a:solidFill>
                  <a:srgbClr val="0F7C74"/>
                </a:solidFill>
                <a:latin typeface="Segoe UI"/>
              </a:rPr>
              <a:t>macro-F1</a:t>
            </a:r>
            <a:r>
              <a:rPr sz="1600" b="0" i="0">
                <a:solidFill>
                  <a:srgbClr val="14213D"/>
                </a:solidFill>
                <a:latin typeface="Segoe UI"/>
              </a:rPr>
              <a:t> (imbalance)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40080" y="4297680"/>
            <a:ext cx="5318607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079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640080" y="4498848"/>
            <a:ext cx="64008" cy="603504"/>
          </a:xfrm>
          <a:prstGeom prst="rect">
            <a:avLst/>
          </a:prstGeom>
          <a:solidFill>
            <a:srgbClr val="0F7C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896112" y="4370832"/>
            <a:ext cx="4952847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 i="0">
                <a:solidFill>
                  <a:srgbClr val="0F7C74"/>
                </a:solidFill>
                <a:latin typeface="Segoe UI Semibold"/>
              </a:rPr>
              <a:t>Seed 42</a:t>
            </a:r>
          </a:p>
          <a:p>
            <a:r>
              <a:rPr sz="1100" b="0" i="0">
                <a:solidFill>
                  <a:srgbClr val="6B7280"/>
                </a:solidFill>
                <a:latin typeface="Segoe UI"/>
              </a:rPr>
              <a:t>Python · NumPy · PyTorch · cuDNN · DataLoader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233007" y="4297680"/>
            <a:ext cx="5318607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079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6233007" y="4498848"/>
            <a:ext cx="64008" cy="603504"/>
          </a:xfrm>
          <a:prstGeom prst="rect">
            <a:avLst/>
          </a:prstGeom>
          <a:solidFill>
            <a:srgbClr val="0F7C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6489039" y="4370832"/>
            <a:ext cx="4952847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 i="0">
                <a:solidFill>
                  <a:srgbClr val="0F7C74"/>
                </a:solidFill>
                <a:latin typeface="Segoe UI Semibold"/>
              </a:rPr>
              <a:t>Colab T4</a:t>
            </a:r>
          </a:p>
          <a:p>
            <a:r>
              <a:rPr sz="1100" b="0" i="0">
                <a:solidFill>
                  <a:srgbClr val="6B7280"/>
                </a:solidFill>
                <a:latin typeface="Segoe UI"/>
              </a:rPr>
              <a:t>≈ 6–8 minutes per run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1719072" cy="292608"/>
          </a:xfrm>
          <a:prstGeom prst="roundRect">
            <a:avLst>
              <a:gd name="adj" fmla="val 50000"/>
            </a:avLst>
          </a:prstGeom>
          <a:solidFill>
            <a:srgbClr val="E2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719072" cy="292608"/>
          </a:xfrm>
          <a:prstGeom prst="rect">
            <a:avLst/>
          </a:prstGeom>
          <a:noFill/>
        </p:spPr>
        <p:txBody>
          <a:bodyPr wrap="square" lIns="18288" rIns="18288" anchor="ctr">
            <a:spAutoFit/>
          </a:bodyPr>
          <a:lstStyle/>
          <a:p>
            <a:pPr algn="ctr"/>
            <a:r>
              <a:rPr sz="1050" b="1" i="0" spc="120">
                <a:solidFill>
                  <a:srgbClr val="0F7C74"/>
                </a:solidFill>
                <a:latin typeface="Segoe UI"/>
              </a:rPr>
              <a:t>03  ·  METHOD</a:t>
            </a:r>
          </a:p>
        </p:txBody>
      </p:sp>
      <p:pic>
        <p:nvPicPr>
          <p:cNvPr id="5" name="Picture 4" descr="kit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9823" y="320040"/>
            <a:ext cx="621792" cy="62179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21792" y="731520"/>
            <a:ext cx="9997135" cy="685800"/>
          </a:xfrm>
          <a:prstGeom prst="rect">
            <a:avLst/>
          </a:prstGeom>
          <a:noFill/>
        </p:spPr>
        <p:txBody>
          <a:bodyPr wrap="square" lIns="18288" rIns="18288" anchor="ctr">
            <a:spAutoFit/>
          </a:bodyPr>
          <a:lstStyle/>
          <a:p>
            <a:pPr algn="l"/>
            <a:r>
              <a:rPr sz="3000" b="0" i="0">
                <a:solidFill>
                  <a:srgbClr val="14213D"/>
                </a:solidFill>
                <a:latin typeface="Segoe UI Semibold"/>
              </a:rPr>
              <a:t>The five approaches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601968"/>
            <a:ext cx="1368073" cy="27432"/>
          </a:xfrm>
          <a:prstGeom prst="rect">
            <a:avLst/>
          </a:prstGeom>
          <a:solidFill>
            <a:srgbClr val="0F7C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6336792"/>
            <a:ext cx="1368073" cy="237744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  <a:latin typeface="Segoe UI"/>
              </a:rPr>
              <a:t>Problem</a:t>
            </a:r>
          </a:p>
        </p:txBody>
      </p:sp>
      <p:sp>
        <p:nvSpPr>
          <p:cNvPr id="9" name="Rectangle 8"/>
          <p:cNvSpPr/>
          <p:nvPr/>
        </p:nvSpPr>
        <p:spPr>
          <a:xfrm>
            <a:off x="2081305" y="6601968"/>
            <a:ext cx="1368073" cy="27432"/>
          </a:xfrm>
          <a:prstGeom prst="rect">
            <a:avLst/>
          </a:prstGeom>
          <a:solidFill>
            <a:srgbClr val="0F7C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081305" y="6336792"/>
            <a:ext cx="1368073" cy="237744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  <a:latin typeface="Segoe UI"/>
              </a:rPr>
              <a:t>Data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22530" y="6601968"/>
            <a:ext cx="1368073" cy="45720"/>
          </a:xfrm>
          <a:prstGeom prst="rect">
            <a:avLst/>
          </a:prstGeom>
          <a:solidFill>
            <a:srgbClr val="E09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522530" y="6336792"/>
            <a:ext cx="1368073" cy="237744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850" b="1" i="0">
                <a:solidFill>
                  <a:srgbClr val="14213D"/>
                </a:solidFill>
                <a:latin typeface="Segoe UI"/>
              </a:rPr>
              <a:t>Method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63755" y="6601968"/>
            <a:ext cx="1368073" cy="2743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63755" y="6336792"/>
            <a:ext cx="1368073" cy="237744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  <a:latin typeface="Segoe UI"/>
              </a:rPr>
              <a:t>Results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4980" y="6601968"/>
            <a:ext cx="1368073" cy="2743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4980" y="6336792"/>
            <a:ext cx="1368073" cy="237744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  <a:latin typeface="Segoe UI"/>
              </a:rPr>
              <a:t>Analysis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46205" y="6601968"/>
            <a:ext cx="1368073" cy="2743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846205" y="6336792"/>
            <a:ext cx="1368073" cy="237744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  <a:latin typeface="Segoe UI"/>
              </a:rPr>
              <a:t>Honesty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287430" y="6601968"/>
            <a:ext cx="1368073" cy="2743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287430" y="6336792"/>
            <a:ext cx="1368073" cy="237744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  <a:latin typeface="Segoe UI"/>
              </a:rPr>
              <a:t>Conclusion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20095" y="6373368"/>
            <a:ext cx="731520" cy="27432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r"/>
            <a:r>
              <a:rPr sz="1100" b="1" i="0">
                <a:solidFill>
                  <a:srgbClr val="0F7C74"/>
                </a:solidFill>
                <a:latin typeface="Segoe UI Semibold"/>
              </a:rPr>
              <a:t>7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640080" y="1600200"/>
          <a:ext cx="10911535" cy="208483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77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40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03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760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endParaRPr/>
                    </a:p>
                  </a:txBody>
                  <a:tcPr marL="127000" marR="127000" marT="25400" marB="25400" anchor="ctr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44" b="1" i="0" spc="80">
                          <a:solidFill>
                            <a:srgbClr val="FFFFFF"/>
                          </a:solidFill>
                          <a:latin typeface="Segoe UI"/>
                        </a:rPr>
                        <a:t>ARCHITECTURE</a:t>
                      </a:r>
                    </a:p>
                  </a:txBody>
                  <a:tcPr marL="127000" marR="127000" marT="25400" marB="25400" anchor="ctr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44" b="1" i="0" spc="80">
                          <a:solidFill>
                            <a:srgbClr val="FFFFFF"/>
                          </a:solidFill>
                          <a:latin typeface="Segoe UI"/>
                        </a:rPr>
                        <a:t>INITIAL WEIGHTS</a:t>
                      </a:r>
                    </a:p>
                  </a:txBody>
                  <a:tcPr marL="127000" marR="127000" marT="25400" marB="25400" anchor="ctr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44" b="1" i="0" spc="80">
                          <a:solidFill>
                            <a:srgbClr val="FFFFFF"/>
                          </a:solidFill>
                          <a:latin typeface="Segoe UI"/>
                        </a:rPr>
                        <a:t>TRAINING STRATEGY</a:t>
                      </a:r>
                    </a:p>
                  </a:txBody>
                  <a:tcPr marL="127000" marR="127000" marT="25400" marB="25400" anchor="ctr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44" b="1" i="0" spc="80">
                          <a:solidFill>
                            <a:srgbClr val="FFFFFF"/>
                          </a:solidFill>
                          <a:latin typeface="Segoe UI"/>
                        </a:rPr>
                        <a:t>PARAMETERS</a:t>
                      </a:r>
                    </a:p>
                  </a:txBody>
                  <a:tcPr marL="127000" marR="127000" marT="25400" marB="25400" anchor="ctr">
                    <a:solidFill>
                      <a:srgbClr val="1421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r>
                        <a:rPr sz="1450" b="1" i="0">
                          <a:solidFill>
                            <a:srgbClr val="0F7C74"/>
                          </a:solidFill>
                          <a:latin typeface="Segoe UI Semibold"/>
                        </a:rPr>
                        <a:t>A</a:t>
                      </a:r>
                    </a:p>
                  </a:txBody>
                  <a:tcPr marL="127000" marR="1270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0" i="0">
                          <a:solidFill>
                            <a:srgbClr val="14213D"/>
                          </a:solidFill>
                          <a:latin typeface="Segoe UI"/>
                        </a:rPr>
                        <a:t>ResNet18</a:t>
                      </a:r>
                    </a:p>
                  </a:txBody>
                  <a:tcPr marL="127000" marR="1270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0" i="0">
                          <a:solidFill>
                            <a:srgbClr val="14213D"/>
                          </a:solidFill>
                          <a:latin typeface="Segoe UI"/>
                        </a:rPr>
                        <a:t>Random (scratch)</a:t>
                      </a:r>
                    </a:p>
                  </a:txBody>
                  <a:tcPr marL="127000" marR="1270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0" i="0">
                          <a:solidFill>
                            <a:srgbClr val="14213D"/>
                          </a:solidFill>
                          <a:latin typeface="Segoe UI"/>
                        </a:rPr>
                        <a:t>All layers trainable</a:t>
                      </a:r>
                    </a:p>
                  </a:txBody>
                  <a:tcPr marL="127000" marR="1270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0" i="0">
                          <a:solidFill>
                            <a:srgbClr val="14213D"/>
                          </a:solidFill>
                          <a:latin typeface="Segoe UI"/>
                        </a:rPr>
                        <a:t>11.2 M</a:t>
                      </a:r>
                    </a:p>
                  </a:txBody>
                  <a:tcPr marL="127000" marR="1270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r>
                        <a:rPr sz="1450" b="1" i="0">
                          <a:solidFill>
                            <a:srgbClr val="0F7C74"/>
                          </a:solidFill>
                          <a:latin typeface="Segoe UI Semibold"/>
                        </a:rPr>
                        <a:t>B</a:t>
                      </a:r>
                    </a:p>
                  </a:txBody>
                  <a:tcPr marL="127000" marR="127000" marT="25400" marB="254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0" i="0">
                          <a:solidFill>
                            <a:srgbClr val="14213D"/>
                          </a:solidFill>
                          <a:latin typeface="Segoe UI"/>
                        </a:rPr>
                        <a:t>ResNet18</a:t>
                      </a:r>
                    </a:p>
                  </a:txBody>
                  <a:tcPr marL="127000" marR="127000" marT="25400" marB="254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0" i="0">
                          <a:solidFill>
                            <a:srgbClr val="14213D"/>
                          </a:solidFill>
                          <a:latin typeface="Segoe UI"/>
                        </a:rPr>
                        <a:t>ImageNet pre-trained</a:t>
                      </a:r>
                    </a:p>
                  </a:txBody>
                  <a:tcPr marL="127000" marR="127000" marT="25400" marB="254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0" i="0">
                          <a:solidFill>
                            <a:srgbClr val="14213D"/>
                          </a:solidFill>
                          <a:latin typeface="Segoe UI"/>
                        </a:rPr>
                        <a:t>Final FC only (backbone frozen)</a:t>
                      </a:r>
                    </a:p>
                  </a:txBody>
                  <a:tcPr marL="127000" marR="127000" marT="25400" marB="254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0" i="0">
                          <a:solidFill>
                            <a:srgbClr val="14213D"/>
                          </a:solidFill>
                          <a:latin typeface="Segoe UI"/>
                        </a:rPr>
                        <a:t>13 k (0.12 %)</a:t>
                      </a:r>
                    </a:p>
                  </a:txBody>
                  <a:tcPr marL="127000" marR="127000" marT="25400" marB="25400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r>
                        <a:rPr sz="1450" b="1" i="0">
                          <a:solidFill>
                            <a:srgbClr val="0F7C74"/>
                          </a:solidFill>
                          <a:latin typeface="Segoe UI Semibold"/>
                        </a:rPr>
                        <a:t>C</a:t>
                      </a:r>
                    </a:p>
                  </a:txBody>
                  <a:tcPr marL="127000" marR="1270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0" i="0">
                          <a:solidFill>
                            <a:srgbClr val="14213D"/>
                          </a:solidFill>
                          <a:latin typeface="Segoe UI"/>
                        </a:rPr>
                        <a:t>ResNet18</a:t>
                      </a:r>
                    </a:p>
                  </a:txBody>
                  <a:tcPr marL="127000" marR="1270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0" i="0">
                          <a:solidFill>
                            <a:srgbClr val="14213D"/>
                          </a:solidFill>
                          <a:latin typeface="Segoe UI"/>
                        </a:rPr>
                        <a:t>ImageNet pre-trained</a:t>
                      </a:r>
                    </a:p>
                  </a:txBody>
                  <a:tcPr marL="127000" marR="1270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0" i="0">
                          <a:solidFill>
                            <a:srgbClr val="14213D"/>
                          </a:solidFill>
                          <a:latin typeface="Segoe UI"/>
                        </a:rPr>
                        <a:t>Full fine-tuning (low learning rate)</a:t>
                      </a:r>
                    </a:p>
                  </a:txBody>
                  <a:tcPr marL="127000" marR="1270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0" i="0">
                          <a:solidFill>
                            <a:srgbClr val="14213D"/>
                          </a:solidFill>
                          <a:latin typeface="Segoe UI"/>
                        </a:rPr>
                        <a:t>11.2 M</a:t>
                      </a:r>
                    </a:p>
                  </a:txBody>
                  <a:tcPr marL="127000" marR="1270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r>
                        <a:rPr sz="1450" b="1" i="0">
                          <a:solidFill>
                            <a:srgbClr val="0F7C74"/>
                          </a:solidFill>
                          <a:latin typeface="Segoe UI Semibold"/>
                        </a:rPr>
                        <a:t>D</a:t>
                      </a:r>
                    </a:p>
                  </a:txBody>
                  <a:tcPr marL="127000" marR="127000" marT="25400" marB="254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0" i="0">
                          <a:solidFill>
                            <a:srgbClr val="14213D"/>
                          </a:solidFill>
                          <a:latin typeface="Segoe UI"/>
                        </a:rPr>
                        <a:t>Small 4-block CNN</a:t>
                      </a:r>
                    </a:p>
                  </a:txBody>
                  <a:tcPr marL="127000" marR="127000" marT="25400" marB="254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0" i="0">
                          <a:solidFill>
                            <a:srgbClr val="14213D"/>
                          </a:solidFill>
                          <a:latin typeface="Segoe UI"/>
                        </a:rPr>
                        <a:t>Random (scratch)</a:t>
                      </a:r>
                    </a:p>
                  </a:txBody>
                  <a:tcPr marL="127000" marR="127000" marT="25400" marB="254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0" i="0">
                          <a:solidFill>
                            <a:srgbClr val="14213D"/>
                          </a:solidFill>
                          <a:latin typeface="Segoe UI"/>
                        </a:rPr>
                        <a:t>All layers trainable</a:t>
                      </a:r>
                    </a:p>
                  </a:txBody>
                  <a:tcPr marL="127000" marR="127000" marT="25400" marB="254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0" i="0">
                          <a:solidFill>
                            <a:srgbClr val="14213D"/>
                          </a:solidFill>
                          <a:latin typeface="Segoe UI"/>
                        </a:rPr>
                        <a:t>0.4 M</a:t>
                      </a:r>
                    </a:p>
                  </a:txBody>
                  <a:tcPr marL="127000" marR="127000" marT="25400" marB="25400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r>
                        <a:rPr sz="1450" b="1" i="0">
                          <a:solidFill>
                            <a:srgbClr val="0F7C74"/>
                          </a:solidFill>
                          <a:latin typeface="Segoe UI Semibold"/>
                        </a:rPr>
                        <a:t>E</a:t>
                      </a:r>
                    </a:p>
                  </a:txBody>
                  <a:tcPr marL="127000" marR="1270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0" i="0">
                          <a:solidFill>
                            <a:srgbClr val="14213D"/>
                          </a:solidFill>
                          <a:latin typeface="Segoe UI"/>
                        </a:rPr>
                        <a:t>ViT-B/16 (Transformer)</a:t>
                      </a:r>
                    </a:p>
                  </a:txBody>
                  <a:tcPr marL="127000" marR="1270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0" i="0">
                          <a:solidFill>
                            <a:srgbClr val="14213D"/>
                          </a:solidFill>
                          <a:latin typeface="Segoe UI"/>
                        </a:rPr>
                        <a:t>ImageNet pre-trained</a:t>
                      </a:r>
                    </a:p>
                  </a:txBody>
                  <a:tcPr marL="127000" marR="1270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0" i="0">
                          <a:solidFill>
                            <a:srgbClr val="14213D"/>
                          </a:solidFill>
                          <a:latin typeface="Segoe UI"/>
                        </a:rPr>
                        <a:t>Full fine-tuning (196 patches)</a:t>
                      </a:r>
                    </a:p>
                  </a:txBody>
                  <a:tcPr marL="127000" marR="1270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0" i="0">
                          <a:solidFill>
                            <a:srgbClr val="14213D"/>
                          </a:solidFill>
                          <a:latin typeface="Segoe UI"/>
                        </a:rPr>
                        <a:t>85.8 M</a:t>
                      </a:r>
                    </a:p>
                  </a:txBody>
                  <a:tcPr marL="127000" marR="1270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3" name="Rounded Rectangle 22"/>
          <p:cNvSpPr/>
          <p:nvPr/>
        </p:nvSpPr>
        <p:spPr>
          <a:xfrm>
            <a:off x="640080" y="4276051"/>
            <a:ext cx="2577007" cy="1220725"/>
          </a:xfrm>
          <a:prstGeom prst="roundRect">
            <a:avLst>
              <a:gd name="adj" fmla="val 5042"/>
            </a:avLst>
          </a:prstGeom>
          <a:solidFill>
            <a:srgbClr val="FFFFFF"/>
          </a:solidFill>
          <a:ln w="1079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22959" y="4422355"/>
            <a:ext cx="2211247" cy="219456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950" b="1" i="0" spc="80">
                <a:solidFill>
                  <a:srgbClr val="0F7C74"/>
                </a:solidFill>
                <a:latin typeface="Segoe UI Semibold"/>
              </a:rPr>
              <a:t>01 · PRE-TRAINING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59" y="4678387"/>
            <a:ext cx="2211247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0F7C74"/>
                </a:solidFill>
                <a:latin typeface="Segoe UI"/>
              </a:rPr>
              <a:t>A</a:t>
            </a:r>
            <a:r>
              <a:rPr sz="1300" b="0" i="0">
                <a:solidFill>
                  <a:srgbClr val="14213D"/>
                </a:solidFill>
                <a:latin typeface="Segoe UI"/>
              </a:rPr>
              <a:t> (scratch)  vs  </a:t>
            </a:r>
            <a:r>
              <a:rPr sz="1300" b="1" i="0">
                <a:solidFill>
                  <a:srgbClr val="0F7C74"/>
                </a:solidFill>
                <a:latin typeface="Segoe UI"/>
              </a:rPr>
              <a:t>C</a:t>
            </a:r>
            <a:r>
              <a:rPr sz="1300" b="0" i="0">
                <a:solidFill>
                  <a:srgbClr val="14213D"/>
                </a:solidFill>
                <a:latin typeface="Segoe UI"/>
              </a:rPr>
              <a:t> (fine-tune)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2959" y="5172162"/>
            <a:ext cx="2211247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3418255" y="4276051"/>
            <a:ext cx="2577007" cy="1220725"/>
          </a:xfrm>
          <a:prstGeom prst="roundRect">
            <a:avLst>
              <a:gd name="adj" fmla="val 5042"/>
            </a:avLst>
          </a:prstGeom>
          <a:solidFill>
            <a:srgbClr val="FFFFFF"/>
          </a:solidFill>
          <a:ln w="1079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601135" y="4422355"/>
            <a:ext cx="2211247" cy="219456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950" b="1" i="0" spc="80">
                <a:solidFill>
                  <a:srgbClr val="E09A1A"/>
                </a:solidFill>
                <a:latin typeface="Segoe UI Semibold"/>
              </a:rPr>
              <a:t>02 · FEATURE TRANSFER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01135" y="4678387"/>
            <a:ext cx="2211247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E09A1A"/>
                </a:solidFill>
                <a:latin typeface="Segoe UI"/>
              </a:rPr>
              <a:t>B</a:t>
            </a:r>
            <a:r>
              <a:rPr sz="1300" b="0" i="0">
                <a:solidFill>
                  <a:srgbClr val="14213D"/>
                </a:solidFill>
                <a:latin typeface="Segoe UI"/>
              </a:rPr>
              <a:t> (frozen)  vs  </a:t>
            </a:r>
            <a:r>
              <a:rPr sz="1300" b="1" i="0">
                <a:solidFill>
                  <a:srgbClr val="E09A1A"/>
                </a:solidFill>
                <a:latin typeface="Segoe UI"/>
              </a:rPr>
              <a:t>C</a:t>
            </a:r>
            <a:r>
              <a:rPr sz="1300" b="0" i="0">
                <a:solidFill>
                  <a:srgbClr val="14213D"/>
                </a:solidFill>
                <a:latin typeface="Segoe UI"/>
              </a:rPr>
              <a:t> (fine-tune)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01135" y="5172162"/>
            <a:ext cx="2211247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6196431" y="4276051"/>
            <a:ext cx="2577007" cy="1220725"/>
          </a:xfrm>
          <a:prstGeom prst="roundRect">
            <a:avLst>
              <a:gd name="adj" fmla="val 5042"/>
            </a:avLst>
          </a:prstGeom>
          <a:solidFill>
            <a:srgbClr val="FFFFFF"/>
          </a:solidFill>
          <a:ln w="1079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379311" y="4422355"/>
            <a:ext cx="2211247" cy="219456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950" b="1" i="0" spc="80">
                <a:solidFill>
                  <a:srgbClr val="C0392B"/>
                </a:solidFill>
                <a:latin typeface="Segoe UI Semibold"/>
              </a:rPr>
              <a:t>03 · MODEL CAPACITY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79311" y="4678387"/>
            <a:ext cx="2211247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C0392B"/>
                </a:solidFill>
                <a:latin typeface="Segoe UI"/>
              </a:rPr>
              <a:t>D</a:t>
            </a:r>
            <a:r>
              <a:rPr sz="1300" b="0" i="0">
                <a:solidFill>
                  <a:srgbClr val="14213D"/>
                </a:solidFill>
                <a:latin typeface="Segoe UI"/>
              </a:rPr>
              <a:t> (0.4M CNN)  vs  </a:t>
            </a:r>
            <a:r>
              <a:rPr sz="1300" b="1" i="0">
                <a:solidFill>
                  <a:srgbClr val="C0392B"/>
                </a:solidFill>
                <a:latin typeface="Segoe UI"/>
              </a:rPr>
              <a:t>A</a:t>
            </a:r>
            <a:r>
              <a:rPr sz="1300" b="0" i="0">
                <a:solidFill>
                  <a:srgbClr val="14213D"/>
                </a:solidFill>
                <a:latin typeface="Segoe UI"/>
              </a:rPr>
              <a:t> (11.2M)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79311" y="5172162"/>
            <a:ext cx="2211247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8974607" y="4276051"/>
            <a:ext cx="2577007" cy="1220725"/>
          </a:xfrm>
          <a:prstGeom prst="roundRect">
            <a:avLst>
              <a:gd name="adj" fmla="val 5042"/>
            </a:avLst>
          </a:prstGeom>
          <a:solidFill>
            <a:srgbClr val="FFFFFF"/>
          </a:solidFill>
          <a:ln w="1079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9157487" y="4422355"/>
            <a:ext cx="2211247" cy="219456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950" b="1" i="0" spc="80">
                <a:solidFill>
                  <a:srgbClr val="2F8F4E"/>
                </a:solidFill>
                <a:latin typeface="Segoe UI Semibold"/>
              </a:rPr>
              <a:t>04 · ATTENTION VS CONV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57487" y="4678387"/>
            <a:ext cx="2211247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2F8F4E"/>
                </a:solidFill>
                <a:latin typeface="Segoe UI"/>
              </a:rPr>
              <a:t>E</a:t>
            </a:r>
            <a:r>
              <a:rPr sz="1300" b="0" i="0">
                <a:solidFill>
                  <a:srgbClr val="14213D"/>
                </a:solidFill>
                <a:latin typeface="Segoe UI"/>
              </a:rPr>
              <a:t> (ViT-B/16)  vs  </a:t>
            </a:r>
            <a:r>
              <a:rPr sz="1300" b="1" i="0">
                <a:solidFill>
                  <a:srgbClr val="2F8F4E"/>
                </a:solidFill>
                <a:latin typeface="Segoe UI"/>
              </a:rPr>
              <a:t>C</a:t>
            </a:r>
            <a:r>
              <a:rPr sz="1300" b="0" i="0">
                <a:solidFill>
                  <a:srgbClr val="14213D"/>
                </a:solidFill>
                <a:latin typeface="Segoe UI"/>
              </a:rPr>
              <a:t> (ResNet18)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157487" y="5172162"/>
            <a:ext cx="2211247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1819656" cy="292608"/>
          </a:xfrm>
          <a:prstGeom prst="roundRect">
            <a:avLst>
              <a:gd name="adj" fmla="val 50000"/>
            </a:avLst>
          </a:prstGeom>
          <a:solidFill>
            <a:srgbClr val="E2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819656" cy="292608"/>
          </a:xfrm>
          <a:prstGeom prst="rect">
            <a:avLst/>
          </a:prstGeom>
          <a:noFill/>
        </p:spPr>
        <p:txBody>
          <a:bodyPr wrap="square" lIns="18288" rIns="18288" anchor="ctr">
            <a:spAutoFit/>
          </a:bodyPr>
          <a:lstStyle/>
          <a:p>
            <a:pPr algn="ctr"/>
            <a:r>
              <a:rPr sz="1050" b="1" i="0" spc="120">
                <a:solidFill>
                  <a:srgbClr val="0F7C74"/>
                </a:solidFill>
                <a:latin typeface="Segoe UI"/>
              </a:rPr>
              <a:t>04  ·  RESULTS</a:t>
            </a:r>
          </a:p>
        </p:txBody>
      </p:sp>
      <p:pic>
        <p:nvPicPr>
          <p:cNvPr id="5" name="Picture 4" descr="kit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9823" y="320040"/>
            <a:ext cx="621792" cy="62179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21792" y="731520"/>
            <a:ext cx="9997135" cy="685800"/>
          </a:xfrm>
          <a:prstGeom prst="rect">
            <a:avLst/>
          </a:prstGeom>
          <a:noFill/>
        </p:spPr>
        <p:txBody>
          <a:bodyPr wrap="square" lIns="18288" rIns="18288" anchor="ctr">
            <a:spAutoFit/>
          </a:bodyPr>
          <a:lstStyle/>
          <a:p>
            <a:pPr algn="l"/>
            <a:r>
              <a:rPr sz="3000" b="0" i="0">
                <a:solidFill>
                  <a:srgbClr val="14213D"/>
                </a:solidFill>
                <a:latin typeface="Segoe UI Semibold"/>
              </a:rPr>
              <a:t>Scored on the same 567 test crops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601968"/>
            <a:ext cx="1368073" cy="27432"/>
          </a:xfrm>
          <a:prstGeom prst="rect">
            <a:avLst/>
          </a:prstGeom>
          <a:solidFill>
            <a:srgbClr val="0F7C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6336792"/>
            <a:ext cx="1368073" cy="237744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  <a:latin typeface="Segoe UI"/>
              </a:rPr>
              <a:t>Problem</a:t>
            </a:r>
          </a:p>
        </p:txBody>
      </p:sp>
      <p:sp>
        <p:nvSpPr>
          <p:cNvPr id="9" name="Rectangle 8"/>
          <p:cNvSpPr/>
          <p:nvPr/>
        </p:nvSpPr>
        <p:spPr>
          <a:xfrm>
            <a:off x="2081305" y="6601968"/>
            <a:ext cx="1368073" cy="27432"/>
          </a:xfrm>
          <a:prstGeom prst="rect">
            <a:avLst/>
          </a:prstGeom>
          <a:solidFill>
            <a:srgbClr val="0F7C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081305" y="6336792"/>
            <a:ext cx="1368073" cy="237744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  <a:latin typeface="Segoe UI"/>
              </a:rPr>
              <a:t>Data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22530" y="6601968"/>
            <a:ext cx="1368073" cy="27432"/>
          </a:xfrm>
          <a:prstGeom prst="rect">
            <a:avLst/>
          </a:prstGeom>
          <a:solidFill>
            <a:srgbClr val="0F7C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522530" y="6336792"/>
            <a:ext cx="1368073" cy="237744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  <a:latin typeface="Segoe UI"/>
              </a:rPr>
              <a:t>Method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63755" y="6601968"/>
            <a:ext cx="1368073" cy="45720"/>
          </a:xfrm>
          <a:prstGeom prst="rect">
            <a:avLst/>
          </a:prstGeom>
          <a:solidFill>
            <a:srgbClr val="E09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63755" y="6336792"/>
            <a:ext cx="1368073" cy="237744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850" b="1" i="0">
                <a:solidFill>
                  <a:srgbClr val="14213D"/>
                </a:solidFill>
                <a:latin typeface="Segoe UI"/>
              </a:rPr>
              <a:t>Results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4980" y="6601968"/>
            <a:ext cx="1368073" cy="2743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4980" y="6336792"/>
            <a:ext cx="1368073" cy="237744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  <a:latin typeface="Segoe UI"/>
              </a:rPr>
              <a:t>Analysis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46205" y="6601968"/>
            <a:ext cx="1368073" cy="2743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846205" y="6336792"/>
            <a:ext cx="1368073" cy="237744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  <a:latin typeface="Segoe UI"/>
              </a:rPr>
              <a:t>Honesty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287430" y="6601968"/>
            <a:ext cx="1368073" cy="2743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287430" y="6336792"/>
            <a:ext cx="1368073" cy="237744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  <a:latin typeface="Segoe UI"/>
              </a:rPr>
              <a:t>Conclusion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20095" y="6373368"/>
            <a:ext cx="731520" cy="27432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r"/>
            <a:r>
              <a:rPr sz="1100" b="1" i="0">
                <a:solidFill>
                  <a:srgbClr val="0F7C74"/>
                </a:solidFill>
                <a:latin typeface="Segoe UI Semibold"/>
              </a:rPr>
              <a:t>8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640080" y="1600200"/>
          <a:ext cx="10911535" cy="209537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9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68193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endParaRPr/>
                    </a:p>
                  </a:txBody>
                  <a:tcPr marL="127000" marR="127000" marT="25400" marB="25400" anchor="ctr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8" b="1" i="0" spc="80">
                          <a:solidFill>
                            <a:srgbClr val="FFFFFF"/>
                          </a:solidFill>
                          <a:latin typeface="Segoe UI"/>
                        </a:rPr>
                        <a:t>APPROACH</a:t>
                      </a:r>
                    </a:p>
                  </a:txBody>
                  <a:tcPr marL="127000" marR="127000" marT="25400" marB="25400" anchor="ctr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8" b="1" i="0" spc="80">
                          <a:solidFill>
                            <a:srgbClr val="FFFFFF"/>
                          </a:solidFill>
                          <a:latin typeface="Segoe UI"/>
                        </a:rPr>
                        <a:t>VAL ACC</a:t>
                      </a:r>
                    </a:p>
                  </a:txBody>
                  <a:tcPr marL="127000" marR="127000" marT="25400" marB="25400" anchor="ctr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8" b="1" i="0" spc="80">
                          <a:solidFill>
                            <a:srgbClr val="FFFFFF"/>
                          </a:solidFill>
                          <a:latin typeface="Segoe UI"/>
                        </a:rPr>
                        <a:t>TEST ACC</a:t>
                      </a:r>
                    </a:p>
                  </a:txBody>
                  <a:tcPr marL="127000" marR="127000" marT="25400" marB="25400" anchor="ctr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8" b="1" i="0" spc="80">
                          <a:solidFill>
                            <a:srgbClr val="FFFFFF"/>
                          </a:solidFill>
                          <a:latin typeface="Segoe UI"/>
                        </a:rPr>
                        <a:t>CLEAN (N=491)</a:t>
                      </a:r>
                    </a:p>
                  </a:txBody>
                  <a:tcPr marL="127000" marR="127000" marT="25400" marB="25400" anchor="ctr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8" b="1" i="0" spc="80">
                          <a:solidFill>
                            <a:srgbClr val="FFFFFF"/>
                          </a:solidFill>
                          <a:latin typeface="Segoe UI"/>
                        </a:rPr>
                        <a:t>MACRO-F1</a:t>
                      </a:r>
                    </a:p>
                  </a:txBody>
                  <a:tcPr marL="127000" marR="127000" marT="25400" marB="25400" anchor="ctr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8" b="1" i="0" spc="80">
                          <a:solidFill>
                            <a:srgbClr val="FFFFFF"/>
                          </a:solidFill>
                          <a:latin typeface="Segoe UI"/>
                        </a:rPr>
                        <a:t>KEY OUTCOME</a:t>
                      </a:r>
                    </a:p>
                  </a:txBody>
                  <a:tcPr marL="127000" marR="127000" marT="25400" marB="25400" anchor="ctr">
                    <a:solidFill>
                      <a:srgbClr val="1421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14213D"/>
                          </a:solidFill>
                          <a:latin typeface="Segoe UI Semibold"/>
                        </a:rPr>
                        <a:t>A</a:t>
                      </a:r>
                    </a:p>
                  </a:txBody>
                  <a:tcPr marL="127000" marR="1270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4213D"/>
                          </a:solidFill>
                          <a:latin typeface="Segoe UI"/>
                        </a:rPr>
                        <a:t>ResNet18 scratch</a:t>
                      </a:r>
                    </a:p>
                  </a:txBody>
                  <a:tcPr marL="127000" marR="1270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 i="0">
                          <a:solidFill>
                            <a:srgbClr val="14213D"/>
                          </a:solidFill>
                          <a:latin typeface="Segoe UI"/>
                        </a:rPr>
                        <a:t>93.8 %</a:t>
                      </a:r>
                    </a:p>
                  </a:txBody>
                  <a:tcPr marL="127000" marR="1270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 i="0">
                          <a:solidFill>
                            <a:srgbClr val="0F7C74"/>
                          </a:solidFill>
                          <a:latin typeface="Segoe UI Semibold"/>
                        </a:rPr>
                        <a:t>93.3 %</a:t>
                      </a:r>
                    </a:p>
                  </a:txBody>
                  <a:tcPr marL="127000" marR="1270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 i="0">
                          <a:solidFill>
                            <a:srgbClr val="14213D"/>
                          </a:solidFill>
                          <a:latin typeface="Segoe UI"/>
                        </a:rPr>
                        <a:t>94.7 %</a:t>
                      </a:r>
                    </a:p>
                  </a:txBody>
                  <a:tcPr marL="127000" marR="1270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 i="0">
                          <a:solidFill>
                            <a:srgbClr val="14213D"/>
                          </a:solidFill>
                          <a:latin typeface="Segoe UI"/>
                        </a:rPr>
                        <a:t>92.9 %</a:t>
                      </a:r>
                    </a:p>
                  </a:txBody>
                  <a:tcPr marL="127000" marR="1270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4213D"/>
                          </a:solidFill>
                          <a:latin typeface="Segoe UI"/>
                        </a:rPr>
                        <a:t>Strong baseline (2 515 imgs)</a:t>
                      </a:r>
                    </a:p>
                  </a:txBody>
                  <a:tcPr marL="127000" marR="1270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14213D"/>
                          </a:solidFill>
                          <a:latin typeface="Segoe UI Semibold"/>
                        </a:rPr>
                        <a:t>B</a:t>
                      </a:r>
                    </a:p>
                  </a:txBody>
                  <a:tcPr marL="127000" marR="127000" marT="25400" marB="254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4213D"/>
                          </a:solidFill>
                          <a:latin typeface="Segoe UI"/>
                        </a:rPr>
                        <a:t>ResNet18 frozen</a:t>
                      </a:r>
                    </a:p>
                  </a:txBody>
                  <a:tcPr marL="127000" marR="127000" marT="25400" marB="254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 i="0">
                          <a:solidFill>
                            <a:srgbClr val="14213D"/>
                          </a:solidFill>
                          <a:latin typeface="Segoe UI"/>
                        </a:rPr>
                        <a:t>40.1 %</a:t>
                      </a:r>
                    </a:p>
                  </a:txBody>
                  <a:tcPr marL="127000" marR="127000" marT="25400" marB="254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 i="0">
                          <a:solidFill>
                            <a:srgbClr val="0F7C74"/>
                          </a:solidFill>
                          <a:latin typeface="Segoe UI Semibold"/>
                        </a:rPr>
                        <a:t>42.0 %</a:t>
                      </a:r>
                    </a:p>
                  </a:txBody>
                  <a:tcPr marL="127000" marR="127000" marT="25400" marB="254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 i="0">
                          <a:solidFill>
                            <a:srgbClr val="14213D"/>
                          </a:solidFill>
                          <a:latin typeface="Segoe UI"/>
                        </a:rPr>
                        <a:t>43.2 %</a:t>
                      </a:r>
                    </a:p>
                  </a:txBody>
                  <a:tcPr marL="127000" marR="127000" marT="25400" marB="254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 i="0">
                          <a:solidFill>
                            <a:srgbClr val="14213D"/>
                          </a:solidFill>
                          <a:latin typeface="Segoe UI"/>
                        </a:rPr>
                        <a:t>37.9 %</a:t>
                      </a:r>
                    </a:p>
                  </a:txBody>
                  <a:tcPr marL="127000" marR="127000" marT="25400" marB="254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C0392B"/>
                          </a:solidFill>
                          <a:latin typeface="Segoe UI Semibold"/>
                        </a:rPr>
                        <a:t>Domain shift collapse</a:t>
                      </a:r>
                    </a:p>
                  </a:txBody>
                  <a:tcPr marL="127000" marR="127000" marT="25400" marB="25400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14213D"/>
                          </a:solidFill>
                          <a:latin typeface="Segoe UI Semibold"/>
                        </a:rPr>
                        <a:t>C</a:t>
                      </a:r>
                    </a:p>
                  </a:txBody>
                  <a:tcPr marL="127000" marR="1270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4213D"/>
                          </a:solidFill>
                          <a:latin typeface="Segoe UI"/>
                        </a:rPr>
                        <a:t>ResNet18 fine-tune</a:t>
                      </a:r>
                    </a:p>
                  </a:txBody>
                  <a:tcPr marL="127000" marR="1270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 i="0">
                          <a:solidFill>
                            <a:srgbClr val="14213D"/>
                          </a:solidFill>
                          <a:latin typeface="Segoe UI"/>
                        </a:rPr>
                        <a:t>92.6 %</a:t>
                      </a:r>
                    </a:p>
                  </a:txBody>
                  <a:tcPr marL="127000" marR="1270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 i="0">
                          <a:solidFill>
                            <a:srgbClr val="0F7C74"/>
                          </a:solidFill>
                          <a:latin typeface="Segoe UI Semibold"/>
                        </a:rPr>
                        <a:t>94.0 %</a:t>
                      </a:r>
                    </a:p>
                  </a:txBody>
                  <a:tcPr marL="127000" marR="1270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 i="0">
                          <a:solidFill>
                            <a:srgbClr val="14213D"/>
                          </a:solidFill>
                          <a:latin typeface="Segoe UI"/>
                        </a:rPr>
                        <a:t>95.3 %</a:t>
                      </a:r>
                    </a:p>
                  </a:txBody>
                  <a:tcPr marL="127000" marR="1270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 i="0">
                          <a:solidFill>
                            <a:srgbClr val="14213D"/>
                          </a:solidFill>
                          <a:latin typeface="Segoe UI"/>
                        </a:rPr>
                        <a:t>92.4 %</a:t>
                      </a:r>
                    </a:p>
                  </a:txBody>
                  <a:tcPr marL="127000" marR="1270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4213D"/>
                          </a:solidFill>
                          <a:latin typeface="Segoe UI"/>
                        </a:rPr>
                        <a:t>Fast 5-epoch convergence</a:t>
                      </a:r>
                    </a:p>
                  </a:txBody>
                  <a:tcPr marL="127000" marR="1270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14213D"/>
                          </a:solidFill>
                          <a:latin typeface="Segoe UI Semibold"/>
                        </a:rPr>
                        <a:t>D</a:t>
                      </a:r>
                    </a:p>
                  </a:txBody>
                  <a:tcPr marL="127000" marR="127000" marT="25400" marB="254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4213D"/>
                          </a:solidFill>
                          <a:latin typeface="Segoe UI"/>
                        </a:rPr>
                        <a:t>Small 4-block CNN</a:t>
                      </a:r>
                    </a:p>
                  </a:txBody>
                  <a:tcPr marL="127000" marR="127000" marT="25400" marB="254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 i="0">
                          <a:solidFill>
                            <a:srgbClr val="14213D"/>
                          </a:solidFill>
                          <a:latin typeface="Segoe UI"/>
                        </a:rPr>
                        <a:t>48.4 %</a:t>
                      </a:r>
                    </a:p>
                  </a:txBody>
                  <a:tcPr marL="127000" marR="127000" marT="25400" marB="254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 i="0">
                          <a:solidFill>
                            <a:srgbClr val="0F7C74"/>
                          </a:solidFill>
                          <a:latin typeface="Segoe UI Semibold"/>
                        </a:rPr>
                        <a:t>46.6 %</a:t>
                      </a:r>
                    </a:p>
                  </a:txBody>
                  <a:tcPr marL="127000" marR="127000" marT="25400" marB="254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 i="0">
                          <a:solidFill>
                            <a:srgbClr val="14213D"/>
                          </a:solidFill>
                          <a:latin typeface="Segoe UI"/>
                        </a:rPr>
                        <a:t>47.7 %</a:t>
                      </a:r>
                    </a:p>
                  </a:txBody>
                  <a:tcPr marL="127000" marR="127000" marT="25400" marB="254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 i="0">
                          <a:solidFill>
                            <a:srgbClr val="14213D"/>
                          </a:solidFill>
                          <a:latin typeface="Segoe UI"/>
                        </a:rPr>
                        <a:t>40.7 %</a:t>
                      </a:r>
                    </a:p>
                  </a:txBody>
                  <a:tcPr marL="127000" marR="127000" marT="25400" marB="254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C0392B"/>
                          </a:solidFill>
                          <a:latin typeface="Segoe UI Semibold"/>
                        </a:rPr>
                        <a:t>Under-capacity (0.4M)</a:t>
                      </a:r>
                    </a:p>
                  </a:txBody>
                  <a:tcPr marL="127000" marR="127000" marT="25400" marB="25400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14213D"/>
                          </a:solidFill>
                          <a:latin typeface="Segoe UI Semibold"/>
                        </a:rPr>
                        <a:t>E</a:t>
                      </a:r>
                    </a:p>
                  </a:txBody>
                  <a:tcPr marL="127000" marR="1270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4213D"/>
                          </a:solidFill>
                          <a:latin typeface="Segoe UI"/>
                        </a:rPr>
                        <a:t>ViT-B/16 (Transformer)</a:t>
                      </a:r>
                    </a:p>
                  </a:txBody>
                  <a:tcPr marL="127000" marR="1270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 i="0">
                          <a:solidFill>
                            <a:srgbClr val="14213D"/>
                          </a:solidFill>
                          <a:latin typeface="Segoe UI"/>
                        </a:rPr>
                        <a:t>96.2 %</a:t>
                      </a:r>
                    </a:p>
                  </a:txBody>
                  <a:tcPr marL="127000" marR="1270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 i="0">
                          <a:solidFill>
                            <a:srgbClr val="0F7C74"/>
                          </a:solidFill>
                          <a:latin typeface="Segoe UI Semibold"/>
                        </a:rPr>
                        <a:t>96.1 %</a:t>
                      </a:r>
                    </a:p>
                  </a:txBody>
                  <a:tcPr marL="127000" marR="1270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 i="0">
                          <a:solidFill>
                            <a:srgbClr val="14213D"/>
                          </a:solidFill>
                          <a:latin typeface="Segoe UI"/>
                        </a:rPr>
                        <a:t>96.5 %</a:t>
                      </a:r>
                    </a:p>
                  </a:txBody>
                  <a:tcPr marL="127000" marR="1270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 i="0">
                          <a:solidFill>
                            <a:srgbClr val="14213D"/>
                          </a:solidFill>
                          <a:latin typeface="Segoe UI"/>
                        </a:rPr>
                        <a:t>95.8 %</a:t>
                      </a:r>
                    </a:p>
                  </a:txBody>
                  <a:tcPr marL="127000" marR="1270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i="0" dirty="0">
                          <a:solidFill>
                            <a:srgbClr val="14213D"/>
                          </a:solidFill>
                          <a:latin typeface="Segoe UI Semibold"/>
                        </a:rPr>
                        <a:t>Top accuracy + macro-F1</a:t>
                      </a:r>
                    </a:p>
                  </a:txBody>
                  <a:tcPr marL="127000" marR="1270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3" name="Rounded Rectangle 22"/>
          <p:cNvSpPr/>
          <p:nvPr/>
        </p:nvSpPr>
        <p:spPr>
          <a:xfrm>
            <a:off x="640080" y="3931920"/>
            <a:ext cx="2577007" cy="2176272"/>
          </a:xfrm>
          <a:prstGeom prst="roundRect">
            <a:avLst>
              <a:gd name="adj" fmla="val 5042"/>
            </a:avLst>
          </a:prstGeom>
          <a:solidFill>
            <a:srgbClr val="FFFFFF"/>
          </a:solidFill>
          <a:ln w="1079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22959" y="4078224"/>
            <a:ext cx="2211247" cy="219456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950" b="1" i="0" spc="80">
                <a:solidFill>
                  <a:srgbClr val="0F7C74"/>
                </a:solidFill>
                <a:latin typeface="Segoe UI Semibold"/>
              </a:rPr>
              <a:t>FINDING 1 · PRE-TRAINING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59" y="4334256"/>
            <a:ext cx="2211247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0F7C74"/>
                </a:solidFill>
                <a:latin typeface="Segoe UI"/>
              </a:rPr>
              <a:t>A ≈ C</a:t>
            </a:r>
            <a:r>
              <a:rPr sz="1300" b="0" i="0">
                <a:solidFill>
                  <a:srgbClr val="14213D"/>
                </a:solidFill>
                <a:latin typeface="Segoe UI"/>
              </a:rPr>
              <a:t>  ·  </a:t>
            </a:r>
            <a:r>
              <a:rPr sz="1300" b="1" i="0">
                <a:solidFill>
                  <a:srgbClr val="0F7C74"/>
                </a:solidFill>
                <a:latin typeface="Segoe UI"/>
              </a:rPr>
              <a:t>p = 0.63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2959" y="4828031"/>
            <a:ext cx="2211247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22959" y="4919472"/>
            <a:ext cx="221124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6B7280"/>
                </a:solidFill>
                <a:latin typeface="Segoe UI"/>
              </a:rPr>
              <a:t>Pre-trained weights didn't make the model smarter they just made it learn faster.</a:t>
            </a:r>
            <a:endParaRPr sz="1200" dirty="0">
              <a:solidFill>
                <a:srgbClr val="6B7280"/>
              </a:solidFill>
              <a:latin typeface="Segoe UI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3418255" y="3931920"/>
            <a:ext cx="2577007" cy="2176272"/>
          </a:xfrm>
          <a:prstGeom prst="roundRect">
            <a:avLst>
              <a:gd name="adj" fmla="val 5042"/>
            </a:avLst>
          </a:prstGeom>
          <a:solidFill>
            <a:srgbClr val="FFFFFF"/>
          </a:solidFill>
          <a:ln w="1079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601135" y="4078224"/>
            <a:ext cx="2211247" cy="219456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950" b="1" i="0" spc="80">
                <a:solidFill>
                  <a:srgbClr val="C0392B"/>
                </a:solidFill>
                <a:latin typeface="Segoe UI Semibold"/>
              </a:rPr>
              <a:t>FINDING 2 · FEATURE TRANSFER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01135" y="4334256"/>
            <a:ext cx="2211247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C0392B"/>
                </a:solidFill>
                <a:latin typeface="Segoe UI"/>
              </a:rPr>
              <a:t>B Collapses to 42.0 %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01135" y="4828031"/>
            <a:ext cx="2211247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601135" y="4919472"/>
            <a:ext cx="2211247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6B7280"/>
                </a:solidFill>
                <a:latin typeface="Segoe UI"/>
              </a:rPr>
              <a:t>ImageNet knows dogs and cars, not Khmer letters. We must retrain the whole network so it can learn Khmer strokes.</a:t>
            </a:r>
            <a:endParaRPr sz="1200" dirty="0">
              <a:solidFill>
                <a:srgbClr val="6B7280"/>
              </a:solidFill>
              <a:latin typeface="Segoe UI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6196431" y="3931920"/>
            <a:ext cx="2577007" cy="2176272"/>
          </a:xfrm>
          <a:prstGeom prst="roundRect">
            <a:avLst>
              <a:gd name="adj" fmla="val 5042"/>
            </a:avLst>
          </a:prstGeom>
          <a:solidFill>
            <a:srgbClr val="FFFFFF"/>
          </a:solidFill>
          <a:ln w="1079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379311" y="4078224"/>
            <a:ext cx="2211247" cy="219456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950" b="1" i="0" spc="80">
                <a:solidFill>
                  <a:srgbClr val="C0392B"/>
                </a:solidFill>
                <a:latin typeface="Segoe UI Semibold"/>
              </a:rPr>
              <a:t>FINDING 3 · MODEL CAPACITY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79311" y="4334256"/>
            <a:ext cx="2211247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C0392B"/>
                </a:solidFill>
                <a:latin typeface="Segoe UI"/>
              </a:rPr>
              <a:t>D Fails at 46.6 %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79311" y="4828031"/>
            <a:ext cx="2211247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379311" y="4919472"/>
            <a:ext cx="2211247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6B7280"/>
                </a:solidFill>
                <a:latin typeface="Segoe UI"/>
              </a:rPr>
              <a:t>A small 400k model is too simple. Khmer words are complex, so we need a deeper model with more capacity.</a:t>
            </a:r>
            <a:endParaRPr sz="1200" dirty="0">
              <a:solidFill>
                <a:srgbClr val="6B7280"/>
              </a:solidFill>
              <a:latin typeface="Segoe UI"/>
            </a:endParaRPr>
          </a:p>
        </p:txBody>
      </p:sp>
      <p:sp>
        <p:nvSpPr>
          <p:cNvPr id="41" name="Rounded Rectangle 40"/>
          <p:cNvSpPr/>
          <p:nvPr/>
        </p:nvSpPr>
        <p:spPr>
          <a:xfrm>
            <a:off x="8974607" y="3931920"/>
            <a:ext cx="2577007" cy="2176272"/>
          </a:xfrm>
          <a:prstGeom prst="roundRect">
            <a:avLst>
              <a:gd name="adj" fmla="val 5042"/>
            </a:avLst>
          </a:prstGeom>
          <a:solidFill>
            <a:srgbClr val="FFFFFF"/>
          </a:solidFill>
          <a:ln w="1079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9157487" y="4078224"/>
            <a:ext cx="2211247" cy="219456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950" b="1" i="0" spc="80">
                <a:solidFill>
                  <a:srgbClr val="2F8F4E"/>
                </a:solidFill>
                <a:latin typeface="Segoe UI Semibold"/>
              </a:rPr>
              <a:t>FINDING 4 · TRANSFORMERS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57487" y="4334256"/>
            <a:ext cx="2211247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2F8F4E"/>
                </a:solidFill>
                <a:latin typeface="Segoe UI"/>
              </a:rPr>
              <a:t>ViT Wins: 96.1 % / 95.8 %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157487" y="4828031"/>
            <a:ext cx="2211247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9157487" y="4919472"/>
            <a:ext cx="2211247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6B7280"/>
                </a:solidFill>
                <a:latin typeface="Segoe UI"/>
              </a:rPr>
              <a:t>The Vision Transformer is our best model because its attention mechanism looks at the entire Khmer word at once</a:t>
            </a:r>
            <a:r>
              <a:rPr lang="en-US" sz="1200" i="1" dirty="0">
                <a:solidFill>
                  <a:srgbClr val="6B7280"/>
                </a:solidFill>
                <a:latin typeface="Segoe UI"/>
              </a:rPr>
              <a:t>.</a:t>
            </a:r>
            <a:endParaRPr sz="1200" b="0" i="0" dirty="0">
              <a:solidFill>
                <a:srgbClr val="6B7280"/>
              </a:solidFill>
              <a:latin typeface="Segoe U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1819656" cy="292608"/>
          </a:xfrm>
          <a:prstGeom prst="roundRect">
            <a:avLst>
              <a:gd name="adj" fmla="val 50000"/>
            </a:avLst>
          </a:prstGeom>
          <a:solidFill>
            <a:srgbClr val="E2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819656" cy="292608"/>
          </a:xfrm>
          <a:prstGeom prst="rect">
            <a:avLst/>
          </a:prstGeom>
          <a:noFill/>
        </p:spPr>
        <p:txBody>
          <a:bodyPr wrap="square" lIns="18288" rIns="18288" anchor="ctr">
            <a:spAutoFit/>
          </a:bodyPr>
          <a:lstStyle/>
          <a:p>
            <a:pPr algn="ctr"/>
            <a:r>
              <a:rPr sz="1050" b="1" i="0" spc="120">
                <a:solidFill>
                  <a:srgbClr val="0F7C74"/>
                </a:solidFill>
                <a:latin typeface="Segoe UI"/>
              </a:rPr>
              <a:t>04  ·  RESULTS</a:t>
            </a:r>
          </a:p>
        </p:txBody>
      </p:sp>
      <p:pic>
        <p:nvPicPr>
          <p:cNvPr id="5" name="Picture 4" descr="kit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9823" y="320040"/>
            <a:ext cx="621792" cy="62179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21792" y="731520"/>
            <a:ext cx="9997135" cy="685800"/>
          </a:xfrm>
          <a:prstGeom prst="rect">
            <a:avLst/>
          </a:prstGeom>
          <a:noFill/>
        </p:spPr>
        <p:txBody>
          <a:bodyPr wrap="square" lIns="18288" rIns="18288" anchor="ctr">
            <a:spAutoFit/>
          </a:bodyPr>
          <a:lstStyle/>
          <a:p>
            <a:pPr algn="l"/>
            <a:r>
              <a:rPr sz="3000" b="0" i="0">
                <a:solidFill>
                  <a:srgbClr val="14213D"/>
                </a:solidFill>
                <a:latin typeface="Segoe UI Semibold"/>
              </a:rPr>
              <a:t>Learning curves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601968"/>
            <a:ext cx="1368073" cy="27432"/>
          </a:xfrm>
          <a:prstGeom prst="rect">
            <a:avLst/>
          </a:prstGeom>
          <a:solidFill>
            <a:srgbClr val="0F7C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6336792"/>
            <a:ext cx="1368073" cy="237744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  <a:latin typeface="Segoe UI"/>
              </a:rPr>
              <a:t>Problem</a:t>
            </a:r>
          </a:p>
        </p:txBody>
      </p:sp>
      <p:sp>
        <p:nvSpPr>
          <p:cNvPr id="9" name="Rectangle 8"/>
          <p:cNvSpPr/>
          <p:nvPr/>
        </p:nvSpPr>
        <p:spPr>
          <a:xfrm>
            <a:off x="2081305" y="6601968"/>
            <a:ext cx="1368073" cy="27432"/>
          </a:xfrm>
          <a:prstGeom prst="rect">
            <a:avLst/>
          </a:prstGeom>
          <a:solidFill>
            <a:srgbClr val="0F7C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081305" y="6336792"/>
            <a:ext cx="1368073" cy="237744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  <a:latin typeface="Segoe UI"/>
              </a:rPr>
              <a:t>Data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22530" y="6601968"/>
            <a:ext cx="1368073" cy="27432"/>
          </a:xfrm>
          <a:prstGeom prst="rect">
            <a:avLst/>
          </a:prstGeom>
          <a:solidFill>
            <a:srgbClr val="0F7C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522530" y="6336792"/>
            <a:ext cx="1368073" cy="237744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  <a:latin typeface="Segoe UI"/>
              </a:rPr>
              <a:t>Method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63755" y="6601968"/>
            <a:ext cx="1368073" cy="45720"/>
          </a:xfrm>
          <a:prstGeom prst="rect">
            <a:avLst/>
          </a:prstGeom>
          <a:solidFill>
            <a:srgbClr val="E09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63755" y="6336792"/>
            <a:ext cx="1368073" cy="237744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850" b="1" i="0">
                <a:solidFill>
                  <a:srgbClr val="14213D"/>
                </a:solidFill>
                <a:latin typeface="Segoe UI"/>
              </a:rPr>
              <a:t>Results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4980" y="6601968"/>
            <a:ext cx="1368073" cy="2743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4980" y="6336792"/>
            <a:ext cx="1368073" cy="237744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  <a:latin typeface="Segoe UI"/>
              </a:rPr>
              <a:t>Analysis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46205" y="6601968"/>
            <a:ext cx="1368073" cy="2743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846205" y="6336792"/>
            <a:ext cx="1368073" cy="237744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  <a:latin typeface="Segoe UI"/>
              </a:rPr>
              <a:t>Honesty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287430" y="6601968"/>
            <a:ext cx="1368073" cy="2743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287430" y="6336792"/>
            <a:ext cx="1368073" cy="237744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  <a:latin typeface="Segoe UI"/>
              </a:rPr>
              <a:t>Conclusion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20095" y="6373368"/>
            <a:ext cx="731520" cy="27432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r"/>
            <a:r>
              <a:rPr sz="1100" b="1" i="0">
                <a:solidFill>
                  <a:srgbClr val="0F7C74"/>
                </a:solidFill>
                <a:latin typeface="Segoe UI Semibold"/>
              </a:rPr>
              <a:t>9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1600200"/>
            <a:ext cx="10911535" cy="3337560"/>
          </a:xfrm>
          <a:prstGeom prst="roundRect">
            <a:avLst>
              <a:gd name="adj" fmla="val 3287"/>
            </a:avLst>
          </a:prstGeom>
          <a:solidFill>
            <a:srgbClr val="FFFFFF"/>
          </a:solidFill>
          <a:ln w="1079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23" name="Picture 22" descr="fig2_learning_curv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84679" y="1764792"/>
            <a:ext cx="8022335" cy="3008375"/>
          </a:xfrm>
          <a:prstGeom prst="rect">
            <a:avLst/>
          </a:prstGeom>
        </p:spPr>
      </p:pic>
      <p:sp>
        <p:nvSpPr>
          <p:cNvPr id="24" name="Rounded Rectangle 23"/>
          <p:cNvSpPr/>
          <p:nvPr/>
        </p:nvSpPr>
        <p:spPr>
          <a:xfrm>
            <a:off x="640080" y="5074920"/>
            <a:ext cx="3484778" cy="1051560"/>
          </a:xfrm>
          <a:prstGeom prst="roundRect">
            <a:avLst>
              <a:gd name="adj" fmla="val 10434"/>
            </a:avLst>
          </a:prstGeom>
          <a:solidFill>
            <a:srgbClr val="FFFFFF"/>
          </a:solidFill>
          <a:ln w="1079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40080" y="5276088"/>
            <a:ext cx="64008" cy="649224"/>
          </a:xfrm>
          <a:prstGeom prst="rect">
            <a:avLst/>
          </a:prstGeom>
          <a:solidFill>
            <a:srgbClr val="0F7C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96112" y="5148072"/>
            <a:ext cx="3119018" cy="90525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 i="0">
                <a:solidFill>
                  <a:srgbClr val="0F7C74"/>
                </a:solidFill>
                <a:latin typeface="Segoe UI Semibold"/>
              </a:rPr>
              <a:t>5 vs 20</a:t>
            </a:r>
          </a:p>
          <a:p>
            <a:r>
              <a:rPr sz="1000" b="0" i="0">
                <a:solidFill>
                  <a:srgbClr val="6B7280"/>
                </a:solidFill>
                <a:latin typeface="Segoe UI"/>
              </a:rPr>
              <a:t>epochs to 85 % — C vs A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53458" y="5074920"/>
            <a:ext cx="3484778" cy="1051560"/>
          </a:xfrm>
          <a:prstGeom prst="roundRect">
            <a:avLst>
              <a:gd name="adj" fmla="val 10434"/>
            </a:avLst>
          </a:prstGeom>
          <a:solidFill>
            <a:srgbClr val="FFFFFF"/>
          </a:solidFill>
          <a:ln w="1079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353458" y="5276088"/>
            <a:ext cx="64008" cy="649224"/>
          </a:xfrm>
          <a:prstGeom prst="rect">
            <a:avLst/>
          </a:prstGeom>
          <a:solidFill>
            <a:srgbClr val="E09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609490" y="5148072"/>
            <a:ext cx="3119018" cy="90525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 i="0">
                <a:solidFill>
                  <a:srgbClr val="E09A1A"/>
                </a:solidFill>
                <a:latin typeface="Segoe UI Semibold"/>
              </a:rPr>
              <a:t>97–99 %</a:t>
            </a:r>
          </a:p>
          <a:p>
            <a:r>
              <a:rPr sz="1000" b="0" i="0">
                <a:solidFill>
                  <a:srgbClr val="6B7280"/>
                </a:solidFill>
                <a:latin typeface="Segoe UI"/>
              </a:rPr>
              <a:t>train acc A, C — mild over-fit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66836" y="5074920"/>
            <a:ext cx="3484778" cy="1051560"/>
          </a:xfrm>
          <a:prstGeom prst="roundRect">
            <a:avLst>
              <a:gd name="adj" fmla="val 10434"/>
            </a:avLst>
          </a:prstGeom>
          <a:solidFill>
            <a:srgbClr val="FFFFFF"/>
          </a:solidFill>
          <a:ln w="1079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8066836" y="5276088"/>
            <a:ext cx="64008" cy="649224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322868" y="5148072"/>
            <a:ext cx="3119018" cy="90525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 i="0">
                <a:solidFill>
                  <a:srgbClr val="C0392B"/>
                </a:solidFill>
                <a:latin typeface="Segoe UI Semibold"/>
              </a:rPr>
              <a:t>&lt; 60 %</a:t>
            </a:r>
          </a:p>
          <a:p>
            <a:r>
              <a:rPr sz="1000" b="0" i="0">
                <a:solidFill>
                  <a:srgbClr val="6B7280"/>
                </a:solidFill>
                <a:latin typeface="Segoe UI"/>
              </a:rPr>
              <a:t>train acc B, D — under-fit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1819656" cy="292608"/>
          </a:xfrm>
          <a:prstGeom prst="roundRect">
            <a:avLst>
              <a:gd name="adj" fmla="val 50000"/>
            </a:avLst>
          </a:prstGeom>
          <a:solidFill>
            <a:srgbClr val="E2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819656" cy="292608"/>
          </a:xfrm>
          <a:prstGeom prst="rect">
            <a:avLst/>
          </a:prstGeom>
          <a:noFill/>
        </p:spPr>
        <p:txBody>
          <a:bodyPr wrap="square" lIns="18288" rIns="18288" anchor="ctr">
            <a:spAutoFit/>
          </a:bodyPr>
          <a:lstStyle/>
          <a:p>
            <a:pPr algn="ctr"/>
            <a:r>
              <a:rPr sz="1050" b="1" i="0" spc="120">
                <a:solidFill>
                  <a:srgbClr val="0F7C74"/>
                </a:solidFill>
                <a:latin typeface="Segoe UI"/>
              </a:rPr>
              <a:t>04  ·  RESULTS</a:t>
            </a:r>
          </a:p>
        </p:txBody>
      </p:sp>
      <p:pic>
        <p:nvPicPr>
          <p:cNvPr id="5" name="Picture 4" descr="kit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9823" y="320040"/>
            <a:ext cx="621792" cy="62179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21792" y="731520"/>
            <a:ext cx="9997135" cy="685800"/>
          </a:xfrm>
          <a:prstGeom prst="rect">
            <a:avLst/>
          </a:prstGeom>
          <a:noFill/>
        </p:spPr>
        <p:txBody>
          <a:bodyPr wrap="square" lIns="18288" rIns="18288" anchor="ctr">
            <a:spAutoFit/>
          </a:bodyPr>
          <a:lstStyle/>
          <a:p>
            <a:pPr algn="l"/>
            <a:r>
              <a:rPr sz="3000" b="0" i="0">
                <a:solidFill>
                  <a:srgbClr val="14213D"/>
                </a:solidFill>
                <a:latin typeface="Segoe UI Semibold"/>
              </a:rPr>
              <a:t>Tuning C — selected on validation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601968"/>
            <a:ext cx="1368073" cy="27432"/>
          </a:xfrm>
          <a:prstGeom prst="rect">
            <a:avLst/>
          </a:prstGeom>
          <a:solidFill>
            <a:srgbClr val="0F7C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6336792"/>
            <a:ext cx="1368073" cy="237744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  <a:latin typeface="Segoe UI"/>
              </a:rPr>
              <a:t>Problem</a:t>
            </a:r>
          </a:p>
        </p:txBody>
      </p:sp>
      <p:sp>
        <p:nvSpPr>
          <p:cNvPr id="9" name="Rectangle 8"/>
          <p:cNvSpPr/>
          <p:nvPr/>
        </p:nvSpPr>
        <p:spPr>
          <a:xfrm>
            <a:off x="2081305" y="6601968"/>
            <a:ext cx="1368073" cy="27432"/>
          </a:xfrm>
          <a:prstGeom prst="rect">
            <a:avLst/>
          </a:prstGeom>
          <a:solidFill>
            <a:srgbClr val="0F7C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081305" y="6336792"/>
            <a:ext cx="1368073" cy="237744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  <a:latin typeface="Segoe UI"/>
              </a:rPr>
              <a:t>Data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22530" y="6601968"/>
            <a:ext cx="1368073" cy="27432"/>
          </a:xfrm>
          <a:prstGeom prst="rect">
            <a:avLst/>
          </a:prstGeom>
          <a:solidFill>
            <a:srgbClr val="0F7C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522530" y="6336792"/>
            <a:ext cx="1368073" cy="237744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  <a:latin typeface="Segoe UI"/>
              </a:rPr>
              <a:t>Method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63755" y="6601968"/>
            <a:ext cx="1368073" cy="45720"/>
          </a:xfrm>
          <a:prstGeom prst="rect">
            <a:avLst/>
          </a:prstGeom>
          <a:solidFill>
            <a:srgbClr val="E09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63755" y="6336792"/>
            <a:ext cx="1368073" cy="237744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850" b="1" i="0">
                <a:solidFill>
                  <a:srgbClr val="14213D"/>
                </a:solidFill>
                <a:latin typeface="Segoe UI"/>
              </a:rPr>
              <a:t>Results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4980" y="6601968"/>
            <a:ext cx="1368073" cy="2743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4980" y="6336792"/>
            <a:ext cx="1368073" cy="237744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  <a:latin typeface="Segoe UI"/>
              </a:rPr>
              <a:t>Analysis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46205" y="6601968"/>
            <a:ext cx="1368073" cy="2743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846205" y="6336792"/>
            <a:ext cx="1368073" cy="237744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  <a:latin typeface="Segoe UI"/>
              </a:rPr>
              <a:t>Honesty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287430" y="6601968"/>
            <a:ext cx="1368073" cy="2743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287430" y="6336792"/>
            <a:ext cx="1368073" cy="237744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  <a:latin typeface="Segoe UI"/>
              </a:rPr>
              <a:t>Conclusion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20095" y="6373368"/>
            <a:ext cx="731520" cy="27432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r"/>
            <a:r>
              <a:rPr sz="1100" b="1" i="0">
                <a:solidFill>
                  <a:srgbClr val="0F7C74"/>
                </a:solidFill>
                <a:latin typeface="Segoe UI Semibold"/>
              </a:rPr>
              <a:t>10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640080" y="1645920"/>
          <a:ext cx="5486400" cy="16824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r>
                        <a:rPr sz="1080" b="1" i="0" spc="80">
                          <a:solidFill>
                            <a:srgbClr val="FFFFFF"/>
                          </a:solidFill>
                          <a:latin typeface="Segoe UI"/>
                        </a:rPr>
                        <a:t>LEARNING RATE</a:t>
                      </a:r>
                    </a:p>
                  </a:txBody>
                  <a:tcPr marL="127000" marR="127000" marT="25400" marB="25400" anchor="ctr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80" b="1" i="0" spc="80">
                          <a:solidFill>
                            <a:srgbClr val="FFFFFF"/>
                          </a:solidFill>
                          <a:latin typeface="Segoe UI"/>
                        </a:rPr>
                        <a:t>WD = 0</a:t>
                      </a:r>
                    </a:p>
                  </a:txBody>
                  <a:tcPr marL="127000" marR="127000" marT="25400" marB="25400" anchor="ctr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80" b="1" i="0" spc="80">
                          <a:solidFill>
                            <a:srgbClr val="FFFFFF"/>
                          </a:solidFill>
                          <a:latin typeface="Segoe UI"/>
                        </a:rPr>
                        <a:t>WD = 1E-4</a:t>
                      </a:r>
                    </a:p>
                  </a:txBody>
                  <a:tcPr marL="127000" marR="127000" marT="25400" marB="25400" anchor="ctr">
                    <a:solidFill>
                      <a:srgbClr val="1421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4213D"/>
                          </a:solidFill>
                          <a:latin typeface="Segoe UI"/>
                        </a:rPr>
                        <a:t>1e-4</a:t>
                      </a:r>
                    </a:p>
                  </a:txBody>
                  <a:tcPr marL="127000" marR="1270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4213D"/>
                          </a:solidFill>
                          <a:latin typeface="Segoe UI"/>
                        </a:rPr>
                        <a:t>92.6 %</a:t>
                      </a:r>
                    </a:p>
                  </a:txBody>
                  <a:tcPr marL="127000" marR="1270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4213D"/>
                          </a:solidFill>
                          <a:latin typeface="Segoe UI"/>
                        </a:rPr>
                        <a:t>93.2 %</a:t>
                      </a:r>
                    </a:p>
                  </a:txBody>
                  <a:tcPr marL="127000" marR="1270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4213D"/>
                          </a:solidFill>
                          <a:latin typeface="Segoe UI"/>
                        </a:rPr>
                        <a:t>3e-4</a:t>
                      </a:r>
                    </a:p>
                  </a:txBody>
                  <a:tcPr marL="127000" marR="127000" marT="25400" marB="254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4213D"/>
                          </a:solidFill>
                          <a:latin typeface="Segoe UI"/>
                        </a:rPr>
                        <a:t>95.3 %</a:t>
                      </a:r>
                    </a:p>
                  </a:txBody>
                  <a:tcPr marL="127000" marR="127000" marT="25400" marB="254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4213D"/>
                          </a:solidFill>
                          <a:latin typeface="Segoe UI"/>
                        </a:rPr>
                        <a:t>94.9 %</a:t>
                      </a:r>
                    </a:p>
                  </a:txBody>
                  <a:tcPr marL="127000" marR="127000" marT="25400" marB="25400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4213D"/>
                          </a:solidFill>
                          <a:latin typeface="Segoe UI Semibold"/>
                        </a:rPr>
                        <a:t>1e-3</a:t>
                      </a:r>
                    </a:p>
                  </a:txBody>
                  <a:tcPr marL="127000" marR="1270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4213D"/>
                          </a:solidFill>
                          <a:latin typeface="Segoe UI Semibold"/>
                        </a:rPr>
                        <a:t>96.6 %  ← selected</a:t>
                      </a:r>
                    </a:p>
                  </a:txBody>
                  <a:tcPr marL="127000" marR="1270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4213D"/>
                          </a:solidFill>
                          <a:latin typeface="Segoe UI"/>
                        </a:rPr>
                        <a:t>96.0 %</a:t>
                      </a:r>
                    </a:p>
                  </a:txBody>
                  <a:tcPr marL="127000" marR="1270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3" name="Rounded Rectangle 22"/>
          <p:cNvSpPr/>
          <p:nvPr/>
        </p:nvSpPr>
        <p:spPr>
          <a:xfrm>
            <a:off x="640080" y="3474720"/>
            <a:ext cx="5486400" cy="490728"/>
          </a:xfrm>
          <a:prstGeom prst="roundRect">
            <a:avLst>
              <a:gd name="adj" fmla="val 22360"/>
            </a:avLst>
          </a:prstGeom>
          <a:solidFill>
            <a:srgbClr val="FFFFFF"/>
          </a:solidFill>
          <a:ln w="1079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Oval 23"/>
          <p:cNvSpPr/>
          <p:nvPr/>
        </p:nvSpPr>
        <p:spPr>
          <a:xfrm>
            <a:off x="841247" y="3566160"/>
            <a:ext cx="307848" cy="307848"/>
          </a:xfrm>
          <a:prstGeom prst="ellipse">
            <a:avLst/>
          </a:prstGeom>
          <a:solidFill>
            <a:srgbClr val="E2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41247" y="3566160"/>
            <a:ext cx="307848" cy="307848"/>
          </a:xfrm>
          <a:prstGeom prst="rect">
            <a:avLst/>
          </a:prstGeom>
          <a:noFill/>
        </p:spPr>
        <p:txBody>
          <a:bodyPr wrap="square" lIns="18288" rIns="18288" anchor="ctr">
            <a:spAutoFit/>
          </a:bodyPr>
          <a:lstStyle/>
          <a:p>
            <a:pPr algn="ctr"/>
            <a:r>
              <a:rPr sz="1200" b="1" i="0">
                <a:solidFill>
                  <a:srgbClr val="0F7C74"/>
                </a:solidFill>
                <a:latin typeface="Segoe UI Semibold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50264" y="3474720"/>
            <a:ext cx="4593336" cy="4907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0" i="0">
                <a:solidFill>
                  <a:srgbClr val="14213D"/>
                </a:solidFill>
                <a:latin typeface="Segoe UI"/>
              </a:rPr>
              <a:t>Textbook "low LR for fine-tuning" was the </a:t>
            </a:r>
            <a:r>
              <a:rPr sz="1400" b="1" i="0">
                <a:solidFill>
                  <a:srgbClr val="0F7C74"/>
                </a:solidFill>
                <a:latin typeface="Segoe UI"/>
              </a:rPr>
              <a:t>worst</a:t>
            </a:r>
            <a:r>
              <a:rPr sz="1400" b="0" i="0">
                <a:solidFill>
                  <a:srgbClr val="14213D"/>
                </a:solidFill>
                <a:latin typeface="Segoe UI"/>
              </a:rPr>
              <a:t> cell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4075176"/>
            <a:ext cx="5486400" cy="490728"/>
          </a:xfrm>
          <a:prstGeom prst="roundRect">
            <a:avLst>
              <a:gd name="adj" fmla="val 22360"/>
            </a:avLst>
          </a:prstGeom>
          <a:solidFill>
            <a:srgbClr val="FFFFFF"/>
          </a:solidFill>
          <a:ln w="1079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8" name="Oval 27"/>
          <p:cNvSpPr/>
          <p:nvPr/>
        </p:nvSpPr>
        <p:spPr>
          <a:xfrm>
            <a:off x="841247" y="4166616"/>
            <a:ext cx="307848" cy="307848"/>
          </a:xfrm>
          <a:prstGeom prst="ellipse">
            <a:avLst/>
          </a:prstGeom>
          <a:solidFill>
            <a:srgbClr val="E2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41247" y="4166616"/>
            <a:ext cx="307848" cy="307848"/>
          </a:xfrm>
          <a:prstGeom prst="rect">
            <a:avLst/>
          </a:prstGeom>
          <a:noFill/>
        </p:spPr>
        <p:txBody>
          <a:bodyPr wrap="square" lIns="18288" rIns="18288" anchor="ctr">
            <a:spAutoFit/>
          </a:bodyPr>
          <a:lstStyle/>
          <a:p>
            <a:pPr algn="ctr"/>
            <a:r>
              <a:rPr sz="1200" b="1" i="0">
                <a:solidFill>
                  <a:srgbClr val="0F7C74"/>
                </a:solidFill>
                <a:latin typeface="Segoe UI Semibold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50264" y="4075176"/>
            <a:ext cx="4593336" cy="4907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0" i="0">
                <a:solidFill>
                  <a:srgbClr val="14213D"/>
                </a:solidFill>
                <a:latin typeface="Segoe UI"/>
              </a:rPr>
              <a:t>10× larger LR → </a:t>
            </a:r>
            <a:r>
              <a:rPr sz="1400" b="1" i="0">
                <a:solidFill>
                  <a:srgbClr val="0F7C74"/>
                </a:solidFill>
                <a:latin typeface="Segoe UI"/>
              </a:rPr>
              <a:t>+4 points</a:t>
            </a:r>
            <a:r>
              <a:rPr sz="1400" b="0" i="0">
                <a:solidFill>
                  <a:srgbClr val="14213D"/>
                </a:solidFill>
                <a:latin typeface="Segoe UI"/>
              </a:rPr>
              <a:t> validation accuracy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" y="4675632"/>
            <a:ext cx="5486400" cy="490728"/>
          </a:xfrm>
          <a:prstGeom prst="roundRect">
            <a:avLst>
              <a:gd name="adj" fmla="val 22360"/>
            </a:avLst>
          </a:prstGeom>
          <a:solidFill>
            <a:srgbClr val="FFFFFF"/>
          </a:solidFill>
          <a:ln w="1079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2" name="Oval 31"/>
          <p:cNvSpPr/>
          <p:nvPr/>
        </p:nvSpPr>
        <p:spPr>
          <a:xfrm>
            <a:off x="841247" y="4767072"/>
            <a:ext cx="307848" cy="307848"/>
          </a:xfrm>
          <a:prstGeom prst="ellipse">
            <a:avLst/>
          </a:prstGeom>
          <a:solidFill>
            <a:srgbClr val="E2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41247" y="4767072"/>
            <a:ext cx="307848" cy="307848"/>
          </a:xfrm>
          <a:prstGeom prst="rect">
            <a:avLst/>
          </a:prstGeom>
          <a:noFill/>
        </p:spPr>
        <p:txBody>
          <a:bodyPr wrap="square" lIns="18288" rIns="18288" anchor="ctr">
            <a:spAutoFit/>
          </a:bodyPr>
          <a:lstStyle/>
          <a:p>
            <a:pPr algn="ctr"/>
            <a:r>
              <a:rPr sz="1200" b="1" i="0">
                <a:solidFill>
                  <a:srgbClr val="0F7C74"/>
                </a:solidFill>
                <a:latin typeface="Segoe UI Semibold"/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50264" y="4675632"/>
            <a:ext cx="4593336" cy="4907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0" i="0">
                <a:solidFill>
                  <a:srgbClr val="14213D"/>
                </a:solidFill>
                <a:latin typeface="Segoe UI"/>
              </a:rPr>
              <a:t>Weight decay: no help — augmentation already regularises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0080" y="5303520"/>
            <a:ext cx="5486400" cy="868680"/>
          </a:xfrm>
          <a:prstGeom prst="roundRect">
            <a:avLst>
              <a:gd name="adj" fmla="val 12631"/>
            </a:avLst>
          </a:prstGeom>
          <a:solidFill>
            <a:srgbClr val="FFFFFF"/>
          </a:solidFill>
          <a:ln w="1079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640080" y="5504688"/>
            <a:ext cx="64008" cy="466344"/>
          </a:xfrm>
          <a:prstGeom prst="rect">
            <a:avLst/>
          </a:prstGeom>
          <a:solidFill>
            <a:srgbClr val="2F8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96112" y="5376672"/>
            <a:ext cx="5120640" cy="7223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 i="0">
                <a:solidFill>
                  <a:srgbClr val="2F8F4E"/>
                </a:solidFill>
                <a:latin typeface="Segoe UI Semibold"/>
              </a:rPr>
              <a:t>96.5 %</a:t>
            </a:r>
          </a:p>
          <a:p>
            <a:r>
              <a:rPr sz="1100" b="0" i="0">
                <a:solidFill>
                  <a:srgbClr val="6B7280"/>
                </a:solidFill>
                <a:latin typeface="Segoe UI"/>
              </a:rPr>
              <a:t>final model — test accuracy  ·  lr 1e-3, wd 0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00800" y="1645920"/>
            <a:ext cx="5150815" cy="452628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079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601968" y="1755648"/>
            <a:ext cx="4785055" cy="27432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900" b="1" i="0" spc="100">
                <a:solidFill>
                  <a:srgbClr val="6B7280"/>
                </a:solidFill>
                <a:latin typeface="Segoe UI"/>
              </a:rPr>
              <a:t>VALIDATION ACCURACY · LR × WEIGHT DECAY</a:t>
            </a:r>
          </a:p>
        </p:txBody>
      </p:sp>
      <p:pic>
        <p:nvPicPr>
          <p:cNvPr id="40" name="Picture 39" descr="fig6_tuning_heatma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5392" y="2618018"/>
            <a:ext cx="4821631" cy="289297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1920240" cy="292608"/>
          </a:xfrm>
          <a:prstGeom prst="roundRect">
            <a:avLst>
              <a:gd name="adj" fmla="val 50000"/>
            </a:avLst>
          </a:prstGeom>
          <a:solidFill>
            <a:srgbClr val="E2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920240" cy="292608"/>
          </a:xfrm>
          <a:prstGeom prst="rect">
            <a:avLst/>
          </a:prstGeom>
          <a:noFill/>
        </p:spPr>
        <p:txBody>
          <a:bodyPr wrap="square" lIns="18288" rIns="18288" anchor="ctr">
            <a:spAutoFit/>
          </a:bodyPr>
          <a:lstStyle/>
          <a:p>
            <a:pPr algn="ctr"/>
            <a:r>
              <a:rPr sz="1050" b="1" i="0" spc="120">
                <a:solidFill>
                  <a:srgbClr val="0F7C74"/>
                </a:solidFill>
                <a:latin typeface="Segoe UI"/>
              </a:rPr>
              <a:t>05  ·  ANALYSIS</a:t>
            </a:r>
          </a:p>
        </p:txBody>
      </p:sp>
      <p:pic>
        <p:nvPicPr>
          <p:cNvPr id="5" name="Picture 4" descr="kit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9823" y="320040"/>
            <a:ext cx="621792" cy="62179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21792" y="731520"/>
            <a:ext cx="9997135" cy="685800"/>
          </a:xfrm>
          <a:prstGeom prst="rect">
            <a:avLst/>
          </a:prstGeom>
          <a:noFill/>
        </p:spPr>
        <p:txBody>
          <a:bodyPr wrap="square" lIns="18288" rIns="18288" anchor="ctr">
            <a:spAutoFit/>
          </a:bodyPr>
          <a:lstStyle/>
          <a:p>
            <a:pPr algn="l"/>
            <a:r>
              <a:rPr sz="3000" b="0" i="0">
                <a:solidFill>
                  <a:srgbClr val="14213D"/>
                </a:solidFill>
                <a:latin typeface="Segoe UI Semibold"/>
              </a:rPr>
              <a:t>Where the 34 errors come from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601968"/>
            <a:ext cx="1368073" cy="27432"/>
          </a:xfrm>
          <a:prstGeom prst="rect">
            <a:avLst/>
          </a:prstGeom>
          <a:solidFill>
            <a:srgbClr val="0F7C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6336792"/>
            <a:ext cx="1368073" cy="237744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  <a:latin typeface="Segoe UI"/>
              </a:rPr>
              <a:t>Problem</a:t>
            </a:r>
          </a:p>
        </p:txBody>
      </p:sp>
      <p:sp>
        <p:nvSpPr>
          <p:cNvPr id="9" name="Rectangle 8"/>
          <p:cNvSpPr/>
          <p:nvPr/>
        </p:nvSpPr>
        <p:spPr>
          <a:xfrm>
            <a:off x="2081305" y="6601968"/>
            <a:ext cx="1368073" cy="27432"/>
          </a:xfrm>
          <a:prstGeom prst="rect">
            <a:avLst/>
          </a:prstGeom>
          <a:solidFill>
            <a:srgbClr val="0F7C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081305" y="6336792"/>
            <a:ext cx="1368073" cy="237744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  <a:latin typeface="Segoe UI"/>
              </a:rPr>
              <a:t>Data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22530" y="6601968"/>
            <a:ext cx="1368073" cy="27432"/>
          </a:xfrm>
          <a:prstGeom prst="rect">
            <a:avLst/>
          </a:prstGeom>
          <a:solidFill>
            <a:srgbClr val="0F7C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522530" y="6336792"/>
            <a:ext cx="1368073" cy="237744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  <a:latin typeface="Segoe UI"/>
              </a:rPr>
              <a:t>Method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63755" y="6601968"/>
            <a:ext cx="1368073" cy="27432"/>
          </a:xfrm>
          <a:prstGeom prst="rect">
            <a:avLst/>
          </a:prstGeom>
          <a:solidFill>
            <a:srgbClr val="0F7C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63755" y="6336792"/>
            <a:ext cx="1368073" cy="237744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  <a:latin typeface="Segoe UI"/>
              </a:rPr>
              <a:t>Results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4980" y="6601968"/>
            <a:ext cx="1368073" cy="45720"/>
          </a:xfrm>
          <a:prstGeom prst="rect">
            <a:avLst/>
          </a:prstGeom>
          <a:solidFill>
            <a:srgbClr val="E09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4980" y="6336792"/>
            <a:ext cx="1368073" cy="237744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850" b="1" i="0">
                <a:solidFill>
                  <a:srgbClr val="14213D"/>
                </a:solidFill>
                <a:latin typeface="Segoe UI"/>
              </a:rPr>
              <a:t>Analysis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46205" y="6601968"/>
            <a:ext cx="1368073" cy="2743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846205" y="6336792"/>
            <a:ext cx="1368073" cy="237744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  <a:latin typeface="Segoe UI"/>
              </a:rPr>
              <a:t>Honesty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287430" y="6601968"/>
            <a:ext cx="1368073" cy="2743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287430" y="6336792"/>
            <a:ext cx="1368073" cy="237744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  <a:latin typeface="Segoe UI"/>
              </a:rPr>
              <a:t>Conclusion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20095" y="6373368"/>
            <a:ext cx="731520" cy="27432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r"/>
            <a:r>
              <a:rPr sz="1100" b="1" i="0">
                <a:solidFill>
                  <a:srgbClr val="0F7C74"/>
                </a:solidFill>
                <a:latin typeface="Segoe UI Semibold"/>
              </a:rPr>
              <a:t>11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1645920"/>
            <a:ext cx="4754880" cy="1051560"/>
          </a:xfrm>
          <a:prstGeom prst="roundRect">
            <a:avLst>
              <a:gd name="adj" fmla="val 10434"/>
            </a:avLst>
          </a:prstGeom>
          <a:solidFill>
            <a:srgbClr val="FFFFFF"/>
          </a:solidFill>
          <a:ln w="1079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40080" y="1847088"/>
            <a:ext cx="64008" cy="649224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96112" y="1719072"/>
            <a:ext cx="4389120" cy="90525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i="0" dirty="0">
                <a:solidFill>
                  <a:srgbClr val="C0392B"/>
                </a:solidFill>
                <a:latin typeface="Segoe UI Semibold"/>
              </a:rPr>
              <a:t>8 of 34</a:t>
            </a:r>
          </a:p>
          <a:p>
            <a:r>
              <a:rPr sz="1100" b="0" i="0" dirty="0">
                <a:solidFill>
                  <a:srgbClr val="6B7280"/>
                </a:solidFill>
                <a:latin typeface="Segoe UI"/>
              </a:rPr>
              <a:t>one pair — Banteay ↔ </a:t>
            </a:r>
            <a:r>
              <a:rPr sz="1100" b="0" i="0" dirty="0" err="1">
                <a:solidFill>
                  <a:srgbClr val="6B7280"/>
                </a:solidFill>
                <a:latin typeface="Segoe UI"/>
              </a:rPr>
              <a:t>Oudor</a:t>
            </a:r>
            <a:r>
              <a:rPr sz="1100" b="0" i="0" dirty="0">
                <a:solidFill>
                  <a:srgbClr val="6B7280"/>
                </a:solidFill>
                <a:latin typeface="Segoe UI"/>
              </a:rPr>
              <a:t> Meanchey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2880360"/>
            <a:ext cx="4754880" cy="733806"/>
          </a:xfrm>
          <a:prstGeom prst="roundRect">
            <a:avLst>
              <a:gd name="adj" fmla="val 14953"/>
            </a:avLst>
          </a:prstGeom>
          <a:solidFill>
            <a:srgbClr val="FFFFFF"/>
          </a:solidFill>
          <a:ln w="1079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Oval 25"/>
          <p:cNvSpPr/>
          <p:nvPr/>
        </p:nvSpPr>
        <p:spPr>
          <a:xfrm>
            <a:off x="841247" y="3036951"/>
            <a:ext cx="420624" cy="420624"/>
          </a:xfrm>
          <a:prstGeom prst="ellipse">
            <a:avLst/>
          </a:prstGeom>
          <a:solidFill>
            <a:srgbClr val="E2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41247" y="3036951"/>
            <a:ext cx="420624" cy="420624"/>
          </a:xfrm>
          <a:prstGeom prst="rect">
            <a:avLst/>
          </a:prstGeom>
          <a:noFill/>
        </p:spPr>
        <p:txBody>
          <a:bodyPr wrap="square" lIns="18288" rIns="18288" anchor="ctr">
            <a:spAutoFit/>
          </a:bodyPr>
          <a:lstStyle/>
          <a:p>
            <a:pPr algn="ctr"/>
            <a:r>
              <a:rPr sz="1300" b="1" i="0">
                <a:solidFill>
                  <a:srgbClr val="0F7C74"/>
                </a:solidFill>
                <a:latin typeface="Segoe UI Semibold"/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63039" y="2880360"/>
            <a:ext cx="3749040" cy="73380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0" i="0">
                <a:solidFill>
                  <a:srgbClr val="14213D"/>
                </a:solidFill>
                <a:latin typeface="Segoe UI"/>
              </a:rPr>
              <a:t>ប.មានជ័យ  vs  ឧ.មានជ័យ — </a:t>
            </a:r>
            <a:r>
              <a:rPr sz="1500" b="1" i="0">
                <a:solidFill>
                  <a:srgbClr val="0F7C74"/>
                </a:solidFill>
                <a:latin typeface="Segoe UI"/>
              </a:rPr>
              <a:t>one glyph</a:t>
            </a:r>
            <a:r>
              <a:rPr sz="1500" b="0" i="0">
                <a:solidFill>
                  <a:srgbClr val="14213D"/>
                </a:solidFill>
                <a:latin typeface="Segoe UI"/>
              </a:rPr>
              <a:t> apart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3733037"/>
            <a:ext cx="4754880" cy="733806"/>
          </a:xfrm>
          <a:prstGeom prst="roundRect">
            <a:avLst>
              <a:gd name="adj" fmla="val 14953"/>
            </a:avLst>
          </a:prstGeom>
          <a:solidFill>
            <a:srgbClr val="FFFFFF"/>
          </a:solidFill>
          <a:ln w="1079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0" name="Oval 29"/>
          <p:cNvSpPr/>
          <p:nvPr/>
        </p:nvSpPr>
        <p:spPr>
          <a:xfrm>
            <a:off x="841247" y="3889628"/>
            <a:ext cx="420624" cy="420624"/>
          </a:xfrm>
          <a:prstGeom prst="ellipse">
            <a:avLst/>
          </a:prstGeom>
          <a:solidFill>
            <a:srgbClr val="E2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1247" y="3889628"/>
            <a:ext cx="420624" cy="420624"/>
          </a:xfrm>
          <a:prstGeom prst="rect">
            <a:avLst/>
          </a:prstGeom>
          <a:noFill/>
        </p:spPr>
        <p:txBody>
          <a:bodyPr wrap="square" lIns="18288" rIns="18288" anchor="ctr">
            <a:spAutoFit/>
          </a:bodyPr>
          <a:lstStyle/>
          <a:p>
            <a:pPr algn="ctr"/>
            <a:r>
              <a:rPr sz="1300" b="1" i="0">
                <a:solidFill>
                  <a:srgbClr val="0F7C74"/>
                </a:solidFill>
                <a:latin typeface="Segoe UI Semibold"/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63039" y="3733037"/>
            <a:ext cx="3749040" cy="73380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0" i="0">
                <a:solidFill>
                  <a:srgbClr val="14213D"/>
                </a:solidFill>
                <a:latin typeface="Segoe UI"/>
              </a:rPr>
              <a:t>Other errors also share a whole word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4585716"/>
            <a:ext cx="4754880" cy="733806"/>
          </a:xfrm>
          <a:prstGeom prst="roundRect">
            <a:avLst>
              <a:gd name="adj" fmla="val 14953"/>
            </a:avLst>
          </a:prstGeom>
          <a:solidFill>
            <a:srgbClr val="FFFFFF"/>
          </a:solidFill>
          <a:ln w="1079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4" name="Oval 33"/>
          <p:cNvSpPr/>
          <p:nvPr/>
        </p:nvSpPr>
        <p:spPr>
          <a:xfrm>
            <a:off x="841247" y="4742306"/>
            <a:ext cx="420624" cy="420624"/>
          </a:xfrm>
          <a:prstGeom prst="ellipse">
            <a:avLst/>
          </a:prstGeom>
          <a:solidFill>
            <a:srgbClr val="E2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41247" y="4742306"/>
            <a:ext cx="420624" cy="420624"/>
          </a:xfrm>
          <a:prstGeom prst="rect">
            <a:avLst/>
          </a:prstGeom>
          <a:noFill/>
        </p:spPr>
        <p:txBody>
          <a:bodyPr wrap="square" lIns="18288" rIns="18288" anchor="ctr">
            <a:spAutoFit/>
          </a:bodyPr>
          <a:lstStyle/>
          <a:p>
            <a:pPr algn="ctr"/>
            <a:r>
              <a:rPr sz="1300" b="1" i="0">
                <a:solidFill>
                  <a:srgbClr val="0F7C74"/>
                </a:solidFill>
                <a:latin typeface="Segoe UI Semibold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463039" y="4585716"/>
            <a:ext cx="3749040" cy="73380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0" i="0">
                <a:solidFill>
                  <a:srgbClr val="14213D"/>
                </a:solidFill>
                <a:latin typeface="Segoe UI"/>
              </a:rPr>
              <a:t>Rest: blur, 20-px text, JPEG artefacts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" y="5438394"/>
            <a:ext cx="4754880" cy="733806"/>
          </a:xfrm>
          <a:prstGeom prst="roundRect">
            <a:avLst>
              <a:gd name="adj" fmla="val 14953"/>
            </a:avLst>
          </a:prstGeom>
          <a:solidFill>
            <a:srgbClr val="FFFFFF"/>
          </a:solidFill>
          <a:ln w="1079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8" name="Oval 37"/>
          <p:cNvSpPr/>
          <p:nvPr/>
        </p:nvSpPr>
        <p:spPr>
          <a:xfrm>
            <a:off x="841247" y="5594984"/>
            <a:ext cx="420624" cy="420624"/>
          </a:xfrm>
          <a:prstGeom prst="ellipse">
            <a:avLst/>
          </a:prstGeom>
          <a:solidFill>
            <a:srgbClr val="E2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41247" y="5594984"/>
            <a:ext cx="420624" cy="420624"/>
          </a:xfrm>
          <a:prstGeom prst="rect">
            <a:avLst/>
          </a:prstGeom>
          <a:noFill/>
        </p:spPr>
        <p:txBody>
          <a:bodyPr wrap="square" lIns="18288" rIns="18288" anchor="ctr">
            <a:spAutoFit/>
          </a:bodyPr>
          <a:lstStyle/>
          <a:p>
            <a:pPr algn="ctr"/>
            <a:r>
              <a:rPr sz="1300" b="1" i="0">
                <a:solidFill>
                  <a:srgbClr val="0F7C74"/>
                </a:solidFill>
                <a:latin typeface="Segoe UI Semibold"/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63039" y="5438394"/>
            <a:ext cx="3749040" cy="73380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0" i="0">
                <a:solidFill>
                  <a:srgbClr val="14213D"/>
                </a:solidFill>
                <a:latin typeface="Segoe UI"/>
              </a:rPr>
              <a:t>Smallest classes </a:t>
            </a:r>
            <a:r>
              <a:rPr sz="1500" b="1" i="0">
                <a:solidFill>
                  <a:srgbClr val="0F7C74"/>
                </a:solidFill>
                <a:latin typeface="Segoe UI"/>
              </a:rPr>
              <a:t>90 %</a:t>
            </a:r>
            <a:r>
              <a:rPr sz="1500" b="0" i="0">
                <a:solidFill>
                  <a:srgbClr val="14213D"/>
                </a:solidFill>
                <a:latin typeface="Segoe UI"/>
              </a:rPr>
              <a:t> vs 94.2 %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623560" y="1645920"/>
            <a:ext cx="5928055" cy="452628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079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824728" y="1755648"/>
            <a:ext cx="5562295" cy="27432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900" b="1" i="0" spc="100">
                <a:solidFill>
                  <a:srgbClr val="6B7280"/>
                </a:solidFill>
                <a:latin typeface="Segoe UI"/>
              </a:rPr>
              <a:t>MOST CONFIDENT WRONG PREDICTIONS · C</a:t>
            </a:r>
          </a:p>
        </p:txBody>
      </p:sp>
      <p:pic>
        <p:nvPicPr>
          <p:cNvPr id="43" name="Picture 42" descr="fig5_failures_C_resnet18_finetu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5931" y="2121408"/>
            <a:ext cx="3643312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1920240" cy="292608"/>
          </a:xfrm>
          <a:prstGeom prst="roundRect">
            <a:avLst>
              <a:gd name="adj" fmla="val 50000"/>
            </a:avLst>
          </a:prstGeom>
          <a:solidFill>
            <a:srgbClr val="E2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920240" cy="292608"/>
          </a:xfrm>
          <a:prstGeom prst="rect">
            <a:avLst/>
          </a:prstGeom>
          <a:noFill/>
        </p:spPr>
        <p:txBody>
          <a:bodyPr wrap="square" lIns="18288" rIns="18288" anchor="ctr">
            <a:spAutoFit/>
          </a:bodyPr>
          <a:lstStyle/>
          <a:p>
            <a:pPr algn="ctr"/>
            <a:r>
              <a:rPr sz="1050" b="1" i="0" spc="120">
                <a:solidFill>
                  <a:srgbClr val="0F7C74"/>
                </a:solidFill>
                <a:latin typeface="Segoe UI"/>
              </a:rPr>
              <a:t>05  ·  ANALYSIS</a:t>
            </a:r>
          </a:p>
        </p:txBody>
      </p:sp>
      <p:pic>
        <p:nvPicPr>
          <p:cNvPr id="5" name="Picture 4" descr="kit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9823" y="320040"/>
            <a:ext cx="621792" cy="62179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21792" y="731520"/>
            <a:ext cx="9997135" cy="685800"/>
          </a:xfrm>
          <a:prstGeom prst="rect">
            <a:avLst/>
          </a:prstGeom>
          <a:noFill/>
        </p:spPr>
        <p:txBody>
          <a:bodyPr wrap="square" lIns="18288" rIns="18288" anchor="ctr">
            <a:spAutoFit/>
          </a:bodyPr>
          <a:lstStyle/>
          <a:p>
            <a:pPr algn="l"/>
            <a:r>
              <a:rPr sz="3000" b="0" i="0">
                <a:solidFill>
                  <a:srgbClr val="14213D"/>
                </a:solidFill>
                <a:latin typeface="Segoe UI Semibold"/>
              </a:rPr>
              <a:t>Why — in course concepts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601968"/>
            <a:ext cx="1368073" cy="27432"/>
          </a:xfrm>
          <a:prstGeom prst="rect">
            <a:avLst/>
          </a:prstGeom>
          <a:solidFill>
            <a:srgbClr val="0F7C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6336792"/>
            <a:ext cx="1368073" cy="237744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  <a:latin typeface="Segoe UI"/>
              </a:rPr>
              <a:t>Problem</a:t>
            </a:r>
          </a:p>
        </p:txBody>
      </p:sp>
      <p:sp>
        <p:nvSpPr>
          <p:cNvPr id="9" name="Rectangle 8"/>
          <p:cNvSpPr/>
          <p:nvPr/>
        </p:nvSpPr>
        <p:spPr>
          <a:xfrm>
            <a:off x="2081305" y="6601968"/>
            <a:ext cx="1368073" cy="27432"/>
          </a:xfrm>
          <a:prstGeom prst="rect">
            <a:avLst/>
          </a:prstGeom>
          <a:solidFill>
            <a:srgbClr val="0F7C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081305" y="6336792"/>
            <a:ext cx="1368073" cy="237744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  <a:latin typeface="Segoe UI"/>
              </a:rPr>
              <a:t>Data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22530" y="6601968"/>
            <a:ext cx="1368073" cy="27432"/>
          </a:xfrm>
          <a:prstGeom prst="rect">
            <a:avLst/>
          </a:prstGeom>
          <a:solidFill>
            <a:srgbClr val="0F7C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522530" y="6336792"/>
            <a:ext cx="1368073" cy="237744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  <a:latin typeface="Segoe UI"/>
              </a:rPr>
              <a:t>Method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63755" y="6601968"/>
            <a:ext cx="1368073" cy="27432"/>
          </a:xfrm>
          <a:prstGeom prst="rect">
            <a:avLst/>
          </a:prstGeom>
          <a:solidFill>
            <a:srgbClr val="0F7C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63755" y="6336792"/>
            <a:ext cx="1368073" cy="237744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  <a:latin typeface="Segoe UI"/>
              </a:rPr>
              <a:t>Results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4980" y="6601968"/>
            <a:ext cx="1368073" cy="45720"/>
          </a:xfrm>
          <a:prstGeom prst="rect">
            <a:avLst/>
          </a:prstGeom>
          <a:solidFill>
            <a:srgbClr val="E09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4980" y="6336792"/>
            <a:ext cx="1368073" cy="237744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850" b="1" i="0">
                <a:solidFill>
                  <a:srgbClr val="14213D"/>
                </a:solidFill>
                <a:latin typeface="Segoe UI"/>
              </a:rPr>
              <a:t>Analysis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46205" y="6601968"/>
            <a:ext cx="1368073" cy="2743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846205" y="6336792"/>
            <a:ext cx="1368073" cy="237744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  <a:latin typeface="Segoe UI"/>
              </a:rPr>
              <a:t>Honesty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287430" y="6601968"/>
            <a:ext cx="1368073" cy="2743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287430" y="6336792"/>
            <a:ext cx="1368073" cy="237744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  <a:latin typeface="Segoe UI"/>
              </a:rPr>
              <a:t>Conclusion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20095" y="6373368"/>
            <a:ext cx="731520" cy="27432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r"/>
            <a:r>
              <a:rPr sz="1100" b="1" i="0">
                <a:solidFill>
                  <a:srgbClr val="0F7C74"/>
                </a:solidFill>
                <a:latin typeface="Segoe UI Semibold"/>
              </a:rPr>
              <a:t>12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1600200"/>
            <a:ext cx="10911535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079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40080" y="1746504"/>
            <a:ext cx="64008" cy="457199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60119" y="1600200"/>
            <a:ext cx="2194560" cy="749808"/>
          </a:xfrm>
          <a:prstGeom prst="rect">
            <a:avLst/>
          </a:prstGeom>
          <a:noFill/>
        </p:spPr>
        <p:txBody>
          <a:bodyPr wrap="square" lIns="18288" rIns="18288" anchor="ctr">
            <a:spAutoFit/>
          </a:bodyPr>
          <a:lstStyle/>
          <a:p>
            <a:pPr algn="l"/>
            <a:r>
              <a:rPr sz="2000" b="1" i="0">
                <a:solidFill>
                  <a:srgbClr val="C0392B"/>
                </a:solidFill>
                <a:latin typeface="Segoe UI Semibold"/>
              </a:rPr>
              <a:t>B → 42 %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291839" y="1801368"/>
            <a:ext cx="2148840" cy="347472"/>
          </a:xfrm>
          <a:prstGeom prst="roundRect">
            <a:avLst>
              <a:gd name="adj" fmla="val 50000"/>
            </a:avLst>
          </a:prstGeom>
          <a:solidFill>
            <a:srgbClr val="E2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291839" y="1801368"/>
            <a:ext cx="2148840" cy="347472"/>
          </a:xfrm>
          <a:prstGeom prst="rect">
            <a:avLst/>
          </a:prstGeom>
          <a:noFill/>
        </p:spPr>
        <p:txBody>
          <a:bodyPr wrap="square" lIns="18288" rIns="18288" anchor="ctr">
            <a:spAutoFit/>
          </a:bodyPr>
          <a:lstStyle/>
          <a:p>
            <a:pPr algn="ctr"/>
            <a:r>
              <a:rPr sz="1250" b="1" i="0" spc="80">
                <a:solidFill>
                  <a:srgbClr val="0F7C74"/>
                </a:solidFill>
                <a:latin typeface="Segoe UI"/>
              </a:rPr>
              <a:t>DOMAIN SHIFT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60720" y="1600200"/>
            <a:ext cx="5608015" cy="749808"/>
          </a:xfrm>
          <a:prstGeom prst="rect">
            <a:avLst/>
          </a:prstGeom>
          <a:noFill/>
        </p:spPr>
        <p:txBody>
          <a:bodyPr wrap="square" lIns="18288" rIns="18288" anchor="ctr">
            <a:spAutoFit/>
          </a:bodyPr>
          <a:lstStyle/>
          <a:p>
            <a:pPr algn="l"/>
            <a:r>
              <a:rPr sz="1650" b="0" i="0">
                <a:solidFill>
                  <a:srgbClr val="14213D"/>
                </a:solidFill>
                <a:latin typeface="Segoe UI"/>
              </a:rPr>
              <a:t>ImageNet filters are not Khmer strokes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2478024"/>
            <a:ext cx="10911535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079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40080" y="2624328"/>
            <a:ext cx="64008" cy="457199"/>
          </a:xfrm>
          <a:prstGeom prst="rect">
            <a:avLst/>
          </a:prstGeom>
          <a:solidFill>
            <a:srgbClr val="0F7C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60119" y="2478024"/>
            <a:ext cx="2194560" cy="749808"/>
          </a:xfrm>
          <a:prstGeom prst="rect">
            <a:avLst/>
          </a:prstGeom>
          <a:noFill/>
        </p:spPr>
        <p:txBody>
          <a:bodyPr wrap="square" lIns="18288" rIns="18288" anchor="ctr">
            <a:spAutoFit/>
          </a:bodyPr>
          <a:lstStyle/>
          <a:p>
            <a:pPr algn="l"/>
            <a:r>
              <a:rPr sz="2000" b="1" i="0">
                <a:solidFill>
                  <a:srgbClr val="0F7C74"/>
                </a:solidFill>
                <a:latin typeface="Segoe UI Semibold"/>
              </a:rPr>
              <a:t>A ≈ C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291839" y="2679191"/>
            <a:ext cx="2148840" cy="347472"/>
          </a:xfrm>
          <a:prstGeom prst="roundRect">
            <a:avLst>
              <a:gd name="adj" fmla="val 50000"/>
            </a:avLst>
          </a:prstGeom>
          <a:solidFill>
            <a:srgbClr val="E2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291839" y="2679191"/>
            <a:ext cx="2148840" cy="347472"/>
          </a:xfrm>
          <a:prstGeom prst="rect">
            <a:avLst/>
          </a:prstGeom>
          <a:noFill/>
        </p:spPr>
        <p:txBody>
          <a:bodyPr wrap="square" lIns="18288" rIns="18288" anchor="ctr">
            <a:spAutoFit/>
          </a:bodyPr>
          <a:lstStyle/>
          <a:p>
            <a:pPr algn="ctr"/>
            <a:r>
              <a:rPr sz="1250" b="1" i="0" spc="80">
                <a:solidFill>
                  <a:srgbClr val="0F7C74"/>
                </a:solidFill>
                <a:latin typeface="Segoe UI"/>
              </a:rPr>
              <a:t>DATA SIZE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760720" y="2478024"/>
            <a:ext cx="5608015" cy="749808"/>
          </a:xfrm>
          <a:prstGeom prst="rect">
            <a:avLst/>
          </a:prstGeom>
          <a:noFill/>
        </p:spPr>
        <p:txBody>
          <a:bodyPr wrap="square" lIns="18288" rIns="18288" anchor="ctr">
            <a:spAutoFit/>
          </a:bodyPr>
          <a:lstStyle/>
          <a:p>
            <a:pPr algn="l"/>
            <a:r>
              <a:rPr sz="1650" b="0" i="0">
                <a:solidFill>
                  <a:srgbClr val="14213D"/>
                </a:solidFill>
                <a:latin typeface="Segoe UI"/>
              </a:rPr>
              <a:t>2 515 images suffice from random init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" y="3355848"/>
            <a:ext cx="10911535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079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640080" y="3502152"/>
            <a:ext cx="64008" cy="457199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60119" y="3355848"/>
            <a:ext cx="2194560" cy="749808"/>
          </a:xfrm>
          <a:prstGeom prst="rect">
            <a:avLst/>
          </a:prstGeom>
          <a:noFill/>
        </p:spPr>
        <p:txBody>
          <a:bodyPr wrap="square" lIns="18288" rIns="18288" anchor="ctr">
            <a:spAutoFit/>
          </a:bodyPr>
          <a:lstStyle/>
          <a:p>
            <a:pPr algn="l"/>
            <a:r>
              <a:rPr sz="2000" b="1" i="0">
                <a:solidFill>
                  <a:srgbClr val="C0392B"/>
                </a:solidFill>
                <a:latin typeface="Segoe UI Semibold"/>
              </a:rPr>
              <a:t>D → 47 %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291839" y="3557015"/>
            <a:ext cx="2148840" cy="347472"/>
          </a:xfrm>
          <a:prstGeom prst="roundRect">
            <a:avLst>
              <a:gd name="adj" fmla="val 50000"/>
            </a:avLst>
          </a:prstGeom>
          <a:solidFill>
            <a:srgbClr val="E2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291839" y="3557015"/>
            <a:ext cx="2148840" cy="347472"/>
          </a:xfrm>
          <a:prstGeom prst="rect">
            <a:avLst/>
          </a:prstGeom>
          <a:noFill/>
        </p:spPr>
        <p:txBody>
          <a:bodyPr wrap="square" lIns="18288" rIns="18288" anchor="ctr">
            <a:spAutoFit/>
          </a:bodyPr>
          <a:lstStyle/>
          <a:p>
            <a:pPr algn="ctr"/>
            <a:r>
              <a:rPr sz="1250" b="1" i="0" spc="80">
                <a:solidFill>
                  <a:srgbClr val="0F7C74"/>
                </a:solidFill>
                <a:latin typeface="Segoe UI"/>
              </a:rPr>
              <a:t>CAPACITY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760720" y="3355848"/>
            <a:ext cx="5608015" cy="749808"/>
          </a:xfrm>
          <a:prstGeom prst="rect">
            <a:avLst/>
          </a:prstGeom>
          <a:noFill/>
        </p:spPr>
        <p:txBody>
          <a:bodyPr wrap="square" lIns="18288" rIns="18288" anchor="ctr">
            <a:spAutoFit/>
          </a:bodyPr>
          <a:lstStyle/>
          <a:p>
            <a:pPr algn="l"/>
            <a:r>
              <a:rPr sz="1650" b="0" i="0">
                <a:solidFill>
                  <a:srgbClr val="14213D"/>
                </a:solidFill>
                <a:latin typeface="Segoe UI"/>
              </a:rPr>
              <a:t>0.4 M params cannot separate 26 words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0080" y="4233672"/>
            <a:ext cx="10911535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079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640080" y="4379976"/>
            <a:ext cx="64008" cy="457199"/>
          </a:xfrm>
          <a:prstGeom prst="rect">
            <a:avLst/>
          </a:prstGeom>
          <a:solidFill>
            <a:srgbClr val="0F7C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960119" y="4233672"/>
            <a:ext cx="2194560" cy="749808"/>
          </a:xfrm>
          <a:prstGeom prst="rect">
            <a:avLst/>
          </a:prstGeom>
          <a:noFill/>
        </p:spPr>
        <p:txBody>
          <a:bodyPr wrap="square" lIns="18288" rIns="18288" anchor="ctr">
            <a:spAutoFit/>
          </a:bodyPr>
          <a:lstStyle/>
          <a:p>
            <a:pPr algn="l"/>
            <a:r>
              <a:rPr sz="2000" b="1" i="0">
                <a:solidFill>
                  <a:srgbClr val="0F7C74"/>
                </a:solidFill>
                <a:latin typeface="Segoe UI Semibold"/>
              </a:rPr>
              <a:t>E → 96.1 %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291839" y="4434840"/>
            <a:ext cx="2148840" cy="347472"/>
          </a:xfrm>
          <a:prstGeom prst="roundRect">
            <a:avLst>
              <a:gd name="adj" fmla="val 50000"/>
            </a:avLst>
          </a:prstGeom>
          <a:solidFill>
            <a:srgbClr val="E2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3291839" y="4434840"/>
            <a:ext cx="2148840" cy="347472"/>
          </a:xfrm>
          <a:prstGeom prst="rect">
            <a:avLst/>
          </a:prstGeom>
          <a:noFill/>
        </p:spPr>
        <p:txBody>
          <a:bodyPr wrap="square" lIns="18288" rIns="18288" anchor="ctr">
            <a:spAutoFit/>
          </a:bodyPr>
          <a:lstStyle/>
          <a:p>
            <a:pPr algn="ctr"/>
            <a:r>
              <a:rPr sz="1250" b="1" i="0" spc="80">
                <a:solidFill>
                  <a:srgbClr val="0F7C74"/>
                </a:solidFill>
                <a:latin typeface="Segoe UI"/>
              </a:rPr>
              <a:t>ATTENTION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760720" y="4233672"/>
            <a:ext cx="5608015" cy="749808"/>
          </a:xfrm>
          <a:prstGeom prst="rect">
            <a:avLst/>
          </a:prstGeom>
          <a:noFill/>
        </p:spPr>
        <p:txBody>
          <a:bodyPr wrap="square" lIns="18288" rIns="18288" anchor="ctr">
            <a:spAutoFit/>
          </a:bodyPr>
          <a:lstStyle/>
          <a:p>
            <a:pPr algn="l"/>
            <a:r>
              <a:rPr sz="1650" b="0" i="0">
                <a:solidFill>
                  <a:srgbClr val="14213D"/>
                </a:solidFill>
                <a:latin typeface="Segoe UI"/>
              </a:rPr>
              <a:t>global self-attention captures full glyph ligatures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40080" y="5111496"/>
            <a:ext cx="10911535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079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640080" y="5257800"/>
            <a:ext cx="64008" cy="457199"/>
          </a:xfrm>
          <a:prstGeom prst="rect">
            <a:avLst/>
          </a:prstGeom>
          <a:solidFill>
            <a:srgbClr val="2F8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960119" y="5111496"/>
            <a:ext cx="2194560" cy="749808"/>
          </a:xfrm>
          <a:prstGeom prst="rect">
            <a:avLst/>
          </a:prstGeom>
          <a:noFill/>
        </p:spPr>
        <p:txBody>
          <a:bodyPr wrap="square" lIns="18288" rIns="18288" anchor="ctr">
            <a:spAutoFit/>
          </a:bodyPr>
          <a:lstStyle/>
          <a:p>
            <a:pPr algn="l"/>
            <a:r>
              <a:rPr sz="2000" b="1" i="0">
                <a:solidFill>
                  <a:srgbClr val="2F8F4E"/>
                </a:solidFill>
                <a:latin typeface="Segoe UI Semibold"/>
              </a:rPr>
              <a:t>tuning +2.5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3291839" y="5312664"/>
            <a:ext cx="2148840" cy="347472"/>
          </a:xfrm>
          <a:prstGeom prst="roundRect">
            <a:avLst>
              <a:gd name="adj" fmla="val 50000"/>
            </a:avLst>
          </a:prstGeom>
          <a:solidFill>
            <a:srgbClr val="E2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3291839" y="5312664"/>
            <a:ext cx="2148840" cy="347472"/>
          </a:xfrm>
          <a:prstGeom prst="rect">
            <a:avLst/>
          </a:prstGeom>
          <a:noFill/>
        </p:spPr>
        <p:txBody>
          <a:bodyPr wrap="square" lIns="18288" rIns="18288" anchor="ctr">
            <a:spAutoFit/>
          </a:bodyPr>
          <a:lstStyle/>
          <a:p>
            <a:pPr algn="ctr"/>
            <a:r>
              <a:rPr sz="1250" b="1" i="0" spc="80">
                <a:solidFill>
                  <a:srgbClr val="0F7C74"/>
                </a:solidFill>
                <a:latin typeface="Segoe UI"/>
              </a:rPr>
              <a:t>OPTIMISATION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760720" y="5111496"/>
            <a:ext cx="5608015" cy="749808"/>
          </a:xfrm>
          <a:prstGeom prst="rect">
            <a:avLst/>
          </a:prstGeom>
          <a:noFill/>
        </p:spPr>
        <p:txBody>
          <a:bodyPr wrap="square" lIns="18288" rIns="18288" anchor="ctr">
            <a:spAutoFit/>
          </a:bodyPr>
          <a:lstStyle/>
          <a:p>
            <a:pPr algn="l"/>
            <a:r>
              <a:rPr sz="1650" b="0" i="0">
                <a:solidFill>
                  <a:srgbClr val="14213D"/>
                </a:solidFill>
                <a:latin typeface="Segoe UI"/>
              </a:rPr>
              <a:t>fine-tuning wants a training-size LR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1819656" cy="292608"/>
          </a:xfrm>
          <a:prstGeom prst="roundRect">
            <a:avLst>
              <a:gd name="adj" fmla="val 50000"/>
            </a:avLst>
          </a:prstGeom>
          <a:solidFill>
            <a:srgbClr val="E2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819656" cy="292608"/>
          </a:xfrm>
          <a:prstGeom prst="rect">
            <a:avLst/>
          </a:prstGeom>
          <a:noFill/>
        </p:spPr>
        <p:txBody>
          <a:bodyPr wrap="square" lIns="18288" rIns="18288" anchor="ctr">
            <a:spAutoFit/>
          </a:bodyPr>
          <a:lstStyle/>
          <a:p>
            <a:pPr algn="ctr"/>
            <a:r>
              <a:rPr sz="1050" b="1" i="0" spc="120">
                <a:solidFill>
                  <a:srgbClr val="0F7C74"/>
                </a:solidFill>
                <a:latin typeface="Segoe UI"/>
              </a:rPr>
              <a:t>06  ·  HONESTY</a:t>
            </a:r>
          </a:p>
        </p:txBody>
      </p:sp>
      <p:pic>
        <p:nvPicPr>
          <p:cNvPr id="5" name="Picture 4" descr="kit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9823" y="320040"/>
            <a:ext cx="621792" cy="62179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21792" y="731520"/>
            <a:ext cx="9997135" cy="685800"/>
          </a:xfrm>
          <a:prstGeom prst="rect">
            <a:avLst/>
          </a:prstGeom>
          <a:noFill/>
        </p:spPr>
        <p:txBody>
          <a:bodyPr wrap="square" lIns="18288" rIns="18288" anchor="ctr">
            <a:spAutoFit/>
          </a:bodyPr>
          <a:lstStyle/>
          <a:p>
            <a:pPr algn="l"/>
            <a:r>
              <a:rPr sz="3000" b="0" i="0">
                <a:solidFill>
                  <a:srgbClr val="14213D"/>
                </a:solidFill>
                <a:latin typeface="Segoe UI Semibold"/>
              </a:rPr>
              <a:t>What this study cannot claim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601968"/>
            <a:ext cx="1368073" cy="27432"/>
          </a:xfrm>
          <a:prstGeom prst="rect">
            <a:avLst/>
          </a:prstGeom>
          <a:solidFill>
            <a:srgbClr val="0F7C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6336792"/>
            <a:ext cx="1368073" cy="237744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  <a:latin typeface="Segoe UI"/>
              </a:rPr>
              <a:t>Problem</a:t>
            </a:r>
          </a:p>
        </p:txBody>
      </p:sp>
      <p:sp>
        <p:nvSpPr>
          <p:cNvPr id="9" name="Rectangle 8"/>
          <p:cNvSpPr/>
          <p:nvPr/>
        </p:nvSpPr>
        <p:spPr>
          <a:xfrm>
            <a:off x="2081305" y="6601968"/>
            <a:ext cx="1368073" cy="27432"/>
          </a:xfrm>
          <a:prstGeom prst="rect">
            <a:avLst/>
          </a:prstGeom>
          <a:solidFill>
            <a:srgbClr val="0F7C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081305" y="6336792"/>
            <a:ext cx="1368073" cy="237744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  <a:latin typeface="Segoe UI"/>
              </a:rPr>
              <a:t>Data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22530" y="6601968"/>
            <a:ext cx="1368073" cy="27432"/>
          </a:xfrm>
          <a:prstGeom prst="rect">
            <a:avLst/>
          </a:prstGeom>
          <a:solidFill>
            <a:srgbClr val="0F7C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522530" y="6336792"/>
            <a:ext cx="1368073" cy="237744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  <a:latin typeface="Segoe UI"/>
              </a:rPr>
              <a:t>Method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63755" y="6601968"/>
            <a:ext cx="1368073" cy="27432"/>
          </a:xfrm>
          <a:prstGeom prst="rect">
            <a:avLst/>
          </a:prstGeom>
          <a:solidFill>
            <a:srgbClr val="0F7C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63755" y="6336792"/>
            <a:ext cx="1368073" cy="237744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  <a:latin typeface="Segoe UI"/>
              </a:rPr>
              <a:t>Results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4980" y="6601968"/>
            <a:ext cx="1368073" cy="27432"/>
          </a:xfrm>
          <a:prstGeom prst="rect">
            <a:avLst/>
          </a:prstGeom>
          <a:solidFill>
            <a:srgbClr val="0F7C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4980" y="6336792"/>
            <a:ext cx="1368073" cy="237744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  <a:latin typeface="Segoe UI"/>
              </a:rPr>
              <a:t>Analysis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46205" y="6601968"/>
            <a:ext cx="1368073" cy="45720"/>
          </a:xfrm>
          <a:prstGeom prst="rect">
            <a:avLst/>
          </a:prstGeom>
          <a:solidFill>
            <a:srgbClr val="E09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846205" y="6336792"/>
            <a:ext cx="1368073" cy="237744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850" b="1" i="0">
                <a:solidFill>
                  <a:srgbClr val="14213D"/>
                </a:solidFill>
                <a:latin typeface="Segoe UI"/>
              </a:rPr>
              <a:t>Honesty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287430" y="6601968"/>
            <a:ext cx="1368073" cy="2743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287430" y="6336792"/>
            <a:ext cx="1368073" cy="237744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  <a:latin typeface="Segoe UI"/>
              </a:rPr>
              <a:t>Conclusion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20095" y="6373368"/>
            <a:ext cx="731520" cy="27432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r"/>
            <a:r>
              <a:rPr sz="1100" b="1" i="0">
                <a:solidFill>
                  <a:srgbClr val="0F7C74"/>
                </a:solidFill>
                <a:latin typeface="Segoe UI Semibold"/>
              </a:rPr>
              <a:t>13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1691640"/>
            <a:ext cx="10911535" cy="769924"/>
          </a:xfrm>
          <a:prstGeom prst="roundRect">
            <a:avLst>
              <a:gd name="adj" fmla="val 14251"/>
            </a:avLst>
          </a:prstGeom>
          <a:solidFill>
            <a:srgbClr val="FFFFFF"/>
          </a:solidFill>
          <a:ln w="1079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Oval 22"/>
          <p:cNvSpPr/>
          <p:nvPr/>
        </p:nvSpPr>
        <p:spPr>
          <a:xfrm>
            <a:off x="841247" y="1866290"/>
            <a:ext cx="420624" cy="420624"/>
          </a:xfrm>
          <a:prstGeom prst="ellipse">
            <a:avLst/>
          </a:prstGeom>
          <a:solidFill>
            <a:srgbClr val="F8E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41247" y="1866290"/>
            <a:ext cx="420624" cy="420624"/>
          </a:xfrm>
          <a:prstGeom prst="rect">
            <a:avLst/>
          </a:prstGeom>
          <a:noFill/>
        </p:spPr>
        <p:txBody>
          <a:bodyPr wrap="square" lIns="18288" rIns="18288" anchor="ctr">
            <a:spAutoFit/>
          </a:bodyPr>
          <a:lstStyle/>
          <a:p>
            <a:pPr algn="ctr"/>
            <a:r>
              <a:rPr sz="1300" b="1" i="0">
                <a:solidFill>
                  <a:srgbClr val="C0392B"/>
                </a:solidFill>
                <a:latin typeface="Segoe UI Semibold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63039" y="1691640"/>
            <a:ext cx="9905695" cy="7699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900" b="0" i="0">
                <a:solidFill>
                  <a:srgbClr val="14213D"/>
                </a:solidFill>
                <a:latin typeface="Segoe UI"/>
              </a:rPr>
              <a:t>Public scraped data — not purpose-collected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2607868"/>
            <a:ext cx="10911535" cy="769924"/>
          </a:xfrm>
          <a:prstGeom prst="roundRect">
            <a:avLst>
              <a:gd name="adj" fmla="val 14251"/>
            </a:avLst>
          </a:prstGeom>
          <a:solidFill>
            <a:srgbClr val="FFFFFF"/>
          </a:solidFill>
          <a:ln w="1079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7" name="Oval 26"/>
          <p:cNvSpPr/>
          <p:nvPr/>
        </p:nvSpPr>
        <p:spPr>
          <a:xfrm>
            <a:off x="841247" y="2782519"/>
            <a:ext cx="420624" cy="420624"/>
          </a:xfrm>
          <a:prstGeom prst="ellipse">
            <a:avLst/>
          </a:prstGeom>
          <a:solidFill>
            <a:srgbClr val="F8E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41247" y="2782519"/>
            <a:ext cx="420624" cy="420624"/>
          </a:xfrm>
          <a:prstGeom prst="rect">
            <a:avLst/>
          </a:prstGeom>
          <a:noFill/>
        </p:spPr>
        <p:txBody>
          <a:bodyPr wrap="square" lIns="18288" rIns="18288" anchor="ctr">
            <a:spAutoFit/>
          </a:bodyPr>
          <a:lstStyle/>
          <a:p>
            <a:pPr algn="ctr"/>
            <a:r>
              <a:rPr sz="1300" b="1" i="0">
                <a:solidFill>
                  <a:srgbClr val="C0392B"/>
                </a:solidFill>
                <a:latin typeface="Segoe UI Semibold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63039" y="2607868"/>
            <a:ext cx="9905695" cy="7699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900" b="1" i="0">
                <a:solidFill>
                  <a:srgbClr val="C0392B"/>
                </a:solidFill>
                <a:latin typeface="Segoe UI"/>
              </a:rPr>
              <a:t>13.4 %</a:t>
            </a:r>
            <a:r>
              <a:rPr sz="1900" b="0" i="0">
                <a:solidFill>
                  <a:srgbClr val="14213D"/>
                </a:solidFill>
                <a:latin typeface="Segoe UI"/>
              </a:rPr>
              <a:t> near-duplicates in the test split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3524097"/>
            <a:ext cx="10911535" cy="769924"/>
          </a:xfrm>
          <a:prstGeom prst="roundRect">
            <a:avLst>
              <a:gd name="adj" fmla="val 14251"/>
            </a:avLst>
          </a:prstGeom>
          <a:solidFill>
            <a:srgbClr val="FFFFFF"/>
          </a:solidFill>
          <a:ln w="1079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1" name="Oval 30"/>
          <p:cNvSpPr/>
          <p:nvPr/>
        </p:nvSpPr>
        <p:spPr>
          <a:xfrm>
            <a:off x="841247" y="3698748"/>
            <a:ext cx="420624" cy="420624"/>
          </a:xfrm>
          <a:prstGeom prst="ellipse">
            <a:avLst/>
          </a:prstGeom>
          <a:solidFill>
            <a:srgbClr val="F8E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41247" y="3698748"/>
            <a:ext cx="420624" cy="420624"/>
          </a:xfrm>
          <a:prstGeom prst="rect">
            <a:avLst/>
          </a:prstGeom>
          <a:noFill/>
        </p:spPr>
        <p:txBody>
          <a:bodyPr wrap="square" lIns="18288" rIns="18288" anchor="ctr">
            <a:spAutoFit/>
          </a:bodyPr>
          <a:lstStyle/>
          <a:p>
            <a:pPr algn="ctr"/>
            <a:r>
              <a:rPr sz="1300" b="1" i="0">
                <a:solidFill>
                  <a:srgbClr val="C0392B"/>
                </a:solidFill>
                <a:latin typeface="Segoe UI Semibold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63039" y="3524097"/>
            <a:ext cx="9905695" cy="7699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900" b="0" i="0">
                <a:solidFill>
                  <a:srgbClr val="14213D"/>
                </a:solidFill>
                <a:latin typeface="Segoe UI"/>
              </a:rPr>
              <a:t>567 crops → </a:t>
            </a:r>
            <a:r>
              <a:rPr sz="1900" b="1" i="0">
                <a:solidFill>
                  <a:srgbClr val="C0392B"/>
                </a:solidFill>
                <a:latin typeface="Segoe UI"/>
              </a:rPr>
              <a:t>± 2 points</a:t>
            </a:r>
            <a:r>
              <a:rPr sz="1900" b="0" i="0">
                <a:solidFill>
                  <a:srgbClr val="14213D"/>
                </a:solidFill>
                <a:latin typeface="Segoe UI"/>
              </a:rPr>
              <a:t>; A vs C not separable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" y="4440326"/>
            <a:ext cx="10911535" cy="769924"/>
          </a:xfrm>
          <a:prstGeom prst="roundRect">
            <a:avLst>
              <a:gd name="adj" fmla="val 14251"/>
            </a:avLst>
          </a:prstGeom>
          <a:solidFill>
            <a:srgbClr val="FFFFFF"/>
          </a:solidFill>
          <a:ln w="1079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5" name="Oval 34"/>
          <p:cNvSpPr/>
          <p:nvPr/>
        </p:nvSpPr>
        <p:spPr>
          <a:xfrm>
            <a:off x="841247" y="4614976"/>
            <a:ext cx="420624" cy="420624"/>
          </a:xfrm>
          <a:prstGeom prst="ellipse">
            <a:avLst/>
          </a:prstGeom>
          <a:solidFill>
            <a:srgbClr val="F8E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41247" y="4614976"/>
            <a:ext cx="420624" cy="420624"/>
          </a:xfrm>
          <a:prstGeom prst="rect">
            <a:avLst/>
          </a:prstGeom>
          <a:noFill/>
        </p:spPr>
        <p:txBody>
          <a:bodyPr wrap="square" lIns="18288" rIns="18288" anchor="ctr">
            <a:spAutoFit/>
          </a:bodyPr>
          <a:lstStyle/>
          <a:p>
            <a:pPr algn="ctr"/>
            <a:r>
              <a:rPr sz="1300" b="1" i="0">
                <a:solidFill>
                  <a:srgbClr val="C0392B"/>
                </a:solidFill>
                <a:latin typeface="Segoe UI Semibold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463039" y="4440326"/>
            <a:ext cx="9905695" cy="7699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900" b="0" i="0">
                <a:solidFill>
                  <a:srgbClr val="14213D"/>
                </a:solidFill>
                <a:latin typeface="Segoe UI"/>
              </a:rPr>
              <a:t>One seed per configuration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0080" y="5356555"/>
            <a:ext cx="10911535" cy="769924"/>
          </a:xfrm>
          <a:prstGeom prst="roundRect">
            <a:avLst>
              <a:gd name="adj" fmla="val 14251"/>
            </a:avLst>
          </a:prstGeom>
          <a:solidFill>
            <a:srgbClr val="FFFFFF"/>
          </a:solidFill>
          <a:ln w="1079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9" name="Oval 38"/>
          <p:cNvSpPr/>
          <p:nvPr/>
        </p:nvSpPr>
        <p:spPr>
          <a:xfrm>
            <a:off x="841247" y="5531205"/>
            <a:ext cx="420624" cy="420624"/>
          </a:xfrm>
          <a:prstGeom prst="ellipse">
            <a:avLst/>
          </a:prstGeom>
          <a:solidFill>
            <a:srgbClr val="F8E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41247" y="5531205"/>
            <a:ext cx="420624" cy="420624"/>
          </a:xfrm>
          <a:prstGeom prst="rect">
            <a:avLst/>
          </a:prstGeom>
          <a:noFill/>
        </p:spPr>
        <p:txBody>
          <a:bodyPr wrap="square" lIns="18288" rIns="18288" anchor="ctr">
            <a:spAutoFit/>
          </a:bodyPr>
          <a:lstStyle/>
          <a:p>
            <a:pPr algn="ctr"/>
            <a:r>
              <a:rPr sz="1300" b="1" i="0">
                <a:solidFill>
                  <a:srgbClr val="C0392B"/>
                </a:solidFill>
                <a:latin typeface="Segoe UI Semibold"/>
              </a:rPr>
              <a:t>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463039" y="5356555"/>
            <a:ext cx="9905695" cy="7699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900" b="0" i="0">
                <a:solidFill>
                  <a:srgbClr val="14213D"/>
                </a:solidFill>
                <a:latin typeface="Segoe UI"/>
              </a:rPr>
              <a:t>CNNs and Vision Transformers evaluated (2 architecture families)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2121408" cy="292608"/>
          </a:xfrm>
          <a:prstGeom prst="roundRect">
            <a:avLst>
              <a:gd name="adj" fmla="val 50000"/>
            </a:avLst>
          </a:prstGeom>
          <a:solidFill>
            <a:srgbClr val="E2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2121408" cy="292608"/>
          </a:xfrm>
          <a:prstGeom prst="rect">
            <a:avLst/>
          </a:prstGeom>
          <a:noFill/>
        </p:spPr>
        <p:txBody>
          <a:bodyPr wrap="square" lIns="18288" rIns="18288" anchor="ctr">
            <a:spAutoFit/>
          </a:bodyPr>
          <a:lstStyle/>
          <a:p>
            <a:pPr algn="ctr"/>
            <a:r>
              <a:rPr sz="1050" b="1" i="0" spc="120">
                <a:solidFill>
                  <a:srgbClr val="0F7C74"/>
                </a:solidFill>
                <a:latin typeface="Segoe UI"/>
              </a:rPr>
              <a:t>07  ·  CONCLUSION</a:t>
            </a:r>
          </a:p>
        </p:txBody>
      </p:sp>
      <p:pic>
        <p:nvPicPr>
          <p:cNvPr id="5" name="Picture 4" descr="kit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9823" y="320040"/>
            <a:ext cx="621792" cy="62179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21792" y="731520"/>
            <a:ext cx="9997135" cy="685800"/>
          </a:xfrm>
          <a:prstGeom prst="rect">
            <a:avLst/>
          </a:prstGeom>
          <a:noFill/>
        </p:spPr>
        <p:txBody>
          <a:bodyPr wrap="square" lIns="18288" rIns="18288" anchor="ctr">
            <a:spAutoFit/>
          </a:bodyPr>
          <a:lstStyle/>
          <a:p>
            <a:pPr algn="l"/>
            <a:r>
              <a:rPr sz="3000" b="0" i="0">
                <a:solidFill>
                  <a:srgbClr val="14213D"/>
                </a:solidFill>
                <a:latin typeface="Segoe UI Semibold"/>
              </a:rPr>
              <a:t>Four takeaways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601968"/>
            <a:ext cx="1368073" cy="27432"/>
          </a:xfrm>
          <a:prstGeom prst="rect">
            <a:avLst/>
          </a:prstGeom>
          <a:solidFill>
            <a:srgbClr val="0F7C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6336792"/>
            <a:ext cx="1368073" cy="237744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  <a:latin typeface="Segoe UI"/>
              </a:rPr>
              <a:t>Problem</a:t>
            </a:r>
          </a:p>
        </p:txBody>
      </p:sp>
      <p:sp>
        <p:nvSpPr>
          <p:cNvPr id="9" name="Rectangle 8"/>
          <p:cNvSpPr/>
          <p:nvPr/>
        </p:nvSpPr>
        <p:spPr>
          <a:xfrm>
            <a:off x="2081305" y="6601968"/>
            <a:ext cx="1368073" cy="27432"/>
          </a:xfrm>
          <a:prstGeom prst="rect">
            <a:avLst/>
          </a:prstGeom>
          <a:solidFill>
            <a:srgbClr val="0F7C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081305" y="6336792"/>
            <a:ext cx="1368073" cy="237744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  <a:latin typeface="Segoe UI"/>
              </a:rPr>
              <a:t>Data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22530" y="6601968"/>
            <a:ext cx="1368073" cy="27432"/>
          </a:xfrm>
          <a:prstGeom prst="rect">
            <a:avLst/>
          </a:prstGeom>
          <a:solidFill>
            <a:srgbClr val="0F7C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522530" y="6336792"/>
            <a:ext cx="1368073" cy="237744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  <a:latin typeface="Segoe UI"/>
              </a:rPr>
              <a:t>Method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63755" y="6601968"/>
            <a:ext cx="1368073" cy="27432"/>
          </a:xfrm>
          <a:prstGeom prst="rect">
            <a:avLst/>
          </a:prstGeom>
          <a:solidFill>
            <a:srgbClr val="0F7C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63755" y="6336792"/>
            <a:ext cx="1368073" cy="237744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  <a:latin typeface="Segoe UI"/>
              </a:rPr>
              <a:t>Results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4980" y="6601968"/>
            <a:ext cx="1368073" cy="27432"/>
          </a:xfrm>
          <a:prstGeom prst="rect">
            <a:avLst/>
          </a:prstGeom>
          <a:solidFill>
            <a:srgbClr val="0F7C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4980" y="6336792"/>
            <a:ext cx="1368073" cy="237744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  <a:latin typeface="Segoe UI"/>
              </a:rPr>
              <a:t>Analysis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46205" y="6601968"/>
            <a:ext cx="1368073" cy="27432"/>
          </a:xfrm>
          <a:prstGeom prst="rect">
            <a:avLst/>
          </a:prstGeom>
          <a:solidFill>
            <a:srgbClr val="0F7C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846205" y="6336792"/>
            <a:ext cx="1368073" cy="237744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  <a:latin typeface="Segoe UI"/>
              </a:rPr>
              <a:t>Honesty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287430" y="6601968"/>
            <a:ext cx="1368073" cy="45720"/>
          </a:xfrm>
          <a:prstGeom prst="rect">
            <a:avLst/>
          </a:prstGeom>
          <a:solidFill>
            <a:srgbClr val="E09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287430" y="6336792"/>
            <a:ext cx="1368073" cy="237744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850" b="1" i="0">
                <a:solidFill>
                  <a:srgbClr val="14213D"/>
                </a:solidFill>
                <a:latin typeface="Segoe UI"/>
              </a:rPr>
              <a:t>Conclusion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20095" y="6373368"/>
            <a:ext cx="731520" cy="27432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r"/>
            <a:r>
              <a:rPr sz="1100" b="1" i="0">
                <a:solidFill>
                  <a:srgbClr val="0F7C74"/>
                </a:solidFill>
                <a:latin typeface="Segoe UI Semibold"/>
              </a:rPr>
              <a:t>14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1645920"/>
            <a:ext cx="5355183" cy="1682495"/>
          </a:xfrm>
          <a:prstGeom prst="roundRect">
            <a:avLst>
              <a:gd name="adj" fmla="val 6521"/>
            </a:avLst>
          </a:prstGeom>
          <a:solidFill>
            <a:srgbClr val="FFFFFF"/>
          </a:solidFill>
          <a:ln w="1079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14400" y="1920240"/>
            <a:ext cx="384048" cy="45720"/>
          </a:xfrm>
          <a:prstGeom prst="rect">
            <a:avLst/>
          </a:prstGeom>
          <a:solidFill>
            <a:srgbClr val="0F7C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96112" y="1993392"/>
            <a:ext cx="914400" cy="45720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1500" b="1" i="0">
                <a:solidFill>
                  <a:srgbClr val="0F7C74"/>
                </a:solidFill>
                <a:latin typeface="Segoe UI Semibold"/>
              </a:rPr>
              <a:t>01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6112" y="2395728"/>
            <a:ext cx="4843119" cy="81381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900" b="1" i="0">
                <a:solidFill>
                  <a:srgbClr val="0F7C74"/>
                </a:solidFill>
                <a:latin typeface="Segoe UI"/>
              </a:rPr>
              <a:t>Train the whole network</a:t>
            </a:r>
            <a:r>
              <a:rPr sz="1900" b="0" i="0">
                <a:solidFill>
                  <a:srgbClr val="14213D"/>
                </a:solidFill>
                <a:latin typeface="Segoe UI"/>
              </a:rPr>
              <a:t> — frozen features do not transfer (42 %)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96431" y="1645920"/>
            <a:ext cx="5355183" cy="1682495"/>
          </a:xfrm>
          <a:prstGeom prst="roundRect">
            <a:avLst>
              <a:gd name="adj" fmla="val 6521"/>
            </a:avLst>
          </a:prstGeom>
          <a:solidFill>
            <a:srgbClr val="FFFFFF"/>
          </a:solidFill>
          <a:ln w="1079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470751" y="1920240"/>
            <a:ext cx="384048" cy="45720"/>
          </a:xfrm>
          <a:prstGeom prst="rect">
            <a:avLst/>
          </a:prstGeom>
          <a:solidFill>
            <a:srgbClr val="0F7C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52463" y="1993392"/>
            <a:ext cx="914400" cy="45720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1500" b="1" i="0">
                <a:solidFill>
                  <a:srgbClr val="0F7C74"/>
                </a:solidFill>
                <a:latin typeface="Segoe UI Semibold"/>
              </a:rPr>
              <a:t>02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52463" y="2395728"/>
            <a:ext cx="4843119" cy="81381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900" b="1" i="0">
                <a:solidFill>
                  <a:srgbClr val="0F7C74"/>
                </a:solidFill>
                <a:latin typeface="Segoe UI"/>
              </a:rPr>
              <a:t>Transformers excel on script</a:t>
            </a:r>
            <a:r>
              <a:rPr sz="1900" b="0" i="0">
                <a:solidFill>
                  <a:srgbClr val="14213D"/>
                </a:solidFill>
                <a:latin typeface="Segoe UI"/>
              </a:rPr>
              <a:t> — ViT matches 96.1 % &amp; lifts upside-down to 26.8 %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3529584"/>
            <a:ext cx="5355183" cy="1682495"/>
          </a:xfrm>
          <a:prstGeom prst="roundRect">
            <a:avLst>
              <a:gd name="adj" fmla="val 6521"/>
            </a:avLst>
          </a:prstGeom>
          <a:solidFill>
            <a:srgbClr val="FFFFFF"/>
          </a:solidFill>
          <a:ln w="1079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914400" y="3803904"/>
            <a:ext cx="384048" cy="45720"/>
          </a:xfrm>
          <a:prstGeom prst="rect">
            <a:avLst/>
          </a:prstGeom>
          <a:solidFill>
            <a:srgbClr val="0F7C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96112" y="3877056"/>
            <a:ext cx="914400" cy="45720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1500" b="1" i="0">
                <a:solidFill>
                  <a:srgbClr val="0F7C74"/>
                </a:solidFill>
                <a:latin typeface="Segoe UI Semibold"/>
              </a:rPr>
              <a:t>03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6112" y="4279392"/>
            <a:ext cx="4843119" cy="81381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900" b="1" i="0">
                <a:solidFill>
                  <a:srgbClr val="0F7C74"/>
                </a:solidFill>
                <a:latin typeface="Segoe UI"/>
              </a:rPr>
              <a:t>Capacity matters</a:t>
            </a:r>
            <a:r>
              <a:rPr sz="1900" b="0" i="0">
                <a:solidFill>
                  <a:srgbClr val="14213D"/>
                </a:solidFill>
                <a:latin typeface="Segoe UI"/>
              </a:rPr>
              <a:t> — 0.4 M parameters is not enough; 11 M to 86 M is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96431" y="3529584"/>
            <a:ext cx="5355183" cy="1682495"/>
          </a:xfrm>
          <a:prstGeom prst="roundRect">
            <a:avLst>
              <a:gd name="adj" fmla="val 6521"/>
            </a:avLst>
          </a:prstGeom>
          <a:solidFill>
            <a:srgbClr val="FFFFFF"/>
          </a:solidFill>
          <a:ln w="1079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6470751" y="3803904"/>
            <a:ext cx="384048" cy="45720"/>
          </a:xfrm>
          <a:prstGeom prst="rect">
            <a:avLst/>
          </a:prstGeom>
          <a:solidFill>
            <a:srgbClr val="0F7C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452463" y="3877056"/>
            <a:ext cx="914400" cy="45720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1500" b="1" i="0">
                <a:solidFill>
                  <a:srgbClr val="0F7C74"/>
                </a:solidFill>
                <a:latin typeface="Segoe UI Semibold"/>
              </a:rPr>
              <a:t>04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52463" y="4279392"/>
            <a:ext cx="4843119" cy="81381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900" b="0" i="0">
                <a:solidFill>
                  <a:srgbClr val="14213D"/>
                </a:solidFill>
                <a:latin typeface="Segoe UI"/>
              </a:rPr>
              <a:t>For CNNs, biggest gain came from </a:t>
            </a:r>
            <a:r>
              <a:rPr sz="1900" b="1" i="0">
                <a:solidFill>
                  <a:srgbClr val="0F7C74"/>
                </a:solidFill>
                <a:latin typeface="Segoe UI"/>
              </a:rPr>
              <a:t>tuning the learning rate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0080" y="5440680"/>
            <a:ext cx="10911535" cy="640080"/>
          </a:xfrm>
          <a:prstGeom prst="roundRect">
            <a:avLst>
              <a:gd name="adj" fmla="val 17142"/>
            </a:avLst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14400" y="5440680"/>
            <a:ext cx="10362895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 i="0">
                <a:solidFill>
                  <a:srgbClr val="E09A1A"/>
                </a:solidFill>
                <a:latin typeface="Segoe UI"/>
              </a:rPr>
              <a:t>Next:</a:t>
            </a:r>
            <a:r>
              <a:rPr sz="1500" b="0" i="0">
                <a:solidFill>
                  <a:srgbClr val="FFFFFF"/>
                </a:solidFill>
                <a:latin typeface="Segoe UI"/>
              </a:rPr>
              <a:t>  re-split by source photo  ·  photograph the five smallest provinces  ·  benchmark Swin Transformer &amp; edge quantization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kit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74175" y="2057400"/>
            <a:ext cx="2194560" cy="219456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822960" y="2011680"/>
            <a:ext cx="2039982" cy="292608"/>
          </a:xfrm>
          <a:prstGeom prst="roundRect">
            <a:avLst>
              <a:gd name="adj" fmla="val 50000"/>
            </a:avLst>
          </a:prstGeom>
          <a:solidFill>
            <a:srgbClr val="E2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2011680"/>
            <a:ext cx="2039982" cy="292608"/>
          </a:xfrm>
          <a:prstGeom prst="rect">
            <a:avLst/>
          </a:prstGeom>
          <a:noFill/>
        </p:spPr>
        <p:txBody>
          <a:bodyPr wrap="square" lIns="18288" rIns="18288" anchor="ctr">
            <a:spAutoFit/>
          </a:bodyPr>
          <a:lstStyle/>
          <a:p>
            <a:pPr algn="ctr"/>
            <a:r>
              <a:rPr sz="1000" b="1" i="0" spc="120">
                <a:solidFill>
                  <a:srgbClr val="0F7C74"/>
                </a:solidFill>
                <a:latin typeface="Segoe UI"/>
              </a:rPr>
              <a:t>QUESTIONS WELCOME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2423160"/>
            <a:ext cx="10058400" cy="100584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5400" b="0" i="0">
                <a:solidFill>
                  <a:srgbClr val="14213D"/>
                </a:solidFill>
                <a:latin typeface="Segoe UI Semibold"/>
              </a:rPr>
              <a:t>Thank you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3611880"/>
            <a:ext cx="548640" cy="45720"/>
          </a:xfrm>
          <a:prstGeom prst="rect">
            <a:avLst/>
          </a:prstGeom>
          <a:solidFill>
            <a:srgbClr val="0F7C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3840480"/>
            <a:ext cx="10058400" cy="45720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2000" b="0" i="0">
                <a:solidFill>
                  <a:srgbClr val="6B7280"/>
                </a:solidFill>
                <a:latin typeface="Segoe UI"/>
              </a:rPr>
              <a:t>Every number came from a script in the repository.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389120"/>
            <a:ext cx="10058400" cy="36576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1500" b="1" i="0">
                <a:solidFill>
                  <a:srgbClr val="0F7C74"/>
                </a:solidFill>
                <a:latin typeface="Segoe UI"/>
              </a:rPr>
              <a:t>github.com/SoSereysokbotra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ki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57055" y="2240280"/>
            <a:ext cx="2011680" cy="201168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822960" y="2514600"/>
            <a:ext cx="1177834" cy="292608"/>
          </a:xfrm>
          <a:prstGeom prst="roundRect">
            <a:avLst>
              <a:gd name="adj" fmla="val 50000"/>
            </a:avLst>
          </a:prstGeom>
          <a:solidFill>
            <a:srgbClr val="E2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2514600"/>
            <a:ext cx="1177834" cy="292608"/>
          </a:xfrm>
          <a:prstGeom prst="rect">
            <a:avLst/>
          </a:prstGeom>
          <a:noFill/>
        </p:spPr>
        <p:txBody>
          <a:bodyPr wrap="square" lIns="18288" rIns="18288" anchor="ctr">
            <a:spAutoFit/>
          </a:bodyPr>
          <a:lstStyle/>
          <a:p>
            <a:pPr algn="ctr"/>
            <a:r>
              <a:rPr sz="1000" b="1" i="0" spc="120">
                <a:solidFill>
                  <a:srgbClr val="0F7C74"/>
                </a:solidFill>
                <a:latin typeface="Segoe UI"/>
              </a:rPr>
              <a:t>APPENDIX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2926080"/>
            <a:ext cx="10058400" cy="82296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4000" b="0" i="0">
                <a:solidFill>
                  <a:srgbClr val="14213D"/>
                </a:solidFill>
                <a:latin typeface="Segoe UI Semibold"/>
              </a:rPr>
              <a:t>Supporting material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3840480"/>
            <a:ext cx="548640" cy="45720"/>
          </a:xfrm>
          <a:prstGeom prst="rect">
            <a:avLst/>
          </a:prstGeom>
          <a:solidFill>
            <a:srgbClr val="0F7C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4069080"/>
            <a:ext cx="9144000" cy="73152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1400" b="0" i="0">
                <a:solidFill>
                  <a:srgbClr val="6B7280"/>
                </a:solidFill>
                <a:latin typeface="Segoe UI"/>
              </a:rPr>
              <a:t>full results  ·  statistics  ·  tuning grid  ·  the gate system  ·  confusion  ·  per-class  ·  measurement  ·  code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1920240" cy="292608"/>
          </a:xfrm>
          <a:prstGeom prst="roundRect">
            <a:avLst>
              <a:gd name="adj" fmla="val 50000"/>
            </a:avLst>
          </a:prstGeom>
          <a:solidFill>
            <a:srgbClr val="E2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920240" cy="292608"/>
          </a:xfrm>
          <a:prstGeom prst="rect">
            <a:avLst/>
          </a:prstGeom>
          <a:noFill/>
        </p:spPr>
        <p:txBody>
          <a:bodyPr wrap="square" lIns="18288" rIns="18288" anchor="ctr">
            <a:spAutoFit/>
          </a:bodyPr>
          <a:lstStyle/>
          <a:p>
            <a:pPr algn="ctr"/>
            <a:r>
              <a:rPr sz="1050" b="1" i="0" spc="120">
                <a:solidFill>
                  <a:srgbClr val="0F7C74"/>
                </a:solidFill>
                <a:latin typeface="Segoe UI"/>
              </a:rPr>
              <a:t>APPENDIX  ·  A1</a:t>
            </a:r>
          </a:p>
        </p:txBody>
      </p:sp>
      <p:pic>
        <p:nvPicPr>
          <p:cNvPr id="5" name="Picture 4" descr="ki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9823" y="320040"/>
            <a:ext cx="621792" cy="62179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21792" y="731520"/>
            <a:ext cx="9997135" cy="685800"/>
          </a:xfrm>
          <a:prstGeom prst="rect">
            <a:avLst/>
          </a:prstGeom>
          <a:noFill/>
        </p:spPr>
        <p:txBody>
          <a:bodyPr wrap="square" lIns="18288" rIns="18288" anchor="ctr">
            <a:spAutoFit/>
          </a:bodyPr>
          <a:lstStyle/>
          <a:p>
            <a:pPr algn="l"/>
            <a:r>
              <a:rPr sz="3000" b="0" i="0">
                <a:solidFill>
                  <a:srgbClr val="14213D"/>
                </a:solidFill>
                <a:latin typeface="Segoe UI Semibold"/>
              </a:rPr>
              <a:t>Full results — every column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601968"/>
            <a:ext cx="10088575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6336792"/>
            <a:ext cx="5486400" cy="237744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  <a:latin typeface="Segoe UI"/>
              </a:rPr>
              <a:t>Appendix  ·  So Sereysokbotra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373368"/>
            <a:ext cx="731520" cy="27432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r"/>
            <a:r>
              <a:rPr sz="1100" b="1" i="0">
                <a:solidFill>
                  <a:srgbClr val="0F7C74"/>
                </a:solidFill>
                <a:latin typeface="Segoe UI Semibold"/>
              </a:rPr>
              <a:t>A1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40080" y="1600200"/>
          <a:ext cx="10911535" cy="24688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669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20060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endParaRPr/>
                    </a:p>
                  </a:txBody>
                  <a:tcPr marL="127000" marR="127000" marT="25400" marB="25400" anchor="ctr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1" b="1" i="0" spc="80">
                          <a:solidFill>
                            <a:srgbClr val="FFFFFF"/>
                          </a:solidFill>
                          <a:latin typeface="Segoe UI"/>
                        </a:rPr>
                        <a:t>APPROACH</a:t>
                      </a:r>
                    </a:p>
                  </a:txBody>
                  <a:tcPr marL="127000" marR="127000" marT="25400" marB="25400" anchor="ctr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1" b="1" i="0" spc="80">
                          <a:solidFill>
                            <a:srgbClr val="FFFFFF"/>
                          </a:solidFill>
                          <a:latin typeface="Segoe UI"/>
                        </a:rPr>
                        <a:t>VAL</a:t>
                      </a:r>
                    </a:p>
                  </a:txBody>
                  <a:tcPr marL="127000" marR="127000" marT="25400" marB="25400" anchor="ctr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1" b="1" i="0" spc="80">
                          <a:solidFill>
                            <a:srgbClr val="FFFFFF"/>
                          </a:solidFill>
                          <a:latin typeface="Segoe UI"/>
                        </a:rPr>
                        <a:t>TEST</a:t>
                      </a:r>
                    </a:p>
                  </a:txBody>
                  <a:tcPr marL="127000" marR="127000" marT="25400" marB="25400" anchor="ctr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1" b="1" i="0" spc="80">
                          <a:solidFill>
                            <a:srgbClr val="FFFFFF"/>
                          </a:solidFill>
                          <a:latin typeface="Segoe UI"/>
                        </a:rPr>
                        <a:t>CLEAN N=491</a:t>
                      </a:r>
                    </a:p>
                  </a:txBody>
                  <a:tcPr marL="127000" marR="127000" marT="25400" marB="25400" anchor="ctr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1" b="1" i="0" spc="80">
                          <a:solidFill>
                            <a:srgbClr val="FFFFFF"/>
                          </a:solidFill>
                          <a:latin typeface="Segoe UI"/>
                        </a:rPr>
                        <a:t>MACRO-F1</a:t>
                      </a:r>
                    </a:p>
                  </a:txBody>
                  <a:tcPr marL="127000" marR="127000" marT="25400" marB="25400" anchor="ctr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1" b="1" i="0" spc="80">
                          <a:solidFill>
                            <a:srgbClr val="FFFFFF"/>
                          </a:solidFill>
                          <a:latin typeface="Segoe UI"/>
                        </a:rPr>
                        <a:t>TRAINABLE</a:t>
                      </a:r>
                    </a:p>
                  </a:txBody>
                  <a:tcPr marL="127000" marR="127000" marT="25400" marB="25400" anchor="ctr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1" b="1" i="0" spc="80">
                          <a:solidFill>
                            <a:srgbClr val="FFFFFF"/>
                          </a:solidFill>
                          <a:latin typeface="Segoe UI"/>
                        </a:rPr>
                        <a:t>TIME</a:t>
                      </a:r>
                    </a:p>
                  </a:txBody>
                  <a:tcPr marL="127000" marR="127000" marT="25400" marB="25400" anchor="ctr">
                    <a:solidFill>
                      <a:srgbClr val="1421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350" b="1" i="0">
                          <a:solidFill>
                            <a:srgbClr val="14213D"/>
                          </a:solidFill>
                          <a:latin typeface="Segoe UI Semibold"/>
                        </a:rPr>
                        <a:t>A</a:t>
                      </a:r>
                    </a:p>
                  </a:txBody>
                  <a:tcPr marL="127000" marR="1270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14213D"/>
                          </a:solidFill>
                          <a:latin typeface="Segoe UI"/>
                        </a:rPr>
                        <a:t>ResNet18 scratch</a:t>
                      </a:r>
                    </a:p>
                  </a:txBody>
                  <a:tcPr marL="127000" marR="1270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14213D"/>
                          </a:solidFill>
                          <a:latin typeface="Segoe UI"/>
                        </a:rPr>
                        <a:t>93.8 %</a:t>
                      </a:r>
                    </a:p>
                  </a:txBody>
                  <a:tcPr marL="127000" marR="1270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 i="0">
                          <a:solidFill>
                            <a:srgbClr val="0F7C74"/>
                          </a:solidFill>
                          <a:latin typeface="Segoe UI Semibold"/>
                        </a:rPr>
                        <a:t>93.3 %</a:t>
                      </a:r>
                    </a:p>
                  </a:txBody>
                  <a:tcPr marL="127000" marR="1270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14213D"/>
                          </a:solidFill>
                          <a:latin typeface="Segoe UI"/>
                        </a:rPr>
                        <a:t>94.7 %</a:t>
                      </a:r>
                    </a:p>
                  </a:txBody>
                  <a:tcPr marL="127000" marR="1270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14213D"/>
                          </a:solidFill>
                          <a:latin typeface="Segoe UI"/>
                        </a:rPr>
                        <a:t>92.9 %</a:t>
                      </a:r>
                    </a:p>
                  </a:txBody>
                  <a:tcPr marL="127000" marR="1270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14213D"/>
                          </a:solidFill>
                          <a:latin typeface="Segoe UI"/>
                        </a:rPr>
                        <a:t>11 189 850</a:t>
                      </a:r>
                    </a:p>
                  </a:txBody>
                  <a:tcPr marL="127000" marR="1270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14213D"/>
                          </a:solidFill>
                          <a:latin typeface="Segoe UI"/>
                        </a:rPr>
                        <a:t>6.1 min</a:t>
                      </a:r>
                    </a:p>
                  </a:txBody>
                  <a:tcPr marL="127000" marR="1270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350" b="1" i="0">
                          <a:solidFill>
                            <a:srgbClr val="14213D"/>
                          </a:solidFill>
                          <a:latin typeface="Segoe UI Semibold"/>
                        </a:rPr>
                        <a:t>B</a:t>
                      </a:r>
                    </a:p>
                  </a:txBody>
                  <a:tcPr marL="127000" marR="127000" marT="25400" marB="254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14213D"/>
                          </a:solidFill>
                          <a:latin typeface="Segoe UI"/>
                        </a:rPr>
                        <a:t>ResNet18 frozen</a:t>
                      </a:r>
                    </a:p>
                  </a:txBody>
                  <a:tcPr marL="127000" marR="127000" marT="25400" marB="254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14213D"/>
                          </a:solidFill>
                          <a:latin typeface="Segoe UI"/>
                        </a:rPr>
                        <a:t>40.1 %</a:t>
                      </a:r>
                    </a:p>
                  </a:txBody>
                  <a:tcPr marL="127000" marR="127000" marT="25400" marB="254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 i="0">
                          <a:solidFill>
                            <a:srgbClr val="0F7C74"/>
                          </a:solidFill>
                          <a:latin typeface="Segoe UI Semibold"/>
                        </a:rPr>
                        <a:t>42.0 %</a:t>
                      </a:r>
                    </a:p>
                  </a:txBody>
                  <a:tcPr marL="127000" marR="127000" marT="25400" marB="254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14213D"/>
                          </a:solidFill>
                          <a:latin typeface="Segoe UI"/>
                        </a:rPr>
                        <a:t>43.2 %</a:t>
                      </a:r>
                    </a:p>
                  </a:txBody>
                  <a:tcPr marL="127000" marR="127000" marT="25400" marB="254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14213D"/>
                          </a:solidFill>
                          <a:latin typeface="Segoe UI"/>
                        </a:rPr>
                        <a:t>37.9 %</a:t>
                      </a:r>
                    </a:p>
                  </a:txBody>
                  <a:tcPr marL="127000" marR="127000" marT="25400" marB="254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14213D"/>
                          </a:solidFill>
                          <a:latin typeface="Segoe UI"/>
                        </a:rPr>
                        <a:t>13 338</a:t>
                      </a:r>
                    </a:p>
                  </a:txBody>
                  <a:tcPr marL="127000" marR="127000" marT="25400" marB="254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14213D"/>
                          </a:solidFill>
                          <a:latin typeface="Segoe UI"/>
                        </a:rPr>
                        <a:t>5.3 min</a:t>
                      </a:r>
                    </a:p>
                  </a:txBody>
                  <a:tcPr marL="127000" marR="127000" marT="25400" marB="25400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350" b="1" i="0">
                          <a:solidFill>
                            <a:srgbClr val="14213D"/>
                          </a:solidFill>
                          <a:latin typeface="Segoe UI Semibold"/>
                        </a:rPr>
                        <a:t>C</a:t>
                      </a:r>
                    </a:p>
                  </a:txBody>
                  <a:tcPr marL="127000" marR="1270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14213D"/>
                          </a:solidFill>
                          <a:latin typeface="Segoe UI"/>
                        </a:rPr>
                        <a:t>ResNet18 fine-tune</a:t>
                      </a:r>
                    </a:p>
                  </a:txBody>
                  <a:tcPr marL="127000" marR="1270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14213D"/>
                          </a:solidFill>
                          <a:latin typeface="Segoe UI"/>
                        </a:rPr>
                        <a:t>92.6 %</a:t>
                      </a:r>
                    </a:p>
                  </a:txBody>
                  <a:tcPr marL="127000" marR="1270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 i="0">
                          <a:solidFill>
                            <a:srgbClr val="0F7C74"/>
                          </a:solidFill>
                          <a:latin typeface="Segoe UI Semibold"/>
                        </a:rPr>
                        <a:t>94.0 %</a:t>
                      </a:r>
                    </a:p>
                  </a:txBody>
                  <a:tcPr marL="127000" marR="1270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14213D"/>
                          </a:solidFill>
                          <a:latin typeface="Segoe UI"/>
                        </a:rPr>
                        <a:t>95.3 %</a:t>
                      </a:r>
                    </a:p>
                  </a:txBody>
                  <a:tcPr marL="127000" marR="1270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14213D"/>
                          </a:solidFill>
                          <a:latin typeface="Segoe UI"/>
                        </a:rPr>
                        <a:t>92.4 %</a:t>
                      </a:r>
                    </a:p>
                  </a:txBody>
                  <a:tcPr marL="127000" marR="1270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14213D"/>
                          </a:solidFill>
                          <a:latin typeface="Segoe UI"/>
                        </a:rPr>
                        <a:t>11 189 850</a:t>
                      </a:r>
                    </a:p>
                  </a:txBody>
                  <a:tcPr marL="127000" marR="1270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14213D"/>
                          </a:solidFill>
                          <a:latin typeface="Segoe UI"/>
                        </a:rPr>
                        <a:t>5.9 min</a:t>
                      </a:r>
                    </a:p>
                  </a:txBody>
                  <a:tcPr marL="127000" marR="1270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350" b="1" i="0">
                          <a:solidFill>
                            <a:srgbClr val="14213D"/>
                          </a:solidFill>
                          <a:latin typeface="Segoe UI Semibold"/>
                        </a:rPr>
                        <a:t>D</a:t>
                      </a:r>
                    </a:p>
                  </a:txBody>
                  <a:tcPr marL="127000" marR="127000" marT="25400" marB="254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14213D"/>
                          </a:solidFill>
                          <a:latin typeface="Segoe UI"/>
                        </a:rPr>
                        <a:t>small CNN</a:t>
                      </a:r>
                    </a:p>
                  </a:txBody>
                  <a:tcPr marL="127000" marR="127000" marT="25400" marB="254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14213D"/>
                          </a:solidFill>
                          <a:latin typeface="Segoe UI"/>
                        </a:rPr>
                        <a:t>48.4 %</a:t>
                      </a:r>
                    </a:p>
                  </a:txBody>
                  <a:tcPr marL="127000" marR="127000" marT="25400" marB="254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 i="0">
                          <a:solidFill>
                            <a:srgbClr val="0F7C74"/>
                          </a:solidFill>
                          <a:latin typeface="Segoe UI Semibold"/>
                        </a:rPr>
                        <a:t>46.6 %</a:t>
                      </a:r>
                    </a:p>
                  </a:txBody>
                  <a:tcPr marL="127000" marR="127000" marT="25400" marB="254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14213D"/>
                          </a:solidFill>
                          <a:latin typeface="Segoe UI"/>
                        </a:rPr>
                        <a:t>47.7 %</a:t>
                      </a:r>
                    </a:p>
                  </a:txBody>
                  <a:tcPr marL="127000" marR="127000" marT="25400" marB="254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14213D"/>
                          </a:solidFill>
                          <a:latin typeface="Segoe UI"/>
                        </a:rPr>
                        <a:t>40.7 %</a:t>
                      </a:r>
                    </a:p>
                  </a:txBody>
                  <a:tcPr marL="127000" marR="127000" marT="25400" marB="254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14213D"/>
                          </a:solidFill>
                          <a:latin typeface="Segoe UI"/>
                        </a:rPr>
                        <a:t>396 058</a:t>
                      </a:r>
                    </a:p>
                  </a:txBody>
                  <a:tcPr marL="127000" marR="127000" marT="25400" marB="254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14213D"/>
                          </a:solidFill>
                          <a:latin typeface="Segoe UI"/>
                        </a:rPr>
                        <a:t>5.3 min</a:t>
                      </a:r>
                    </a:p>
                  </a:txBody>
                  <a:tcPr marL="127000" marR="127000" marT="25400" marB="25400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350" b="1" i="0">
                          <a:solidFill>
                            <a:srgbClr val="14213D"/>
                          </a:solidFill>
                          <a:latin typeface="Segoe UI Semibold"/>
                        </a:rPr>
                        <a:t>E</a:t>
                      </a:r>
                    </a:p>
                  </a:txBody>
                  <a:tcPr marL="127000" marR="1270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14213D"/>
                          </a:solidFill>
                          <a:latin typeface="Segoe UI"/>
                        </a:rPr>
                        <a:t>ViT-B/16 fine-tune</a:t>
                      </a:r>
                    </a:p>
                  </a:txBody>
                  <a:tcPr marL="127000" marR="1270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14213D"/>
                          </a:solidFill>
                          <a:latin typeface="Segoe UI"/>
                        </a:rPr>
                        <a:t>96.2 %</a:t>
                      </a:r>
                    </a:p>
                  </a:txBody>
                  <a:tcPr marL="127000" marR="1270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 i="0">
                          <a:solidFill>
                            <a:srgbClr val="0F7C74"/>
                          </a:solidFill>
                          <a:latin typeface="Segoe UI Semibold"/>
                        </a:rPr>
                        <a:t>96.1 %</a:t>
                      </a:r>
                    </a:p>
                  </a:txBody>
                  <a:tcPr marL="127000" marR="1270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14213D"/>
                          </a:solidFill>
                          <a:latin typeface="Segoe UI"/>
                        </a:rPr>
                        <a:t>96.5 %</a:t>
                      </a:r>
                    </a:p>
                  </a:txBody>
                  <a:tcPr marL="127000" marR="1270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14213D"/>
                          </a:solidFill>
                          <a:latin typeface="Segoe UI"/>
                        </a:rPr>
                        <a:t>95.8 %</a:t>
                      </a:r>
                    </a:p>
                  </a:txBody>
                  <a:tcPr marL="127000" marR="1270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14213D"/>
                          </a:solidFill>
                          <a:latin typeface="Segoe UI"/>
                        </a:rPr>
                        <a:t>85 818 650</a:t>
                      </a:r>
                    </a:p>
                  </a:txBody>
                  <a:tcPr marL="127000" marR="1270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14213D"/>
                          </a:solidFill>
                          <a:latin typeface="Segoe UI"/>
                        </a:rPr>
                        <a:t>8.0 min</a:t>
                      </a:r>
                    </a:p>
                  </a:txBody>
                  <a:tcPr marL="127000" marR="1270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640080" y="4343400"/>
            <a:ext cx="10911535" cy="521207"/>
          </a:xfrm>
          <a:prstGeom prst="roundRect">
            <a:avLst>
              <a:gd name="adj" fmla="val 21052"/>
            </a:avLst>
          </a:prstGeom>
          <a:solidFill>
            <a:srgbClr val="FFFFFF"/>
          </a:solidFill>
          <a:ln w="1079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Oval 11"/>
          <p:cNvSpPr/>
          <p:nvPr/>
        </p:nvSpPr>
        <p:spPr>
          <a:xfrm>
            <a:off x="841247" y="4434840"/>
            <a:ext cx="338327" cy="338327"/>
          </a:xfrm>
          <a:prstGeom prst="ellipse">
            <a:avLst/>
          </a:prstGeom>
          <a:solidFill>
            <a:srgbClr val="E2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41247" y="4434840"/>
            <a:ext cx="338327" cy="338327"/>
          </a:xfrm>
          <a:prstGeom prst="rect">
            <a:avLst/>
          </a:prstGeom>
          <a:noFill/>
        </p:spPr>
        <p:txBody>
          <a:bodyPr wrap="square" lIns="18288" rIns="18288" anchor="ctr">
            <a:spAutoFit/>
          </a:bodyPr>
          <a:lstStyle/>
          <a:p>
            <a:pPr algn="ctr"/>
            <a:r>
              <a:rPr sz="1200" b="1" i="0">
                <a:solidFill>
                  <a:srgbClr val="0F7C74"/>
                </a:solidFill>
                <a:latin typeface="Segoe UI Semibold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80743" y="4343400"/>
            <a:ext cx="9987991" cy="52120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0" i="0">
                <a:solidFill>
                  <a:srgbClr val="14213D"/>
                </a:solidFill>
                <a:latin typeface="Segoe UI"/>
              </a:rPr>
              <a:t>Model chosen on </a:t>
            </a:r>
            <a:r>
              <a:rPr sz="1400" b="1" i="0">
                <a:solidFill>
                  <a:srgbClr val="0F7C74"/>
                </a:solidFill>
                <a:latin typeface="Segoe UI"/>
              </a:rPr>
              <a:t>val</a:t>
            </a:r>
            <a:r>
              <a:rPr sz="1400" b="0" i="0">
                <a:solidFill>
                  <a:srgbClr val="14213D"/>
                </a:solidFill>
                <a:latin typeface="Segoe UI"/>
              </a:rPr>
              <a:t>; test read </a:t>
            </a:r>
            <a:r>
              <a:rPr sz="1400" b="1" i="0">
                <a:solidFill>
                  <a:srgbClr val="0F7C74"/>
                </a:solidFill>
                <a:latin typeface="Segoe UI"/>
              </a:rPr>
              <a:t>once</a:t>
            </a:r>
            <a:r>
              <a:rPr sz="1400" b="0" i="0">
                <a:solidFill>
                  <a:srgbClr val="14213D"/>
                </a:solidFill>
                <a:latin typeface="Segoe UI"/>
              </a:rPr>
              <a:t> per run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974336"/>
            <a:ext cx="10911535" cy="521207"/>
          </a:xfrm>
          <a:prstGeom prst="roundRect">
            <a:avLst>
              <a:gd name="adj" fmla="val 21052"/>
            </a:avLst>
          </a:prstGeom>
          <a:solidFill>
            <a:srgbClr val="FFFFFF"/>
          </a:solidFill>
          <a:ln w="1079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Oval 15"/>
          <p:cNvSpPr/>
          <p:nvPr/>
        </p:nvSpPr>
        <p:spPr>
          <a:xfrm>
            <a:off x="841247" y="5065775"/>
            <a:ext cx="338327" cy="338327"/>
          </a:xfrm>
          <a:prstGeom prst="ellipse">
            <a:avLst/>
          </a:prstGeom>
          <a:solidFill>
            <a:srgbClr val="E2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1247" y="5065775"/>
            <a:ext cx="338327" cy="338327"/>
          </a:xfrm>
          <a:prstGeom prst="rect">
            <a:avLst/>
          </a:prstGeom>
          <a:noFill/>
        </p:spPr>
        <p:txBody>
          <a:bodyPr wrap="square" lIns="18288" rIns="18288" anchor="ctr">
            <a:spAutoFit/>
          </a:bodyPr>
          <a:lstStyle/>
          <a:p>
            <a:pPr algn="ctr"/>
            <a:r>
              <a:rPr sz="1200" b="1" i="0">
                <a:solidFill>
                  <a:srgbClr val="0F7C74"/>
                </a:solidFill>
                <a:latin typeface="Segoe UI Semibold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80743" y="4974336"/>
            <a:ext cx="9987991" cy="52120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0" i="0">
                <a:solidFill>
                  <a:srgbClr val="14213D"/>
                </a:solidFill>
                <a:latin typeface="Segoe UI"/>
              </a:rPr>
              <a:t>Clean subset = the 491 crops with no shared source photo — accuracy is </a:t>
            </a:r>
            <a:r>
              <a:rPr sz="1400" b="0" i="1">
                <a:solidFill>
                  <a:srgbClr val="14213D"/>
                </a:solidFill>
                <a:latin typeface="Segoe UI"/>
              </a:rPr>
              <a:t>higher</a:t>
            </a:r>
            <a:r>
              <a:rPr sz="1400" b="0" i="0">
                <a:solidFill>
                  <a:srgbClr val="14213D"/>
                </a:solidFill>
                <a:latin typeface="Segoe UI"/>
              </a:rPr>
              <a:t>, so the leak did not inflate anything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5605272"/>
            <a:ext cx="10911535" cy="521207"/>
          </a:xfrm>
          <a:prstGeom prst="roundRect">
            <a:avLst>
              <a:gd name="adj" fmla="val 21052"/>
            </a:avLst>
          </a:prstGeom>
          <a:solidFill>
            <a:srgbClr val="FFFFFF"/>
          </a:solidFill>
          <a:ln w="1079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Oval 19"/>
          <p:cNvSpPr/>
          <p:nvPr/>
        </p:nvSpPr>
        <p:spPr>
          <a:xfrm>
            <a:off x="841247" y="5696712"/>
            <a:ext cx="338327" cy="338327"/>
          </a:xfrm>
          <a:prstGeom prst="ellipse">
            <a:avLst/>
          </a:prstGeom>
          <a:solidFill>
            <a:srgbClr val="E2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41247" y="5696712"/>
            <a:ext cx="338327" cy="338327"/>
          </a:xfrm>
          <a:prstGeom prst="rect">
            <a:avLst/>
          </a:prstGeom>
          <a:noFill/>
        </p:spPr>
        <p:txBody>
          <a:bodyPr wrap="square" lIns="18288" rIns="18288" anchor="ctr">
            <a:spAutoFit/>
          </a:bodyPr>
          <a:lstStyle/>
          <a:p>
            <a:pPr algn="ctr"/>
            <a:r>
              <a:rPr sz="1200" b="1" i="0">
                <a:solidFill>
                  <a:srgbClr val="0F7C74"/>
                </a:solidFill>
                <a:latin typeface="Segoe UI Semibol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80743" y="5605272"/>
            <a:ext cx="9987991" cy="52120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0" i="0">
                <a:solidFill>
                  <a:srgbClr val="14213D"/>
                </a:solidFill>
                <a:latin typeface="Segoe UI"/>
              </a:rPr>
              <a:t>All runs: 40 epochs, batch 32, seed 42, Colab T4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1920240" cy="292608"/>
          </a:xfrm>
          <a:prstGeom prst="roundRect">
            <a:avLst>
              <a:gd name="adj" fmla="val 50000"/>
            </a:avLst>
          </a:prstGeom>
          <a:solidFill>
            <a:srgbClr val="E2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920240" cy="292608"/>
          </a:xfrm>
          <a:prstGeom prst="rect">
            <a:avLst/>
          </a:prstGeom>
          <a:noFill/>
        </p:spPr>
        <p:txBody>
          <a:bodyPr wrap="square" lIns="18288" rIns="18288" anchor="ctr">
            <a:spAutoFit/>
          </a:bodyPr>
          <a:lstStyle/>
          <a:p>
            <a:pPr algn="ctr"/>
            <a:r>
              <a:rPr sz="1050" b="1" i="0" spc="120">
                <a:solidFill>
                  <a:srgbClr val="0F7C74"/>
                </a:solidFill>
                <a:latin typeface="Segoe UI"/>
              </a:rPr>
              <a:t>APPENDIX  ·  A2</a:t>
            </a:r>
          </a:p>
        </p:txBody>
      </p:sp>
      <p:pic>
        <p:nvPicPr>
          <p:cNvPr id="5" name="Picture 4" descr="ki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9823" y="320040"/>
            <a:ext cx="621792" cy="62179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21792" y="731520"/>
            <a:ext cx="9997135" cy="685800"/>
          </a:xfrm>
          <a:prstGeom prst="rect">
            <a:avLst/>
          </a:prstGeom>
          <a:noFill/>
        </p:spPr>
        <p:txBody>
          <a:bodyPr wrap="square" lIns="18288" rIns="18288" anchor="ctr">
            <a:spAutoFit/>
          </a:bodyPr>
          <a:lstStyle/>
          <a:p>
            <a:pPr algn="l"/>
            <a:r>
              <a:rPr sz="3000" b="0" i="0">
                <a:solidFill>
                  <a:srgbClr val="14213D"/>
                </a:solidFill>
                <a:latin typeface="Segoe UI Semibold"/>
              </a:rPr>
              <a:t>Is the A–C difference real?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601968"/>
            <a:ext cx="10088575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6336792"/>
            <a:ext cx="5486400" cy="237744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  <a:latin typeface="Segoe UI"/>
              </a:rPr>
              <a:t>Appendix  ·  So Sereysokbotra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373368"/>
            <a:ext cx="731520" cy="27432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r"/>
            <a:r>
              <a:rPr sz="1100" b="1" i="0">
                <a:solidFill>
                  <a:srgbClr val="0F7C74"/>
                </a:solidFill>
                <a:latin typeface="Segoe UI Semibold"/>
              </a:rPr>
              <a:t>A2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572768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7C74"/>
                </a:solidFill>
                <a:latin typeface="Segoe UI"/>
              </a:rPr>
              <a:t>McNemar exact test</a:t>
            </a:r>
            <a:r>
              <a:rPr sz="1500" b="0" i="0">
                <a:solidFill>
                  <a:srgbClr val="14213D"/>
                </a:solidFill>
                <a:latin typeface="Segoe UI"/>
              </a:rPr>
              <a:t>, paired on the same 567 crops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40080" y="2011680"/>
          <a:ext cx="4754880" cy="153619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2064">
                <a:tc>
                  <a:txBody>
                    <a:bodyPr/>
                    <a:lstStyle/>
                    <a:p>
                      <a:endParaRPr/>
                    </a:p>
                  </a:txBody>
                  <a:tcPr marL="127000" marR="127000" marT="25400" marB="25400" anchor="ctr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24" b="1" i="0" spc="80">
                          <a:solidFill>
                            <a:srgbClr val="FFFFFF"/>
                          </a:solidFill>
                          <a:latin typeface="Segoe UI"/>
                        </a:rPr>
                        <a:t>C RIGHT</a:t>
                      </a:r>
                    </a:p>
                  </a:txBody>
                  <a:tcPr marL="127000" marR="127000" marT="25400" marB="25400" anchor="ctr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24" b="1" i="0" spc="80">
                          <a:solidFill>
                            <a:srgbClr val="FFFFFF"/>
                          </a:solidFill>
                          <a:latin typeface="Segoe UI"/>
                        </a:rPr>
                        <a:t>C WRONG</a:t>
                      </a:r>
                    </a:p>
                  </a:txBody>
                  <a:tcPr marL="127000" marR="127000" marT="25400" marB="25400" anchor="ctr">
                    <a:solidFill>
                      <a:srgbClr val="1421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r>
                        <a:rPr sz="1700" b="1" i="0">
                          <a:solidFill>
                            <a:srgbClr val="14213D"/>
                          </a:solidFill>
                          <a:latin typeface="Segoe UI Semibold"/>
                        </a:rPr>
                        <a:t>A right</a:t>
                      </a:r>
                    </a:p>
                  </a:txBody>
                  <a:tcPr marL="127000" marR="1270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 i="0">
                          <a:solidFill>
                            <a:srgbClr val="14213D"/>
                          </a:solidFill>
                          <a:latin typeface="Segoe UI"/>
                        </a:rPr>
                        <a:t>512</a:t>
                      </a:r>
                    </a:p>
                  </a:txBody>
                  <a:tcPr marL="127000" marR="1270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 i="0">
                          <a:solidFill>
                            <a:srgbClr val="14213D"/>
                          </a:solidFill>
                          <a:latin typeface="Segoe UI"/>
                        </a:rPr>
                        <a:t>17</a:t>
                      </a:r>
                    </a:p>
                  </a:txBody>
                  <a:tcPr marL="127000" marR="1270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r>
                        <a:rPr sz="1700" b="1" i="0">
                          <a:solidFill>
                            <a:srgbClr val="14213D"/>
                          </a:solidFill>
                          <a:latin typeface="Segoe UI Semibold"/>
                        </a:rPr>
                        <a:t>A wrong</a:t>
                      </a:r>
                    </a:p>
                  </a:txBody>
                  <a:tcPr marL="127000" marR="127000" marT="25400" marB="254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 i="0">
                          <a:solidFill>
                            <a:srgbClr val="14213D"/>
                          </a:solidFill>
                          <a:latin typeface="Segoe UI"/>
                        </a:rPr>
                        <a:t>21</a:t>
                      </a:r>
                    </a:p>
                  </a:txBody>
                  <a:tcPr marL="127000" marR="127000" marT="25400" marB="254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 i="0">
                          <a:solidFill>
                            <a:srgbClr val="14213D"/>
                          </a:solidFill>
                          <a:latin typeface="Segoe UI"/>
                        </a:rPr>
                        <a:t>17</a:t>
                      </a:r>
                    </a:p>
                  </a:txBody>
                  <a:tcPr marL="127000" marR="127000" marT="25400" marB="25400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640080" y="3840480"/>
            <a:ext cx="4754880" cy="682752"/>
          </a:xfrm>
          <a:prstGeom prst="roundRect">
            <a:avLst>
              <a:gd name="adj" fmla="val 16071"/>
            </a:avLst>
          </a:prstGeom>
          <a:solidFill>
            <a:srgbClr val="FFFFFF"/>
          </a:solidFill>
          <a:ln w="1079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Oval 12"/>
          <p:cNvSpPr/>
          <p:nvPr/>
        </p:nvSpPr>
        <p:spPr>
          <a:xfrm>
            <a:off x="841247" y="3971544"/>
            <a:ext cx="420624" cy="420624"/>
          </a:xfrm>
          <a:prstGeom prst="ellipse">
            <a:avLst/>
          </a:prstGeom>
          <a:solidFill>
            <a:srgbClr val="E2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41247" y="3971544"/>
            <a:ext cx="420624" cy="420624"/>
          </a:xfrm>
          <a:prstGeom prst="rect">
            <a:avLst/>
          </a:prstGeom>
          <a:noFill/>
        </p:spPr>
        <p:txBody>
          <a:bodyPr wrap="square" lIns="18288" rIns="18288" anchor="ctr">
            <a:spAutoFit/>
          </a:bodyPr>
          <a:lstStyle/>
          <a:p>
            <a:pPr algn="ctr"/>
            <a:r>
              <a:rPr sz="1300" b="1" i="0">
                <a:solidFill>
                  <a:srgbClr val="0F7C74"/>
                </a:solidFill>
                <a:latin typeface="Segoe UI Semibold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39" y="3840480"/>
            <a:ext cx="3749040" cy="682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0" i="0">
                <a:solidFill>
                  <a:srgbClr val="14213D"/>
                </a:solidFill>
                <a:latin typeface="Segoe UI"/>
              </a:rPr>
              <a:t>38 discordant pairs → </a:t>
            </a:r>
            <a:r>
              <a:rPr sz="1500" b="1" i="0">
                <a:solidFill>
                  <a:srgbClr val="0F7C74"/>
                </a:solidFill>
                <a:latin typeface="Segoe UI"/>
              </a:rPr>
              <a:t>p = 0.627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642104"/>
            <a:ext cx="4754880" cy="682752"/>
          </a:xfrm>
          <a:prstGeom prst="roundRect">
            <a:avLst>
              <a:gd name="adj" fmla="val 16071"/>
            </a:avLst>
          </a:prstGeom>
          <a:solidFill>
            <a:srgbClr val="FFFFFF"/>
          </a:solidFill>
          <a:ln w="1079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Oval 16"/>
          <p:cNvSpPr/>
          <p:nvPr/>
        </p:nvSpPr>
        <p:spPr>
          <a:xfrm>
            <a:off x="841247" y="4773168"/>
            <a:ext cx="420624" cy="420624"/>
          </a:xfrm>
          <a:prstGeom prst="ellipse">
            <a:avLst/>
          </a:prstGeom>
          <a:solidFill>
            <a:srgbClr val="E2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41247" y="4773168"/>
            <a:ext cx="420624" cy="420624"/>
          </a:xfrm>
          <a:prstGeom prst="rect">
            <a:avLst/>
          </a:prstGeom>
          <a:noFill/>
        </p:spPr>
        <p:txBody>
          <a:bodyPr wrap="square" lIns="18288" rIns="18288" anchor="ctr">
            <a:spAutoFit/>
          </a:bodyPr>
          <a:lstStyle/>
          <a:p>
            <a:pPr algn="ctr"/>
            <a:r>
              <a:rPr sz="1300" b="1" i="0">
                <a:solidFill>
                  <a:srgbClr val="0F7C74"/>
                </a:solidFill>
                <a:latin typeface="Segoe UI Semibold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39" y="4642104"/>
            <a:ext cx="3749040" cy="682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1" i="0">
                <a:solidFill>
                  <a:srgbClr val="0F7C74"/>
                </a:solidFill>
                <a:latin typeface="Segoe UI"/>
              </a:rPr>
              <a:t>Not significant</a:t>
            </a:r>
            <a:r>
              <a:rPr sz="1500" b="0" i="0">
                <a:solidFill>
                  <a:srgbClr val="14213D"/>
                </a:solidFill>
                <a:latin typeface="Segoe UI"/>
              </a:rPr>
              <a:t> — A and C are a tie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5443728"/>
            <a:ext cx="4754880" cy="682752"/>
          </a:xfrm>
          <a:prstGeom prst="roundRect">
            <a:avLst>
              <a:gd name="adj" fmla="val 16071"/>
            </a:avLst>
          </a:prstGeom>
          <a:solidFill>
            <a:srgbClr val="FFFFFF"/>
          </a:solidFill>
          <a:ln w="1079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Oval 20"/>
          <p:cNvSpPr/>
          <p:nvPr/>
        </p:nvSpPr>
        <p:spPr>
          <a:xfrm>
            <a:off x="841247" y="5574792"/>
            <a:ext cx="420624" cy="420624"/>
          </a:xfrm>
          <a:prstGeom prst="ellipse">
            <a:avLst/>
          </a:prstGeom>
          <a:solidFill>
            <a:srgbClr val="E2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41247" y="5574792"/>
            <a:ext cx="420624" cy="420624"/>
          </a:xfrm>
          <a:prstGeom prst="rect">
            <a:avLst/>
          </a:prstGeom>
          <a:noFill/>
        </p:spPr>
        <p:txBody>
          <a:bodyPr wrap="square" lIns="18288" rIns="18288" anchor="ctr">
            <a:spAutoFit/>
          </a:bodyPr>
          <a:lstStyle/>
          <a:p>
            <a:pPr algn="ctr"/>
            <a:r>
              <a:rPr sz="1300" b="1" i="0">
                <a:solidFill>
                  <a:srgbClr val="0F7C74"/>
                </a:solidFill>
                <a:latin typeface="Segoe UI Semibold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39" y="5443728"/>
            <a:ext cx="3749040" cy="682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0" i="0">
                <a:solidFill>
                  <a:srgbClr val="14213D"/>
                </a:solidFill>
                <a:latin typeface="Segoe UI"/>
              </a:rPr>
              <a:t>I do not claim a winner between them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52160" y="1572768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7C74"/>
                </a:solidFill>
                <a:latin typeface="Segoe UI"/>
              </a:rPr>
              <a:t>95 % Wilson confidence intervals</a:t>
            </a:r>
            <a:r>
              <a:rPr sz="1500" b="0" i="0">
                <a:solidFill>
                  <a:srgbClr val="14213D"/>
                </a:solidFill>
                <a:latin typeface="Segoe UI"/>
              </a:rPr>
              <a:t> (n = 567)</a:t>
            </a:r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5852160" y="1920240"/>
          <a:ext cx="5696712" cy="24140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76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r>
                        <a:rPr sz="1008" b="1" i="0" spc="80">
                          <a:solidFill>
                            <a:srgbClr val="FFFFFF"/>
                          </a:solidFill>
                          <a:latin typeface="Segoe UI"/>
                        </a:rPr>
                        <a:t>APPROACH</a:t>
                      </a:r>
                    </a:p>
                  </a:txBody>
                  <a:tcPr marL="127000" marR="127000" marT="25400" marB="25400" anchor="ctr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8" b="1" i="0" spc="80">
                          <a:solidFill>
                            <a:srgbClr val="FFFFFF"/>
                          </a:solidFill>
                          <a:latin typeface="Segoe UI"/>
                        </a:rPr>
                        <a:t>TEST</a:t>
                      </a:r>
                    </a:p>
                  </a:txBody>
                  <a:tcPr marL="127000" marR="127000" marT="25400" marB="25400" anchor="ctr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8" b="1" i="0" spc="80">
                          <a:solidFill>
                            <a:srgbClr val="FFFFFF"/>
                          </a:solidFill>
                          <a:latin typeface="Segoe UI"/>
                        </a:rPr>
                        <a:t>95 % CI</a:t>
                      </a:r>
                    </a:p>
                  </a:txBody>
                  <a:tcPr marL="127000" marR="127000" marT="25400" marB="25400" anchor="ctr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8" b="1" i="0" spc="80">
                          <a:solidFill>
                            <a:srgbClr val="FFFFFF"/>
                          </a:solidFill>
                          <a:latin typeface="Segoe UI"/>
                        </a:rPr>
                        <a:t>WIDTH</a:t>
                      </a:r>
                    </a:p>
                  </a:txBody>
                  <a:tcPr marL="127000" marR="127000" marT="25400" marB="25400" anchor="ctr">
                    <a:solidFill>
                      <a:srgbClr val="1421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14213D"/>
                          </a:solidFill>
                          <a:latin typeface="Segoe UI Semibold"/>
                        </a:rPr>
                        <a:t>A</a:t>
                      </a:r>
                    </a:p>
                  </a:txBody>
                  <a:tcPr marL="127000" marR="1270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4213D"/>
                          </a:solidFill>
                          <a:latin typeface="Segoe UI"/>
                        </a:rPr>
                        <a:t>93.3 %</a:t>
                      </a:r>
                    </a:p>
                  </a:txBody>
                  <a:tcPr marL="127000" marR="1270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4213D"/>
                          </a:solidFill>
                          <a:latin typeface="Segoe UI"/>
                        </a:rPr>
                        <a:t>90.9 – 95.1</a:t>
                      </a:r>
                    </a:p>
                  </a:txBody>
                  <a:tcPr marL="127000" marR="1270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4213D"/>
                          </a:solidFill>
                          <a:latin typeface="Segoe UI"/>
                        </a:rPr>
                        <a:t>4.1 pts</a:t>
                      </a:r>
                    </a:p>
                  </a:txBody>
                  <a:tcPr marL="127000" marR="1270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14213D"/>
                          </a:solidFill>
                          <a:latin typeface="Segoe UI Semibold"/>
                        </a:rPr>
                        <a:t>B</a:t>
                      </a:r>
                    </a:p>
                  </a:txBody>
                  <a:tcPr marL="127000" marR="127000" marT="25400" marB="254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4213D"/>
                          </a:solidFill>
                          <a:latin typeface="Segoe UI"/>
                        </a:rPr>
                        <a:t>42.0 %</a:t>
                      </a:r>
                    </a:p>
                  </a:txBody>
                  <a:tcPr marL="127000" marR="127000" marT="25400" marB="254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4213D"/>
                          </a:solidFill>
                          <a:latin typeface="Segoe UI"/>
                        </a:rPr>
                        <a:t>38.0 – 46.1</a:t>
                      </a:r>
                    </a:p>
                  </a:txBody>
                  <a:tcPr marL="127000" marR="127000" marT="25400" marB="254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4213D"/>
                          </a:solidFill>
                          <a:latin typeface="Segoe UI"/>
                        </a:rPr>
                        <a:t>8.1 pts</a:t>
                      </a:r>
                    </a:p>
                  </a:txBody>
                  <a:tcPr marL="127000" marR="127000" marT="25400" marB="25400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14213D"/>
                          </a:solidFill>
                          <a:latin typeface="Segoe UI Semibold"/>
                        </a:rPr>
                        <a:t>C</a:t>
                      </a:r>
                    </a:p>
                  </a:txBody>
                  <a:tcPr marL="127000" marR="1270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4213D"/>
                          </a:solidFill>
                          <a:latin typeface="Segoe UI"/>
                        </a:rPr>
                        <a:t>94.0 %</a:t>
                      </a:r>
                    </a:p>
                  </a:txBody>
                  <a:tcPr marL="127000" marR="1270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4213D"/>
                          </a:solidFill>
                          <a:latin typeface="Segoe UI"/>
                        </a:rPr>
                        <a:t>91.7 – 95.7</a:t>
                      </a:r>
                    </a:p>
                  </a:txBody>
                  <a:tcPr marL="127000" marR="1270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4213D"/>
                          </a:solidFill>
                          <a:latin typeface="Segoe UI"/>
                        </a:rPr>
                        <a:t>3.9 pts</a:t>
                      </a:r>
                    </a:p>
                  </a:txBody>
                  <a:tcPr marL="127000" marR="1270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14213D"/>
                          </a:solidFill>
                          <a:latin typeface="Segoe UI Semibold"/>
                        </a:rPr>
                        <a:t>D</a:t>
                      </a:r>
                    </a:p>
                  </a:txBody>
                  <a:tcPr marL="127000" marR="127000" marT="25400" marB="254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4213D"/>
                          </a:solidFill>
                          <a:latin typeface="Segoe UI"/>
                        </a:rPr>
                        <a:t>46.6 %</a:t>
                      </a:r>
                    </a:p>
                  </a:txBody>
                  <a:tcPr marL="127000" marR="127000" marT="25400" marB="254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4213D"/>
                          </a:solidFill>
                          <a:latin typeface="Segoe UI"/>
                        </a:rPr>
                        <a:t>42.5 – 50.7</a:t>
                      </a:r>
                    </a:p>
                  </a:txBody>
                  <a:tcPr marL="127000" marR="127000" marT="25400" marB="254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4213D"/>
                          </a:solidFill>
                          <a:latin typeface="Segoe UI"/>
                        </a:rPr>
                        <a:t>8.2 pts</a:t>
                      </a:r>
                    </a:p>
                  </a:txBody>
                  <a:tcPr marL="127000" marR="127000" marT="25400" marB="25400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14213D"/>
                          </a:solidFill>
                          <a:latin typeface="Segoe UI Semibold"/>
                        </a:rPr>
                        <a:t>E</a:t>
                      </a:r>
                    </a:p>
                  </a:txBody>
                  <a:tcPr marL="127000" marR="1270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4213D"/>
                          </a:solidFill>
                          <a:latin typeface="Segoe UI"/>
                        </a:rPr>
                        <a:t>96.1 %</a:t>
                      </a:r>
                    </a:p>
                  </a:txBody>
                  <a:tcPr marL="127000" marR="1270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4213D"/>
                          </a:solidFill>
                          <a:latin typeface="Segoe UI"/>
                        </a:rPr>
                        <a:t>94.2 – 97.4</a:t>
                      </a:r>
                    </a:p>
                  </a:txBody>
                  <a:tcPr marL="127000" marR="1270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4213D"/>
                          </a:solidFill>
                          <a:latin typeface="Segoe UI"/>
                        </a:rPr>
                        <a:t>3.2 pts</a:t>
                      </a:r>
                    </a:p>
                  </a:txBody>
                  <a:tcPr marL="127000" marR="1270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6" name="Rounded Rectangle 25"/>
          <p:cNvSpPr/>
          <p:nvPr/>
        </p:nvSpPr>
        <p:spPr>
          <a:xfrm>
            <a:off x="5852160" y="4663440"/>
            <a:ext cx="5699455" cy="914400"/>
          </a:xfrm>
          <a:prstGeom prst="roundRect">
            <a:avLst>
              <a:gd name="adj" fmla="val 12000"/>
            </a:avLst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126480" y="4663440"/>
            <a:ext cx="5150815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50" b="0" i="0">
                <a:solidFill>
                  <a:srgbClr val="FFFFFF"/>
                </a:solidFill>
                <a:latin typeface="Segoe UI"/>
              </a:rPr>
              <a:t>A, C and E overlap in high confidence — which is why </a:t>
            </a:r>
            <a:r>
              <a:rPr sz="1350" b="1" i="0">
                <a:solidFill>
                  <a:srgbClr val="E09A1A"/>
                </a:solidFill>
                <a:latin typeface="Segoe UI"/>
              </a:rPr>
              <a:t>567 images cannot separate top models.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1920240" cy="292608"/>
          </a:xfrm>
          <a:prstGeom prst="roundRect">
            <a:avLst>
              <a:gd name="adj" fmla="val 50000"/>
            </a:avLst>
          </a:prstGeom>
          <a:solidFill>
            <a:srgbClr val="E2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920240" cy="292608"/>
          </a:xfrm>
          <a:prstGeom prst="rect">
            <a:avLst/>
          </a:prstGeom>
          <a:noFill/>
        </p:spPr>
        <p:txBody>
          <a:bodyPr wrap="square" lIns="18288" rIns="18288" anchor="ctr">
            <a:spAutoFit/>
          </a:bodyPr>
          <a:lstStyle/>
          <a:p>
            <a:pPr algn="ctr"/>
            <a:r>
              <a:rPr sz="1050" b="1" i="0" spc="120">
                <a:solidFill>
                  <a:srgbClr val="0F7C74"/>
                </a:solidFill>
                <a:latin typeface="Segoe UI"/>
              </a:rPr>
              <a:t>APPENDIX  ·  A3</a:t>
            </a:r>
          </a:p>
        </p:txBody>
      </p:sp>
      <p:pic>
        <p:nvPicPr>
          <p:cNvPr id="5" name="Picture 4" descr="ki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9823" y="320040"/>
            <a:ext cx="621792" cy="62179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21792" y="731520"/>
            <a:ext cx="9997135" cy="685800"/>
          </a:xfrm>
          <a:prstGeom prst="rect">
            <a:avLst/>
          </a:prstGeom>
          <a:noFill/>
        </p:spPr>
        <p:txBody>
          <a:bodyPr wrap="square" lIns="18288" rIns="18288" anchor="ctr">
            <a:spAutoFit/>
          </a:bodyPr>
          <a:lstStyle/>
          <a:p>
            <a:pPr algn="l"/>
            <a:r>
              <a:rPr sz="3000" b="0" i="0">
                <a:solidFill>
                  <a:srgbClr val="14213D"/>
                </a:solidFill>
                <a:latin typeface="Segoe UI Semibold"/>
              </a:rPr>
              <a:t>Full tuning grid — all six runs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601968"/>
            <a:ext cx="10088575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6336792"/>
            <a:ext cx="5486400" cy="237744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  <a:latin typeface="Segoe UI"/>
              </a:rPr>
              <a:t>Appendix  ·  So Sereysokbotra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373368"/>
            <a:ext cx="731520" cy="27432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r"/>
            <a:r>
              <a:rPr sz="1100" b="1" i="0">
                <a:solidFill>
                  <a:srgbClr val="0F7C74"/>
                </a:solidFill>
                <a:latin typeface="Segoe UI Semibold"/>
              </a:rPr>
              <a:t>A3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40080" y="1645920"/>
          <a:ext cx="10911535" cy="30723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9321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r>
                        <a:rPr sz="1080" b="1" i="0" spc="80">
                          <a:solidFill>
                            <a:srgbClr val="FFFFFF"/>
                          </a:solidFill>
                          <a:latin typeface="Segoe UI"/>
                        </a:rPr>
                        <a:t>LR</a:t>
                      </a:r>
                    </a:p>
                  </a:txBody>
                  <a:tcPr marL="127000" marR="127000" marT="25400" marB="25400" anchor="ctr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80" b="1" i="0" spc="80">
                          <a:solidFill>
                            <a:srgbClr val="FFFFFF"/>
                          </a:solidFill>
                          <a:latin typeface="Segoe UI"/>
                        </a:rPr>
                        <a:t>WEIGHT DECAY</a:t>
                      </a:r>
                    </a:p>
                  </a:txBody>
                  <a:tcPr marL="127000" marR="127000" marT="25400" marB="25400" anchor="ctr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80" b="1" i="0" spc="80">
                          <a:solidFill>
                            <a:srgbClr val="FFFFFF"/>
                          </a:solidFill>
                          <a:latin typeface="Segoe UI"/>
                        </a:rPr>
                        <a:t>BEST EPOCH</a:t>
                      </a:r>
                    </a:p>
                  </a:txBody>
                  <a:tcPr marL="127000" marR="127000" marT="25400" marB="25400" anchor="ctr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80" b="1" i="0" spc="80">
                          <a:solidFill>
                            <a:srgbClr val="FFFFFF"/>
                          </a:solidFill>
                          <a:latin typeface="Segoe UI"/>
                        </a:rPr>
                        <a:t>VALIDATION</a:t>
                      </a:r>
                    </a:p>
                  </a:txBody>
                  <a:tcPr marL="127000" marR="127000" marT="25400" marB="25400" anchor="ctr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80" b="1" i="0" spc="80">
                          <a:solidFill>
                            <a:srgbClr val="FFFFFF"/>
                          </a:solidFill>
                          <a:latin typeface="Segoe UI"/>
                        </a:rPr>
                        <a:t>TEST</a:t>
                      </a:r>
                    </a:p>
                  </a:txBody>
                  <a:tcPr marL="127000" marR="127000" marT="25400" marB="25400" anchor="ctr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80" b="1" i="0" spc="80">
                          <a:solidFill>
                            <a:srgbClr val="FFFFFF"/>
                          </a:solidFill>
                          <a:latin typeface="Segoe UI"/>
                        </a:rPr>
                        <a:t>MACRO-F1</a:t>
                      </a:r>
                    </a:p>
                  </a:txBody>
                  <a:tcPr marL="127000" marR="127000" marT="25400" marB="25400" anchor="ctr">
                    <a:solidFill>
                      <a:srgbClr val="1421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4213D"/>
                          </a:solidFill>
                          <a:latin typeface="Segoe UI Semibold"/>
                        </a:rPr>
                        <a:t>1e-3</a:t>
                      </a:r>
                    </a:p>
                  </a:txBody>
                  <a:tcPr marL="127000" marR="1270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4213D"/>
                          </a:solidFill>
                          <a:latin typeface="Segoe UI Semibold"/>
                        </a:rPr>
                        <a:t>0</a:t>
                      </a:r>
                    </a:p>
                  </a:txBody>
                  <a:tcPr marL="127000" marR="1270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4213D"/>
                          </a:solidFill>
                          <a:latin typeface="Segoe UI"/>
                        </a:rPr>
                        <a:t>33</a:t>
                      </a:r>
                    </a:p>
                  </a:txBody>
                  <a:tcPr marL="127000" marR="1270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4213D"/>
                          </a:solidFill>
                          <a:latin typeface="Segoe UI Semibold"/>
                        </a:rPr>
                        <a:t>96.60 %  ← selected</a:t>
                      </a:r>
                    </a:p>
                  </a:txBody>
                  <a:tcPr marL="127000" marR="1270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4213D"/>
                          </a:solidFill>
                          <a:latin typeface="Segoe UI"/>
                        </a:rPr>
                        <a:t>96.47 %</a:t>
                      </a:r>
                    </a:p>
                  </a:txBody>
                  <a:tcPr marL="127000" marR="1270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4213D"/>
                          </a:solidFill>
                          <a:latin typeface="Segoe UI"/>
                        </a:rPr>
                        <a:t>96.04 %</a:t>
                      </a:r>
                    </a:p>
                  </a:txBody>
                  <a:tcPr marL="127000" marR="1270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4213D"/>
                          </a:solidFill>
                          <a:latin typeface="Segoe UI"/>
                        </a:rPr>
                        <a:t>1e-3</a:t>
                      </a:r>
                    </a:p>
                  </a:txBody>
                  <a:tcPr marL="127000" marR="127000" marT="25400" marB="254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4213D"/>
                          </a:solidFill>
                          <a:latin typeface="Segoe UI"/>
                        </a:rPr>
                        <a:t>1e-4</a:t>
                      </a:r>
                    </a:p>
                  </a:txBody>
                  <a:tcPr marL="127000" marR="127000" marT="25400" marB="254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4213D"/>
                          </a:solidFill>
                          <a:latin typeface="Segoe UI"/>
                        </a:rPr>
                        <a:t>35</a:t>
                      </a:r>
                    </a:p>
                  </a:txBody>
                  <a:tcPr marL="127000" marR="127000" marT="25400" marB="254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4213D"/>
                          </a:solidFill>
                          <a:latin typeface="Segoe UI"/>
                        </a:rPr>
                        <a:t>96.03 %</a:t>
                      </a:r>
                    </a:p>
                  </a:txBody>
                  <a:tcPr marL="127000" marR="127000" marT="25400" marB="254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4213D"/>
                          </a:solidFill>
                          <a:latin typeface="Segoe UI"/>
                        </a:rPr>
                        <a:t>95.41 %</a:t>
                      </a:r>
                    </a:p>
                  </a:txBody>
                  <a:tcPr marL="127000" marR="127000" marT="25400" marB="254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4213D"/>
                          </a:solidFill>
                          <a:latin typeface="Segoe UI"/>
                        </a:rPr>
                        <a:t>95.06 %</a:t>
                      </a:r>
                    </a:p>
                  </a:txBody>
                  <a:tcPr marL="127000" marR="127000" marT="25400" marB="25400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4213D"/>
                          </a:solidFill>
                          <a:latin typeface="Segoe UI"/>
                        </a:rPr>
                        <a:t>3e-4</a:t>
                      </a:r>
                    </a:p>
                  </a:txBody>
                  <a:tcPr marL="127000" marR="1270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4213D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marL="127000" marR="1270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4213D"/>
                          </a:solidFill>
                          <a:latin typeface="Segoe UI"/>
                        </a:rPr>
                        <a:t>15</a:t>
                      </a:r>
                    </a:p>
                  </a:txBody>
                  <a:tcPr marL="127000" marR="1270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4213D"/>
                          </a:solidFill>
                          <a:latin typeface="Segoe UI"/>
                        </a:rPr>
                        <a:t>95.27 %</a:t>
                      </a:r>
                    </a:p>
                  </a:txBody>
                  <a:tcPr marL="127000" marR="1270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4213D"/>
                          </a:solidFill>
                          <a:latin typeface="Segoe UI Semibold"/>
                        </a:rPr>
                        <a:t>97.00 %</a:t>
                      </a:r>
                    </a:p>
                  </a:txBody>
                  <a:tcPr marL="127000" marR="1270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4213D"/>
                          </a:solidFill>
                          <a:latin typeface="Segoe UI"/>
                        </a:rPr>
                        <a:t>96.55 %</a:t>
                      </a:r>
                    </a:p>
                  </a:txBody>
                  <a:tcPr marL="127000" marR="1270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4213D"/>
                          </a:solidFill>
                          <a:latin typeface="Segoe UI"/>
                        </a:rPr>
                        <a:t>3e-4</a:t>
                      </a:r>
                    </a:p>
                  </a:txBody>
                  <a:tcPr marL="127000" marR="127000" marT="25400" marB="254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4213D"/>
                          </a:solidFill>
                          <a:latin typeface="Segoe UI"/>
                        </a:rPr>
                        <a:t>1e-4</a:t>
                      </a:r>
                    </a:p>
                  </a:txBody>
                  <a:tcPr marL="127000" marR="127000" marT="25400" marB="254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4213D"/>
                          </a:solidFill>
                          <a:latin typeface="Segoe UI"/>
                        </a:rPr>
                        <a:t>27</a:t>
                      </a:r>
                    </a:p>
                  </a:txBody>
                  <a:tcPr marL="127000" marR="127000" marT="25400" marB="254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4213D"/>
                          </a:solidFill>
                          <a:latin typeface="Segoe UI"/>
                        </a:rPr>
                        <a:t>94.90 %</a:t>
                      </a:r>
                    </a:p>
                  </a:txBody>
                  <a:tcPr marL="127000" marR="127000" marT="25400" marB="254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4213D"/>
                          </a:solidFill>
                          <a:latin typeface="Segoe UI"/>
                        </a:rPr>
                        <a:t>95.94 %</a:t>
                      </a:r>
                    </a:p>
                  </a:txBody>
                  <a:tcPr marL="127000" marR="127000" marT="25400" marB="254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4213D"/>
                          </a:solidFill>
                          <a:latin typeface="Segoe UI"/>
                        </a:rPr>
                        <a:t>95.35 %</a:t>
                      </a:r>
                    </a:p>
                  </a:txBody>
                  <a:tcPr marL="127000" marR="127000" marT="25400" marB="25400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4213D"/>
                          </a:solidFill>
                          <a:latin typeface="Segoe UI"/>
                        </a:rPr>
                        <a:t>1e-4</a:t>
                      </a:r>
                    </a:p>
                  </a:txBody>
                  <a:tcPr marL="127000" marR="1270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4213D"/>
                          </a:solidFill>
                          <a:latin typeface="Segoe UI"/>
                        </a:rPr>
                        <a:t>1e-4</a:t>
                      </a:r>
                    </a:p>
                  </a:txBody>
                  <a:tcPr marL="127000" marR="1270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4213D"/>
                          </a:solidFill>
                          <a:latin typeface="Segoe UI"/>
                        </a:rPr>
                        <a:t>36</a:t>
                      </a:r>
                    </a:p>
                  </a:txBody>
                  <a:tcPr marL="127000" marR="1270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4213D"/>
                          </a:solidFill>
                          <a:latin typeface="Segoe UI"/>
                        </a:rPr>
                        <a:t>93.19 %</a:t>
                      </a:r>
                    </a:p>
                  </a:txBody>
                  <a:tcPr marL="127000" marR="1270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4213D"/>
                          </a:solidFill>
                          <a:latin typeface="Segoe UI"/>
                        </a:rPr>
                        <a:t>94.53 %</a:t>
                      </a:r>
                    </a:p>
                  </a:txBody>
                  <a:tcPr marL="127000" marR="1270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4213D"/>
                          </a:solidFill>
                          <a:latin typeface="Segoe UI"/>
                        </a:rPr>
                        <a:t>93.02 %</a:t>
                      </a:r>
                    </a:p>
                  </a:txBody>
                  <a:tcPr marL="127000" marR="1270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4213D"/>
                          </a:solidFill>
                          <a:latin typeface="Segoe UI"/>
                        </a:rPr>
                        <a:t>1e-4</a:t>
                      </a:r>
                    </a:p>
                  </a:txBody>
                  <a:tcPr marL="127000" marR="127000" marT="25400" marB="254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4213D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marL="127000" marR="127000" marT="25400" marB="254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4213D"/>
                          </a:solidFill>
                          <a:latin typeface="Segoe UI"/>
                        </a:rPr>
                        <a:t>31</a:t>
                      </a:r>
                    </a:p>
                  </a:txBody>
                  <a:tcPr marL="127000" marR="127000" marT="25400" marB="254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4213D"/>
                          </a:solidFill>
                          <a:latin typeface="Segoe UI"/>
                        </a:rPr>
                        <a:t>92.63 %</a:t>
                      </a:r>
                    </a:p>
                  </a:txBody>
                  <a:tcPr marL="127000" marR="127000" marT="25400" marB="254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4213D"/>
                          </a:solidFill>
                          <a:latin typeface="Segoe UI"/>
                        </a:rPr>
                        <a:t>94.00 %</a:t>
                      </a:r>
                    </a:p>
                  </a:txBody>
                  <a:tcPr marL="127000" marR="127000" marT="25400" marB="254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4213D"/>
                          </a:solidFill>
                          <a:latin typeface="Segoe UI"/>
                        </a:rPr>
                        <a:t>92.44 %</a:t>
                      </a:r>
                    </a:p>
                  </a:txBody>
                  <a:tcPr marL="127000" marR="127000" marT="25400" marB="25400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640080" y="4983480"/>
            <a:ext cx="10911535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079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Oval 11"/>
          <p:cNvSpPr/>
          <p:nvPr/>
        </p:nvSpPr>
        <p:spPr>
          <a:xfrm>
            <a:off x="841247" y="5344668"/>
            <a:ext cx="420624" cy="420624"/>
          </a:xfrm>
          <a:prstGeom prst="ellipse">
            <a:avLst/>
          </a:prstGeom>
          <a:solidFill>
            <a:srgbClr val="F8E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41247" y="5344668"/>
            <a:ext cx="420624" cy="420624"/>
          </a:xfrm>
          <a:prstGeom prst="rect">
            <a:avLst/>
          </a:prstGeom>
          <a:noFill/>
        </p:spPr>
        <p:txBody>
          <a:bodyPr wrap="square" lIns="18288" rIns="18288" anchor="ctr">
            <a:spAutoFit/>
          </a:bodyPr>
          <a:lstStyle/>
          <a:p>
            <a:pPr algn="ctr"/>
            <a:r>
              <a:rPr sz="1300" b="1" i="0">
                <a:solidFill>
                  <a:srgbClr val="C0392B"/>
                </a:solidFill>
                <a:latin typeface="Segoe UI Semibold"/>
              </a:rPr>
              <a:t>!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39" y="4983480"/>
            <a:ext cx="9905695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1" i="0">
                <a:solidFill>
                  <a:srgbClr val="C0392B"/>
                </a:solidFill>
                <a:latin typeface="Segoe UI"/>
              </a:rPr>
              <a:t>Yes — 3e-4 scores higher on test (97.0) than the model I selected.</a:t>
            </a:r>
            <a:r>
              <a:rPr sz="1500" b="0" i="0">
                <a:solidFill>
                  <a:srgbClr val="14213D"/>
                </a:solidFill>
                <a:latin typeface="Segoe UI"/>
              </a:rPr>
              <a:t> Selecting it </a:t>
            </a:r>
            <a:r>
              <a:rPr sz="1500" b="0" i="1">
                <a:solidFill>
                  <a:srgbClr val="14213D"/>
                </a:solidFill>
                <a:latin typeface="Segoe UI"/>
              </a:rPr>
              <a:t>because</a:t>
            </a:r>
            <a:r>
              <a:rPr sz="1500" b="0" i="0">
                <a:solidFill>
                  <a:srgbClr val="14213D"/>
                </a:solidFill>
                <a:latin typeface="Segoe UI"/>
              </a:rPr>
              <a:t> it won on test would be selecting on the test set — the exact mistake this project is about avoiding. Validation chooses; test is reported once.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1920240" cy="292608"/>
          </a:xfrm>
          <a:prstGeom prst="roundRect">
            <a:avLst>
              <a:gd name="adj" fmla="val 50000"/>
            </a:avLst>
          </a:prstGeom>
          <a:solidFill>
            <a:srgbClr val="E2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920240" cy="292608"/>
          </a:xfrm>
          <a:prstGeom prst="rect">
            <a:avLst/>
          </a:prstGeom>
          <a:noFill/>
        </p:spPr>
        <p:txBody>
          <a:bodyPr wrap="square" lIns="18288" rIns="18288" anchor="ctr">
            <a:spAutoFit/>
          </a:bodyPr>
          <a:lstStyle/>
          <a:p>
            <a:pPr algn="ctr"/>
            <a:r>
              <a:rPr sz="1050" b="1" i="0" spc="120">
                <a:solidFill>
                  <a:srgbClr val="0F7C74"/>
                </a:solidFill>
                <a:latin typeface="Segoe UI"/>
              </a:rPr>
              <a:t>APPENDIX  ·  A4</a:t>
            </a:r>
          </a:p>
        </p:txBody>
      </p:sp>
      <p:pic>
        <p:nvPicPr>
          <p:cNvPr id="5" name="Picture 4" descr="ki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9823" y="320040"/>
            <a:ext cx="621792" cy="62179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21792" y="731520"/>
            <a:ext cx="9997135" cy="685800"/>
          </a:xfrm>
          <a:prstGeom prst="rect">
            <a:avLst/>
          </a:prstGeom>
          <a:noFill/>
        </p:spPr>
        <p:txBody>
          <a:bodyPr wrap="square" lIns="18288" rIns="18288" anchor="ctr">
            <a:spAutoFit/>
          </a:bodyPr>
          <a:lstStyle/>
          <a:p>
            <a:pPr algn="l"/>
            <a:r>
              <a:rPr sz="3000" b="0" i="0">
                <a:solidFill>
                  <a:srgbClr val="14213D"/>
                </a:solidFill>
                <a:latin typeface="Segoe UI Semibold"/>
              </a:rPr>
              <a:t>The ALPR system this model serves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601968"/>
            <a:ext cx="10088575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6336792"/>
            <a:ext cx="5486400" cy="237744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  <a:latin typeface="Segoe UI"/>
              </a:rPr>
              <a:t>Appendix  ·  So Sereysokbotra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373368"/>
            <a:ext cx="731520" cy="27432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r"/>
            <a:r>
              <a:rPr sz="1100" b="1" i="0">
                <a:solidFill>
                  <a:srgbClr val="0F7C74"/>
                </a:solidFill>
                <a:latin typeface="Segoe UI Semibold"/>
              </a:rPr>
              <a:t>A4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737360"/>
            <a:ext cx="1875068" cy="1325880"/>
          </a:xfrm>
          <a:prstGeom prst="roundRect">
            <a:avLst>
              <a:gd name="adj" fmla="val 8275"/>
            </a:avLst>
          </a:prstGeom>
          <a:solidFill>
            <a:srgbClr val="FFFFFF"/>
          </a:solidFill>
          <a:ln w="1079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13231" y="1737360"/>
            <a:ext cx="1728764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 i="0">
                <a:solidFill>
                  <a:srgbClr val="14213D"/>
                </a:solidFill>
                <a:latin typeface="Segoe UI Semibold"/>
              </a:rPr>
              <a:t>YOLOv10</a:t>
            </a:r>
          </a:p>
          <a:p>
            <a:pPr algn="ctr"/>
            <a:r>
              <a:rPr sz="1050" b="0" i="0">
                <a:solidFill>
                  <a:srgbClr val="6B7280"/>
                </a:solidFill>
                <a:latin typeface="Segoe UI"/>
              </a:rPr>
              <a:t>plate detector</a:t>
            </a:r>
          </a:p>
        </p:txBody>
      </p:sp>
      <p:sp>
        <p:nvSpPr>
          <p:cNvPr id="12" name="Chevron 11"/>
          <p:cNvSpPr/>
          <p:nvPr/>
        </p:nvSpPr>
        <p:spPr>
          <a:xfrm>
            <a:off x="2615732" y="2281428"/>
            <a:ext cx="182880" cy="237744"/>
          </a:xfrm>
          <a:prstGeom prst="chevron">
            <a:avLst/>
          </a:prstGeom>
          <a:solidFill>
            <a:srgbClr val="0F7C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2899196" y="1737360"/>
            <a:ext cx="1875068" cy="1325880"/>
          </a:xfrm>
          <a:prstGeom prst="roundRect">
            <a:avLst>
              <a:gd name="adj" fmla="val 8275"/>
            </a:avLst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972348" y="1737360"/>
            <a:ext cx="1728764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 i="0">
                <a:solidFill>
                  <a:srgbClr val="E09A1A"/>
                </a:solidFill>
                <a:latin typeface="Segoe UI Semibold"/>
              </a:rPr>
              <a:t>ResNet18</a:t>
            </a:r>
          </a:p>
          <a:p>
            <a:pPr algn="ctr"/>
            <a:r>
              <a:rPr sz="1050" b="0" i="0">
                <a:solidFill>
                  <a:srgbClr val="E2E8F0"/>
                </a:solidFill>
                <a:latin typeface="Segoe UI"/>
              </a:rPr>
              <a:t>province — this study</a:t>
            </a:r>
          </a:p>
        </p:txBody>
      </p:sp>
      <p:sp>
        <p:nvSpPr>
          <p:cNvPr id="15" name="Chevron 14"/>
          <p:cNvSpPr/>
          <p:nvPr/>
        </p:nvSpPr>
        <p:spPr>
          <a:xfrm>
            <a:off x="4874849" y="2281428"/>
            <a:ext cx="182880" cy="237744"/>
          </a:xfrm>
          <a:prstGeom prst="chevron">
            <a:avLst/>
          </a:prstGeom>
          <a:solidFill>
            <a:srgbClr val="0F7C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5158313" y="1737360"/>
            <a:ext cx="1875068" cy="1325880"/>
          </a:xfrm>
          <a:prstGeom prst="roundRect">
            <a:avLst>
              <a:gd name="adj" fmla="val 8275"/>
            </a:avLst>
          </a:prstGeom>
          <a:solidFill>
            <a:srgbClr val="FFFFFF"/>
          </a:solidFill>
          <a:ln w="1079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231465" y="1737360"/>
            <a:ext cx="1728764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 i="0">
                <a:solidFill>
                  <a:srgbClr val="14213D"/>
                </a:solidFill>
                <a:latin typeface="Segoe UI Semibold"/>
              </a:rPr>
              <a:t>CRNN + CTC</a:t>
            </a:r>
          </a:p>
          <a:p>
            <a:pPr algn="ctr"/>
            <a:r>
              <a:rPr sz="1050" b="0" i="0">
                <a:solidFill>
                  <a:srgbClr val="6B7280"/>
                </a:solidFill>
                <a:latin typeface="Segoe UI"/>
              </a:rPr>
              <a:t>number reader</a:t>
            </a:r>
          </a:p>
        </p:txBody>
      </p:sp>
      <p:sp>
        <p:nvSpPr>
          <p:cNvPr id="18" name="Chevron 17"/>
          <p:cNvSpPr/>
          <p:nvPr/>
        </p:nvSpPr>
        <p:spPr>
          <a:xfrm>
            <a:off x="7133965" y="2281428"/>
            <a:ext cx="182880" cy="237744"/>
          </a:xfrm>
          <a:prstGeom prst="chevron">
            <a:avLst/>
          </a:prstGeom>
          <a:solidFill>
            <a:srgbClr val="0F7C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7417429" y="1737360"/>
            <a:ext cx="1875068" cy="1325880"/>
          </a:xfrm>
          <a:prstGeom prst="roundRect">
            <a:avLst>
              <a:gd name="adj" fmla="val 8275"/>
            </a:avLst>
          </a:prstGeom>
          <a:solidFill>
            <a:srgbClr val="FFFFFF"/>
          </a:solidFill>
          <a:ln w="1079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490581" y="1737360"/>
            <a:ext cx="1728764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 i="0">
                <a:solidFill>
                  <a:srgbClr val="14213D"/>
                </a:solidFill>
                <a:latin typeface="Segoe UI Semibold"/>
              </a:rPr>
              <a:t>compose</a:t>
            </a:r>
          </a:p>
          <a:p>
            <a:pPr algn="ctr"/>
            <a:r>
              <a:rPr sz="1050" b="0" i="0">
                <a:solidFill>
                  <a:srgbClr val="6B7280"/>
                </a:solidFill>
                <a:latin typeface="Segoe UI"/>
              </a:rPr>
              <a:t>province + number</a:t>
            </a:r>
          </a:p>
        </p:txBody>
      </p:sp>
      <p:sp>
        <p:nvSpPr>
          <p:cNvPr id="21" name="Chevron 20"/>
          <p:cNvSpPr/>
          <p:nvPr/>
        </p:nvSpPr>
        <p:spPr>
          <a:xfrm>
            <a:off x="9393082" y="2281428"/>
            <a:ext cx="182880" cy="237744"/>
          </a:xfrm>
          <a:prstGeom prst="chevron">
            <a:avLst/>
          </a:prstGeom>
          <a:solidFill>
            <a:srgbClr val="0F7C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9676546" y="1737360"/>
            <a:ext cx="1875068" cy="1325880"/>
          </a:xfrm>
          <a:prstGeom prst="roundRect">
            <a:avLst>
              <a:gd name="adj" fmla="val 8275"/>
            </a:avLst>
          </a:prstGeom>
          <a:solidFill>
            <a:srgbClr val="FFFFFF"/>
          </a:solidFill>
          <a:ln w="1079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749698" y="1737360"/>
            <a:ext cx="1728764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 i="0">
                <a:solidFill>
                  <a:srgbClr val="14213D"/>
                </a:solidFill>
                <a:latin typeface="Segoe UI Semibold"/>
              </a:rPr>
              <a:t>gate</a:t>
            </a:r>
          </a:p>
          <a:p>
            <a:pPr algn="ctr"/>
            <a:r>
              <a:rPr sz="1050" b="0" i="0">
                <a:solidFill>
                  <a:srgbClr val="6B7280"/>
                </a:solidFill>
                <a:latin typeface="Segoe UI"/>
              </a:rPr>
              <a:t>SQLite whitelist, fail-safe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3520440"/>
            <a:ext cx="10911535" cy="256032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950" b="1" i="0" spc="140">
                <a:solidFill>
                  <a:srgbClr val="6B7280"/>
                </a:solidFill>
                <a:latin typeface="Segoe UI"/>
              </a:rPr>
              <a:t>END-TO-END ON REAL SCENES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3794760"/>
            <a:ext cx="10911535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640080" y="3977639"/>
            <a:ext cx="2036003" cy="1188720"/>
          </a:xfrm>
          <a:prstGeom prst="roundRect">
            <a:avLst>
              <a:gd name="adj" fmla="val 9230"/>
            </a:avLst>
          </a:prstGeom>
          <a:solidFill>
            <a:srgbClr val="FFFFFF"/>
          </a:solidFill>
          <a:ln w="1079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40080" y="4178807"/>
            <a:ext cx="64008" cy="786384"/>
          </a:xfrm>
          <a:prstGeom prst="rect">
            <a:avLst/>
          </a:prstGeom>
          <a:solidFill>
            <a:srgbClr val="0F7C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96112" y="4050791"/>
            <a:ext cx="1670243" cy="10424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 i="0">
                <a:solidFill>
                  <a:srgbClr val="0F7C74"/>
                </a:solidFill>
                <a:latin typeface="Segoe UI Semibold"/>
              </a:rPr>
              <a:t>143/149</a:t>
            </a:r>
          </a:p>
          <a:p>
            <a:r>
              <a:rPr sz="1000" b="0" i="0">
                <a:solidFill>
                  <a:srgbClr val="6B7280"/>
                </a:solidFill>
                <a:latin typeface="Segoe UI"/>
              </a:rPr>
              <a:t>plate detected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858963" y="3977639"/>
            <a:ext cx="2036003" cy="1188720"/>
          </a:xfrm>
          <a:prstGeom prst="roundRect">
            <a:avLst>
              <a:gd name="adj" fmla="val 9230"/>
            </a:avLst>
          </a:prstGeom>
          <a:solidFill>
            <a:srgbClr val="FFFFFF"/>
          </a:solidFill>
          <a:ln w="1079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2858963" y="4178807"/>
            <a:ext cx="64008" cy="786384"/>
          </a:xfrm>
          <a:prstGeom prst="rect">
            <a:avLst/>
          </a:prstGeom>
          <a:solidFill>
            <a:srgbClr val="0F7C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114995" y="4050791"/>
            <a:ext cx="1670243" cy="10424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 i="0">
                <a:solidFill>
                  <a:srgbClr val="0F7C74"/>
                </a:solidFill>
                <a:latin typeface="Segoe UI Semibold"/>
              </a:rPr>
              <a:t>83.9 %</a:t>
            </a:r>
          </a:p>
          <a:p>
            <a:r>
              <a:rPr sz="1000" b="0" i="0">
                <a:solidFill>
                  <a:srgbClr val="6B7280"/>
                </a:solidFill>
                <a:latin typeface="Segoe UI"/>
              </a:rPr>
              <a:t>number correct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77846" y="3977639"/>
            <a:ext cx="2036003" cy="1188720"/>
          </a:xfrm>
          <a:prstGeom prst="roundRect">
            <a:avLst>
              <a:gd name="adj" fmla="val 9230"/>
            </a:avLst>
          </a:prstGeom>
          <a:solidFill>
            <a:srgbClr val="FFFFFF"/>
          </a:solidFill>
          <a:ln w="1079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5077846" y="4178807"/>
            <a:ext cx="64008" cy="786384"/>
          </a:xfrm>
          <a:prstGeom prst="rect">
            <a:avLst/>
          </a:prstGeom>
          <a:solidFill>
            <a:srgbClr val="0F7C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333878" y="4050791"/>
            <a:ext cx="1670243" cy="10424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 i="0">
                <a:solidFill>
                  <a:srgbClr val="0F7C74"/>
                </a:solidFill>
                <a:latin typeface="Segoe UI Semibold"/>
              </a:rPr>
              <a:t>94.0 %</a:t>
            </a:r>
          </a:p>
          <a:p>
            <a:r>
              <a:rPr sz="1000" b="0" i="0">
                <a:solidFill>
                  <a:srgbClr val="6B7280"/>
                </a:solidFill>
                <a:latin typeface="Segoe UI"/>
              </a:rPr>
              <a:t>province correct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296729" y="3977639"/>
            <a:ext cx="2036003" cy="1188720"/>
          </a:xfrm>
          <a:prstGeom prst="roundRect">
            <a:avLst>
              <a:gd name="adj" fmla="val 9230"/>
            </a:avLst>
          </a:prstGeom>
          <a:solidFill>
            <a:srgbClr val="FFFFFF"/>
          </a:solidFill>
          <a:ln w="1079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7296729" y="4178807"/>
            <a:ext cx="64008" cy="786384"/>
          </a:xfrm>
          <a:prstGeom prst="rect">
            <a:avLst/>
          </a:prstGeom>
          <a:solidFill>
            <a:srgbClr val="2F8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552761" y="4050791"/>
            <a:ext cx="1670243" cy="10424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 i="0">
                <a:solidFill>
                  <a:srgbClr val="2F8F4E"/>
                </a:solidFill>
                <a:latin typeface="Segoe UI Semibold"/>
              </a:rPr>
              <a:t>0</a:t>
            </a:r>
          </a:p>
          <a:p>
            <a:r>
              <a:rPr sz="1000" b="0" i="0">
                <a:solidFill>
                  <a:srgbClr val="6B7280"/>
                </a:solidFill>
                <a:latin typeface="Segoe UI"/>
              </a:rPr>
              <a:t>false accepts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515612" y="3977639"/>
            <a:ext cx="2036003" cy="1188720"/>
          </a:xfrm>
          <a:prstGeom prst="roundRect">
            <a:avLst>
              <a:gd name="adj" fmla="val 9230"/>
            </a:avLst>
          </a:prstGeom>
          <a:solidFill>
            <a:srgbClr val="FFFFFF"/>
          </a:solidFill>
          <a:ln w="1079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9515612" y="4178807"/>
            <a:ext cx="64008" cy="786384"/>
          </a:xfrm>
          <a:prstGeom prst="rect">
            <a:avLst/>
          </a:prstGeom>
          <a:solidFill>
            <a:srgbClr val="0F7C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771644" y="4050791"/>
            <a:ext cx="1670243" cy="10424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 i="0">
                <a:solidFill>
                  <a:srgbClr val="0F7C74"/>
                </a:solidFill>
                <a:latin typeface="Segoe UI Semibold"/>
              </a:rPr>
              <a:t>~50 ms</a:t>
            </a:r>
          </a:p>
          <a:p>
            <a:r>
              <a:rPr sz="1000" b="0" i="0">
                <a:solidFill>
                  <a:srgbClr val="6B7280"/>
                </a:solidFill>
                <a:latin typeface="Segoe UI"/>
              </a:rPr>
              <a:t>per frame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" y="54406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B7280"/>
                </a:solidFill>
                <a:latin typeface="Segoe UI"/>
              </a:rPr>
              <a:t>149 labelled real scenes · RTX 3050 · whitelist of 137 near-miss plates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1920240" cy="292608"/>
          </a:xfrm>
          <a:prstGeom prst="roundRect">
            <a:avLst>
              <a:gd name="adj" fmla="val 50000"/>
            </a:avLst>
          </a:prstGeom>
          <a:solidFill>
            <a:srgbClr val="E2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920240" cy="292608"/>
          </a:xfrm>
          <a:prstGeom prst="rect">
            <a:avLst/>
          </a:prstGeom>
          <a:noFill/>
        </p:spPr>
        <p:txBody>
          <a:bodyPr wrap="square" lIns="18288" rIns="18288" anchor="ctr">
            <a:spAutoFit/>
          </a:bodyPr>
          <a:lstStyle/>
          <a:p>
            <a:pPr algn="ctr"/>
            <a:r>
              <a:rPr sz="1050" b="1" i="0" spc="120">
                <a:solidFill>
                  <a:srgbClr val="0F7C74"/>
                </a:solidFill>
                <a:latin typeface="Segoe UI"/>
              </a:rPr>
              <a:t>APPENDIX  ·  A5</a:t>
            </a:r>
          </a:p>
        </p:txBody>
      </p:sp>
      <p:pic>
        <p:nvPicPr>
          <p:cNvPr id="5" name="Picture 4" descr="ki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9823" y="320040"/>
            <a:ext cx="621792" cy="62179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21792" y="731520"/>
            <a:ext cx="9997135" cy="685800"/>
          </a:xfrm>
          <a:prstGeom prst="rect">
            <a:avLst/>
          </a:prstGeom>
          <a:noFill/>
        </p:spPr>
        <p:txBody>
          <a:bodyPr wrap="square" lIns="18288" rIns="18288" anchor="ctr">
            <a:spAutoFit/>
          </a:bodyPr>
          <a:lstStyle/>
          <a:p>
            <a:pPr algn="l"/>
            <a:r>
              <a:rPr sz="3000" b="0" i="0">
                <a:solidFill>
                  <a:srgbClr val="14213D"/>
                </a:solidFill>
                <a:latin typeface="Segoe UI Semibold"/>
              </a:rPr>
              <a:t>Confusion matrix — approach C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601968"/>
            <a:ext cx="10088575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6336792"/>
            <a:ext cx="5486400" cy="237744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  <a:latin typeface="Segoe UI"/>
              </a:rPr>
              <a:t>Appendix  ·  So Sereysokbotra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373368"/>
            <a:ext cx="731520" cy="27432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r"/>
            <a:r>
              <a:rPr sz="1100" b="1" i="0">
                <a:solidFill>
                  <a:srgbClr val="0F7C74"/>
                </a:solidFill>
                <a:latin typeface="Segoe UI Semibold"/>
              </a:rPr>
              <a:t>A5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600200"/>
            <a:ext cx="10911535" cy="4572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079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1" name="Picture 10" descr="fig3_confusion_C_resnet18_finetu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9480" y="1764792"/>
            <a:ext cx="4912734" cy="4242816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1920240" cy="292608"/>
          </a:xfrm>
          <a:prstGeom prst="roundRect">
            <a:avLst>
              <a:gd name="adj" fmla="val 50000"/>
            </a:avLst>
          </a:prstGeom>
          <a:solidFill>
            <a:srgbClr val="E2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920240" cy="292608"/>
          </a:xfrm>
          <a:prstGeom prst="rect">
            <a:avLst/>
          </a:prstGeom>
          <a:noFill/>
        </p:spPr>
        <p:txBody>
          <a:bodyPr wrap="square" lIns="18288" rIns="18288" anchor="ctr">
            <a:spAutoFit/>
          </a:bodyPr>
          <a:lstStyle/>
          <a:p>
            <a:pPr algn="ctr"/>
            <a:r>
              <a:rPr sz="1050" b="1" i="0" spc="120">
                <a:solidFill>
                  <a:srgbClr val="0F7C74"/>
                </a:solidFill>
                <a:latin typeface="Segoe UI"/>
              </a:rPr>
              <a:t>APPENDIX  ·  A6</a:t>
            </a:r>
          </a:p>
        </p:txBody>
      </p:sp>
      <p:pic>
        <p:nvPicPr>
          <p:cNvPr id="5" name="Picture 4" descr="ki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9823" y="320040"/>
            <a:ext cx="621792" cy="62179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21792" y="731520"/>
            <a:ext cx="9997135" cy="685800"/>
          </a:xfrm>
          <a:prstGeom prst="rect">
            <a:avLst/>
          </a:prstGeom>
          <a:noFill/>
        </p:spPr>
        <p:txBody>
          <a:bodyPr wrap="square" lIns="18288" rIns="18288" anchor="ctr">
            <a:spAutoFit/>
          </a:bodyPr>
          <a:lstStyle/>
          <a:p>
            <a:pPr algn="l"/>
            <a:r>
              <a:rPr sz="3000" b="0" i="0">
                <a:solidFill>
                  <a:srgbClr val="14213D"/>
                </a:solidFill>
                <a:latin typeface="Segoe UI Semibold"/>
              </a:rPr>
              <a:t>Per-class accuracy vs training-set size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601968"/>
            <a:ext cx="10088575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6336792"/>
            <a:ext cx="5486400" cy="237744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  <a:latin typeface="Segoe UI"/>
              </a:rPr>
              <a:t>Appendix  ·  So Sereysokbotra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373368"/>
            <a:ext cx="731520" cy="27432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r"/>
            <a:r>
              <a:rPr sz="1100" b="1" i="0">
                <a:solidFill>
                  <a:srgbClr val="0F7C74"/>
                </a:solidFill>
                <a:latin typeface="Segoe UI Semibold"/>
              </a:rPr>
              <a:t>A6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600200"/>
            <a:ext cx="10911535" cy="4572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079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1" name="Picture 10" descr="fig4_per_class_C_resnet18_finetu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1" y="1769729"/>
            <a:ext cx="10582351" cy="423294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1920240" cy="292608"/>
          </a:xfrm>
          <a:prstGeom prst="roundRect">
            <a:avLst>
              <a:gd name="adj" fmla="val 50000"/>
            </a:avLst>
          </a:prstGeom>
          <a:solidFill>
            <a:srgbClr val="E2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920240" cy="292608"/>
          </a:xfrm>
          <a:prstGeom prst="rect">
            <a:avLst/>
          </a:prstGeom>
          <a:noFill/>
        </p:spPr>
        <p:txBody>
          <a:bodyPr wrap="square" lIns="18288" rIns="18288" anchor="ctr">
            <a:spAutoFit/>
          </a:bodyPr>
          <a:lstStyle/>
          <a:p>
            <a:pPr algn="ctr"/>
            <a:r>
              <a:rPr sz="1050" b="1" i="0" spc="120">
                <a:solidFill>
                  <a:srgbClr val="0F7C74"/>
                </a:solidFill>
                <a:latin typeface="Segoe UI"/>
              </a:rPr>
              <a:t>APPENDIX  ·  A7</a:t>
            </a:r>
          </a:p>
        </p:txBody>
      </p:sp>
      <p:pic>
        <p:nvPicPr>
          <p:cNvPr id="5" name="Picture 4" descr="ki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9823" y="320040"/>
            <a:ext cx="621792" cy="62179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21792" y="731520"/>
            <a:ext cx="9997135" cy="685800"/>
          </a:xfrm>
          <a:prstGeom prst="rect">
            <a:avLst/>
          </a:prstGeom>
          <a:noFill/>
        </p:spPr>
        <p:txBody>
          <a:bodyPr wrap="square" lIns="18288" rIns="18288" anchor="ctr">
            <a:spAutoFit/>
          </a:bodyPr>
          <a:lstStyle/>
          <a:p>
            <a:pPr algn="l"/>
            <a:r>
              <a:rPr sz="3000" b="0" i="0">
                <a:solidFill>
                  <a:srgbClr val="14213D"/>
                </a:solidFill>
                <a:latin typeface="Segoe UI Semibold"/>
              </a:rPr>
              <a:t>Measurement discipline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601968"/>
            <a:ext cx="10088575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6336792"/>
            <a:ext cx="5486400" cy="237744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  <a:latin typeface="Segoe UI"/>
              </a:rPr>
              <a:t>Appendix  ·  So Sereysokbotra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373368"/>
            <a:ext cx="731520" cy="27432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r"/>
            <a:r>
              <a:rPr sz="1100" b="1" i="0">
                <a:solidFill>
                  <a:srgbClr val="0F7C74"/>
                </a:solidFill>
                <a:latin typeface="Segoe UI Semibold"/>
              </a:rPr>
              <a:t>A7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645920"/>
            <a:ext cx="5355183" cy="1819656"/>
          </a:xfrm>
          <a:prstGeom prst="roundRect">
            <a:avLst>
              <a:gd name="adj" fmla="val 6030"/>
            </a:avLst>
          </a:prstGeom>
          <a:solidFill>
            <a:srgbClr val="FFFFFF"/>
          </a:solidFill>
          <a:ln w="1079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914400" y="1920240"/>
            <a:ext cx="384048" cy="45720"/>
          </a:xfrm>
          <a:prstGeom prst="rect">
            <a:avLst/>
          </a:prstGeom>
          <a:solidFill>
            <a:srgbClr val="0F7C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96112" y="1993392"/>
            <a:ext cx="914400" cy="45720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1500" b="1" i="0">
                <a:solidFill>
                  <a:srgbClr val="0F7C74"/>
                </a:solidFill>
                <a:latin typeface="Segoe UI Semibold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2395728"/>
            <a:ext cx="4843119" cy="9509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900" b="0" i="0">
                <a:solidFill>
                  <a:srgbClr val="14213D"/>
                </a:solidFill>
                <a:latin typeface="Segoe UI"/>
              </a:rPr>
              <a:t>CRNN test set: </a:t>
            </a:r>
            <a:r>
              <a:rPr sz="1900" b="1" i="0">
                <a:solidFill>
                  <a:srgbClr val="0F7C74"/>
                </a:solidFill>
                <a:latin typeface="Segoe UI"/>
              </a:rPr>
              <a:t>34.9 %</a:t>
            </a:r>
            <a:r>
              <a:rPr sz="1900" b="0" i="0">
                <a:solidFill>
                  <a:srgbClr val="14213D"/>
                </a:solidFill>
                <a:latin typeface="Segoe UI"/>
              </a:rPr>
              <a:t> plate-level leakage found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6431" y="1645920"/>
            <a:ext cx="5355183" cy="1819656"/>
          </a:xfrm>
          <a:prstGeom prst="roundRect">
            <a:avLst>
              <a:gd name="adj" fmla="val 6030"/>
            </a:avLst>
          </a:prstGeom>
          <a:solidFill>
            <a:srgbClr val="FFFFFF"/>
          </a:solidFill>
          <a:ln w="1079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470751" y="1920240"/>
            <a:ext cx="384048" cy="45720"/>
          </a:xfrm>
          <a:prstGeom prst="rect">
            <a:avLst/>
          </a:prstGeom>
          <a:solidFill>
            <a:srgbClr val="0F7C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52463" y="1993392"/>
            <a:ext cx="914400" cy="45720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1500" b="1" i="0">
                <a:solidFill>
                  <a:srgbClr val="0F7C74"/>
                </a:solidFill>
                <a:latin typeface="Segoe UI Semibold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52463" y="2395728"/>
            <a:ext cx="4843119" cy="9509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900" b="0" i="0">
                <a:solidFill>
                  <a:srgbClr val="14213D"/>
                </a:solidFill>
                <a:latin typeface="Segoe UI"/>
              </a:rPr>
              <a:t>Headline fell 69.1 → </a:t>
            </a:r>
            <a:r>
              <a:rPr sz="1900" b="1" i="0">
                <a:solidFill>
                  <a:srgbClr val="0F7C74"/>
                </a:solidFill>
                <a:latin typeface="Segoe UI"/>
              </a:rPr>
              <a:t>51.7 %</a:t>
            </a:r>
            <a:r>
              <a:rPr sz="1900" b="0" i="0">
                <a:solidFill>
                  <a:srgbClr val="14213D"/>
                </a:solidFill>
                <a:latin typeface="Segoe UI"/>
              </a:rPr>
              <a:t> — the lower number is reported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666744"/>
            <a:ext cx="5355183" cy="1819656"/>
          </a:xfrm>
          <a:prstGeom prst="roundRect">
            <a:avLst>
              <a:gd name="adj" fmla="val 6030"/>
            </a:avLst>
          </a:prstGeom>
          <a:solidFill>
            <a:srgbClr val="FFFFFF"/>
          </a:solidFill>
          <a:ln w="1079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14400" y="3941063"/>
            <a:ext cx="384048" cy="45720"/>
          </a:xfrm>
          <a:prstGeom prst="rect">
            <a:avLst/>
          </a:prstGeom>
          <a:solidFill>
            <a:srgbClr val="0F7C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96112" y="4014215"/>
            <a:ext cx="914400" cy="45720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1500" b="1" i="0">
                <a:solidFill>
                  <a:srgbClr val="0F7C74"/>
                </a:solidFill>
                <a:latin typeface="Segoe UI Semibold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" y="4416552"/>
            <a:ext cx="4843119" cy="9509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900" b="0" i="0">
                <a:solidFill>
                  <a:srgbClr val="14213D"/>
                </a:solidFill>
                <a:latin typeface="Segoe UI"/>
              </a:rPr>
              <a:t>Spatial Transformer proved to do </a:t>
            </a:r>
            <a:r>
              <a:rPr sz="1900" b="1" i="0">
                <a:solidFill>
                  <a:srgbClr val="0F7C74"/>
                </a:solidFill>
                <a:latin typeface="Segoe UI"/>
              </a:rPr>
              <a:t>nothing</a:t>
            </a:r>
            <a:r>
              <a:rPr sz="1900" b="0" i="0">
                <a:solidFill>
                  <a:srgbClr val="14213D"/>
                </a:solidFill>
                <a:latin typeface="Segoe UI"/>
              </a:rPr>
              <a:t> — negative result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96431" y="3666744"/>
            <a:ext cx="5355183" cy="1819656"/>
          </a:xfrm>
          <a:prstGeom prst="roundRect">
            <a:avLst>
              <a:gd name="adj" fmla="val 6030"/>
            </a:avLst>
          </a:prstGeom>
          <a:solidFill>
            <a:srgbClr val="FFFFFF"/>
          </a:solidFill>
          <a:ln w="1079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470751" y="3941063"/>
            <a:ext cx="384048" cy="45720"/>
          </a:xfrm>
          <a:prstGeom prst="rect">
            <a:avLst/>
          </a:prstGeom>
          <a:solidFill>
            <a:srgbClr val="0F7C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52463" y="4014215"/>
            <a:ext cx="914400" cy="45720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1500" b="1" i="0">
                <a:solidFill>
                  <a:srgbClr val="0F7C74"/>
                </a:solidFill>
                <a:latin typeface="Segoe UI Semibold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2463" y="4416552"/>
            <a:ext cx="4843119" cy="9509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748" b="0" i="0">
                <a:solidFill>
                  <a:srgbClr val="14213D"/>
                </a:solidFill>
                <a:latin typeface="Consolas"/>
              </a:rPr>
              <a:t>experiment_log.csv</a:t>
            </a:r>
            <a:r>
              <a:rPr sz="1900" b="0" i="0">
                <a:solidFill>
                  <a:srgbClr val="14213D"/>
                </a:solidFill>
                <a:latin typeface="Segoe UI"/>
              </a:rPr>
              <a:t> — every measurement tagged with its commit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56692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B7280"/>
                </a:solidFill>
                <a:latin typeface="Segoe UI"/>
              </a:rPr>
              <a:t>Laroca et al. (IJCNN 2023) report 19–68 % duplicates in standard LPR benchmarks.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1920240" cy="292608"/>
          </a:xfrm>
          <a:prstGeom prst="roundRect">
            <a:avLst>
              <a:gd name="adj" fmla="val 50000"/>
            </a:avLst>
          </a:prstGeom>
          <a:solidFill>
            <a:srgbClr val="E2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920240" cy="292608"/>
          </a:xfrm>
          <a:prstGeom prst="rect">
            <a:avLst/>
          </a:prstGeom>
          <a:noFill/>
        </p:spPr>
        <p:txBody>
          <a:bodyPr wrap="square" lIns="18288" rIns="18288" anchor="ctr">
            <a:spAutoFit/>
          </a:bodyPr>
          <a:lstStyle/>
          <a:p>
            <a:pPr algn="ctr"/>
            <a:r>
              <a:rPr sz="1050" b="1" i="0" spc="120">
                <a:solidFill>
                  <a:srgbClr val="0F7C74"/>
                </a:solidFill>
                <a:latin typeface="Segoe UI"/>
              </a:rPr>
              <a:t>APPENDIX  ·  A8</a:t>
            </a:r>
          </a:p>
        </p:txBody>
      </p:sp>
      <p:pic>
        <p:nvPicPr>
          <p:cNvPr id="5" name="Picture 4" descr="ki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9823" y="320040"/>
            <a:ext cx="621792" cy="62179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21792" y="731520"/>
            <a:ext cx="9997135" cy="685800"/>
          </a:xfrm>
          <a:prstGeom prst="rect">
            <a:avLst/>
          </a:prstGeom>
          <a:noFill/>
        </p:spPr>
        <p:txBody>
          <a:bodyPr wrap="square" lIns="18288" rIns="18288" anchor="ctr">
            <a:spAutoFit/>
          </a:bodyPr>
          <a:lstStyle/>
          <a:p>
            <a:pPr algn="l"/>
            <a:r>
              <a:rPr sz="3000" b="0" i="0">
                <a:solidFill>
                  <a:srgbClr val="14213D"/>
                </a:solidFill>
                <a:latin typeface="Segoe UI Semibold"/>
              </a:rPr>
              <a:t>The code behind B and D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601968"/>
            <a:ext cx="10088575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6336792"/>
            <a:ext cx="5486400" cy="237744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  <a:latin typeface="Segoe UI"/>
              </a:rPr>
              <a:t>Appendix  ·  So Sereysokbotra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373368"/>
            <a:ext cx="731520" cy="27432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r"/>
            <a:r>
              <a:rPr sz="1100" b="1" i="0">
                <a:solidFill>
                  <a:srgbClr val="0F7C74"/>
                </a:solidFill>
                <a:latin typeface="Segoe UI Semibold"/>
              </a:rPr>
              <a:t>A8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536192"/>
            <a:ext cx="531860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7C74"/>
                </a:solidFill>
                <a:latin typeface="Segoe UI"/>
              </a:rPr>
              <a:t>Feature extraction (B)</a:t>
            </a:r>
            <a:r>
              <a:rPr sz="1400" b="0" i="0">
                <a:solidFill>
                  <a:srgbClr val="14213D"/>
                </a:solidFill>
                <a:latin typeface="Segoe UI"/>
              </a:rPr>
              <a:t> — only the head trains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1920240"/>
            <a:ext cx="5318607" cy="2697480"/>
          </a:xfrm>
          <a:prstGeom prst="roundRect">
            <a:avLst>
              <a:gd name="adj" fmla="val 3389"/>
            </a:avLst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Oval 11"/>
          <p:cNvSpPr/>
          <p:nvPr/>
        </p:nvSpPr>
        <p:spPr>
          <a:xfrm>
            <a:off x="822959" y="2066544"/>
            <a:ext cx="100584" cy="100584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Oval 12"/>
          <p:cNvSpPr/>
          <p:nvPr/>
        </p:nvSpPr>
        <p:spPr>
          <a:xfrm>
            <a:off x="1005839" y="2066544"/>
            <a:ext cx="100584" cy="100584"/>
          </a:xfrm>
          <a:prstGeom prst="ellipse">
            <a:avLst/>
          </a:prstGeom>
          <a:solidFill>
            <a:srgbClr val="E09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Oval 13"/>
          <p:cNvSpPr/>
          <p:nvPr/>
        </p:nvSpPr>
        <p:spPr>
          <a:xfrm>
            <a:off x="1188719" y="2066544"/>
            <a:ext cx="100584" cy="100584"/>
          </a:xfrm>
          <a:prstGeom prst="ellipse">
            <a:avLst/>
          </a:prstGeom>
          <a:solidFill>
            <a:srgbClr val="2F8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59" y="2267712"/>
            <a:ext cx="4952847" cy="2240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"/>
              </a:spcAft>
            </a:pPr>
            <a:r>
              <a:rPr sz="1150" b="0" i="0">
                <a:solidFill>
                  <a:srgbClr val="E6EAF2"/>
                </a:solidFill>
                <a:latin typeface="Consolas"/>
              </a:rPr>
              <a:t>for name, prm in model.named_parameters():</a:t>
            </a:r>
          </a:p>
          <a:p>
            <a:pPr>
              <a:spcAft>
                <a:spcPts val="100"/>
              </a:spcAft>
            </a:pPr>
            <a:r>
              <a:rPr sz="1150" b="0" i="0">
                <a:solidFill>
                  <a:srgbClr val="E6EAF2"/>
                </a:solidFill>
                <a:latin typeface="Consolas"/>
              </a:rPr>
              <a:t>    if not name.startswith('fc.'):</a:t>
            </a:r>
          </a:p>
          <a:p>
            <a:pPr>
              <a:spcAft>
                <a:spcPts val="100"/>
              </a:spcAft>
            </a:pPr>
            <a:r>
              <a:rPr sz="1150" b="0" i="0">
                <a:solidFill>
                  <a:srgbClr val="E6EAF2"/>
                </a:solidFill>
                <a:latin typeface="Consolas"/>
              </a:rPr>
              <a:t>        prm.requires_grad = False      </a:t>
            </a:r>
            <a:r>
              <a:rPr sz="1150" b="0" i="0">
                <a:solidFill>
                  <a:srgbClr val="7FB8B1"/>
                </a:solidFill>
                <a:latin typeface="Consolas"/>
              </a:rPr>
              <a:t># 11 176 512 frozen</a:t>
            </a:r>
          </a:p>
          <a:p>
            <a:pPr>
              <a:spcAft>
                <a:spcPts val="100"/>
              </a:spcAft>
            </a:pPr>
            <a:r>
              <a:rPr sz="1150" b="0" i="0">
                <a:solidFill>
                  <a:srgbClr val="E6EAF2"/>
                </a:solidFill>
                <a:latin typeface="Consolas"/>
              </a:rPr>
              <a:t>    else:</a:t>
            </a:r>
          </a:p>
          <a:p>
            <a:pPr>
              <a:spcAft>
                <a:spcPts val="100"/>
              </a:spcAft>
            </a:pPr>
            <a:r>
              <a:rPr sz="1150" b="0" i="0">
                <a:solidFill>
                  <a:srgbClr val="E6EAF2"/>
                </a:solidFill>
                <a:latin typeface="Consolas"/>
              </a:rPr>
              <a:t>        trainable += prm.numel()       </a:t>
            </a:r>
            <a:r>
              <a:rPr sz="1150" b="0" i="0">
                <a:solidFill>
                  <a:srgbClr val="7FB8B1"/>
                </a:solidFill>
                <a:latin typeface="Consolas"/>
              </a:rPr>
              <a:t># 13 338 trainable</a:t>
            </a:r>
          </a:p>
          <a:p>
            <a:pPr>
              <a:spcAft>
                <a:spcPts val="100"/>
              </a:spcAft>
            </a:pPr>
            <a:endParaRPr sz="1150" b="0" i="0">
              <a:solidFill>
                <a:srgbClr val="7FB8B1"/>
              </a:solidFill>
              <a:latin typeface="Consolas"/>
            </a:endParaRPr>
          </a:p>
          <a:p>
            <a:pPr>
              <a:spcAft>
                <a:spcPts val="100"/>
              </a:spcAft>
            </a:pPr>
            <a:r>
              <a:rPr sz="1150" b="0" i="0">
                <a:solidFill>
                  <a:srgbClr val="E6EAF2"/>
                </a:solidFill>
                <a:latin typeface="Consolas"/>
              </a:rPr>
              <a:t>optimizer = Adam(</a:t>
            </a:r>
          </a:p>
          <a:p>
            <a:pPr>
              <a:spcAft>
                <a:spcPts val="100"/>
              </a:spcAft>
            </a:pPr>
            <a:r>
              <a:rPr sz="1150" b="0" i="0">
                <a:solidFill>
                  <a:srgbClr val="E6EAF2"/>
                </a:solidFill>
                <a:latin typeface="Consolas"/>
              </a:rPr>
              <a:t>    [p for p in model.parameters() if p.requires_grad],</a:t>
            </a:r>
          </a:p>
          <a:p>
            <a:pPr>
              <a:spcAft>
                <a:spcPts val="100"/>
              </a:spcAft>
            </a:pPr>
            <a:r>
              <a:rPr sz="1150" b="0" i="0">
                <a:solidFill>
                  <a:srgbClr val="E6EAF2"/>
                </a:solidFill>
                <a:latin typeface="Consolas"/>
              </a:rPr>
              <a:t>    lr=args.lr, weight_decay=args.weight_decay)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33007" y="1536192"/>
            <a:ext cx="531860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7C74"/>
                </a:solidFill>
                <a:latin typeface="Segoe UI"/>
              </a:rPr>
              <a:t>SmallCNN (D)</a:t>
            </a:r>
            <a:r>
              <a:rPr sz="1400" b="0" i="0">
                <a:solidFill>
                  <a:srgbClr val="14213D"/>
                </a:solidFill>
                <a:latin typeface="Segoe UI"/>
              </a:rPr>
              <a:t> — 4 blocks, 128→64→32→16→8, then GAP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33007" y="1920240"/>
            <a:ext cx="5318607" cy="2697480"/>
          </a:xfrm>
          <a:prstGeom prst="roundRect">
            <a:avLst>
              <a:gd name="adj" fmla="val 3389"/>
            </a:avLst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Oval 17"/>
          <p:cNvSpPr/>
          <p:nvPr/>
        </p:nvSpPr>
        <p:spPr>
          <a:xfrm>
            <a:off x="6415887" y="2066544"/>
            <a:ext cx="100584" cy="100584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Oval 18"/>
          <p:cNvSpPr/>
          <p:nvPr/>
        </p:nvSpPr>
        <p:spPr>
          <a:xfrm>
            <a:off x="6598767" y="2066544"/>
            <a:ext cx="100584" cy="100584"/>
          </a:xfrm>
          <a:prstGeom prst="ellipse">
            <a:avLst/>
          </a:prstGeom>
          <a:solidFill>
            <a:srgbClr val="E09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Oval 19"/>
          <p:cNvSpPr/>
          <p:nvPr/>
        </p:nvSpPr>
        <p:spPr>
          <a:xfrm>
            <a:off x="6781647" y="2066544"/>
            <a:ext cx="100584" cy="100584"/>
          </a:xfrm>
          <a:prstGeom prst="ellipse">
            <a:avLst/>
          </a:prstGeom>
          <a:solidFill>
            <a:srgbClr val="2F8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15887" y="2267712"/>
            <a:ext cx="4952847" cy="2240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"/>
              </a:spcAft>
            </a:pPr>
            <a:r>
              <a:rPr sz="1150" b="0" i="0">
                <a:solidFill>
                  <a:srgbClr val="E6EAF2"/>
                </a:solidFill>
                <a:latin typeface="Consolas"/>
              </a:rPr>
              <a:t>def block(cin, cout):</a:t>
            </a:r>
          </a:p>
          <a:p>
            <a:pPr>
              <a:spcAft>
                <a:spcPts val="100"/>
              </a:spcAft>
            </a:pPr>
            <a:r>
              <a:rPr sz="1150" b="0" i="0">
                <a:solidFill>
                  <a:srgbClr val="E6EAF2"/>
                </a:solidFill>
                <a:latin typeface="Consolas"/>
              </a:rPr>
              <a:t>    return nn.Sequential(</a:t>
            </a:r>
          </a:p>
          <a:p>
            <a:pPr>
              <a:spcAft>
                <a:spcPts val="100"/>
              </a:spcAft>
            </a:pPr>
            <a:r>
              <a:rPr sz="1150" b="0" i="0">
                <a:solidFill>
                  <a:srgbClr val="E6EAF2"/>
                </a:solidFill>
                <a:latin typeface="Consolas"/>
              </a:rPr>
              <a:t>        nn.Conv2d(cin, cout, 3, padding=1),</a:t>
            </a:r>
          </a:p>
          <a:p>
            <a:pPr>
              <a:spcAft>
                <a:spcPts val="100"/>
              </a:spcAft>
            </a:pPr>
            <a:r>
              <a:rPr sz="1150" b="0" i="0">
                <a:solidFill>
                  <a:srgbClr val="E6EAF2"/>
                </a:solidFill>
                <a:latin typeface="Consolas"/>
              </a:rPr>
              <a:t>        nn.BatchNorm2d(cout), nn.ReLU(True),</a:t>
            </a:r>
          </a:p>
          <a:p>
            <a:pPr>
              <a:spcAft>
                <a:spcPts val="100"/>
              </a:spcAft>
            </a:pPr>
            <a:r>
              <a:rPr sz="1150" b="0" i="0">
                <a:solidFill>
                  <a:srgbClr val="E6EAF2"/>
                </a:solidFill>
                <a:latin typeface="Consolas"/>
              </a:rPr>
              <a:t>        nn.MaxPool2d(2))</a:t>
            </a:r>
          </a:p>
          <a:p>
            <a:pPr>
              <a:spcAft>
                <a:spcPts val="100"/>
              </a:spcAft>
            </a:pPr>
            <a:endParaRPr sz="1150" b="0" i="0">
              <a:solidFill>
                <a:srgbClr val="E6EAF2"/>
              </a:solidFill>
              <a:latin typeface="Consolas"/>
            </a:endParaRPr>
          </a:p>
          <a:p>
            <a:pPr>
              <a:spcAft>
                <a:spcPts val="100"/>
              </a:spcAft>
            </a:pPr>
            <a:r>
              <a:rPr sz="1150" b="0" i="0">
                <a:solidFill>
                  <a:srgbClr val="E6EAF2"/>
                </a:solidFill>
                <a:latin typeface="Consolas"/>
              </a:rPr>
              <a:t>self.features = nn.Sequential(</a:t>
            </a:r>
          </a:p>
          <a:p>
            <a:pPr>
              <a:spcAft>
                <a:spcPts val="100"/>
              </a:spcAft>
            </a:pPr>
            <a:r>
              <a:rPr sz="1150" b="0" i="0">
                <a:solidFill>
                  <a:srgbClr val="E6EAF2"/>
                </a:solidFill>
                <a:latin typeface="Consolas"/>
              </a:rPr>
              <a:t>    block(3,32), block(32,64), block(64,128), block(128,256))</a:t>
            </a:r>
          </a:p>
          <a:p>
            <a:pPr>
              <a:spcAft>
                <a:spcPts val="100"/>
              </a:spcAft>
            </a:pPr>
            <a:r>
              <a:rPr sz="1150" b="0" i="0">
                <a:solidFill>
                  <a:srgbClr val="E6EAF2"/>
                </a:solidFill>
                <a:latin typeface="Consolas"/>
              </a:rPr>
              <a:t>self.pool = nn.AdaptiveAvgPool2d(1)   </a:t>
            </a:r>
            <a:r>
              <a:rPr sz="1150" b="0" i="0">
                <a:solidFill>
                  <a:srgbClr val="7FB8B1"/>
                </a:solidFill>
                <a:latin typeface="Consolas"/>
              </a:rPr>
              <a:t># 396 058 params total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800600"/>
            <a:ext cx="10911535" cy="396240"/>
          </a:xfrm>
          <a:prstGeom prst="roundRect">
            <a:avLst>
              <a:gd name="adj" fmla="val 27692"/>
            </a:avLst>
          </a:prstGeom>
          <a:solidFill>
            <a:srgbClr val="FFFFFF"/>
          </a:solidFill>
          <a:ln w="1079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68680" y="4800600"/>
            <a:ext cx="10500055" cy="396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0F7C74"/>
                </a:solidFill>
                <a:latin typeface="Segoe UI"/>
              </a:rPr>
              <a:t>Seed 42</a:t>
            </a:r>
            <a:r>
              <a:rPr sz="1400" b="0" i="0">
                <a:solidFill>
                  <a:srgbClr val="14213D"/>
                </a:solidFill>
                <a:latin typeface="Segoe UI"/>
              </a:rPr>
              <a:t> in Python, NumPy, PyTorch, cuDNN and the DataLoader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288280"/>
            <a:ext cx="10911535" cy="396240"/>
          </a:xfrm>
          <a:prstGeom prst="roundRect">
            <a:avLst>
              <a:gd name="adj" fmla="val 27692"/>
            </a:avLst>
          </a:prstGeom>
          <a:solidFill>
            <a:srgbClr val="FFFFFF"/>
          </a:solidFill>
          <a:ln w="1079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68680" y="5288280"/>
            <a:ext cx="10500055" cy="396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288" b="0" i="0">
                <a:solidFill>
                  <a:srgbClr val="14213D"/>
                </a:solidFill>
                <a:latin typeface="Consolas"/>
              </a:rPr>
              <a:t>last.pth</a:t>
            </a:r>
            <a:r>
              <a:rPr sz="1400" b="0" i="0">
                <a:solidFill>
                  <a:srgbClr val="14213D"/>
                </a:solidFill>
                <a:latin typeface="Segoe UI"/>
              </a:rPr>
              <a:t> saved every epoch + </a:t>
            </a:r>
            <a:r>
              <a:rPr sz="1288" b="0" i="0">
                <a:solidFill>
                  <a:srgbClr val="14213D"/>
                </a:solidFill>
                <a:latin typeface="Consolas"/>
              </a:rPr>
              <a:t>--resume</a:t>
            </a:r>
            <a:r>
              <a:rPr sz="1400" b="0" i="0">
                <a:solidFill>
                  <a:srgbClr val="14213D"/>
                </a:solidFill>
                <a:latin typeface="Segoe UI"/>
              </a:rPr>
              <a:t> for Colab disconnects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775960"/>
            <a:ext cx="10911535" cy="396240"/>
          </a:xfrm>
          <a:prstGeom prst="roundRect">
            <a:avLst>
              <a:gd name="adj" fmla="val 27692"/>
            </a:avLst>
          </a:prstGeom>
          <a:solidFill>
            <a:srgbClr val="FFFFFF"/>
          </a:solidFill>
          <a:ln w="1079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68680" y="5775960"/>
            <a:ext cx="10500055" cy="396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0" i="0">
                <a:solidFill>
                  <a:srgbClr val="14213D"/>
                </a:solidFill>
                <a:latin typeface="Segoe UI"/>
              </a:rPr>
              <a:t>The lr 1e-4 grid cell reproduced run C </a:t>
            </a:r>
            <a:r>
              <a:rPr sz="1400" b="1" i="0">
                <a:solidFill>
                  <a:srgbClr val="0F7C74"/>
                </a:solidFill>
                <a:latin typeface="Segoe UI"/>
              </a:rPr>
              <a:t>to the digit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1920240" cy="292608"/>
          </a:xfrm>
          <a:prstGeom prst="roundRect">
            <a:avLst>
              <a:gd name="adj" fmla="val 50000"/>
            </a:avLst>
          </a:prstGeom>
          <a:solidFill>
            <a:srgbClr val="E2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920240" cy="292608"/>
          </a:xfrm>
          <a:prstGeom prst="rect">
            <a:avLst/>
          </a:prstGeom>
          <a:noFill/>
        </p:spPr>
        <p:txBody>
          <a:bodyPr wrap="square" lIns="18288" rIns="18288" anchor="ctr">
            <a:spAutoFit/>
          </a:bodyPr>
          <a:lstStyle/>
          <a:p>
            <a:pPr algn="ctr"/>
            <a:r>
              <a:rPr sz="1050" b="1" i="0" spc="120">
                <a:solidFill>
                  <a:srgbClr val="0F7C74"/>
                </a:solidFill>
                <a:latin typeface="Segoe UI"/>
              </a:rPr>
              <a:t>APPENDIX  ·  A9</a:t>
            </a:r>
          </a:p>
        </p:txBody>
      </p:sp>
      <p:pic>
        <p:nvPicPr>
          <p:cNvPr id="5" name="Picture 4" descr="ki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9823" y="320040"/>
            <a:ext cx="621792" cy="62179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21792" y="731520"/>
            <a:ext cx="9997135" cy="685800"/>
          </a:xfrm>
          <a:prstGeom prst="rect">
            <a:avLst/>
          </a:prstGeom>
          <a:noFill/>
        </p:spPr>
        <p:txBody>
          <a:bodyPr wrap="square" lIns="18288" rIns="18288" anchor="ctr">
            <a:spAutoFit/>
          </a:bodyPr>
          <a:lstStyle/>
          <a:p>
            <a:pPr algn="l"/>
            <a:r>
              <a:rPr sz="3000" b="0" i="0">
                <a:solidFill>
                  <a:srgbClr val="14213D"/>
                </a:solidFill>
                <a:latin typeface="Segoe UI Semibold"/>
              </a:rPr>
              <a:t>Encoder, head — and why there is no decoder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601968"/>
            <a:ext cx="10088575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6336792"/>
            <a:ext cx="5486400" cy="237744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  <a:latin typeface="Segoe UI"/>
              </a:rPr>
              <a:t>Appendix  ·  So Sereysokbotra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373368"/>
            <a:ext cx="731520" cy="27432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r"/>
            <a:r>
              <a:rPr sz="1100" b="1" i="0">
                <a:solidFill>
                  <a:srgbClr val="0F7C74"/>
                </a:solidFill>
                <a:latin typeface="Segoe UI Semibold"/>
              </a:rPr>
              <a:t>A9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600200"/>
            <a:ext cx="1875068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079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13231" y="1600200"/>
            <a:ext cx="1728764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 i="0">
                <a:solidFill>
                  <a:srgbClr val="14213D"/>
                </a:solidFill>
                <a:latin typeface="Segoe UI Semibold"/>
              </a:rPr>
              <a:t>image</a:t>
            </a:r>
          </a:p>
          <a:p>
            <a:pPr algn="ctr"/>
            <a:r>
              <a:rPr sz="1050" b="0" i="0">
                <a:solidFill>
                  <a:srgbClr val="6B7280"/>
                </a:solidFill>
                <a:latin typeface="Segoe UI"/>
              </a:rPr>
              <a:t>128 x 128 x 3</a:t>
            </a:r>
          </a:p>
        </p:txBody>
      </p:sp>
      <p:sp>
        <p:nvSpPr>
          <p:cNvPr id="12" name="Chevron 11"/>
          <p:cNvSpPr/>
          <p:nvPr/>
        </p:nvSpPr>
        <p:spPr>
          <a:xfrm>
            <a:off x="2615732" y="1984248"/>
            <a:ext cx="182880" cy="237744"/>
          </a:xfrm>
          <a:prstGeom prst="chevron">
            <a:avLst/>
          </a:prstGeom>
          <a:solidFill>
            <a:srgbClr val="0F7C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2899196" y="1600200"/>
            <a:ext cx="1875068" cy="1005840"/>
          </a:xfrm>
          <a:prstGeom prst="roundRect">
            <a:avLst>
              <a:gd name="adj" fmla="val 10909"/>
            </a:avLst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972348" y="1600200"/>
            <a:ext cx="1728764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 i="0">
                <a:solidFill>
                  <a:srgbClr val="E09A1A"/>
                </a:solidFill>
                <a:latin typeface="Segoe UI Semibold"/>
              </a:rPr>
              <a:t>ENCODER</a:t>
            </a:r>
          </a:p>
          <a:p>
            <a:pPr algn="ctr"/>
            <a:r>
              <a:rPr sz="1050" b="0" i="0">
                <a:solidFill>
                  <a:srgbClr val="E2E8F0"/>
                </a:solidFill>
                <a:latin typeface="Segoe UI"/>
              </a:rPr>
              <a:t>conv1 … layer4 + avgpool</a:t>
            </a:r>
          </a:p>
        </p:txBody>
      </p:sp>
      <p:sp>
        <p:nvSpPr>
          <p:cNvPr id="15" name="Chevron 14"/>
          <p:cNvSpPr/>
          <p:nvPr/>
        </p:nvSpPr>
        <p:spPr>
          <a:xfrm>
            <a:off x="4874849" y="1984248"/>
            <a:ext cx="182880" cy="237744"/>
          </a:xfrm>
          <a:prstGeom prst="chevron">
            <a:avLst/>
          </a:prstGeom>
          <a:solidFill>
            <a:srgbClr val="0F7C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5158313" y="1600200"/>
            <a:ext cx="1875068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079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231465" y="1600200"/>
            <a:ext cx="1728764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 i="0">
                <a:solidFill>
                  <a:srgbClr val="14213D"/>
                </a:solidFill>
                <a:latin typeface="Segoe UI Semibold"/>
              </a:rPr>
              <a:t>feature vector</a:t>
            </a:r>
          </a:p>
          <a:p>
            <a:pPr algn="ctr"/>
            <a:r>
              <a:rPr sz="1050" b="0" i="0">
                <a:solidFill>
                  <a:srgbClr val="6B7280"/>
                </a:solidFill>
                <a:latin typeface="Segoe UI"/>
              </a:rPr>
              <a:t>512-d  (256-d for D)</a:t>
            </a:r>
          </a:p>
        </p:txBody>
      </p:sp>
      <p:sp>
        <p:nvSpPr>
          <p:cNvPr id="18" name="Chevron 17"/>
          <p:cNvSpPr/>
          <p:nvPr/>
        </p:nvSpPr>
        <p:spPr>
          <a:xfrm>
            <a:off x="7133965" y="1984248"/>
            <a:ext cx="182880" cy="237744"/>
          </a:xfrm>
          <a:prstGeom prst="chevron">
            <a:avLst/>
          </a:prstGeom>
          <a:solidFill>
            <a:srgbClr val="0F7C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7417429" y="1600200"/>
            <a:ext cx="1875068" cy="1005840"/>
          </a:xfrm>
          <a:prstGeom prst="roundRect">
            <a:avLst>
              <a:gd name="adj" fmla="val 10909"/>
            </a:avLst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490581" y="1600200"/>
            <a:ext cx="1728764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 i="0">
                <a:solidFill>
                  <a:srgbClr val="E09A1A"/>
                </a:solidFill>
                <a:latin typeface="Segoe UI Semibold"/>
              </a:rPr>
              <a:t>HEAD</a:t>
            </a:r>
          </a:p>
          <a:p>
            <a:pPr algn="ctr"/>
            <a:r>
              <a:rPr sz="1050" b="0" i="0">
                <a:solidFill>
                  <a:srgbClr val="E2E8F0"/>
                </a:solidFill>
                <a:latin typeface="Segoe UI"/>
              </a:rPr>
              <a:t>Linear(512, 26)</a:t>
            </a:r>
          </a:p>
        </p:txBody>
      </p:sp>
      <p:sp>
        <p:nvSpPr>
          <p:cNvPr id="21" name="Chevron 20"/>
          <p:cNvSpPr/>
          <p:nvPr/>
        </p:nvSpPr>
        <p:spPr>
          <a:xfrm>
            <a:off x="9393082" y="1984248"/>
            <a:ext cx="182880" cy="237744"/>
          </a:xfrm>
          <a:prstGeom prst="chevron">
            <a:avLst/>
          </a:prstGeom>
          <a:solidFill>
            <a:srgbClr val="0F7C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9676546" y="1600200"/>
            <a:ext cx="1875068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079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749698" y="1600200"/>
            <a:ext cx="1728764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 i="0">
                <a:solidFill>
                  <a:srgbClr val="14213D"/>
                </a:solidFill>
                <a:latin typeface="Segoe UI Semibold"/>
              </a:rPr>
              <a:t>26 scores</a:t>
            </a:r>
          </a:p>
          <a:p>
            <a:pPr algn="ctr"/>
            <a:r>
              <a:rPr sz="1050" b="0" i="0">
                <a:solidFill>
                  <a:srgbClr val="6B7280"/>
                </a:solidFill>
                <a:latin typeface="Segoe UI"/>
              </a:rPr>
              <a:t>softmax -&gt; one class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640080" y="2743200"/>
          <a:ext cx="10911535" cy="16459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589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r>
                        <a:rPr sz="1008" b="1" i="0" spc="80">
                          <a:solidFill>
                            <a:srgbClr val="FFFFFF"/>
                          </a:solidFill>
                          <a:latin typeface="Segoe UI"/>
                        </a:rPr>
                        <a:t>APPROACH</a:t>
                      </a:r>
                    </a:p>
                  </a:txBody>
                  <a:tcPr marL="127000" marR="127000" marT="25400" marB="25400" anchor="ctr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8" b="1" i="0" spc="80">
                          <a:solidFill>
                            <a:srgbClr val="FFFFFF"/>
                          </a:solidFill>
                          <a:latin typeface="Segoe UI"/>
                        </a:rPr>
                        <a:t>ENCODER</a:t>
                      </a:r>
                    </a:p>
                  </a:txBody>
                  <a:tcPr marL="127000" marR="127000" marT="25400" marB="25400" anchor="ctr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8" b="1" i="0" spc="80">
                          <a:solidFill>
                            <a:srgbClr val="FFFFFF"/>
                          </a:solidFill>
                          <a:latin typeface="Segoe UI"/>
                        </a:rPr>
                        <a:t>FEATURE</a:t>
                      </a:r>
                    </a:p>
                  </a:txBody>
                  <a:tcPr marL="127000" marR="127000" marT="25400" marB="25400" anchor="ctr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8" b="1" i="0" spc="80">
                          <a:solidFill>
                            <a:srgbClr val="FFFFFF"/>
                          </a:solidFill>
                          <a:latin typeface="Segoe UI"/>
                        </a:rPr>
                        <a:t>HEAD</a:t>
                      </a:r>
                    </a:p>
                  </a:txBody>
                  <a:tcPr marL="127000" marR="127000" marT="25400" marB="25400" anchor="ctr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8" b="1" i="0" spc="80">
                          <a:solidFill>
                            <a:srgbClr val="FFFFFF"/>
                          </a:solidFill>
                          <a:latin typeface="Segoe UI"/>
                        </a:rPr>
                        <a:t>DECODER</a:t>
                      </a:r>
                    </a:p>
                  </a:txBody>
                  <a:tcPr marL="127000" marR="127000" marT="25400" marB="25400" anchor="ctr">
                    <a:solidFill>
                      <a:srgbClr val="1421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14213D"/>
                          </a:solidFill>
                          <a:latin typeface="Segoe UI Semibold"/>
                        </a:rPr>
                        <a:t>A / B / C</a:t>
                      </a:r>
                    </a:p>
                  </a:txBody>
                  <a:tcPr marL="127000" marR="1270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4213D"/>
                          </a:solidFill>
                          <a:latin typeface="Segoe UI"/>
                        </a:rPr>
                        <a:t>ResNet18 conv stack</a:t>
                      </a:r>
                    </a:p>
                  </a:txBody>
                  <a:tcPr marL="127000" marR="1270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4213D"/>
                          </a:solidFill>
                          <a:latin typeface="Segoe UI"/>
                        </a:rPr>
                        <a:t>512-d</a:t>
                      </a:r>
                    </a:p>
                  </a:txBody>
                  <a:tcPr marL="127000" marR="1270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4213D"/>
                          </a:solidFill>
                          <a:latin typeface="Segoe UI"/>
                        </a:rPr>
                        <a:t>Linear(512, 26)</a:t>
                      </a:r>
                    </a:p>
                  </a:txBody>
                  <a:tcPr marL="127000" marR="1270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0F7C74"/>
                          </a:solidFill>
                          <a:latin typeface="Segoe UI Semibold"/>
                        </a:rPr>
                        <a:t>none</a:t>
                      </a:r>
                    </a:p>
                  </a:txBody>
                  <a:tcPr marL="127000" marR="1270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14213D"/>
                          </a:solidFill>
                          <a:latin typeface="Segoe UI Semibold"/>
                        </a:rPr>
                        <a:t>D</a:t>
                      </a:r>
                    </a:p>
                  </a:txBody>
                  <a:tcPr marL="127000" marR="127000" marT="25400" marB="254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4213D"/>
                          </a:solidFill>
                          <a:latin typeface="Segoe UI"/>
                        </a:rPr>
                        <a:t>4 conv blocks + GAP</a:t>
                      </a:r>
                    </a:p>
                  </a:txBody>
                  <a:tcPr marL="127000" marR="127000" marT="25400" marB="254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4213D"/>
                          </a:solidFill>
                          <a:latin typeface="Segoe UI"/>
                        </a:rPr>
                        <a:t>256-d</a:t>
                      </a:r>
                    </a:p>
                  </a:txBody>
                  <a:tcPr marL="127000" marR="127000" marT="25400" marB="254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4213D"/>
                          </a:solidFill>
                          <a:latin typeface="Segoe UI"/>
                        </a:rPr>
                        <a:t>Linear(256, 26)</a:t>
                      </a:r>
                    </a:p>
                  </a:txBody>
                  <a:tcPr marL="127000" marR="127000" marT="25400" marB="254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0F7C74"/>
                          </a:solidFill>
                          <a:latin typeface="Segoe UI Semibold"/>
                        </a:rPr>
                        <a:t>none</a:t>
                      </a:r>
                    </a:p>
                  </a:txBody>
                  <a:tcPr marL="127000" marR="127000" marT="25400" marB="25400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14213D"/>
                          </a:solidFill>
                          <a:latin typeface="Segoe UI Semibold"/>
                        </a:rPr>
                        <a:t>E</a:t>
                      </a:r>
                    </a:p>
                  </a:txBody>
                  <a:tcPr marL="127000" marR="1270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4213D"/>
                          </a:solidFill>
                          <a:latin typeface="Segoe UI"/>
                        </a:rPr>
                        <a:t>PatchEmbed + 12 Transformer blocks</a:t>
                      </a:r>
                    </a:p>
                  </a:txBody>
                  <a:tcPr marL="127000" marR="1270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4213D"/>
                          </a:solidFill>
                          <a:latin typeface="Segoe UI"/>
                        </a:rPr>
                        <a:t>768-d (CLS)</a:t>
                      </a:r>
                    </a:p>
                  </a:txBody>
                  <a:tcPr marL="127000" marR="1270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4213D"/>
                          </a:solidFill>
                          <a:latin typeface="Segoe UI"/>
                        </a:rPr>
                        <a:t>Linear(768, 26)</a:t>
                      </a:r>
                    </a:p>
                  </a:txBody>
                  <a:tcPr marL="127000" marR="1270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0F7C74"/>
                          </a:solidFill>
                          <a:latin typeface="Segoe UI Semibold"/>
                        </a:rPr>
                        <a:t>none</a:t>
                      </a:r>
                    </a:p>
                  </a:txBody>
                  <a:tcPr marL="127000" marR="1270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Rounded Rectangle 24"/>
          <p:cNvSpPr/>
          <p:nvPr/>
        </p:nvSpPr>
        <p:spPr>
          <a:xfrm>
            <a:off x="640080" y="4480560"/>
            <a:ext cx="5577840" cy="790956"/>
          </a:xfrm>
          <a:prstGeom prst="roundRect">
            <a:avLst>
              <a:gd name="adj" fmla="val 13872"/>
            </a:avLst>
          </a:prstGeom>
          <a:solidFill>
            <a:srgbClr val="FFFFFF"/>
          </a:solidFill>
          <a:ln w="1079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Oval 25"/>
          <p:cNvSpPr/>
          <p:nvPr/>
        </p:nvSpPr>
        <p:spPr>
          <a:xfrm>
            <a:off x="841247" y="4665726"/>
            <a:ext cx="420624" cy="420624"/>
          </a:xfrm>
          <a:prstGeom prst="ellipse">
            <a:avLst/>
          </a:prstGeom>
          <a:solidFill>
            <a:srgbClr val="E2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41247" y="4665726"/>
            <a:ext cx="420624" cy="420624"/>
          </a:xfrm>
          <a:prstGeom prst="rect">
            <a:avLst/>
          </a:prstGeom>
          <a:noFill/>
        </p:spPr>
        <p:txBody>
          <a:bodyPr wrap="square" lIns="18288" rIns="18288" anchor="ctr">
            <a:spAutoFit/>
          </a:bodyPr>
          <a:lstStyle/>
          <a:p>
            <a:pPr algn="ctr"/>
            <a:r>
              <a:rPr sz="1300" b="1" i="0">
                <a:solidFill>
                  <a:srgbClr val="0F7C74"/>
                </a:solidFill>
                <a:latin typeface="Segoe UI Semibold"/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63039" y="4480560"/>
            <a:ext cx="4572000" cy="7909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0" i="0">
                <a:solidFill>
                  <a:srgbClr val="14213D"/>
                </a:solidFill>
                <a:latin typeface="Segoe UI"/>
              </a:rPr>
              <a:t>A </a:t>
            </a:r>
            <a:r>
              <a:rPr sz="1300" b="1" i="0">
                <a:solidFill>
                  <a:srgbClr val="0F7C74"/>
                </a:solidFill>
                <a:latin typeface="Segoe UI"/>
              </a:rPr>
              <a:t>decoder generates a sequence</a:t>
            </a:r>
            <a:r>
              <a:rPr sz="1300" b="0" i="0">
                <a:solidFill>
                  <a:srgbClr val="14213D"/>
                </a:solidFill>
                <a:latin typeface="Segoe UI"/>
              </a:rPr>
              <a:t>, one step at a time, each step conditioned on the previous one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5381244"/>
            <a:ext cx="5577840" cy="790956"/>
          </a:xfrm>
          <a:prstGeom prst="roundRect">
            <a:avLst>
              <a:gd name="adj" fmla="val 13872"/>
            </a:avLst>
          </a:prstGeom>
          <a:solidFill>
            <a:srgbClr val="FFFFFF"/>
          </a:solidFill>
          <a:ln w="1079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0" name="Oval 29"/>
          <p:cNvSpPr/>
          <p:nvPr/>
        </p:nvSpPr>
        <p:spPr>
          <a:xfrm>
            <a:off x="841247" y="5566410"/>
            <a:ext cx="420624" cy="420624"/>
          </a:xfrm>
          <a:prstGeom prst="ellipse">
            <a:avLst/>
          </a:prstGeom>
          <a:solidFill>
            <a:srgbClr val="E2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1247" y="5566410"/>
            <a:ext cx="420624" cy="420624"/>
          </a:xfrm>
          <a:prstGeom prst="rect">
            <a:avLst/>
          </a:prstGeom>
          <a:noFill/>
        </p:spPr>
        <p:txBody>
          <a:bodyPr wrap="square" lIns="18288" rIns="18288" anchor="ctr">
            <a:spAutoFit/>
          </a:bodyPr>
          <a:lstStyle/>
          <a:p>
            <a:pPr algn="ctr"/>
            <a:r>
              <a:rPr sz="1300" b="1" i="0">
                <a:solidFill>
                  <a:srgbClr val="0F7C74"/>
                </a:solidFill>
                <a:latin typeface="Segoe UI Semibold"/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63039" y="5381244"/>
            <a:ext cx="4572000" cy="7909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0" i="0">
                <a:solidFill>
                  <a:srgbClr val="14213D"/>
                </a:solidFill>
                <a:latin typeface="Segoe UI"/>
              </a:rPr>
              <a:t>My output is </a:t>
            </a:r>
            <a:r>
              <a:rPr sz="1300" b="1" i="0">
                <a:solidFill>
                  <a:srgbClr val="0F7C74"/>
                </a:solidFill>
                <a:latin typeface="Segoe UI"/>
              </a:rPr>
              <a:t>one label out of 26</a:t>
            </a:r>
            <a:r>
              <a:rPr sz="1300" b="0" i="0">
                <a:solidFill>
                  <a:srgbClr val="14213D"/>
                </a:solidFill>
                <a:latin typeface="Segoe UI"/>
              </a:rPr>
              <a:t> — there is nothing to generate, so a decoder would be architecturally meaningless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46520" y="4480560"/>
            <a:ext cx="5105095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079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4" name="Oval 33"/>
          <p:cNvSpPr/>
          <p:nvPr/>
        </p:nvSpPr>
        <p:spPr>
          <a:xfrm>
            <a:off x="6647688" y="5116068"/>
            <a:ext cx="420624" cy="420624"/>
          </a:xfrm>
          <a:prstGeom prst="ellipse">
            <a:avLst/>
          </a:prstGeom>
          <a:solidFill>
            <a:srgbClr val="F8E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647688" y="5116068"/>
            <a:ext cx="420624" cy="420624"/>
          </a:xfrm>
          <a:prstGeom prst="rect">
            <a:avLst/>
          </a:prstGeom>
          <a:noFill/>
        </p:spPr>
        <p:txBody>
          <a:bodyPr wrap="square" lIns="18288" rIns="18288" anchor="ctr">
            <a:spAutoFit/>
          </a:bodyPr>
          <a:lstStyle/>
          <a:p>
            <a:pPr algn="ctr"/>
            <a:r>
              <a:rPr sz="1300" b="1" i="0">
                <a:solidFill>
                  <a:srgbClr val="C0392B"/>
                </a:solidFill>
                <a:latin typeface="Segoe UI Semibold"/>
              </a:rPr>
              <a:t>!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69479" y="4480560"/>
            <a:ext cx="4099255" cy="1691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96" b="0" i="0">
                <a:solidFill>
                  <a:srgbClr val="14213D"/>
                </a:solidFill>
                <a:latin typeface="Consolas"/>
              </a:rPr>
              <a:t>CTCDecoder</a:t>
            </a:r>
            <a:r>
              <a:rPr sz="1300" b="0" i="0">
                <a:solidFill>
                  <a:srgbClr val="14213D"/>
                </a:solidFill>
                <a:latin typeface="Segoe UI"/>
              </a:rPr>
              <a:t> in the number reader is </a:t>
            </a:r>
            <a:r>
              <a:rPr sz="1300" b="1" i="0">
                <a:solidFill>
                  <a:srgbClr val="C0392B"/>
                </a:solidFill>
                <a:latin typeface="Segoe UI"/>
              </a:rPr>
              <a:t>not a neural decoder</a:t>
            </a:r>
            <a:r>
              <a:rPr sz="1300" b="0" i="0">
                <a:solidFill>
                  <a:srgbClr val="14213D"/>
                </a:solidFill>
                <a:latin typeface="Segoe UI"/>
              </a:rPr>
              <a:t> — it is a collapse rule: argmax per timestep, merge repeats, drop blanks. </a:t>
            </a:r>
            <a:r>
              <a:rPr sz="1300" b="1" i="0">
                <a:solidFill>
                  <a:srgbClr val="C0392B"/>
                </a:solidFill>
                <a:latin typeface="Segoe UI"/>
              </a:rPr>
              <a:t>No weights, never trained.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326</TotalTime>
  <Words>4396</Words>
  <Application>Microsoft Office PowerPoint</Application>
  <PresentationFormat>Widescreen</PresentationFormat>
  <Paragraphs>847</Paragraphs>
  <Slides>25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1" baseType="lpstr">
      <vt:lpstr>Arial</vt:lpstr>
      <vt:lpstr>Calibri</vt:lpstr>
      <vt:lpstr>Consolas</vt:lpstr>
      <vt:lpstr>Segoe UI</vt:lpstr>
      <vt:lpstr>Segoe UI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TUF</dc:creator>
  <cp:keywords/>
  <dc:description>generated using python-pptx</dc:description>
  <cp:lastModifiedBy>so botra</cp:lastModifiedBy>
  <cp:revision>4</cp:revision>
  <dcterms:created xsi:type="dcterms:W3CDTF">2013-01-27T09:14:16Z</dcterms:created>
  <dcterms:modified xsi:type="dcterms:W3CDTF">2026-10-23T02:14:52Z</dcterms:modified>
  <cp:category/>
</cp:coreProperties>
</file>